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 Instructions  (4%)</c:v>
                </c:pt>
              </c:strCache>
            </c:strRef>
          </c:tx>
          <c:spPr>
            <a:solidFill>
              <a:srgbClr val="3D6FA8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long-running banking session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18-4BC3-AD26-F48E0F15A8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Tool &amp; Schema Defs  (5%)</c:v>
                </c:pt>
              </c:strCache>
            </c:strRef>
          </c:tx>
          <c:spPr>
            <a:solidFill>
              <a:srgbClr val="7DA0CC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long-running banking session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18-4BC3-AD26-F48E0F15A8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Retrieved / Offloaded Data  (16%)</c:v>
                </c:pt>
              </c:strCache>
            </c:strRef>
          </c:tx>
          <c:spPr>
            <a:solidFill>
              <a:srgbClr val="1F7A6C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long-running banking session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18-4BC3-AD26-F48E0F15A8C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Conversation History  (62%)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long-running banking session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C18-4BC3-AD26-F48E0F15A8C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User Prompt  (3%)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long-running banking session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18-4BC3-AD26-F48E0F15A8CD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Reserved for Output  (10%)</c:v>
                </c:pt>
              </c:strCache>
            </c:strRef>
          </c:tx>
          <c:spPr>
            <a:solidFill>
              <a:srgbClr val="B9C4D6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Typical long-running banking session</c:v>
                </c:pt>
              </c:strCache>
            </c: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C18-4BC3-AD26-F48E0F15A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B6B8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727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19.png"/><Relationship Id="rId7" Type="http://schemas.openxmlformats.org/officeDocument/2006/relationships/image" Target="../media/image3.png"/><Relationship Id="rId12" Type="http://schemas.openxmlformats.org/officeDocument/2006/relationships/slide" Target="slide1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11" Type="http://schemas.openxmlformats.org/officeDocument/2006/relationships/image" Target="../media/image14.png"/><Relationship Id="rId5" Type="http://schemas.openxmlformats.org/officeDocument/2006/relationships/image" Target="../media/image20.png"/><Relationship Id="rId10" Type="http://schemas.openxmlformats.org/officeDocument/2006/relationships/slide" Target="slide12.xml"/><Relationship Id="rId4" Type="http://schemas.openxmlformats.org/officeDocument/2006/relationships/slide" Target="slide9.xml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slide" Target="slide8.xml"/><Relationship Id="rId4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slide" Target="slide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28.png"/><Relationship Id="rId10" Type="http://schemas.openxmlformats.org/officeDocument/2006/relationships/image" Target="../media/image9.png"/><Relationship Id="rId4" Type="http://schemas.openxmlformats.org/officeDocument/2006/relationships/image" Target="../media/image27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slide" Target="slide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778240" y="-1280160"/>
            <a:ext cx="5029200" cy="5029200"/>
          </a:xfrm>
          <a:prstGeom prst="roundRect">
            <a:avLst>
              <a:gd name="adj" fmla="val 9091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32520" y="96012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3D6FA8">
              <a:alpha val="90000"/>
            </a:srgbClr>
          </a:solidFill>
          <a:ln w="15875">
            <a:solidFill>
              <a:srgbClr val="0F2444"/>
            </a:solidFill>
            <a:prstDash val="solid"/>
          </a:ln>
          <a:effectLst>
            <a:outerShdw blurRad="101600" dist="50800" dir="5400000" algn="bl" rotWithShape="0">
              <a:srgbClr val="0F24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25128" y="12344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F7A6C">
              <a:alpha val="90000"/>
            </a:srgbClr>
          </a:solidFill>
          <a:ln w="15875">
            <a:solidFill>
              <a:srgbClr val="0F2444"/>
            </a:solidFill>
            <a:prstDash val="solid"/>
          </a:ln>
          <a:effectLst>
            <a:outerShdw blurRad="101600" dist="50800" dir="5400000" algn="bl" rotWithShape="0">
              <a:srgbClr val="0F24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17736" y="15087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C9A227"/>
          </a:solidFill>
          <a:ln w="15875">
            <a:solidFill>
              <a:srgbClr val="0F2444"/>
            </a:solidFill>
            <a:prstDash val="solid"/>
          </a:ln>
          <a:effectLst>
            <a:outerShdw blurRad="101600" dist="50800" dir="5400000" algn="bl" rotWithShape="0">
              <a:srgbClr val="0F24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06840" y="123444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E8D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0684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•••• •••• •••• 4821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information diet of reliable AI agents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patterns for banking — cards &amp; transactions agents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4892040"/>
            <a:ext cx="7790688" cy="0"/>
          </a:xfrm>
          <a:prstGeom prst="line">
            <a:avLst/>
          </a:prstGeom>
          <a:noFill/>
          <a:ln w="12700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  ·   Failure Modes   ·   Offloading   ·   TOON   ·   Caching   ·   Evals &amp; Tracing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Briefing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building blocks, from window limits to production observability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176272"/>
            <a:ext cx="566928" cy="566928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67" y="230383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5780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19751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101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463040" y="231343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Token-budget anatomy: prompt, system instructions, conversation history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6099048" y="181051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0216" y="2176272"/>
            <a:ext cx="566928" cy="566928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context_eng_deck/asset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775" y="2303831"/>
            <a:ext cx="311810" cy="3118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808208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013448" y="19751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013448" y="2313432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issues surface: context rot, bloat, poisoning, distraction &amp; clash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548640" y="324612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49808" y="3611880"/>
            <a:ext cx="566928" cy="566928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context_eng_deck/asset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367" y="3739439"/>
            <a:ext cx="311810" cy="31181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63040" y="34107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Offloading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463040" y="374904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remedy — move data out of the prompt, pull it back on demand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6099048" y="324612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300216" y="3611880"/>
            <a:ext cx="566928" cy="566928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/home/claude/context_eng_deck/asset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7775" y="3739439"/>
            <a:ext cx="311810" cy="31181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808208" y="3355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013448" y="341071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Toolkit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7013448" y="3749040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TOON, context filtering, offloading, caching, static/dynamic prompts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548640" y="468172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49808" y="5047488"/>
            <a:ext cx="566928" cy="566928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/home/claude/context_eng_deck/assets/site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367" y="5175047"/>
            <a:ext cx="311810" cy="31181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57800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463040" y="4846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1463040" y="518464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design for a Cards &amp; Transactions support agent</a:t>
            </a:r>
            <a:endParaRPr lang="en-US" sz="1030" dirty="0"/>
          </a:p>
        </p:txBody>
      </p:sp>
      <p:sp>
        <p:nvSpPr>
          <p:cNvPr id="35" name="Shape 28"/>
          <p:cNvSpPr/>
          <p:nvPr/>
        </p:nvSpPr>
        <p:spPr>
          <a:xfrm>
            <a:off x="6099048" y="468172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300216" y="5047488"/>
            <a:ext cx="566928" cy="566928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/home/claude/context_eng_deck/assets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7775" y="5175047"/>
            <a:ext cx="311810" cy="31181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808208" y="47914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7013448" y="4846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&amp; Observability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7013448" y="5184648"/>
            <a:ext cx="4251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context quality with Arize traces and evals</a:t>
            </a:r>
            <a:endParaRPr lang="en-US" sz="1030" dirty="0"/>
          </a:p>
        </p:txBody>
      </p:sp>
      <p:sp>
        <p:nvSpPr>
          <p:cNvPr id="41" name="Text 3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 Engineering to 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design shifted from a single message to the entire information system around the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074920" cy="3246120"/>
          </a:xfrm>
          <a:prstGeom prst="roundRect">
            <a:avLst>
              <a:gd name="adj" fmla="val 253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148840"/>
            <a:ext cx="566928" cy="566928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comme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29057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9260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one well-worded instruction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wording, examples &amp; formatting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each call as a static, single-turn ask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condition: the right words, once</a:t>
            </a:r>
            <a:endParaRPr lang="en-US" sz="1250" dirty="0"/>
          </a:p>
        </p:txBody>
      </p:sp>
      <p:pic>
        <p:nvPicPr>
          <p:cNvPr id="10" name="Image 1" descr="/home/claude/context_eng_deck/assets/arrowrigh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326898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65392" y="1874520"/>
            <a:ext cx="5074920" cy="3246120"/>
          </a:xfrm>
          <a:prstGeom prst="roundRect">
            <a:avLst>
              <a:gd name="adj" fmla="val 2535"/>
            </a:avLst>
          </a:prstGeom>
          <a:solidFill>
            <a:srgbClr val="0F2444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858000" y="214884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context_eng_deck/asset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732" y="229057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71232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885432" y="29260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sees: instructions, history, memory, retrieved data, tool definitions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compressed, cached &amp; timed across many turns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the window as a finite, engineered resource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condition: the right information, every turn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37667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914400" y="5376672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“Context engineering is the discipline of deciding what information enters the model’s context window, in what form, and at what moment.”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LIMIT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instructions, conversation history, and the live prompt all draw from one finite token budget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11091672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31012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token-budget split for a long-running banking support session (not to exact scale)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3703320"/>
            <a:ext cx="3584448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68096" y="3922776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context_eng_deck/assets/termin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" y="4037990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" y="45720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8096" y="4937760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rules, compliance language, tool schemas. Fixed at session start — small on its own, but if it grows unmanaged it crowds out everything else. The prime candidate for caching.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4256532" y="3703320"/>
            <a:ext cx="3584448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475988" y="3922776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context_eng_deck/assets/histor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202" y="4037990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75988" y="45720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475988" y="4937760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turn, agent reply, tool call &amp; tool result. Grows monotonically and, left unmanaged, becomes the single largest consumer of the window — the main driver of rot and bloat.</a:t>
            </a:r>
            <a:endParaRPr lang="en-US" sz="1030" dirty="0"/>
          </a:p>
        </p:txBody>
      </p:sp>
      <p:sp>
        <p:nvSpPr>
          <p:cNvPr id="17" name="Shape 12"/>
          <p:cNvSpPr/>
          <p:nvPr/>
        </p:nvSpPr>
        <p:spPr>
          <a:xfrm>
            <a:off x="7964424" y="3703320"/>
            <a:ext cx="3584448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183880" y="3922776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context_eng_deck/assets/commen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9094" y="4037990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83880" y="45720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83880" y="4937760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immediate request. The smallest share of the budget, yet the easiest signal to lose once it's surrounded by thousands of lower-value tokens.</a:t>
            </a:r>
            <a:endParaRPr lang="en-US" sz="1030" dirty="0"/>
          </a:p>
        </p:txBody>
      </p:sp>
      <p:sp>
        <p:nvSpPr>
          <p:cNvPr id="22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MODES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Context Engineering Issues Surface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compound quietly as sessions grow — long before the hard token limit is even reached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029968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214518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700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303580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degrades as the window fills — relevant facts get diluted among thousands of lower-value tokens, even within the stated limit.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53128" y="2029968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context_eng_deck/asset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342" y="214518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26700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Bloat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53128" y="303580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consumed by redundant data — full API payloads, repeated schemas, verbose JSON — leaving less room for what actually matters.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5528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156448" y="2029968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context_eng_deck/assets/bug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662" y="214518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56448" y="267004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Poisoning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156448" y="303580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hallucination or tool error lingers in history and gets treated as established fact in later turns.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40030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2601468" y="4178808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context_eng_deck/assets/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6682" y="429402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01468" y="48188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Distraction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2601468" y="518464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or off-topic content competes with the relevant signal, increasing wrong tool calls and slower reasoning.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10362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304788" y="4178808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context_eng_deck/asset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0002" y="429402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04788" y="481888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Clash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6304788" y="518464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instructions or fresh data conflict with older content still sitting in the window — e.g. a superseded policy version the model still trusts.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Plays Out in a Cards &amp; Transactions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support session, 40+ turns apart — three silent failures, not one bad prompt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548640"/>
          </a:xfrm>
          <a:prstGeom prst="roundRect">
            <a:avLst>
              <a:gd name="adj" fmla="val 15000"/>
            </a:avLst>
          </a:prstGeom>
          <a:solidFill>
            <a:srgbClr val="1F7A6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476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3  ·  Early Session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1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my current card limit?”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1546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</a:t>
            </a:r>
            <a:r>
              <a:rPr lang="en-US" sz="11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current limit is $8,000, reflecting this month's review.”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3977640"/>
            <a:ext cx="470916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51560" y="4160520"/>
            <a:ext cx="384048" cy="384048"/>
          </a:xfrm>
          <a:prstGeom prst="ellipse">
            <a:avLst/>
          </a:prstGeom>
          <a:solidFill>
            <a:srgbClr val="1F7A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context_eng_deck/asset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71" y="4246931"/>
            <a:ext cx="211226" cy="2112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41148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live account-status tool result — correct.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91072" y="1828800"/>
            <a:ext cx="53492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91072" y="1828800"/>
            <a:ext cx="5349240" cy="548640"/>
          </a:xfrm>
          <a:prstGeom prst="roundRect">
            <a:avLst>
              <a:gd name="adj" fmla="val 15000"/>
            </a:avLst>
          </a:prstGeom>
          <a:solidFill>
            <a:srgbClr val="B23A3A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context_eng_deck/asset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194767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76872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42  ·  Late Session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611112" y="2606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</a:t>
            </a:r>
            <a:r>
              <a:rPr lang="en-US" sz="11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“Remind me of my card limit?”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611112" y="3108960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611112" y="310896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498080" y="30723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the turn-3 limit instead of the latest balance-tool result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6611112" y="3767328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611112" y="37673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498080" y="373075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a new fraud flag buried under 80 raw transaction rows</a:t>
            </a:r>
            <a:endParaRPr lang="en-US" sz="1030" dirty="0"/>
          </a:p>
        </p:txBody>
      </p:sp>
      <p:sp>
        <p:nvSpPr>
          <p:cNvPr id="26" name="Shape 21"/>
          <p:cNvSpPr/>
          <p:nvPr/>
        </p:nvSpPr>
        <p:spPr>
          <a:xfrm>
            <a:off x="6611112" y="442569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B2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611112" y="44256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7498080" y="43891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an outdated SLA — both policy versions are still in context</a:t>
            </a:r>
            <a:endParaRPr lang="en-US" sz="1030" dirty="0"/>
          </a:p>
        </p:txBody>
      </p:sp>
      <p:sp>
        <p:nvSpPr>
          <p:cNvPr id="29" name="Text 24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these were a single bad prompt — they were a context that grew faster than it was managed.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REMEDY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Offloading: Stop Carrying Everything in the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data out of the live prompt; pull it back only when it's needed, on demand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Everything Resident in History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12700">
            <a:solidFill>
              <a:srgbClr val="B23A3A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197864" cy="580644"/>
          </a:xfrm>
          <a:prstGeom prst="roundRect">
            <a:avLst>
              <a:gd name="adj" fmla="val 7874"/>
            </a:avLst>
          </a:prstGeom>
          <a:solidFill>
            <a:srgbClr val="B23A3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197864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1883664" y="1965960"/>
            <a:ext cx="1197864" cy="580644"/>
          </a:xfrm>
          <a:prstGeom prst="roundRect">
            <a:avLst>
              <a:gd name="adj" fmla="val 7874"/>
            </a:avLst>
          </a:prstGeom>
          <a:solidFill>
            <a:srgbClr val="B23A3A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83664" y="1965960"/>
            <a:ext cx="1197864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Txns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3127248" y="1965960"/>
            <a:ext cx="1197864" cy="580644"/>
          </a:xfrm>
          <a:prstGeom prst="roundRect">
            <a:avLst>
              <a:gd name="adj" fmla="val 7874"/>
            </a:avLst>
          </a:prstGeom>
          <a:solidFill>
            <a:srgbClr val="B23A3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27248" y="1965960"/>
            <a:ext cx="1197864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v1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370832" y="1965960"/>
            <a:ext cx="1197864" cy="580644"/>
          </a:xfrm>
          <a:prstGeom prst="roundRect">
            <a:avLst>
              <a:gd name="adj" fmla="val 7874"/>
            </a:avLst>
          </a:prstGeom>
          <a:solidFill>
            <a:srgbClr val="B23A3A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70832" y="1965960"/>
            <a:ext cx="1197864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v2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40080" y="2592324"/>
            <a:ext cx="1197864" cy="580644"/>
          </a:xfrm>
          <a:prstGeom prst="roundRect">
            <a:avLst>
              <a:gd name="adj" fmla="val 7874"/>
            </a:avLst>
          </a:prstGeom>
          <a:solidFill>
            <a:srgbClr val="B23A3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592324"/>
            <a:ext cx="1197864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Data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1883664" y="2592324"/>
            <a:ext cx="1197864" cy="580644"/>
          </a:xfrm>
          <a:prstGeom prst="roundRect">
            <a:avLst>
              <a:gd name="adj" fmla="val 7874"/>
            </a:avLst>
          </a:prstGeom>
          <a:solidFill>
            <a:srgbClr val="B23A3A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83664" y="2592324"/>
            <a:ext cx="1197864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3127248" y="2592324"/>
            <a:ext cx="1197864" cy="580644"/>
          </a:xfrm>
          <a:prstGeom prst="roundRect">
            <a:avLst>
              <a:gd name="adj" fmla="val 7874"/>
            </a:avLst>
          </a:prstGeom>
          <a:solidFill>
            <a:srgbClr val="B23A3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27248" y="2592324"/>
            <a:ext cx="1197864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Cases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6519672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Minimal Working Context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19672" y="18745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12700">
            <a:solidFill>
              <a:srgbClr val="1F7A6C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93992" y="23774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1F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93992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88552" y="237744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1F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88552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93992" y="29809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fetched on demand from state, memory &amp; artifacts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0" descr="/home/claude/context_eng_deck/assets/gau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4400550"/>
            <a:ext cx="251460" cy="2514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31520" y="48646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Working Context</a:t>
            </a:r>
            <a:endParaRPr lang="en-US" sz="1180" dirty="0"/>
          </a:p>
        </p:txBody>
      </p:sp>
      <p:sp>
        <p:nvSpPr>
          <p:cNvPr id="32" name="Text 29"/>
          <p:cNvSpPr/>
          <p:nvPr/>
        </p:nvSpPr>
        <p:spPr>
          <a:xfrm>
            <a:off x="731520" y="5321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compete for the model's attention on every turn.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3296412" y="41148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3479292" y="4297680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1" descr="/home/claude/context_eng_deck/asset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162" y="4400550"/>
            <a:ext cx="251460" cy="2514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479292" y="48646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Rot &amp; Clash</a:t>
            </a:r>
            <a:endParaRPr lang="en-US" sz="1180" dirty="0"/>
          </a:p>
        </p:txBody>
      </p:sp>
      <p:sp>
        <p:nvSpPr>
          <p:cNvPr id="37" name="Text 33"/>
          <p:cNvSpPr/>
          <p:nvPr/>
        </p:nvSpPr>
        <p:spPr>
          <a:xfrm>
            <a:off x="3479292" y="5321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or conflicting data doesn't sit resident in history by default.</a:t>
            </a:r>
            <a:endParaRPr lang="en-US" sz="930" dirty="0"/>
          </a:p>
        </p:txBody>
      </p:sp>
      <p:sp>
        <p:nvSpPr>
          <p:cNvPr id="38" name="Shape 34"/>
          <p:cNvSpPr/>
          <p:nvPr/>
        </p:nvSpPr>
        <p:spPr>
          <a:xfrm>
            <a:off x="6044184" y="41148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6227064" y="4297680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2" descr="/home/claude/context_eng_deck/assets/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9934" y="4400550"/>
            <a:ext cx="251460" cy="25146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227064" y="48646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&amp; Latency</a:t>
            </a:r>
            <a:endParaRPr lang="en-US" sz="1180" dirty="0"/>
          </a:p>
        </p:txBody>
      </p:sp>
      <p:sp>
        <p:nvSpPr>
          <p:cNvPr id="42" name="Text 37"/>
          <p:cNvSpPr/>
          <p:nvPr/>
        </p:nvSpPr>
        <p:spPr>
          <a:xfrm>
            <a:off x="6227064" y="5321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to encode and attend to on every single call.</a:t>
            </a:r>
            <a:endParaRPr lang="en-US" sz="930" dirty="0"/>
          </a:p>
        </p:txBody>
      </p:sp>
      <p:sp>
        <p:nvSpPr>
          <p:cNvPr id="43" name="Shape 38"/>
          <p:cNvSpPr/>
          <p:nvPr/>
        </p:nvSpPr>
        <p:spPr>
          <a:xfrm>
            <a:off x="8791956" y="41148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8974836" y="4297680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3" descr="/home/claude/context_eng_deck/asset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7706" y="4400550"/>
            <a:ext cx="251460" cy="25146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8974836" y="48646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8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Recall</a:t>
            </a:r>
            <a:endParaRPr lang="en-US" sz="1180" dirty="0"/>
          </a:p>
        </p:txBody>
      </p:sp>
      <p:sp>
        <p:nvSpPr>
          <p:cNvPr id="47" name="Text 41"/>
          <p:cNvSpPr/>
          <p:nvPr/>
        </p:nvSpPr>
        <p:spPr>
          <a:xfrm>
            <a:off x="8974836" y="5321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exact records via tools instead of hoping the model remembers.</a:t>
            </a:r>
            <a:endParaRPr lang="en-US" sz="930" dirty="0"/>
          </a:p>
        </p:txBody>
      </p:sp>
      <p:sp>
        <p:nvSpPr>
          <p:cNvPr id="48" name="Text 4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ADK Patterns for Production 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technique targets a different part of the token budget — click any card to jump to its details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27889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31136" y="195681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31136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234086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context_eng_deck/assets/compre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2456078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999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3584448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tool &amp; API payloads in TOON instead of raw JSON — same data, far fewer tokens.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749808" y="3328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Serialization</a:t>
            </a:r>
            <a:endParaRPr lang="en-US" sz="950" dirty="0"/>
          </a:p>
        </p:txBody>
      </p:sp>
      <p:sp>
        <p:nvSpPr>
          <p:cNvPr id="13" name="Text 10">
            <a:hlinkClick r:id="rId4" action="ppaction://hlinksldjump" tooltip="Jump to TOON"/>
          </p:cNvPr>
          <p:cNvSpPr/>
          <p:nvPr/>
        </p:nvSpPr>
        <p:spPr>
          <a:xfrm>
            <a:off x="749808" y="464515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u="sng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Jump to TO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DETAILS  →</a:t>
            </a:r>
            <a:endParaRPr lang="en-US" sz="750" dirty="0"/>
          </a:p>
        </p:txBody>
      </p:sp>
      <p:sp>
        <p:nvSpPr>
          <p:cNvPr id="14" name="Shape 11">
            <a:hlinkClick r:id="rId4" action="ppaction://hlinksldjump" tooltip="Jump to TOON"/>
          </p:cNvPr>
          <p:cNvSpPr/>
          <p:nvPr/>
        </p:nvSpPr>
        <p:spPr>
          <a:xfrm>
            <a:off x="548640" y="2103120"/>
            <a:ext cx="2103120" cy="278892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98064" y="2103120"/>
            <a:ext cx="2103120" cy="27889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480560" y="195681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8056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999232" y="234086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context_eng_deck/assets/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4446" y="2456078"/>
            <a:ext cx="281635" cy="28163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999232" y="2999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Filtering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999232" y="3584448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Drop, trim, or mask data before it ever reaches the model — time windows, PII, de-dup.</a:t>
            </a:r>
            <a:endParaRPr lang="en-US" sz="960" dirty="0"/>
          </a:p>
        </p:txBody>
      </p:sp>
      <p:sp>
        <p:nvSpPr>
          <p:cNvPr id="22" name="Text 18"/>
          <p:cNvSpPr/>
          <p:nvPr/>
        </p:nvSpPr>
        <p:spPr>
          <a:xfrm>
            <a:off x="2999232" y="3328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950" dirty="0"/>
          </a:p>
        </p:txBody>
      </p:sp>
      <p:sp>
        <p:nvSpPr>
          <p:cNvPr id="23" name="Text 19">
            <a:hlinkClick r:id="rId6" action="ppaction://hlinksldjump" tooltip="Jump to Context Filtering"/>
          </p:cNvPr>
          <p:cNvSpPr/>
          <p:nvPr/>
        </p:nvSpPr>
        <p:spPr>
          <a:xfrm>
            <a:off x="2999232" y="464515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u="sng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Jump to Context Filte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DETAILS  →</a:t>
            </a:r>
            <a:endParaRPr lang="en-US" sz="750" dirty="0"/>
          </a:p>
        </p:txBody>
      </p:sp>
      <p:sp>
        <p:nvSpPr>
          <p:cNvPr id="24" name="Shape 20">
            <a:hlinkClick r:id="rId6" action="ppaction://hlinksldjump" tooltip="Jump to Context Filtering"/>
          </p:cNvPr>
          <p:cNvSpPr/>
          <p:nvPr/>
        </p:nvSpPr>
        <p:spPr>
          <a:xfrm>
            <a:off x="2798064" y="2103120"/>
            <a:ext cx="2103120" cy="278892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047488" y="2103120"/>
            <a:ext cx="2103120" cy="27889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729984" y="195681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729984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248656" y="234086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/home/claude/context_eng_deck/asset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3870" y="2456078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248656" y="2999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Offloading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248656" y="3584448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working data, long-term knowledge, and large files outside the live prompt.</a:t>
            </a:r>
            <a:endParaRPr lang="en-US" sz="960" dirty="0"/>
          </a:p>
        </p:txBody>
      </p:sp>
      <p:sp>
        <p:nvSpPr>
          <p:cNvPr id="32" name="Text 27"/>
          <p:cNvSpPr/>
          <p:nvPr/>
        </p:nvSpPr>
        <p:spPr>
          <a:xfrm>
            <a:off x="5248656" y="3328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Memory / Artifacts</a:t>
            </a:r>
            <a:endParaRPr lang="en-US" sz="950" dirty="0"/>
          </a:p>
        </p:txBody>
      </p:sp>
      <p:sp>
        <p:nvSpPr>
          <p:cNvPr id="33" name="Text 28">
            <a:hlinkClick r:id="rId8" action="ppaction://hlinksldjump" tooltip="Jump to Context Offloading"/>
          </p:cNvPr>
          <p:cNvSpPr/>
          <p:nvPr/>
        </p:nvSpPr>
        <p:spPr>
          <a:xfrm>
            <a:off x="5248656" y="464515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u="sng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Jump to Context Offloa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DETAILS  →</a:t>
            </a:r>
            <a:endParaRPr lang="en-US" sz="750" dirty="0"/>
          </a:p>
        </p:txBody>
      </p:sp>
      <p:sp>
        <p:nvSpPr>
          <p:cNvPr id="34" name="Shape 29">
            <a:hlinkClick r:id="rId8" action="ppaction://hlinksldjump" tooltip="Jump to Context Offloading"/>
          </p:cNvPr>
          <p:cNvSpPr/>
          <p:nvPr/>
        </p:nvSpPr>
        <p:spPr>
          <a:xfrm>
            <a:off x="5047488" y="2103120"/>
            <a:ext cx="2103120" cy="278892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7296912" y="2103120"/>
            <a:ext cx="2103120" cy="27889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8979408" y="195681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8979408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7498080" y="234086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/home/claude/context_eng_deck/assets/bol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3294" y="2456078"/>
            <a:ext cx="281635" cy="28163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498080" y="2999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Caching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7498080" y="3584448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system instructions &amp; policy text so repeated tokens skip recomputation.</a:t>
            </a:r>
            <a:endParaRPr lang="en-US" sz="960" dirty="0"/>
          </a:p>
        </p:txBody>
      </p:sp>
      <p:sp>
        <p:nvSpPr>
          <p:cNvPr id="42" name="Text 36"/>
          <p:cNvSpPr/>
          <p:nvPr/>
        </p:nvSpPr>
        <p:spPr>
          <a:xfrm>
            <a:off x="7498080" y="3328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Stable Prefixes</a:t>
            </a:r>
            <a:endParaRPr lang="en-US" sz="950" dirty="0"/>
          </a:p>
        </p:txBody>
      </p:sp>
      <p:sp>
        <p:nvSpPr>
          <p:cNvPr id="43" name="Text 37">
            <a:hlinkClick r:id="rId10" action="ppaction://hlinksldjump" tooltip="Jump to Context Caching"/>
          </p:cNvPr>
          <p:cNvSpPr/>
          <p:nvPr/>
        </p:nvSpPr>
        <p:spPr>
          <a:xfrm>
            <a:off x="7498080" y="464515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u="sng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Jump to Context Cach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DETAILS  →</a:t>
            </a:r>
            <a:endParaRPr lang="en-US" sz="750" dirty="0"/>
          </a:p>
        </p:txBody>
      </p:sp>
      <p:sp>
        <p:nvSpPr>
          <p:cNvPr id="44" name="Shape 38">
            <a:hlinkClick r:id="rId10" action="ppaction://hlinksldjump" tooltip="Jump to Context Caching"/>
          </p:cNvPr>
          <p:cNvSpPr/>
          <p:nvPr/>
        </p:nvSpPr>
        <p:spPr>
          <a:xfrm>
            <a:off x="7296912" y="2103120"/>
            <a:ext cx="2103120" cy="278892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9546336" y="2103120"/>
            <a:ext cx="2103120" cy="27889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11228832" y="195681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11228832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9747504" y="234086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4" descr="/home/claude/context_eng_deck/assets/scal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2718" y="2456078"/>
            <a:ext cx="281635" cy="281635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9747504" y="2999232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+ Dynamic Prompts</a:t>
            </a:r>
            <a:endParaRPr lang="en-US" sz="1300" dirty="0"/>
          </a:p>
        </p:txBody>
      </p:sp>
      <p:sp>
        <p:nvSpPr>
          <p:cNvPr id="51" name="Text 44"/>
          <p:cNvSpPr/>
          <p:nvPr/>
        </p:nvSpPr>
        <p:spPr>
          <a:xfrm>
            <a:off x="9747504" y="3584448"/>
            <a:ext cx="1700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what's fixed per session from what must refresh every turn.</a:t>
            </a:r>
            <a:endParaRPr lang="en-US" sz="960" dirty="0"/>
          </a:p>
        </p:txBody>
      </p:sp>
      <p:sp>
        <p:nvSpPr>
          <p:cNvPr id="52" name="Text 45"/>
          <p:cNvSpPr/>
          <p:nvPr/>
        </p:nvSpPr>
        <p:spPr>
          <a:xfrm>
            <a:off x="9747504" y="332841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What Changes</a:t>
            </a:r>
            <a:endParaRPr lang="en-US" sz="950" dirty="0"/>
          </a:p>
        </p:txBody>
      </p:sp>
      <p:sp>
        <p:nvSpPr>
          <p:cNvPr id="53" name="Text 46">
            <a:hlinkClick r:id="rId12" action="ppaction://hlinksldjump" tooltip="Jump to Static + Dynamic Prompts"/>
          </p:cNvPr>
          <p:cNvSpPr/>
          <p:nvPr/>
        </p:nvSpPr>
        <p:spPr>
          <a:xfrm>
            <a:off x="9747504" y="464515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u="sng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Jump to Static + Dynamic Promp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DETAILS  →</a:t>
            </a:r>
            <a:endParaRPr lang="en-US" sz="750" dirty="0"/>
          </a:p>
        </p:txBody>
      </p:sp>
      <p:sp>
        <p:nvSpPr>
          <p:cNvPr id="54" name="Shape 47">
            <a:hlinkClick r:id="rId12" action="ppaction://hlinksldjump" tooltip="Jump to Static + Dynamic Prompts"/>
          </p:cNvPr>
          <p:cNvSpPr/>
          <p:nvPr/>
        </p:nvSpPr>
        <p:spPr>
          <a:xfrm>
            <a:off x="9546336" y="2103120"/>
            <a:ext cx="2103120" cy="2788920"/>
          </a:xfrm>
          <a:prstGeom prst="rect">
            <a:avLst/>
          </a:prstGeom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PATTERN 1 · TOON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Serialization for Tool &amp; API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Token-Oriented Object Notation: the same JSON data model, far fewer tokens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212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YAML-style indentation for nested objects with CSV-style rows for uniform arrays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field names once via a header row instead of repeating keys for every record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Lossless, deterministic round-trip back to JSON — no information is lost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array-length &amp; field headers give the model a clear schema — improving parsing reliability on top of saving tokens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5212080" cy="1051560"/>
          </a:xfrm>
          <a:prstGeom prst="roundRect">
            <a:avLst>
              <a:gd name="adj" fmla="val 782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5001768"/>
            <a:ext cx="420624" cy="420624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context_eng_deck/assets/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72" y="5096408"/>
            <a:ext cx="231343" cy="231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491032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use case: convert core-banking tool responses — transactions, balances, dispute history — to TOON before they enter the prompt.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6053328" y="18105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(raw tool response)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53328" y="2103120"/>
            <a:ext cx="5577840" cy="1691640"/>
          </a:xfrm>
          <a:prstGeom prst="roundRect">
            <a:avLst>
              <a:gd name="adj" fmla="val 3784"/>
            </a:avLst>
          </a:prstGeom>
          <a:solidFill>
            <a:srgbClr val="1B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54496" y="2221992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{"id":"TXN1001","date":"06-18","merchant":"Amazon",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"amount":54.20,"status":"posted"},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{"id":"TXN1002","date":"06-19","merchant":"Uber",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"amount":18.75,"status":"pending"},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{"id":"TXN1003","date":"06-19","merchant":"Kroger",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"amount":92.10,"status":"posted"}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386791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 (same data)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53328" y="4160520"/>
            <a:ext cx="5577840" cy="1051560"/>
          </a:xfrm>
          <a:prstGeom prst="roundRect">
            <a:avLst>
              <a:gd name="adj" fmla="val 6087"/>
            </a:avLst>
          </a:prstGeom>
          <a:solidFill>
            <a:srgbClr val="0F3D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54496" y="42702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C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transactions[3]{id,date,merchant,amount,status}: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C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TXN1001,06-18,Amazon,54.20,posted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C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TXN1002,06-19,Uber,18.75,pending</a:t>
            </a:r>
            <a:endParaRPr lang="en-US" sz="1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CEF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TXN1003,06-19,Kroger,92.10,posted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53328" y="5376672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53328" y="5376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42% fewer tokens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67928" y="53766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example, by character count — published benchmarks report ~30–60% reductions on uniform tabular data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Text 18">
            <a:hlinkClick r:id="rId4" action="ppaction://hlinksldjump" tooltip="Back to the 5-pattern overview"/>
          </p:cNvPr>
          <p:cNvSpPr/>
          <p:nvPr/>
        </p:nvSpPr>
        <p:spPr>
          <a:xfrm>
            <a:off x="6400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Back to the 5-pattern overvie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All 5 Patterns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PATTERN 2 · CONTEXT FILTERING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Rules Before the Model Ever Sees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filtering plugins drop or trim context before the working-context view is compiled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554480" cy="1554480"/>
          </a:xfrm>
          <a:prstGeom prst="roundRect">
            <a:avLst>
              <a:gd name="adj" fmla="val 529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203911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14198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551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2862072"/>
            <a:ext cx="13350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event stream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2194560" y="2651760"/>
            <a:ext cx="146304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288" y="253288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42032" y="1874520"/>
            <a:ext cx="498348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3D6FA8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679192" y="2011680"/>
            <a:ext cx="2286000" cy="617220"/>
          </a:xfrm>
          <a:prstGeom prst="roundRect">
            <a:avLst>
              <a:gd name="adj" fmla="val 8889"/>
            </a:avLst>
          </a:prstGeom>
          <a:solidFill>
            <a:srgbClr val="EAF0F8"/>
          </a:solidFill>
          <a:ln w="9525">
            <a:solidFill>
              <a:srgbClr val="3D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679192" y="2011680"/>
            <a:ext cx="2286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102352" y="2011680"/>
            <a:ext cx="2286000" cy="617220"/>
          </a:xfrm>
          <a:prstGeom prst="roundRect">
            <a:avLst>
              <a:gd name="adj" fmla="val 8889"/>
            </a:avLst>
          </a:prstGeom>
          <a:solidFill>
            <a:srgbClr val="EAF0F8"/>
          </a:solidFill>
          <a:ln w="9525">
            <a:solidFill>
              <a:srgbClr val="3D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102352" y="2011680"/>
            <a:ext cx="2286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679192" y="2720340"/>
            <a:ext cx="2286000" cy="617220"/>
          </a:xfrm>
          <a:prstGeom prst="roundRect">
            <a:avLst>
              <a:gd name="adj" fmla="val 8889"/>
            </a:avLst>
          </a:prstGeom>
          <a:solidFill>
            <a:srgbClr val="EAF0F8"/>
          </a:solidFill>
          <a:ln w="9525">
            <a:solidFill>
              <a:srgbClr val="3D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679192" y="2720340"/>
            <a:ext cx="2286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102352" y="2720340"/>
            <a:ext cx="2286000" cy="617220"/>
          </a:xfrm>
          <a:prstGeom prst="roundRect">
            <a:avLst>
              <a:gd name="adj" fmla="val 8889"/>
            </a:avLst>
          </a:prstGeom>
          <a:solidFill>
            <a:srgbClr val="EAF0F8"/>
          </a:solidFill>
          <a:ln w="9525">
            <a:solidFill>
              <a:srgbClr val="3D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102352" y="2720340"/>
            <a:ext cx="2286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542032" y="158191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Plugins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635240" y="2651760"/>
            <a:ext cx="146304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2532888"/>
            <a:ext cx="237744" cy="23774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982712" y="1874520"/>
            <a:ext cx="1783080" cy="1554480"/>
          </a:xfrm>
          <a:prstGeom prst="roundRect">
            <a:avLst>
              <a:gd name="adj" fmla="val 5294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8645652" y="203911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/home/claude/context_eng_deck/asset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8522" y="2141982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74152" y="255117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Context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092440" y="2862072"/>
            <a:ext cx="1563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per turn</a:t>
            </a:r>
            <a:endParaRPr lang="en-US" sz="880" dirty="0"/>
          </a:p>
        </p:txBody>
      </p:sp>
      <p:sp>
        <p:nvSpPr>
          <p:cNvPr id="29" name="Shape 23"/>
          <p:cNvSpPr/>
          <p:nvPr/>
        </p:nvSpPr>
        <p:spPr>
          <a:xfrm>
            <a:off x="9875520" y="2651760"/>
            <a:ext cx="146304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532888"/>
            <a:ext cx="237744" cy="237744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222992" y="1874520"/>
            <a:ext cx="1554480" cy="1554480"/>
          </a:xfrm>
          <a:prstGeom prst="roundRect">
            <a:avLst>
              <a:gd name="adj" fmla="val 5294"/>
            </a:avLst>
          </a:prstGeom>
          <a:solidFill>
            <a:srgbClr val="0F2444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10771632" y="203911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/home/claude/context_eng_deck/asset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4502" y="2141982"/>
            <a:ext cx="251460" cy="2514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314432" y="25511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0332720" y="2862072"/>
            <a:ext cx="13350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reply</a:t>
            </a:r>
            <a:endParaRPr lang="en-US" sz="880" dirty="0"/>
          </a:p>
        </p:txBody>
      </p:sp>
      <p:sp>
        <p:nvSpPr>
          <p:cNvPr id="36" name="Shape 28"/>
          <p:cNvSpPr/>
          <p:nvPr/>
        </p:nvSpPr>
        <p:spPr>
          <a:xfrm>
            <a:off x="548640" y="3977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731520" y="4160520"/>
            <a:ext cx="438912" cy="438912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6" descr="/home/claude/context_eng_deck/assets/c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" y="4259275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31520" y="4727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Time-Window Filter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731520" y="5074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only the last 90 days of transactions by default; older activity is fetched on demand via a tool call.</a:t>
            </a:r>
            <a:endParaRPr lang="en-US" sz="940" dirty="0"/>
          </a:p>
        </p:txBody>
      </p:sp>
      <p:sp>
        <p:nvSpPr>
          <p:cNvPr id="41" name="Shape 32"/>
          <p:cNvSpPr/>
          <p:nvPr/>
        </p:nvSpPr>
        <p:spPr>
          <a:xfrm>
            <a:off x="3296412" y="3977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3479292" y="4160520"/>
            <a:ext cx="438912" cy="438912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7" descr="/home/claude/context_eng_deck/assets/lo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8047" y="4259275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479292" y="4727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3479292" y="5074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the PAN to its last 4 digits before it ever enters the prompt — the full card number stays in the core system.</a:t>
            </a:r>
            <a:endParaRPr lang="en-US" sz="940" dirty="0"/>
          </a:p>
        </p:txBody>
      </p:sp>
      <p:sp>
        <p:nvSpPr>
          <p:cNvPr id="46" name="Shape 36"/>
          <p:cNvSpPr/>
          <p:nvPr/>
        </p:nvSpPr>
        <p:spPr>
          <a:xfrm>
            <a:off x="6044184" y="3977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7"/>
          <p:cNvSpPr/>
          <p:nvPr/>
        </p:nvSpPr>
        <p:spPr>
          <a:xfrm>
            <a:off x="6227064" y="4160520"/>
            <a:ext cx="438912" cy="438912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8" descr="/home/claude/context_eng_deck/asset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5819" y="4259275"/>
            <a:ext cx="241402" cy="24140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227064" y="4727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De-duplication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6227064" y="5074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repeated tool/schema definitions and resolved dispute threads instead of replaying them every turn.</a:t>
            </a:r>
            <a:endParaRPr lang="en-US" sz="940" dirty="0"/>
          </a:p>
        </p:txBody>
      </p:sp>
      <p:sp>
        <p:nvSpPr>
          <p:cNvPr id="51" name="Shape 40"/>
          <p:cNvSpPr/>
          <p:nvPr/>
        </p:nvSpPr>
        <p:spPr>
          <a:xfrm>
            <a:off x="8791956" y="3977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1"/>
          <p:cNvSpPr/>
          <p:nvPr/>
        </p:nvSpPr>
        <p:spPr>
          <a:xfrm>
            <a:off x="8974836" y="4160520"/>
            <a:ext cx="438912" cy="438912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9" descr="/home/claude/context_eng_deck/assets/filt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3591" y="4259275"/>
            <a:ext cx="241402" cy="24140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8974836" y="4727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</a:t>
            </a:r>
            <a:endParaRPr lang="en-US" sz="1150" dirty="0"/>
          </a:p>
        </p:txBody>
      </p:sp>
      <p:sp>
        <p:nvSpPr>
          <p:cNvPr id="55" name="Text 43"/>
          <p:cNvSpPr/>
          <p:nvPr/>
        </p:nvSpPr>
        <p:spPr>
          <a:xfrm>
            <a:off x="8974836" y="5074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4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active disputes and open cases; closed cases are summarized, not replayed verbatim.</a:t>
            </a:r>
            <a:endParaRPr lang="en-US" sz="940" dirty="0"/>
          </a:p>
        </p:txBody>
      </p:sp>
      <p:sp>
        <p:nvSpPr>
          <p:cNvPr id="56" name="Text 4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57" name="Text 4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8" name="Text 46">
            <a:hlinkClick r:id="rId10" action="ppaction://hlinksldjump" tooltip="Back to the 5-pattern overview"/>
          </p:cNvPr>
          <p:cNvSpPr/>
          <p:nvPr/>
        </p:nvSpPr>
        <p:spPr>
          <a:xfrm>
            <a:off x="6400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Back to the 5-pattern overvie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All 5 Patterns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PATTERN 3 · CONTEXT OFFLOADING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Offloading Mechanics in ADK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presentation are separated: durable sources compile into a per-turn working 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029968"/>
            <a:ext cx="493776" cy="493776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8" y="2141068"/>
            <a:ext cx="271577" cy="2715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517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30175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working memory scoped to one conversation — e.g. active dispute case ID, current step in the flow.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3296412" y="1828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97580" y="2029968"/>
            <a:ext cx="493776" cy="493776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context_eng_deck/asset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680" y="2141068"/>
            <a:ext cx="271577" cy="2715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7580" y="26517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97580" y="30175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Long-term, cross-session knowledge, semantically searchable — e.g. KYC profile, past dispute patterns, stated preferences.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6044184" y="1828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245352" y="2029968"/>
            <a:ext cx="493776" cy="493776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context_eng_deck/asset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452" y="2141068"/>
            <a:ext cx="271577" cy="27157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45352" y="26517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45352" y="30175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blobs referenced, not inlined — e.g. a monthly statement PDF or a signed dispute form, fetched only when needed.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8791956" y="18288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993124" y="2029968"/>
            <a:ext cx="493776" cy="493776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context_eng_deck/assets/compres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4224" y="2141068"/>
            <a:ext cx="271577" cy="27157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93124" y="265176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993124" y="301752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turns are summarized by a compaction processor instead of replayed verbatim, capping history growth.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548640" y="4526280"/>
            <a:ext cx="274320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691640" y="469087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context_eng_deck/assets/site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4510" y="4793742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" y="52029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Memory, Artifacts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58368" y="551383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sources</a:t>
            </a:r>
            <a:endParaRPr lang="en-US" sz="880" dirty="0"/>
          </a:p>
        </p:txBody>
      </p:sp>
      <p:sp>
        <p:nvSpPr>
          <p:cNvPr id="30" name="Shape 23"/>
          <p:cNvSpPr/>
          <p:nvPr/>
        </p:nvSpPr>
        <p:spPr>
          <a:xfrm>
            <a:off x="3401568" y="5143500"/>
            <a:ext cx="146304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context_eng_deck/assets/arrowrigh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1296" y="5024628"/>
            <a:ext cx="237744" cy="237744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749040" y="4526280"/>
            <a:ext cx="256032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4800600" y="469087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/home/claude/context_eng_deck/assets/cog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3470" y="4793742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840480" y="5202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Compaction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3858768" y="551383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pipeline</a:t>
            </a:r>
            <a:endParaRPr lang="en-US" sz="880" dirty="0"/>
          </a:p>
        </p:txBody>
      </p:sp>
      <p:sp>
        <p:nvSpPr>
          <p:cNvPr id="37" name="Shape 28"/>
          <p:cNvSpPr/>
          <p:nvPr/>
        </p:nvSpPr>
        <p:spPr>
          <a:xfrm>
            <a:off x="6400800" y="5143500"/>
            <a:ext cx="164592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7" descr="/home/claude/context_eng_deck/assets/arrowrigh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8816" y="5024628"/>
            <a:ext cx="237744" cy="237744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766560" y="452628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7772400" y="469087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8" descr="/home/claude/context_eng_deck/assets/layer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5270" y="4793742"/>
            <a:ext cx="251460" cy="25146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858000" y="5202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Context</a:t>
            </a:r>
            <a:endParaRPr lang="en-US" sz="1150" dirty="0"/>
          </a:p>
        </p:txBody>
      </p:sp>
      <p:sp>
        <p:nvSpPr>
          <p:cNvPr id="43" name="Text 32"/>
          <p:cNvSpPr/>
          <p:nvPr/>
        </p:nvSpPr>
        <p:spPr>
          <a:xfrm>
            <a:off x="6876288" y="5513832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compiled view</a:t>
            </a:r>
            <a:endParaRPr lang="en-US" sz="880" dirty="0"/>
          </a:p>
        </p:txBody>
      </p:sp>
      <p:sp>
        <p:nvSpPr>
          <p:cNvPr id="44" name="Shape 33"/>
          <p:cNvSpPr/>
          <p:nvPr/>
        </p:nvSpPr>
        <p:spPr>
          <a:xfrm>
            <a:off x="9326880" y="5143500"/>
            <a:ext cx="146304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9" descr="/home/claude/context_eng_deck/assets/arrowrigh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608" y="5024628"/>
            <a:ext cx="237744" cy="237744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9674352" y="4526280"/>
            <a:ext cx="1965960" cy="1234440"/>
          </a:xfrm>
          <a:prstGeom prst="roundRect">
            <a:avLst>
              <a:gd name="adj" fmla="val 6667"/>
            </a:avLst>
          </a:prstGeom>
          <a:solidFill>
            <a:srgbClr val="0F2444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5"/>
          <p:cNvSpPr/>
          <p:nvPr/>
        </p:nvSpPr>
        <p:spPr>
          <a:xfrm>
            <a:off x="10428732" y="469087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0" descr="/home/claude/context_eng_deck/assets/robo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31602" y="4793742"/>
            <a:ext cx="251460" cy="25146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9765792" y="520293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50" name="Text 37"/>
          <p:cNvSpPr/>
          <p:nvPr/>
        </p:nvSpPr>
        <p:spPr>
          <a:xfrm>
            <a:off x="9784080" y="55138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turn's call</a:t>
            </a:r>
            <a:endParaRPr lang="en-US" sz="880" dirty="0"/>
          </a:p>
        </p:txBody>
      </p:sp>
      <p:sp>
        <p:nvSpPr>
          <p:cNvPr id="51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52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3" name="Text 40">
            <a:hlinkClick r:id="rId12" action="ppaction://hlinksldjump" tooltip="Back to the 5-pattern overview"/>
          </p:cNvPr>
          <p:cNvSpPr/>
          <p:nvPr/>
        </p:nvSpPr>
        <p:spPr>
          <a:xfrm>
            <a:off x="6400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Back to the 5-pattern overvie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All 5 Patterns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PATTERN 4 · CONTEXT CACHING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Caching — Reuse What Doesn't Change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inference engines reuse attention computation for a stable prompt prefix across calls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leading portion of the prompt — system instructions, policy text, tool schemas — stays identical across calls, the inference engine can skip recomputing it. ADK exposes this as a per-app cache configuration on Gemini 2.0+ models.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1B24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136392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ContextCacheConfig(</a:t>
            </a:r>
            <a:endParaRPr lang="en-US" sz="10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min_tokens=2048,    # min prefix size to cache</a:t>
            </a:r>
            <a:endParaRPr lang="en-US" sz="10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ttl_seconds=600,    # cache lifetime</a:t>
            </a:r>
            <a:endParaRPr lang="en-US" sz="10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cache_intervals=5,  # invocations before refresh</a:t>
            </a:r>
            <a:endParaRPr lang="en-US" sz="103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DC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548640" y="483717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min_tokens — minimum prefix size that triggers caching   ·   ttl_seconds — how long a cache entry lives   ·   cache_intervals — invocations before refresh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53328" y="1828800"/>
            <a:ext cx="5577840" cy="2423160"/>
          </a:xfrm>
          <a:prstGeom prst="roundRect">
            <a:avLst>
              <a:gd name="adj" fmla="val 339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81928" y="2057400"/>
            <a:ext cx="457200" cy="45720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context_eng_deck/assets/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798" y="216027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22008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Example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81928" y="26974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Card Dispute Policy Handbook, compliance disclosures, and tool schemas — a stable ≈8K-token prefix — once per TTL window. Thousands of customer sessions reuse that cached prefix; only the dynamic block (account, card &amp; transaction data) is computed fresh on every call.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4526280"/>
            <a:ext cx="1767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726936" y="4690872"/>
            <a:ext cx="420624" cy="42062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context_eng_deck/asset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576" y="4785512"/>
            <a:ext cx="231343" cy="23134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44768" y="5202936"/>
            <a:ext cx="158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144768" y="5513832"/>
            <a:ext cx="158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tokens skip recomputation</a:t>
            </a:r>
            <a:endParaRPr lang="en-US" sz="830" dirty="0"/>
          </a:p>
        </p:txBody>
      </p:sp>
      <p:sp>
        <p:nvSpPr>
          <p:cNvPr id="19" name="Shape 15"/>
          <p:cNvSpPr/>
          <p:nvPr/>
        </p:nvSpPr>
        <p:spPr>
          <a:xfrm>
            <a:off x="7958328" y="4526280"/>
            <a:ext cx="1767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631936" y="4690872"/>
            <a:ext cx="420624" cy="42062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/home/claude/context_eng_deck/asset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576" y="4785512"/>
            <a:ext cx="231343" cy="23134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49768" y="5202936"/>
            <a:ext cx="158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/ Call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049768" y="5513832"/>
            <a:ext cx="158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billed as fresh input</a:t>
            </a:r>
            <a:endParaRPr lang="en-US" sz="830" dirty="0"/>
          </a:p>
        </p:txBody>
      </p:sp>
      <p:sp>
        <p:nvSpPr>
          <p:cNvPr id="24" name="Shape 19"/>
          <p:cNvSpPr/>
          <p:nvPr/>
        </p:nvSpPr>
        <p:spPr>
          <a:xfrm>
            <a:off x="9863328" y="4526280"/>
            <a:ext cx="1767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0536936" y="4690872"/>
            <a:ext cx="420624" cy="42062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/home/claude/context_eng_deck/asset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1576" y="4785512"/>
            <a:ext cx="231343" cy="23134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954768" y="5202936"/>
            <a:ext cx="158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Refresh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9954768" y="5513832"/>
            <a:ext cx="158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&amp; cache_intervals keep it current</a:t>
            </a:r>
            <a:endParaRPr lang="en-US" sz="830" dirty="0"/>
          </a:p>
        </p:txBody>
      </p:sp>
      <p:sp>
        <p:nvSpPr>
          <p:cNvPr id="29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Text 25">
            <a:hlinkClick r:id="rId7" action="ppaction://hlinksldjump" tooltip="Back to the 5-pattern overview"/>
          </p:cNvPr>
          <p:cNvSpPr/>
          <p:nvPr/>
        </p:nvSpPr>
        <p:spPr>
          <a:xfrm>
            <a:off x="6400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Back to the 5-pattern overvie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All 5 Patterns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PATTERN 5 · STATIC + DYNAMIC PROMPTS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+ Dynamic Prompt Composition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what's fixed per session from what must refresh every turn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84832"/>
            <a:ext cx="512064" cy="512064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220004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— Cacheable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persona &amp; tone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 disclosures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matrix / dispute SLA rules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 &amp; output format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4800600"/>
            <a:ext cx="46634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4800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6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ADK:  static_instruction  parameter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36792" y="182880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0F2444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65392" y="2084832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context_eng_deck/asset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2200046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5472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— Refreshed Every Turn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56832" y="27889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account &amp; card status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transaction list (filtered + TOON-encoded)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dispute case state (Session State)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flags (Memory Bank)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56832" y="4800600"/>
            <a:ext cx="4663440" cy="457200"/>
          </a:xfrm>
          <a:prstGeom prst="roundRect">
            <a:avLst>
              <a:gd name="adj" fmla="val 18000"/>
            </a:avLst>
          </a:prstGeom>
          <a:solidFill>
            <a:srgbClr val="16315C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656832" y="48006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ADK:  per-turn instruction provider + state injection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56692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14400" y="566928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content is what you cache. Dynamic content is what you filter, offload, and compress.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3" name="Text 19">
            <a:hlinkClick r:id="rId5" action="ppaction://hlinksldjump" tooltip="Back to the 5-pattern overview"/>
          </p:cNvPr>
          <p:cNvSpPr/>
          <p:nvPr/>
        </p:nvSpPr>
        <p:spPr>
          <a:xfrm>
            <a:off x="64008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Back to the 5-pattern overvie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All 5 Patterns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Architecture — Cards &amp; Transactions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five ADK patterns combine in one production 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88720" cy="1417320"/>
          </a:xfrm>
          <a:prstGeom prst="roundRect">
            <a:avLst>
              <a:gd name="adj" fmla="val 6923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3055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us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23342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426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2648" y="2953512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voice channel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1764792" y="2674620"/>
            <a:ext cx="45720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936" y="255574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11680" y="1965960"/>
            <a:ext cx="2011680" cy="1417320"/>
          </a:xfrm>
          <a:prstGeom prst="roundRect">
            <a:avLst>
              <a:gd name="adj" fmla="val 5806"/>
            </a:avLst>
          </a:prstGeom>
          <a:solidFill>
            <a:srgbClr val="0F2444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788920" y="207568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context_eng_deck/asset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1790" y="217855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Agent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210312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Context — static + dynamic, compiled per turn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114800" y="2674620"/>
            <a:ext cx="118872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2555748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434840" y="1965960"/>
            <a:ext cx="2011680" cy="1417320"/>
          </a:xfrm>
          <a:prstGeom prst="roundRect">
            <a:avLst>
              <a:gd name="adj" fmla="val 5806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5212080" y="213055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/home/claude/context_eng_deck/asset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4950" y="2233422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26280" y="2642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Tools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4544568" y="29535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· Transactions · Disputes</a:t>
            </a:r>
            <a:endParaRPr lang="en-US" sz="880" dirty="0"/>
          </a:p>
        </p:txBody>
      </p:sp>
      <p:sp>
        <p:nvSpPr>
          <p:cNvPr id="24" name="Shape 17"/>
          <p:cNvSpPr/>
          <p:nvPr/>
        </p:nvSpPr>
        <p:spPr>
          <a:xfrm>
            <a:off x="6537960" y="2674620"/>
            <a:ext cx="118872" cy="0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555748"/>
            <a:ext cx="237744" cy="23774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858000" y="1965960"/>
            <a:ext cx="1143000" cy="1417320"/>
          </a:xfrm>
          <a:prstGeom prst="roundRect">
            <a:avLst>
              <a:gd name="adj" fmla="val 7200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7200900" y="2130552"/>
            <a:ext cx="457200" cy="457200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/home/claude/context_eng_deck/asset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3770" y="2233422"/>
            <a:ext cx="251460" cy="2514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49440" y="264261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6967728" y="2953512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customer</a:t>
            </a:r>
            <a:endParaRPr lang="en-US" sz="880" dirty="0"/>
          </a:p>
        </p:txBody>
      </p:sp>
      <p:sp>
        <p:nvSpPr>
          <p:cNvPr id="31" name="Shape 22"/>
          <p:cNvSpPr/>
          <p:nvPr/>
        </p:nvSpPr>
        <p:spPr>
          <a:xfrm>
            <a:off x="8321040" y="1737360"/>
            <a:ext cx="3319272" cy="3246120"/>
          </a:xfrm>
          <a:prstGeom prst="roundRect">
            <a:avLst>
              <a:gd name="adj" fmla="val 2535"/>
            </a:avLst>
          </a:prstGeom>
          <a:solidFill>
            <a:srgbClr val="F4F7FB"/>
          </a:solidFill>
          <a:ln w="12700">
            <a:solidFill>
              <a:srgbClr val="C9A227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8522208" y="193852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7" descr="/home/claude/context_eng_deck/asset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6848" y="2033168"/>
            <a:ext cx="231343" cy="23134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52560" y="1947672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Arize</a:t>
            </a:r>
            <a:endParaRPr lang="en-US" sz="1300" dirty="0"/>
          </a:p>
        </p:txBody>
      </p:sp>
      <p:sp>
        <p:nvSpPr>
          <p:cNvPr id="35" name="Text 25"/>
          <p:cNvSpPr/>
          <p:nvPr/>
        </p:nvSpPr>
        <p:spPr>
          <a:xfrm>
            <a:off x="8540496" y="2542032"/>
            <a:ext cx="2880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OpenInference / OTel spans on every LLM &amp; tool call</a:t>
            </a:r>
            <a:endParaRPr lang="en-US" sz="103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+ code evals on sampled traces</a:t>
            </a:r>
            <a:endParaRPr lang="en-US" sz="103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030" dirty="0">
                <a:solidFill>
                  <a:srgbClr val="16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traces, tagged by session.id / user.id</a:t>
            </a:r>
            <a:endParaRPr lang="en-US" sz="1030" dirty="0"/>
          </a:p>
        </p:txBody>
      </p:sp>
      <p:sp>
        <p:nvSpPr>
          <p:cNvPr id="36" name="Shape 26"/>
          <p:cNvSpPr/>
          <p:nvPr/>
        </p:nvSpPr>
        <p:spPr>
          <a:xfrm>
            <a:off x="3017520" y="1627632"/>
            <a:ext cx="0" cy="338328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3017520" y="1627632"/>
            <a:ext cx="539496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8412480" y="1627632"/>
            <a:ext cx="0" cy="109728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29"/>
          <p:cNvSpPr/>
          <p:nvPr/>
        </p:nvSpPr>
        <p:spPr>
          <a:xfrm>
            <a:off x="5440680" y="3383280"/>
            <a:ext cx="0" cy="50292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5440680" y="3886200"/>
            <a:ext cx="3246120" cy="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1"/>
          <p:cNvSpPr/>
          <p:nvPr/>
        </p:nvSpPr>
        <p:spPr>
          <a:xfrm>
            <a:off x="8686800" y="3383280"/>
            <a:ext cx="0" cy="502920"/>
          </a:xfrm>
          <a:prstGeom prst="line">
            <a:avLst/>
          </a:prstGeom>
          <a:noFill/>
          <a:ln w="15875">
            <a:solidFill>
              <a:srgbClr val="C9A22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548640" y="4069080"/>
            <a:ext cx="1554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3"/>
          <p:cNvSpPr/>
          <p:nvPr/>
        </p:nvSpPr>
        <p:spPr>
          <a:xfrm>
            <a:off x="1143000" y="4197096"/>
            <a:ext cx="365760" cy="36576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8" descr="/home/claude/context_eng_deck/assets/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5296" y="4279392"/>
            <a:ext cx="201168" cy="20116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94360" y="4636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</a:t>
            </a:r>
            <a:endParaRPr lang="en-US" sz="860" dirty="0"/>
          </a:p>
        </p:txBody>
      </p:sp>
      <p:sp>
        <p:nvSpPr>
          <p:cNvPr id="46" name="Shape 35"/>
          <p:cNvSpPr/>
          <p:nvPr/>
        </p:nvSpPr>
        <p:spPr>
          <a:xfrm>
            <a:off x="1325880" y="3163824"/>
            <a:ext cx="0" cy="886968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9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07008" y="3127248"/>
            <a:ext cx="237744" cy="237744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2240280" y="4069080"/>
            <a:ext cx="1554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37"/>
          <p:cNvSpPr/>
          <p:nvPr/>
        </p:nvSpPr>
        <p:spPr>
          <a:xfrm>
            <a:off x="2834640" y="4197096"/>
            <a:ext cx="365760" cy="36576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10" descr="/home/claude/context_eng_deck/assets/brain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6936" y="4279392"/>
            <a:ext cx="201168" cy="20116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2286000" y="4636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Bank</a:t>
            </a:r>
            <a:endParaRPr lang="en-US" sz="860" dirty="0"/>
          </a:p>
        </p:txBody>
      </p:sp>
      <p:sp>
        <p:nvSpPr>
          <p:cNvPr id="52" name="Shape 39"/>
          <p:cNvSpPr/>
          <p:nvPr/>
        </p:nvSpPr>
        <p:spPr>
          <a:xfrm>
            <a:off x="3017520" y="3163824"/>
            <a:ext cx="0" cy="886968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11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898648" y="3127248"/>
            <a:ext cx="237744" cy="237744"/>
          </a:xfrm>
          <a:prstGeom prst="rect">
            <a:avLst/>
          </a:prstGeom>
        </p:spPr>
      </p:pic>
      <p:sp>
        <p:nvSpPr>
          <p:cNvPr id="54" name="Shape 40"/>
          <p:cNvSpPr/>
          <p:nvPr/>
        </p:nvSpPr>
        <p:spPr>
          <a:xfrm>
            <a:off x="3931920" y="4069080"/>
            <a:ext cx="1554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1"/>
          <p:cNvSpPr/>
          <p:nvPr/>
        </p:nvSpPr>
        <p:spPr>
          <a:xfrm>
            <a:off x="4526280" y="4197096"/>
            <a:ext cx="365760" cy="36576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12" descr="/home/claude/context_eng_deck/assets/fil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8576" y="4279392"/>
            <a:ext cx="201168" cy="201168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3977640" y="463600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860" dirty="0"/>
          </a:p>
        </p:txBody>
      </p:sp>
      <p:sp>
        <p:nvSpPr>
          <p:cNvPr id="58" name="Shape 43"/>
          <p:cNvSpPr/>
          <p:nvPr/>
        </p:nvSpPr>
        <p:spPr>
          <a:xfrm>
            <a:off x="4709160" y="3163824"/>
            <a:ext cx="0" cy="886968"/>
          </a:xfrm>
          <a:prstGeom prst="line">
            <a:avLst/>
          </a:prstGeom>
          <a:noFill/>
          <a:ln w="22225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13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90288" y="3127248"/>
            <a:ext cx="237744" cy="237744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548640" y="53492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block (cached): instructions + policy.   Dynamic block (filtered + TOON-encoded): account, card &amp; transaction data.</a:t>
            </a:r>
            <a:endParaRPr lang="en-US" sz="950" dirty="0"/>
          </a:p>
        </p:txBody>
      </p:sp>
      <p:sp>
        <p:nvSpPr>
          <p:cNvPr id="61" name="Text 4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62" name="Text 4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WHAT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Make Context Quality Measurable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Nondeterministic agents need continuous measurement, not one-time testing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002536"/>
            <a:ext cx="493776" cy="493776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8" y="2113636"/>
            <a:ext cx="271577" cy="2715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&amp; Recall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560320"/>
            <a:ext cx="4946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working context include only — and all — the necessary facts? The right transactions, the right policy clause, nothing extra.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608076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81928" y="2002536"/>
            <a:ext cx="493776" cy="493776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context_eng_deck/asset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028" y="2113636"/>
            <a:ext cx="271577" cy="2715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Groundedness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81928" y="2560320"/>
            <a:ext cx="4946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response grounded in the offloaded or retrieved context, rather than a hallucinated balance or a prior turn's stale figure?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712464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49808" y="3931920"/>
            <a:ext cx="493776" cy="493776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context_eng_deck/assets/rout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08" y="4043020"/>
            <a:ext cx="271577" cy="27157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8953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&amp; Tool-Use Evals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49808" y="4489704"/>
            <a:ext cx="4946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call the right tools, in a sensible order, without redundant retrieval loops or wandering reasoning paths?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6080760" y="3712464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281928" y="3931920"/>
            <a:ext cx="493776" cy="493776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context_eng_deck/assets/gaug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028" y="4043020"/>
            <a:ext cx="271577" cy="27157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38953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Budget Regression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81928" y="4489704"/>
            <a:ext cx="4946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context-window utilization, cache-hit ratio, and history growth release-over-release to catch rot and bloat before production.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0F2444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49808" y="58064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context_eng_deck/asset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19" y="5892851"/>
            <a:ext cx="211226" cy="2112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80160" y="5715000"/>
            <a:ext cx="10195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angle: every dispute decision must be traceable to the actual transaction record used — not a remembered approximation. Evals are the audit trail.</a:t>
            </a:r>
            <a:endParaRPr lang="en-US" sz="106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Approach: Tracing &amp; Evals with Arize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raw spans to a continuously improving agent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12848" y="168249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12848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206654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context_eng_deck/assets/pl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2181758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272491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331012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 the ADK agent with OpenInference / OpenTelemetry — LLM calls, tool calls, state &amp; memory reads, and cache hits all become spans.</a:t>
            </a:r>
            <a:endParaRPr lang="en-US" sz="960" dirty="0"/>
          </a:p>
        </p:txBody>
      </p:sp>
      <p:pic>
        <p:nvPicPr>
          <p:cNvPr id="12" name="Image 1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278892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79776" y="182880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43984" y="168249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443984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980944" y="206654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context_eng_deck/assets/serv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6158" y="2181758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980944" y="272491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80944" y="331012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spans — token counts, cached vs. fresh tokens, latency, session.id / user.id — to Arize AX or Phoenix.</a:t>
            </a:r>
            <a:endParaRPr lang="en-US" sz="960" dirty="0"/>
          </a:p>
        </p:txBody>
      </p:sp>
      <p:pic>
        <p:nvPicPr>
          <p:cNvPr id="20" name="Image 3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788920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10912" y="182880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675120" y="168249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675120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212080" y="206654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context_eng_deck/assets/flas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294" y="2181758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2080" y="272491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212080" y="331012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LLM-as-judge templates (groundedness, relevance, tool selection, trajectory) plus code evals (context length, PII checks, cache-hit %) on production traces.</a:t>
            </a:r>
            <a:endParaRPr lang="en-US" sz="960" dirty="0"/>
          </a:p>
        </p:txBody>
      </p:sp>
      <p:pic>
        <p:nvPicPr>
          <p:cNvPr id="28" name="Image 5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788920"/>
            <a:ext cx="164592" cy="16459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7242048" y="182880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8906256" y="168249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8906256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7443216" y="206654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/home/claude/context_eng_deck/assets/databa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8430" y="2181758"/>
            <a:ext cx="281635" cy="28163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43216" y="272491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7443216" y="331012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flagged traces into versioned datasets for regression testing and experiments across prompt and context changes.</a:t>
            </a:r>
            <a:endParaRPr lang="en-US" sz="960" dirty="0"/>
          </a:p>
        </p:txBody>
      </p:sp>
      <p:pic>
        <p:nvPicPr>
          <p:cNvPr id="36" name="Image 7" descr="/home/claude/context_eng_deck/asset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788920"/>
            <a:ext cx="164592" cy="164592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9473184" y="182880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11137392" y="1682496"/>
            <a:ext cx="420624" cy="420624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11137392" y="1682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0"/>
          <p:cNvSpPr/>
          <p:nvPr/>
        </p:nvSpPr>
        <p:spPr>
          <a:xfrm>
            <a:off x="9674352" y="2066544"/>
            <a:ext cx="512064" cy="512064"/>
          </a:xfrm>
          <a:prstGeom prst="ellipse">
            <a:avLst/>
          </a:prstGeom>
          <a:solidFill>
            <a:srgbClr val="0F2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8" descr="/home/claude/context_eng_deck/assets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9566" y="2181758"/>
            <a:ext cx="281635" cy="28163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674352" y="272491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9674352" y="3310128"/>
            <a:ext cx="16824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findings back into filtering rules, cache TTLs, and the static / dynamic prompt boundary.</a:t>
            </a:r>
            <a:endParaRPr lang="en-US" sz="960" dirty="0"/>
          </a:p>
        </p:txBody>
      </p:sp>
      <p:sp>
        <p:nvSpPr>
          <p:cNvPr id="44" name="Shape 33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4"/>
          <p:cNvSpPr/>
          <p:nvPr/>
        </p:nvSpPr>
        <p:spPr>
          <a:xfrm>
            <a:off x="731520" y="5120640"/>
            <a:ext cx="3392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OpenInference / OTel spans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4306824" y="5120640"/>
            <a:ext cx="3392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session.id &amp; user.id tagging</a:t>
            </a:r>
            <a:endParaRPr lang="en-US" sz="1000" dirty="0"/>
          </a:p>
        </p:txBody>
      </p:sp>
      <p:sp>
        <p:nvSpPr>
          <p:cNvPr id="47" name="Text 36"/>
          <p:cNvSpPr/>
          <p:nvPr/>
        </p:nvSpPr>
        <p:spPr>
          <a:xfrm>
            <a:off x="7882128" y="5120640"/>
            <a:ext cx="3392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2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Dashboards: context utilization · rot indicators · cache-hit %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2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ideas to carry into your next agent 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185416"/>
            <a:ext cx="548640" cy="54864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context_eng_deck/assets/rou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308860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1956816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a budget, not a buffer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1444752" y="2377440"/>
            <a:ext cx="4270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history, and the prompt all compete for the same finite tokens.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6099048" y="1810512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00216" y="2185416"/>
            <a:ext cx="548640" cy="54864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context_eng_deck/assets/warn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60" y="230886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956816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compound quietly</a:t>
            </a:r>
            <a:endParaRPr lang="en-US" sz="1230" dirty="0"/>
          </a:p>
        </p:txBody>
      </p:sp>
      <p:sp>
        <p:nvSpPr>
          <p:cNvPr id="14" name="Text 10"/>
          <p:cNvSpPr/>
          <p:nvPr/>
        </p:nvSpPr>
        <p:spPr>
          <a:xfrm>
            <a:off x="6995160" y="2377440"/>
            <a:ext cx="4270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Rot, bloat, poisoning, distraction &amp; clash build up long before you hit the hard limit.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548640" y="324612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49808" y="3621024"/>
            <a:ext cx="548640" cy="54864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context_eng_deck/asset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3744468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44752" y="3392424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 is the durable fix</a:t>
            </a:r>
            <a:endParaRPr lang="en-US" sz="1230" dirty="0"/>
          </a:p>
        </p:txBody>
      </p:sp>
      <p:sp>
        <p:nvSpPr>
          <p:cNvPr id="19" name="Text 14"/>
          <p:cNvSpPr/>
          <p:nvPr/>
        </p:nvSpPr>
        <p:spPr>
          <a:xfrm>
            <a:off x="1444752" y="3813048"/>
            <a:ext cx="4270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data out of the live prompt; pull it back on demand instead of widening the window.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6099048" y="324612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300216" y="3621024"/>
            <a:ext cx="548640" cy="54864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context_eng_deck/asset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744468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3392424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compose, not compete</a:t>
            </a:r>
            <a:endParaRPr lang="en-US" sz="1230" dirty="0"/>
          </a:p>
        </p:txBody>
      </p:sp>
      <p:sp>
        <p:nvSpPr>
          <p:cNvPr id="24" name="Text 18"/>
          <p:cNvSpPr/>
          <p:nvPr/>
        </p:nvSpPr>
        <p:spPr>
          <a:xfrm>
            <a:off x="6995160" y="3813048"/>
            <a:ext cx="4270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TOON, filtering, caching, and static/dynamic prompts target different parts of the budget.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548640" y="468172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49808" y="5056632"/>
            <a:ext cx="548640" cy="54864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context_eng_deck/assets/site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" y="5180076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44752" y="4828032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beats ad hoc prompting</a:t>
            </a:r>
            <a:endParaRPr lang="en-US" sz="1230" dirty="0"/>
          </a:p>
        </p:txBody>
      </p:sp>
      <p:sp>
        <p:nvSpPr>
          <p:cNvPr id="29" name="Text 22"/>
          <p:cNvSpPr/>
          <p:nvPr/>
        </p:nvSpPr>
        <p:spPr>
          <a:xfrm>
            <a:off x="1444752" y="5248656"/>
            <a:ext cx="4270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State, Memory Bank, Artifacts, and caching give context engineering real structure.</a:t>
            </a:r>
            <a:endParaRPr lang="en-US" sz="960" dirty="0"/>
          </a:p>
        </p:txBody>
      </p:sp>
      <p:sp>
        <p:nvSpPr>
          <p:cNvPr id="30" name="Shape 23"/>
          <p:cNvSpPr/>
          <p:nvPr/>
        </p:nvSpPr>
        <p:spPr>
          <a:xfrm>
            <a:off x="6099048" y="468172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 w="12700">
            <a:solidFill>
              <a:srgbClr val="DCE4F0"/>
            </a:solidFill>
            <a:prstDash val="solid"/>
          </a:ln>
          <a:effectLst>
            <a:outerShdw blurRad="101600" dist="38100" dir="5400000" algn="bl" rotWithShape="0">
              <a:srgbClr val="0F24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6300216" y="5056632"/>
            <a:ext cx="548640" cy="548640"/>
          </a:xfrm>
          <a:prstGeom prst="ellipse">
            <a:avLst/>
          </a:prstGeom>
          <a:solidFill>
            <a:srgbClr val="3D6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context_eng_deck/assets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5180076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95160" y="4828032"/>
            <a:ext cx="4270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0" b="1" dirty="0">
                <a:solidFill>
                  <a:srgbClr val="0F2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turn quality into a metric</a:t>
            </a:r>
            <a:endParaRPr lang="en-US" sz="1230" dirty="0"/>
          </a:p>
        </p:txBody>
      </p:sp>
      <p:sp>
        <p:nvSpPr>
          <p:cNvPr id="34" name="Text 26"/>
          <p:cNvSpPr/>
          <p:nvPr/>
        </p:nvSpPr>
        <p:spPr>
          <a:xfrm>
            <a:off x="6995160" y="5248656"/>
            <a:ext cx="4270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and evals make context health observable, testable, and auditable — not a guess.</a:t>
            </a:r>
            <a:endParaRPr lang="en-US" sz="96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-2011680" y="4206240"/>
            <a:ext cx="5029200" cy="5029200"/>
          </a:xfrm>
          <a:prstGeom prst="roundRect">
            <a:avLst>
              <a:gd name="adj" fmla="val 9091"/>
            </a:avLst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32520" y="370332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3D6FA8">
              <a:alpha val="90000"/>
            </a:srgbClr>
          </a:solidFill>
          <a:ln w="15875">
            <a:solidFill>
              <a:srgbClr val="0F2444"/>
            </a:solidFill>
            <a:prstDash val="solid"/>
          </a:ln>
          <a:effectLst>
            <a:outerShdw blurRad="101600" dist="50800" dir="5400000" algn="bl" rotWithShape="0">
              <a:srgbClr val="0F24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025128" y="397764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1F7A6C">
              <a:alpha val="90000"/>
            </a:srgbClr>
          </a:solidFill>
          <a:ln w="15875">
            <a:solidFill>
              <a:srgbClr val="0F2444"/>
            </a:solidFill>
            <a:prstDash val="solid"/>
          </a:ln>
          <a:effectLst>
            <a:outerShdw blurRad="101600" dist="50800" dir="5400000" algn="bl" rotWithShape="0">
              <a:srgbClr val="0F24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17736" y="42519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C9A227"/>
          </a:solidFill>
          <a:ln w="15875">
            <a:solidFill>
              <a:srgbClr val="0F2444"/>
            </a:solidFill>
            <a:prstDash val="solid"/>
          </a:ln>
          <a:effectLst>
            <a:outerShdw blurRad="101600" dist="50800" dir="5400000" algn="bl" rotWithShape="0">
              <a:srgbClr val="0F24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06840" y="397764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E8D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06840" y="4937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•••• •••• •••• 4821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 context engineering for your agents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4069080"/>
            <a:ext cx="7150608" cy="0"/>
          </a:xfrm>
          <a:prstGeom prst="line">
            <a:avLst/>
          </a:prstGeom>
          <a:noFill/>
          <a:ln w="12700">
            <a:solidFill>
              <a:srgbClr val="2B4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" y="4297680"/>
            <a:ext cx="420624" cy="420624"/>
          </a:xfrm>
          <a:prstGeom prst="ellipse">
            <a:avLst/>
          </a:prstGeom>
          <a:solidFill>
            <a:srgbClr val="1B3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/home/claude/context_eng_deck/assets/compre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4402836"/>
            <a:ext cx="210312" cy="2103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47731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2130552" y="4297680"/>
            <a:ext cx="420624" cy="420624"/>
          </a:xfrm>
          <a:prstGeom prst="ellipse">
            <a:avLst/>
          </a:prstGeom>
          <a:solidFill>
            <a:srgbClr val="1B3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context_eng_deck/assets/fil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708" y="4402836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56232" y="47731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830" dirty="0"/>
          </a:p>
        </p:txBody>
      </p:sp>
      <p:sp>
        <p:nvSpPr>
          <p:cNvPr id="18" name="Shape 14"/>
          <p:cNvSpPr/>
          <p:nvPr/>
        </p:nvSpPr>
        <p:spPr>
          <a:xfrm>
            <a:off x="3547872" y="4297680"/>
            <a:ext cx="420624" cy="420624"/>
          </a:xfrm>
          <a:prstGeom prst="ellipse">
            <a:avLst/>
          </a:prstGeom>
          <a:solidFill>
            <a:srgbClr val="1B3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context_eng_deck/asset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3028" y="4402836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73552" y="47731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</a:t>
            </a:r>
            <a:endParaRPr lang="en-US" sz="830" dirty="0"/>
          </a:p>
        </p:txBody>
      </p:sp>
      <p:sp>
        <p:nvSpPr>
          <p:cNvPr id="21" name="Shape 16"/>
          <p:cNvSpPr/>
          <p:nvPr/>
        </p:nvSpPr>
        <p:spPr>
          <a:xfrm>
            <a:off x="4965192" y="4297680"/>
            <a:ext cx="420624" cy="420624"/>
          </a:xfrm>
          <a:prstGeom prst="ellipse">
            <a:avLst/>
          </a:prstGeom>
          <a:solidFill>
            <a:srgbClr val="1B3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context_eng_deck/asset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348" y="4402836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90872" y="47731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6382512" y="4297680"/>
            <a:ext cx="420624" cy="420624"/>
          </a:xfrm>
          <a:prstGeom prst="ellipse">
            <a:avLst/>
          </a:prstGeom>
          <a:solidFill>
            <a:srgbClr val="1B3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home/claude/context_eng_deck/assets/sca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7668" y="4402836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08192" y="47731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Static/Dynamic</a:t>
            </a:r>
            <a:endParaRPr lang="en-US" sz="83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RUNNER · EVENT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Generation: Four-Layer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EDF2FE"/>
          </a:solidFill>
          <a:ln w="12700">
            <a:solidFill>
              <a:srgbClr val="1A2B5E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53312" y="1618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Runner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1911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Event Producer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2423160"/>
            <a:ext cx="128016" cy="128016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23774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026664"/>
            <a:ext cx="128016" cy="128016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98094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function calls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630168"/>
            <a:ext cx="128016" cy="128016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7552" y="358444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responses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233672"/>
            <a:ext cx="128016" cy="128016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552" y="4187952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sub-agent responses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837176"/>
            <a:ext cx="128016" cy="128016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" y="4791456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text response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18688" y="3520440"/>
            <a:ext cx="164592" cy="9144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83280" y="141732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EDF2FE"/>
          </a:solidFill>
          <a:ln w="12700">
            <a:solidFill>
              <a:srgbClr val="1A2B5E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84448" y="1600200"/>
            <a:ext cx="502920" cy="502920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8444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87952" y="1618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Converter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87952" y="1911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Event-to-A2A Events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11880" y="2423160"/>
            <a:ext cx="128016" cy="128016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22192" y="23774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raw runner events to A2A protocol format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1880" y="3026664"/>
            <a:ext cx="128016" cy="128016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22192" y="298094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events for downstream filtering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53328" y="3520440"/>
            <a:ext cx="164592" cy="9144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141732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19088" y="1600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190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22592" y="1618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Handler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2592" y="1911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Transform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46520" y="2423160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656832" y="23774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Yields: artifact-update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302666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56832" y="298094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Yields: complete / failed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3630168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656832" y="358444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Yields: selected working events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423367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56832" y="4187952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Drops: internal intermediates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887968" y="3520440"/>
            <a:ext cx="164592" cy="9144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052560" y="141732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253728" y="1600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25372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857232" y="1618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857232" y="1911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Non-streaming vs Streaming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281160" y="2423160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491472" y="23774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Non-streaming → returns a clean task with empty history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281160" y="3026664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491472" y="2980944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→ yields only the filtered event stream in real time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EDF2F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68680" y="58064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Default Request Handler (Layer 3) acts as the gate — only artifact-update, complete/failed, and explicitly allowed working events pass to the caller. All LLM internals stay inside the Runner.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· Session Service Architecture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521440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 STORE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Session State is Stored &amp; Context IDs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389120"/>
          </a:xfrm>
          <a:prstGeom prst="roundRect">
            <a:avLst>
              <a:gd name="adj" fmla="val 1875"/>
            </a:avLst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27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Key Schema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TTL: 1 day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04672" y="2468880"/>
            <a:ext cx="4974336" cy="658368"/>
          </a:xfrm>
          <a:prstGeom prst="roundRect">
            <a:avLst>
              <a:gd name="adj" fmla="val 8333"/>
            </a:avLst>
          </a:prstGeom>
          <a:solidFill>
            <a:srgbClr val="172448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32688" y="25054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adk:session:{app}:{user}:{sid}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2688" y="2770632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27706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37360" y="27706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 state as flat JSON fields; one field per state key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4672" y="3246120"/>
            <a:ext cx="4974336" cy="658368"/>
          </a:xfrm>
          <a:prstGeom prst="roundRect">
            <a:avLst>
              <a:gd name="adj" fmla="val 8333"/>
            </a:avLst>
          </a:prstGeom>
          <a:solidFill>
            <a:srgbClr val="172448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32688" y="32826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adk:events:{app}:{user}:{sid}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32688" y="3547872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32688" y="354787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737360" y="3547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turn audit log, XADD per event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04672" y="4023360"/>
            <a:ext cx="4974336" cy="658368"/>
          </a:xfrm>
          <a:prstGeom prst="roundRect">
            <a:avLst>
              <a:gd name="adj" fmla="val 8333"/>
            </a:avLst>
          </a:prstGeom>
          <a:solidFill>
            <a:srgbClr val="172448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32688" y="4059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adk:user:{app}:{user}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32688" y="4325112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32688" y="432511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737360" y="4325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prefixed state — shared across all sessions for this user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04672" y="4800600"/>
            <a:ext cx="4974336" cy="658368"/>
          </a:xfrm>
          <a:prstGeom prst="roundRect">
            <a:avLst>
              <a:gd name="adj" fmla="val 8333"/>
            </a:avLst>
          </a:prstGeom>
          <a:solidFill>
            <a:srgbClr val="172448"/>
          </a:solidFill>
          <a:ln w="12700">
            <a:solidFill>
              <a:srgbClr val="2A3F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32688" y="48371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adk:app:{app}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932688" y="5102352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32688" y="51023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737360" y="51023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prefixed global config shared by all users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492240" y="1371600"/>
            <a:ext cx="5120640" cy="4389120"/>
          </a:xfrm>
          <a:prstGeom prst="roundRect">
            <a:avLst>
              <a:gd name="adj" fmla="val 1875"/>
            </a:avLst>
          </a:prstGeom>
          <a:solidFill>
            <a:srgbClr val="EDF2FE"/>
          </a:solidFill>
          <a:ln w="12700">
            <a:solidFill>
              <a:srgbClr val="CADCFC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600200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15200" y="16276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ID Propagation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812280" y="2286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Key  →  Context ID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812280" y="2670048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0F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949440" y="267004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session:{app_name}:{session_id}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9052560" y="3108960"/>
            <a:ext cx="9144" cy="320040"/>
          </a:xfrm>
          <a:prstGeom prst="line">
            <a:avLst/>
          </a:prstGeom>
          <a:noFill/>
          <a:ln w="25400">
            <a:solidFill>
              <a:srgbClr val="1A2B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812280" y="3447288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6949440" y="344728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ID  (forwarded supervisor → sub-agent)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812280" y="4114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Identifiers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812280" y="448056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1A2B5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812280" y="4480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9189720" y="448056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1A2B5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9189720" y="4480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812280" y="4956048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1A2B5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6812280" y="4956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ID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9189720" y="4956048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1A2B5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9189720" y="4956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548640" y="5824728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822960" y="582472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do NOT share or directly read each other's Redis sessions. The Google ADK Remote A2A agent handles Context ID forwarding from the supervisor to each sub-agent — Redis is accessed only by the supervisor via the SessionService.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· Session Service Architecture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11521440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→ Supervisor → Sub-Agents → Redis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37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Issues session 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channel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Authenticates user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91840" y="1508760"/>
            <a:ext cx="2194560" cy="1828800"/>
          </a:xfrm>
          <a:prstGeom prst="roundRect">
            <a:avLst>
              <a:gd name="adj" fmla="val 4500"/>
            </a:avLst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17373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313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56432" y="2679192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Runner entry point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via Intent Classifier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96896" y="2423160"/>
            <a:ext cx="658368" cy="914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633472" y="2039112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 + message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400800" y="1417320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537960" y="1673352"/>
            <a:ext cx="347472" cy="347472"/>
          </a:xfrm>
          <a:prstGeom prst="ellipse">
            <a:avLst/>
          </a:prstGeom>
          <a:solidFill>
            <a:srgbClr val="1A2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995160" y="141732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1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(Loan)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 flipV="1">
            <a:off x="5522976" y="1897380"/>
            <a:ext cx="841248" cy="525780"/>
          </a:xfrm>
          <a:prstGeom prst="line">
            <a:avLst/>
          </a:prstGeom>
          <a:noFill/>
          <a:ln w="2286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0" y="2578608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537960" y="2834640"/>
            <a:ext cx="347472" cy="347472"/>
          </a:xfrm>
          <a:prstGeom prst="ellipse">
            <a:avLst/>
          </a:prstGeom>
          <a:solidFill>
            <a:srgbClr val="2A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995160" y="2578608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2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(Billing)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522976" y="2423160"/>
            <a:ext cx="841248" cy="635508"/>
          </a:xfrm>
          <a:prstGeom prst="line">
            <a:avLst/>
          </a:prstGeom>
          <a:noFill/>
          <a:ln w="2286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400800" y="3739896"/>
            <a:ext cx="22860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537960" y="3995928"/>
            <a:ext cx="347472" cy="347472"/>
          </a:xfrm>
          <a:prstGeom prst="ellipse">
            <a:avLst/>
          </a:prstGeom>
          <a:solidFill>
            <a:srgbClr val="1B4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995160" y="3739896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3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F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(FAQ)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522976" y="2423160"/>
            <a:ext cx="841248" cy="1796796"/>
          </a:xfrm>
          <a:prstGeom prst="line">
            <a:avLst/>
          </a:prstGeom>
          <a:noFill/>
          <a:ln w="2286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541264" y="34472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AgentTool delegation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9144000" y="1508760"/>
            <a:ext cx="2514600" cy="3383280"/>
          </a:xfrm>
          <a:prstGeom prst="roundRect">
            <a:avLst>
              <a:gd name="adj" fmla="val 3273"/>
            </a:avLst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709928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058400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10058400" y="2084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9400032" y="26060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9619488" y="2514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adk:session (Hash)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9400032" y="297180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9619488" y="2880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adk:events (Stream)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9400032" y="333756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9619488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adk:user (Hash)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400032" y="370332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9619488" y="3611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adk:app (Hash)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9400032" y="406908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9619488" y="39776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TTL: 1 day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9400032" y="4434840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/>
          <p:nvPr/>
        </p:nvSpPr>
        <p:spPr>
          <a:xfrm>
            <a:off x="9619488" y="43434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Lua merge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4389120" y="3374136"/>
            <a:ext cx="6012180" cy="153619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4297680" y="3392424"/>
            <a:ext cx="6103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append session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457200" y="5074920"/>
            <a:ext cx="3611880" cy="1005840"/>
          </a:xfrm>
          <a:prstGeom prst="roundRect">
            <a:avLst>
              <a:gd name="adj" fmla="val 8182"/>
            </a:avLst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/>
          <p:nvPr/>
        </p:nvSpPr>
        <p:spPr>
          <a:xfrm>
            <a:off x="640080" y="51846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resolved every turn</a:t>
            </a:r>
            <a:endParaRPr lang="en-US" sz="1150" dirty="0"/>
          </a:p>
        </p:txBody>
      </p:sp>
      <p:sp>
        <p:nvSpPr>
          <p:cNvPr id="47" name="Text 42"/>
          <p:cNvSpPr/>
          <p:nvPr/>
        </p:nvSpPr>
        <p:spPr>
          <a:xfrm>
            <a:off x="640080" y="55046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get_session() → create if missing → runner.run_async()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4224528" y="5074920"/>
            <a:ext cx="3611880" cy="1005840"/>
          </a:xfrm>
          <a:prstGeom prst="roundRect">
            <a:avLst>
              <a:gd name="adj" fmla="val 818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4407408" y="51846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state injection</a:t>
            </a:r>
            <a:endParaRPr lang="en-US" sz="1150" dirty="0"/>
          </a:p>
        </p:txBody>
      </p:sp>
      <p:sp>
        <p:nvSpPr>
          <p:cNvPr id="50" name="Text 45"/>
          <p:cNvSpPr/>
          <p:nvPr/>
        </p:nvSpPr>
        <p:spPr>
          <a:xfrm>
            <a:off x="4407408" y="55046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+ locale via state_delta, stripped before Redis write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7991856" y="5074920"/>
            <a:ext cx="3611880" cy="1005840"/>
          </a:xfrm>
          <a:prstGeom prst="roundRect">
            <a:avLst>
              <a:gd name="adj" fmla="val 8182"/>
            </a:avLst>
          </a:prstGeom>
          <a:solidFill>
            <a:srgbClr val="EDF2FE"/>
          </a:solidFill>
          <a:ln w="12700">
            <a:solidFill>
              <a:srgbClr val="1A2B5E"/>
            </a:solidFill>
            <a:prstDash val="solid"/>
          </a:ln>
          <a:effectLst>
            <a:outerShdw blurRad="88900" dist="25400" dir="5400000" algn="bl" rotWithShape="0">
              <a:srgbClr val="1A2B5E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174736" y="51846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Namespaced sub-agent state</a:t>
            </a:r>
            <a:endParaRPr lang="en-US" sz="1150" dirty="0"/>
          </a:p>
        </p:txBody>
      </p:sp>
      <p:sp>
        <p:nvSpPr>
          <p:cNvPr id="53" name="Text 48"/>
          <p:cNvSpPr/>
          <p:nvPr/>
        </p:nvSpPr>
        <p:spPr>
          <a:xfrm>
            <a:off x="8174736" y="55046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loan_flow_step, billing_flow_step — one flow per namespace</a:t>
            </a:r>
            <a:endParaRPr lang="en-US" sz="950" dirty="0"/>
          </a:p>
        </p:txBody>
      </p:sp>
      <p:sp>
        <p:nvSpPr>
          <p:cNvPr id="54" name="Text 49"/>
          <p:cNvSpPr/>
          <p:nvPr/>
        </p:nvSpPr>
        <p:spPr>
          <a:xfrm>
            <a:off x="548640" y="6473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· Session Service Architecture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11521440" y="6473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3027</Words>
  <Application>Microsoft Office PowerPoint</Application>
  <PresentationFormat>Widescreen</PresentationFormat>
  <Paragraphs>461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</dc:title>
  <dc:subject>PptxGenJS Presentation</dc:subject>
  <dc:creator>Context Engineering</dc:creator>
  <cp:lastModifiedBy>Sunil Kumar</cp:lastModifiedBy>
  <cp:revision>2</cp:revision>
  <dcterms:created xsi:type="dcterms:W3CDTF">2026-06-21T23:58:54Z</dcterms:created>
  <dcterms:modified xsi:type="dcterms:W3CDTF">2026-06-22T15:18:09Z</dcterms:modified>
</cp:coreProperties>
</file>