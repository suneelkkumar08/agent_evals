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026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754880" y="0"/>
            <a:ext cx="73152" cy="685800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2920" y="2011680"/>
            <a:ext cx="4023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Tracing &amp; Evaluation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ADK Agentic Applications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" y="3200400"/>
            <a:ext cx="1463040" cy="45720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33832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 · July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63093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Conversational AI Platform Team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20640" y="8229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deck covers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120640" y="1170432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230368" y="1353312"/>
            <a:ext cx="347472" cy="347472"/>
          </a:xfrm>
          <a:prstGeom prst="ellipse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30368" y="13533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1261872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15000" y="151790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layers Arize monitors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120640" y="1929384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230368" y="2112264"/>
            <a:ext cx="347472" cy="347472"/>
          </a:xfrm>
          <a:prstGeom prst="ellipse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30368" y="21122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2020824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Arize traces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15000" y="2276856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Spans, attributes, and latency per layer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20640" y="2688336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30368" y="2871216"/>
            <a:ext cx="347472" cy="347472"/>
          </a:xfrm>
          <a:prstGeom prst="ellipse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30368" y="28712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2779776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eval types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715000" y="3035808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eval · LLM-as-Judge · Composite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3447288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230368" y="3630168"/>
            <a:ext cx="347472" cy="347472"/>
          </a:xfrm>
          <a:prstGeom prst="ellipse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30368" y="3630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3538728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quality metrics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15000" y="3794760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and composite score dashboard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20640" y="4206240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230368" y="4389120"/>
            <a:ext cx="347472" cy="347472"/>
          </a:xfrm>
          <a:prstGeom prst="ellipse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230368" y="43891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15000" y="4297680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and feedback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715000" y="4553712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Alerting rules and ADK Evals loop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4965192"/>
            <a:ext cx="6675120" cy="713232"/>
          </a:xfrm>
          <a:prstGeom prst="roundRect">
            <a:avLst>
              <a:gd name="adj" fmla="val 10256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230368" y="5148072"/>
            <a:ext cx="347472" cy="347472"/>
          </a:xfrm>
          <a:prstGeom prst="ellipse">
            <a:avLst/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230368" y="5148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715000" y="5056632"/>
            <a:ext cx="5852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Event-driven evaluation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715000" y="5312664"/>
            <a:ext cx="5852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Arize evals trigger on agent events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architecture — what Arize traces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user request flows through four layers. Arize captures the complete trace across all of them.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EEDFE"/>
          </a:solidFill>
          <a:ln w="1016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207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SUPERVISOR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Entry point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007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Intent classification (LLM/Spacy)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19019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Agent routing decisions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Hallucination checks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27248" y="2304288"/>
            <a:ext cx="283464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91840" y="2203704"/>
            <a:ext cx="128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2900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1F5EE"/>
          </a:solidFill>
          <a:ln w="1016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66160" y="1207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DOMAIN AGENT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66160" y="17007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Context understanding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19019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Tool planning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Invoking MCP calls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99048" y="2304288"/>
            <a:ext cx="283464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2203704"/>
            <a:ext cx="128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E6F1FB"/>
          </a:solidFill>
          <a:ln w="1016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7960" y="1207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 MCP TOOLS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3796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17007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Tool trajectory sequence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19019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Response / status codes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537960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Tool input / output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70848" y="2304288"/>
            <a:ext cx="283464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235440" y="2203704"/>
            <a:ext cx="12801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372600" y="1097280"/>
            <a:ext cx="2651760" cy="2468880"/>
          </a:xfrm>
          <a:prstGeom prst="roundRect">
            <a:avLst>
              <a:gd name="adj" fmla="val 3704"/>
            </a:avLst>
          </a:prstGeom>
          <a:solidFill>
            <a:srgbClr val="FAEEDA"/>
          </a:solidFill>
          <a:ln w="1016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509760" y="120700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LLM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509760" y="14447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509760" y="1700784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LLM summarization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509760" y="1901952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Completeness of final answer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509760" y="210312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Tone and safety check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767328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762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0080" y="3858768"/>
            <a:ext cx="10881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captures every span across all four layers in a single trace — routing decision, tool calls, parameters, status codes, token usage, and final LLM output — with two lines of SDK code.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5760" y="6492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 · ADK Agent Evaluation Framework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one trace looks like in Arize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says "Book me a flight to London next Friday" — trace ID: tr_a8f2c1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0515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latency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66928" y="12161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2.16s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273552" y="100584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0" y="10515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tokens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383280" y="12161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89904" y="100584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99632" y="10515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per trace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99632" y="12161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906256" y="1005840"/>
            <a:ext cx="2606040" cy="548640"/>
          </a:xfrm>
          <a:prstGeom prst="roundRect">
            <a:avLst>
              <a:gd name="adj" fmla="val 1166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15984" y="105156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score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15984" y="121615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 / 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1828800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20240" y="1874520"/>
            <a:ext cx="6949440" cy="329184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20240" y="1874520"/>
            <a:ext cx="457200" cy="329184"/>
          </a:xfrm>
          <a:prstGeom prst="roundRect">
            <a:avLst>
              <a:gd name="adj" fmla="val 11111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975104" y="1901952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120ms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9034272" y="1920240"/>
            <a:ext cx="2606040" cy="237744"/>
          </a:xfrm>
          <a:prstGeom prst="roundRect">
            <a:avLst>
              <a:gd name="adj" fmla="val 34615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07424" y="1920240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routing ✓   intent 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57200" y="2340864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agent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920240" y="2386584"/>
            <a:ext cx="6949440" cy="329184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309409" y="2386584"/>
            <a:ext cx="806135" cy="329184"/>
          </a:xfrm>
          <a:prstGeom prst="roundRect">
            <a:avLst>
              <a:gd name="adj" fmla="val 11111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64273" y="2414016"/>
            <a:ext cx="7329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9034272" y="2432304"/>
            <a:ext cx="2606040" cy="237744"/>
          </a:xfrm>
          <a:prstGeom prst="roundRect">
            <a:avLst>
              <a:gd name="adj" fmla="val 34615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07424" y="2432304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trajectory ✓   params ✓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2852928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search_flights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920240" y="2898648"/>
            <a:ext cx="6949440" cy="329184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115544" y="2898648"/>
            <a:ext cx="2640787" cy="329184"/>
          </a:xfrm>
          <a:prstGeom prst="roundRect">
            <a:avLst>
              <a:gd name="adj" fmla="val 11111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170408" y="2926080"/>
            <a:ext cx="25676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820ms · 200 OK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9034272" y="2944368"/>
            <a:ext cx="2606040" cy="237744"/>
          </a:xfrm>
          <a:prstGeom prst="roundRect">
            <a:avLst>
              <a:gd name="adj" fmla="val 34615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107424" y="2944368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status 200 ✓   schema ✓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7200" y="3364992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confirm_booking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920240" y="3410712"/>
            <a:ext cx="6949440" cy="329184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811926" y="3410712"/>
            <a:ext cx="1389888" cy="329184"/>
          </a:xfrm>
          <a:prstGeom prst="roundRect">
            <a:avLst>
              <a:gd name="adj" fmla="val 11111"/>
            </a:avLst>
          </a:prstGeom>
          <a:solidFill>
            <a:srgbClr val="377ADD"/>
          </a:solidFill>
          <a:ln w="12700">
            <a:solidFill>
              <a:srgbClr val="377A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866790" y="3438144"/>
            <a:ext cx="1316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430ms · 200 OK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9034272" y="3456432"/>
            <a:ext cx="2606040" cy="237744"/>
          </a:xfrm>
          <a:prstGeom prst="roundRect">
            <a:avLst>
              <a:gd name="adj" fmla="val 34615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107424" y="345643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booking ref XK7821 ✓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57200" y="3877056"/>
            <a:ext cx="1417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summarize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920240" y="3922776"/>
            <a:ext cx="6949440" cy="329184"/>
          </a:xfrm>
          <a:prstGeom prst="roundRect">
            <a:avLst>
              <a:gd name="adj" fmla="val 11111"/>
            </a:avLst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201814" y="3922776"/>
            <a:ext cx="1667866" cy="329184"/>
          </a:xfrm>
          <a:prstGeom prst="roundRect">
            <a:avLst>
              <a:gd name="adj" fmla="val 11111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256678" y="3950208"/>
            <a:ext cx="159471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540ms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034272" y="3968496"/>
            <a:ext cx="2606040" cy="237744"/>
          </a:xfrm>
          <a:prstGeom prst="roundRect">
            <a:avLst>
              <a:gd name="adj" fmla="val 34615"/>
            </a:avLst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107424" y="3968496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completeness 4.8   halluc-free ✓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65760" y="6492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 · ADK Agent Evaluation Framework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evaluation types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type targets a different class of quality failure — used in combination across all four agent layers.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7033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762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1792" y="1216152"/>
            <a:ext cx="384048" cy="384048"/>
          </a:xfrm>
          <a:prstGeom prst="ellipse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&lt;/&gt;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234440"/>
            <a:ext cx="2898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eval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435608"/>
            <a:ext cx="2898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Python function — zero LLM cost, runs on 100% of traces instantly.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" y="1828800"/>
            <a:ext cx="3374136" cy="1234440"/>
          </a:xfrm>
          <a:prstGeom prst="roundRect">
            <a:avLst>
              <a:gd name="adj" fmla="val 4444"/>
            </a:avLst>
          </a:prstGeom>
          <a:solidFill>
            <a:srgbClr val="F4F3E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94944" y="1874520"/>
            <a:ext cx="32278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eval_routing(attrs) -&gt; bool: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 = {"cancel": "CancellationAgent",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"book":   "BookingAgent"}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k, v in rules.items():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k in attrs["input"]: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attrs["routed_to"] == v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True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1792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1536192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536192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Trajectory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450592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50592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64992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364992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370832" y="1051560"/>
            <a:ext cx="37033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762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35424" y="1216152"/>
            <a:ext cx="384048" cy="384048"/>
          </a:xfrm>
          <a:prstGeom prst="ellipse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35424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⚖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10912" y="1234440"/>
            <a:ext cx="2898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10912" y="1435608"/>
            <a:ext cx="2898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judge LLM scores each trace against a rubric you define — applied to sampled traffic.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35424" y="1828800"/>
            <a:ext cx="3374136" cy="1234440"/>
          </a:xfrm>
          <a:prstGeom prst="roundRect">
            <a:avLst>
              <a:gd name="adj" fmla="val 4444"/>
            </a:avLst>
          </a:prstGeom>
          <a:solidFill>
            <a:srgbClr val="F4F3E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608576" y="1874520"/>
            <a:ext cx="32278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Judge prompt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1-5 on helpfulness: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= fully resolves user intent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= partial, needs follow-up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= off-topic or confused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Return: {"score": N,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"reason": "..."}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535424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35424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Helpfulness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9824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49824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64224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64224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78624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78624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284464" y="1051560"/>
            <a:ext cx="370332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762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8449056" y="1216152"/>
            <a:ext cx="384048" cy="384048"/>
          </a:xfrm>
          <a:prstGeom prst="ellipse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8449056" y="121615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924544" y="1234440"/>
            <a:ext cx="28986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eval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924544" y="1435608"/>
            <a:ext cx="2898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blend of multiple evals into one quality signal — for dashboards and release gates.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8449056" y="1828800"/>
            <a:ext cx="3374136" cy="1234440"/>
          </a:xfrm>
          <a:prstGeom prst="roundRect">
            <a:avLst>
              <a:gd name="adj" fmla="val 4444"/>
            </a:avLst>
          </a:prstGeom>
          <a:solidFill>
            <a:srgbClr val="F4F3EF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522208" y="1874520"/>
            <a:ext cx="3227832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Weighted composite score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0.30 × routing_pass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+ 0.25 × trajectory_pass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+ 0.25 × helpfulness_score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+ 0.20 × hallucination_free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D2D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Target: ≥ 4.0 / 5.0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8449056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449056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gates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363456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363456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277856" y="3703320"/>
            <a:ext cx="841248" cy="201168"/>
          </a:xfrm>
          <a:prstGeom prst="roundRect">
            <a:avLst>
              <a:gd name="adj" fmla="val 27273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10277856" y="3703320"/>
            <a:ext cx="841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dashboard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65760" y="6492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 · ADK Agent Evaluation Framework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Evals mapped to every architecture layer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layer has distinct failure modes — and its own dedicated eval type to catch them.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371600" cy="32918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737360" y="1005840"/>
            <a:ext cx="2834640" cy="32918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10058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Arize captures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005840"/>
            <a:ext cx="2286000" cy="32918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100584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type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58000" y="1005840"/>
            <a:ext cx="2468880" cy="32918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49440" y="100584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checks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326880" y="1005840"/>
            <a:ext cx="1691640" cy="329184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18320" y="1005840"/>
            <a:ext cx="1600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335024"/>
            <a:ext cx="1371600" cy="475488"/>
          </a:xfrm>
          <a:prstGeom prst="rect">
            <a:avLst/>
          </a:prstGeom>
          <a:solidFill>
            <a:srgbClr val="EEEDFE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737360" y="1335024"/>
            <a:ext cx="2834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1335024"/>
            <a:ext cx="22860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58000" y="1335024"/>
            <a:ext cx="24688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326880" y="1335024"/>
            <a:ext cx="1691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133502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28800" y="133502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intent, routed_to, confidence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663440" y="1335024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eval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949440" y="133502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&amp; intent classification accuracy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9418320" y="133502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90%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1847088"/>
            <a:ext cx="1371600" cy="475488"/>
          </a:xfrm>
          <a:prstGeom prst="rect">
            <a:avLst/>
          </a:prstGeom>
          <a:solidFill>
            <a:srgbClr val="EEEDFE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737360" y="1847088"/>
            <a:ext cx="283464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0" y="1847088"/>
            <a:ext cx="228600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858000" y="1847088"/>
            <a:ext cx="246888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326880" y="1847088"/>
            <a:ext cx="169164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7200" y="184708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828800" y="184708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vs tool_outputs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663440" y="184708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49440" y="184708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detection — fabricated facts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418320" y="184708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2359152"/>
            <a:ext cx="1371600" cy="475488"/>
          </a:xfrm>
          <a:prstGeom prst="rect">
            <a:avLst/>
          </a:prstGeom>
          <a:solidFill>
            <a:srgbClr val="E1F5EE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737360" y="2359152"/>
            <a:ext cx="2834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2359152"/>
            <a:ext cx="22860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858000" y="2359152"/>
            <a:ext cx="24688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326880" y="2359152"/>
            <a:ext cx="1691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" y="235915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agent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828800" y="2359152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tool_trajectory, tool_plan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663440" y="2359152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eval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949440" y="235915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call sequence &amp; parameter validity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418320" y="2359152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95%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2871216"/>
            <a:ext cx="1371600" cy="475488"/>
          </a:xfrm>
          <a:prstGeom prst="rect">
            <a:avLst/>
          </a:prstGeom>
          <a:solidFill>
            <a:srgbClr val="E1F5EE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737360" y="2871216"/>
            <a:ext cx="283464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572000" y="2871216"/>
            <a:ext cx="228600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858000" y="2871216"/>
            <a:ext cx="246888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9326880" y="2871216"/>
            <a:ext cx="169164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57200" y="2871216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agent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828800" y="2871216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multi-turn input / output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4663440" y="2871216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949440" y="2871216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retention across conversation turns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418320" y="2871216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4.0 / 5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65760" y="3383280"/>
            <a:ext cx="1371600" cy="475488"/>
          </a:xfrm>
          <a:prstGeom prst="rect">
            <a:avLst/>
          </a:prstGeom>
          <a:solidFill>
            <a:srgbClr val="E6F1FB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1737360" y="3383280"/>
            <a:ext cx="2834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0" y="3383280"/>
            <a:ext cx="22860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858000" y="3383280"/>
            <a:ext cx="24688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9326880" y="3383280"/>
            <a:ext cx="1691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57200" y="3383280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tools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828800" y="3383280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status_code, tool input/output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4663440" y="3383280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eval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949440" y="33832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code handling &amp; schema validation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9418320" y="3383280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5760" y="3895344"/>
            <a:ext cx="1371600" cy="475488"/>
          </a:xfrm>
          <a:prstGeom prst="rect">
            <a:avLst/>
          </a:prstGeom>
          <a:solidFill>
            <a:srgbClr val="FAEEDA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1737360" y="3895344"/>
            <a:ext cx="283464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4572000" y="3895344"/>
            <a:ext cx="228600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858000" y="3895344"/>
            <a:ext cx="246888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9326880" y="3895344"/>
            <a:ext cx="1691640" cy="475488"/>
          </a:xfrm>
          <a:prstGeom prst="rect">
            <a:avLst/>
          </a:prstGeom>
          <a:solidFill>
            <a:srgbClr val="F8F8F6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457200" y="3895344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828800" y="3895344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vs tool_outputs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4663440" y="3895344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6949440" y="38953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 completeness and helpfulness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9418320" y="3895344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4.2 / 5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365760" y="4407408"/>
            <a:ext cx="1371600" cy="475488"/>
          </a:xfrm>
          <a:prstGeom prst="rect">
            <a:avLst/>
          </a:prstGeom>
          <a:solidFill>
            <a:srgbClr val="F1EFE8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1737360" y="4407408"/>
            <a:ext cx="2834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4572000" y="4407408"/>
            <a:ext cx="228600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858000" y="4407408"/>
            <a:ext cx="246888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9326880" y="4407408"/>
            <a:ext cx="1691640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57200" y="4407408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1828800" y="4407408"/>
            <a:ext cx="2697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layers combined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4663440" y="4407408"/>
            <a:ext cx="21488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eval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6949440" y="440740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overall quality signal for dashboards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9418320" y="440740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4.0 / 5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365760" y="6492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 · ADK Agent Evaluation Framework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quality metrics — booking agent (last 24h)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 surfacing KPIs and the weighted composite quality score across all four agent layers.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accuracy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4360" y="135331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94360" y="1737360"/>
            <a:ext cx="2423160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2277770" cy="54864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84708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+2% vs last week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07899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1887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trajectory pass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0" y="135331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474720" y="1737360"/>
            <a:ext cx="2423160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74720" y="1737360"/>
            <a:ext cx="2326234" cy="54864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0" y="184708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stable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107899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11887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helpfulness (LLM judge)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135331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 / 5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355080" y="1737360"/>
            <a:ext cx="2423160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55080" y="1737360"/>
            <a:ext cx="2083918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355080" y="184708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−0.1 — monitor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098280" y="1078992"/>
            <a:ext cx="2697480" cy="1051560"/>
          </a:xfrm>
          <a:prstGeom prst="roundRect">
            <a:avLst>
              <a:gd name="adj" fmla="val 6957"/>
            </a:avLst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235440" y="1188720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235440" y="135331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0.4%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235440" y="1737360"/>
            <a:ext cx="2423160" cy="5486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9235440" y="1737360"/>
            <a:ext cx="96926" cy="54864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235440" y="184708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below 2% threshold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23317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quality score breakdown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2606040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number for executives — six component bars for engineers to diagnose root cause.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2907792"/>
            <a:ext cx="1645920" cy="1645920"/>
          </a:xfrm>
          <a:prstGeom prst="ellipse">
            <a:avLst/>
          </a:prstGeom>
          <a:solidFill>
            <a:srgbClr val="F1EFE8"/>
          </a:solidFill>
          <a:ln w="190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58368" y="3108960"/>
            <a:ext cx="1243584" cy="12435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57200" y="331927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57200" y="3776472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5.0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57200" y="400507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Overall composite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377440" y="29260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accuracy  (Supervisor)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09360" y="3035808"/>
            <a:ext cx="3474720" cy="146304"/>
          </a:xfrm>
          <a:prstGeom prst="roundRect">
            <a:avLst>
              <a:gd name="adj" fmla="val 25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09360" y="3035808"/>
            <a:ext cx="3266237" cy="146304"/>
          </a:xfrm>
          <a:prstGeom prst="roundRect">
            <a:avLst>
              <a:gd name="adj" fmla="val 25000"/>
            </a:avLst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875520" y="29260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377440" y="342900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trajectory  (Domain agent)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309360" y="3538728"/>
            <a:ext cx="3474720" cy="146304"/>
          </a:xfrm>
          <a:prstGeom prst="roundRect">
            <a:avLst>
              <a:gd name="adj" fmla="val 25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09360" y="3538728"/>
            <a:ext cx="3335731" cy="146304"/>
          </a:xfrm>
          <a:prstGeom prst="roundRect">
            <a:avLst>
              <a:gd name="adj" fmla="val 25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9875520" y="342900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377440" y="39319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status codes  (MCP tools)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09360" y="4041648"/>
            <a:ext cx="3474720" cy="146304"/>
          </a:xfrm>
          <a:prstGeom prst="roundRect">
            <a:avLst>
              <a:gd name="adj" fmla="val 25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309360" y="4041648"/>
            <a:ext cx="3439973" cy="146304"/>
          </a:xfrm>
          <a:prstGeom prst="roundRect">
            <a:avLst>
              <a:gd name="adj" fmla="val 25000"/>
            </a:avLst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875520" y="393192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377440" y="4434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Helpfulness judge  (LLM)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09360" y="4544568"/>
            <a:ext cx="3474720" cy="146304"/>
          </a:xfrm>
          <a:prstGeom prst="roundRect">
            <a:avLst>
              <a:gd name="adj" fmla="val 25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309360" y="4544568"/>
            <a:ext cx="2988259" cy="146304"/>
          </a:xfrm>
          <a:prstGeom prst="roundRect">
            <a:avLst>
              <a:gd name="adj" fmla="val 25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9875520" y="443484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4.3/5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377440" y="49377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Hallucination-free  (LLM)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9360" y="5047488"/>
            <a:ext cx="3474720" cy="146304"/>
          </a:xfrm>
          <a:prstGeom prst="roundRect">
            <a:avLst>
              <a:gd name="adj" fmla="val 25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309360" y="5047488"/>
            <a:ext cx="3460821" cy="146304"/>
          </a:xfrm>
          <a:prstGeom prst="roundRect">
            <a:avLst>
              <a:gd name="adj" fmla="val 25000"/>
            </a:avLst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9875520" y="493776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99.6%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2377440" y="54406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Summarization quality  (LLM)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309360" y="5550408"/>
            <a:ext cx="3474720" cy="146304"/>
          </a:xfrm>
          <a:prstGeom prst="roundRect">
            <a:avLst>
              <a:gd name="adj" fmla="val 25000"/>
            </a:avLst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309360" y="5550408"/>
            <a:ext cx="2918765" cy="146304"/>
          </a:xfrm>
          <a:prstGeom prst="roundRect">
            <a:avLst>
              <a:gd name="adj" fmla="val 25000"/>
            </a:avLst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9875520" y="5440680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BA75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4.2/5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65760" y="6492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 · ADK Agent Evaluation Framework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and production feedback loop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quality drops, Arize alerts within 30 minutes. Every production failure feeds back into the pre-deployment test suite.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53035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762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alert rules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572768"/>
            <a:ext cx="5029200" cy="585216"/>
          </a:xfrm>
          <a:prstGeom prst="roundRect">
            <a:avLst>
              <a:gd name="adj" fmla="val 10938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773936"/>
            <a:ext cx="201168" cy="201168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87552" y="1627632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accuracy  &lt; 85%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87552" y="1865376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1hr  →  PagerDuty + Slack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2304288"/>
            <a:ext cx="5029200" cy="585216"/>
          </a:xfrm>
          <a:prstGeom prst="roundRect">
            <a:avLst>
              <a:gd name="adj" fmla="val 10938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2505456"/>
            <a:ext cx="201168" cy="201168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87552" y="2359152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Helpfulness avg  &lt; 3.5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87552" y="2596896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30 min  →  Slack #ai-oncall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" y="3035808"/>
            <a:ext cx="5029200" cy="585216"/>
          </a:xfrm>
          <a:prstGeom prst="roundRect">
            <a:avLst>
              <a:gd name="adj" fmla="val 10938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3236976"/>
            <a:ext cx="201168" cy="201168"/>
          </a:xfrm>
          <a:prstGeom prst="ellipse">
            <a:avLst/>
          </a:prstGeom>
          <a:solidFill>
            <a:srgbClr val="A32D2D"/>
          </a:solidFill>
          <a:ln w="1270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87552" y="3090672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rate  &gt; 2%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87552" y="3328416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1hr  →  PagerDuty + Slack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" y="3767328"/>
            <a:ext cx="5029200" cy="585216"/>
          </a:xfrm>
          <a:prstGeom prst="roundRect">
            <a:avLst>
              <a:gd name="adj" fmla="val 10938"/>
            </a:avLst>
          </a:prstGeom>
          <a:solidFill>
            <a:srgbClr val="F8F8F6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" y="3968496"/>
            <a:ext cx="201168" cy="201168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87552" y="3822192"/>
            <a:ext cx="4526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error rate  &gt; 5%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87552" y="4059936"/>
            <a:ext cx="4526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 15 min  →  Slack #ai-oncall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126480" y="1078992"/>
            <a:ext cx="5605272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762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12070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→ ADK Evals feedback loop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149961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bug caught in production becomes a permanent test case — regressions cannot ship again.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09360" y="1938528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09360" y="1938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48272" y="190195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fires in Arize — link to failing traces sent to #ai-oncall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46520" y="2267712"/>
            <a:ext cx="27432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09360" y="2532888"/>
            <a:ext cx="329184" cy="32918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09360" y="2532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48272" y="249631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 opens trace explorer — root cause identified in minutes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46520" y="2862072"/>
            <a:ext cx="27432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309360" y="3127248"/>
            <a:ext cx="329184" cy="32918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09360" y="31272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748272" y="309067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 traces exported from Arize with one click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46520" y="3456432"/>
            <a:ext cx="27432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309360" y="3721608"/>
            <a:ext cx="329184" cy="329184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309360" y="372160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748272" y="368503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Traces imported into ADK Evals as permanent golden test cases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446520" y="4050792"/>
            <a:ext cx="27432" cy="2743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309360" y="4315968"/>
            <a:ext cx="329184" cy="329184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309360" y="431596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48272" y="4279392"/>
            <a:ext cx="4754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validated offline → deployed → Arize confirms recovery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57200" y="5193792"/>
            <a:ext cx="11274552" cy="566928"/>
          </a:xfrm>
          <a:prstGeom prst="roundRect">
            <a:avLst>
              <a:gd name="adj" fmla="val 12903"/>
            </a:avLst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40080" y="5239512"/>
            <a:ext cx="10972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AirX booking ID format bug detected at 11:47 AM · root cause found 11:56 AM · fix deployed 12:52 PM · Arize confirmed recovery 1:08 PM → 81 minutes end-to-end.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F5A"/>
          </a:solidFill>
          <a:ln w="12700">
            <a:solidFill>
              <a:srgbClr val="1A2F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10972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Eval-Driven Development (EDD)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5D4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development methodology for AI/LLM applications — define evals first, build iteratively, and measure quality continuously as you develop.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74552" cy="658368"/>
          </a:xfrm>
          <a:prstGeom prst="roundRect">
            <a:avLst>
              <a:gd name="adj" fmla="val 12500"/>
            </a:avLst>
          </a:prstGeom>
          <a:solidFill>
            <a:srgbClr val="EEEDFE"/>
          </a:solidFill>
          <a:ln w="1016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1124712"/>
            <a:ext cx="10881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62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EDD?  —  EDD treats evals as a first-class development artefact, not an afterthought. Before writing a single prompt or agent, teams define what "good" means: the KPIs, rubrics, and test cases that will measure quality throughout the entire build. Arize provides the runtime layer that makes those evals continuous and automatic across every development iteration.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EEEDFE"/>
          </a:solidFill>
          <a:ln w="1016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03504" y="2048256"/>
            <a:ext cx="329184" cy="329184"/>
          </a:xfrm>
          <a:prstGeom prst="ellipse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3504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07568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quality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" y="2468880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any code: agree on what a good response looks like. Write rubrics, golden examples, and KPI thresholds.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3504" y="3127248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" y="3127248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definition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03504" y="3296412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3504" y="3296412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dataset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03504" y="3465576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03504" y="3465576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Rubric writing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2596896" y="2761488"/>
            <a:ext cx="146304" cy="457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596896" y="266090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61488" y="192024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E1F5EE"/>
          </a:solidFill>
          <a:ln w="1016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907792" y="2048256"/>
            <a:ext cx="329184" cy="329184"/>
          </a:xfrm>
          <a:prstGeom prst="ellipse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07792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28416" y="207568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evals first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07792" y="2468880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Code evals and LLM-as-Judge templates in Arize before the agent exists. Evals are the spec.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07792" y="3127248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907792" y="3127248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evals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07792" y="3296412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907792" y="3296412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LLM-as-Judge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907792" y="3465576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07792" y="3465576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templates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901184" y="2761488"/>
            <a:ext cx="146304" cy="457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1184" y="266090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65776" y="192024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E6F1FB"/>
          </a:solidFill>
          <a:ln w="1016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212080" y="2048256"/>
            <a:ext cx="329184" cy="329184"/>
          </a:xfrm>
          <a:prstGeom prst="ellipse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212080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632704" y="207568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iteratively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212080" y="2468880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prompts and agent logic. Run evals after every change. Green evals = safe to proceed. Red = fix before moving on.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212080" y="3127248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212080" y="3127248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iteration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212080" y="3296412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212080" y="3296412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Evals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212080" y="3465576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5212080" y="3465576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 check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205472" y="2761488"/>
            <a:ext cx="146304" cy="457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05472" y="266090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370064" y="192024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FAEEDA"/>
          </a:solidFill>
          <a:ln w="1016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7516368" y="2048256"/>
            <a:ext cx="329184" cy="329184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516368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936992" y="207568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with confidence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516368" y="2468880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only when all evals pass defined thresholds. Evals act as the quality gate for every release.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16368" y="3127248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516368" y="3127248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gate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7516368" y="3296412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7516368" y="3296412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check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516368" y="3465576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7516368" y="3465576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pass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9509760" y="2761488"/>
            <a:ext cx="146304" cy="45720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509760" y="2660904"/>
            <a:ext cx="182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9674352" y="1920240"/>
            <a:ext cx="2103120" cy="1737360"/>
          </a:xfrm>
          <a:prstGeom prst="roundRect">
            <a:avLst>
              <a:gd name="adj" fmla="val 5263"/>
            </a:avLst>
          </a:prstGeom>
          <a:solidFill>
            <a:srgbClr val="EAF3DE"/>
          </a:solidFill>
          <a:ln w="1016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9820656" y="2048256"/>
            <a:ext cx="329184" cy="329184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820656" y="20482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10241280" y="2075688"/>
            <a:ext cx="14264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 continuously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9820656" y="2468880"/>
            <a:ext cx="181051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runs the same evals on live production traffic. Quality is never assumed — it is always measured.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820656" y="3127248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9820656" y="3127248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evals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820656" y="3296412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9820656" y="3296412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runtime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9820656" y="3465576"/>
            <a:ext cx="1810512" cy="14630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5080">
            <a:solidFill>
              <a:srgbClr val="3B6D1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820656" y="3465576"/>
            <a:ext cx="181051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750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KPIs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57200" y="3858768"/>
            <a:ext cx="539496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762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57200" y="3858768"/>
            <a:ext cx="5394960" cy="329184"/>
          </a:xfrm>
          <a:prstGeom prst="roundRect">
            <a:avLst>
              <a:gd name="adj" fmla="val 25000"/>
            </a:avLst>
          </a:prstGeom>
          <a:solidFill>
            <a:srgbClr val="FCEBEB"/>
          </a:solidFill>
          <a:ln w="7620">
            <a:solidFill>
              <a:srgbClr val="F0959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03504" y="391363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EDD — traditional approach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603504" y="42976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Build first, test quality last — problems found after release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94360" y="4626864"/>
            <a:ext cx="5230368" cy="914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03504" y="47183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Evals written ad hoc, inconsistent, no shared standard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594360" y="5047488"/>
            <a:ext cx="5230368" cy="914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603504" y="51389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Quality assessment is manual and slow — per-sprint reviews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594360" y="5468112"/>
            <a:ext cx="5230368" cy="914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603504" y="555955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Regressions discovered by users, not the team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94360" y="5888736"/>
            <a:ext cx="5230368" cy="914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603504" y="598017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No shared definition of "good" — subjective developer opinion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6336792" y="3858768"/>
            <a:ext cx="539496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762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336792" y="3858768"/>
            <a:ext cx="5394960" cy="329184"/>
          </a:xfrm>
          <a:prstGeom prst="roundRect">
            <a:avLst>
              <a:gd name="adj" fmla="val 25000"/>
            </a:avLst>
          </a:prstGeom>
          <a:solidFill>
            <a:srgbClr val="EAF3DE"/>
          </a:solidFill>
          <a:ln w="7620">
            <a:solidFill>
              <a:srgbClr val="C0DD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483096" y="391363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EDD — continuous quality measurement</a:t>
            </a:r>
            <a:endParaRPr lang="en-US" sz="1000" dirty="0"/>
          </a:p>
        </p:txBody>
      </p:sp>
      <p:sp>
        <p:nvSpPr>
          <p:cNvPr id="85" name="Text 83"/>
          <p:cNvSpPr/>
          <p:nvPr/>
        </p:nvSpPr>
        <p:spPr>
          <a:xfrm>
            <a:off x="6483096" y="429768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Quality defined on day one — evals are the specification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6473952" y="4626864"/>
            <a:ext cx="5230368" cy="914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483096" y="4718304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Every change measured automatically — instant feedback loop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473952" y="5047488"/>
            <a:ext cx="5230368" cy="914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6483096" y="513892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Shared, objective KPIs — same definition of "good" for all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6473952" y="5468112"/>
            <a:ext cx="5230368" cy="914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6483096" y="5559552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Regressions caught before they reach users — always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6473952" y="5888736"/>
            <a:ext cx="5230368" cy="9144"/>
          </a:xfrm>
          <a:prstGeom prst="rect">
            <a:avLst/>
          </a:prstGeom>
          <a:solidFill>
            <a:srgbClr val="D3D1C7"/>
          </a:solidFill>
          <a:ln w="1270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6483096" y="5980176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B6D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Arize extends the same evals seamlessly into production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5724144" y="4974336"/>
            <a:ext cx="548640" cy="548640"/>
          </a:xfrm>
          <a:prstGeom prst="ellipse">
            <a:avLst/>
          </a:prstGeom>
          <a:solidFill>
            <a:srgbClr val="F1EFE8"/>
          </a:solidFill>
          <a:ln w="6350">
            <a:solidFill>
              <a:srgbClr val="D3D1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5724144" y="497433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365760" y="6492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Arize AI · ADK Agent Evaluation Framework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10972800" y="6492240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1453</Words>
  <Application>Microsoft Office PowerPoint</Application>
  <PresentationFormat>Widescreen</PresentationFormat>
  <Paragraphs>288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Sunil Kumar</cp:lastModifiedBy>
  <cp:revision>1</cp:revision>
  <dcterms:created xsi:type="dcterms:W3CDTF">2026-07-15T22:01:58Z</dcterms:created>
  <dcterms:modified xsi:type="dcterms:W3CDTF">2026-07-15T22:03:30Z</dcterms:modified>
</cp:coreProperties>
</file>