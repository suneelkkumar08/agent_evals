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4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1025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572000" cy="4572000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280160" y="5120640"/>
            <a:ext cx="3108960" cy="3108960"/>
          </a:xfrm>
          <a:prstGeom prst="ellipse">
            <a:avLst/>
          </a:prstGeom>
          <a:solidFill>
            <a:srgbClr val="0FB98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PLATFORM ARCHITECTURE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Services, One Cache: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 Batch &amp; Sync Real-Time Translation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4251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our Cache DB, LLM, and LLM Judge work together to deliver instant and on-demand translations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507492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5074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1 · ASYNC BATCH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50749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E8973A"/>
          </a:solidFill>
          <a:ln w="12700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5074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2 · SYNC REAL-TIME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Complementary Translation Services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backed by a shared Cache DB, but they trade off latency, scoring, and delivery pattern differently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E4F1F5"/>
          </a:solidFill>
          <a:ln w="12700">
            <a:solidFill>
              <a:srgbClr val="1B7A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011680"/>
            <a:ext cx="594360" cy="594360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201168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 Batch Translation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3500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throughput on large batches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from the Cache DB first, every time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responds instantly with status “Translated”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miss → submits an async job to the LLM and instantly returns status “Submitted”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 is scored by an LLM Judge before it is written to the Cache DB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response is always instant — no waiting on the LLM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CEDDA"/>
          </a:solidFill>
          <a:ln w="12700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83680" y="2011680"/>
            <a:ext cx="594360" cy="594360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01168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 Real-Time Translation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0" y="23500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single-request, on-demand lookups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92608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checks the Cache DB first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returns the translated text instantly with status “Translated”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miss → calls the LLM synchronously and waits for the result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Judge scoring — the response is returned as-is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✦"/>
            </a:pPr>
            <a:r>
              <a:rPr lang="en-US" sz="13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waits on the request; cache-miss calls can take up to 30 seconds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1 — Async Batch Translation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DB is checked first; every consumer response is instant — quality scoring happens in the background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082796" y="1600200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55948" y="1600200"/>
            <a:ext cx="3877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submits batch translation request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4476" y="2148840"/>
            <a:ext cx="0" cy="301752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082796" y="2450592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1B7A93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55948" y="2450592"/>
            <a:ext cx="3877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content in Cache DB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flipH="1">
            <a:off x="3268980" y="2999232"/>
            <a:ext cx="2734056" cy="310896"/>
          </a:xfrm>
          <a:prstGeom prst="line">
            <a:avLst/>
          </a:prstGeom>
          <a:noFill/>
          <a:ln w="22225">
            <a:solidFill>
              <a:srgbClr val="0FB98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85916" y="2999232"/>
            <a:ext cx="2752344" cy="310896"/>
          </a:xfrm>
          <a:prstGeom prst="line">
            <a:avLst/>
          </a:prstGeom>
          <a:noFill/>
          <a:ln w="22225">
            <a:solidFill>
              <a:srgbClr val="E897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310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310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MISS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639312"/>
            <a:ext cx="4983480" cy="777240"/>
          </a:xfrm>
          <a:prstGeom prst="roundRect">
            <a:avLst>
              <a:gd name="adj" fmla="val 9412"/>
            </a:avLst>
          </a:prstGeom>
          <a:solidFill>
            <a:srgbClr val="DEF7EF"/>
          </a:solidFill>
          <a:ln w="12700">
            <a:solidFill>
              <a:srgbClr val="0FB98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50392" y="3639312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cached translation to consumer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97280" y="4526280"/>
            <a:ext cx="1645920" cy="320040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97280" y="4526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response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46520" y="3639312"/>
            <a:ext cx="4983480" cy="777240"/>
          </a:xfrm>
          <a:prstGeom prst="roundRect">
            <a:avLst>
              <a:gd name="adj" fmla="val 9412"/>
            </a:avLst>
          </a:prstGeom>
          <a:solidFill>
            <a:srgbClr val="FCEDDA"/>
          </a:solidFill>
          <a:ln w="12700">
            <a:solidFill>
              <a:srgbClr val="E8973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19672" y="3639312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translation job to LLM (async) and return immediately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766560" y="452628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E8973A"/>
          </a:solidFill>
          <a:ln w="12700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6656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5256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response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38260" y="5074920"/>
            <a:ext cx="0" cy="274320"/>
          </a:xfrm>
          <a:prstGeom prst="line">
            <a:avLst/>
          </a:prstGeom>
          <a:noFill/>
          <a:ln w="22225">
            <a:solidFill>
              <a:srgbClr val="E897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534924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PROCESSING — CACHE-MISS PATH ONLY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650992"/>
            <a:ext cx="3429000" cy="594360"/>
          </a:xfrm>
          <a:prstGeom prst="roundRect">
            <a:avLst>
              <a:gd name="adj" fmla="val 12308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" y="5650992"/>
            <a:ext cx="3282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translates the content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5948172"/>
            <a:ext cx="320040" cy="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297680" y="5650992"/>
            <a:ext cx="3429000" cy="594360"/>
          </a:xfrm>
          <a:prstGeom prst="roundRect">
            <a:avLst>
              <a:gd name="adj" fmla="val 12308"/>
            </a:avLst>
          </a:prstGeom>
          <a:solidFill>
            <a:srgbClr val="1B7A93"/>
          </a:solidFill>
          <a:ln w="12700">
            <a:solidFill>
              <a:srgbClr val="1B7A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370832" y="5650992"/>
            <a:ext cx="3282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Judge scores translation quality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726680" y="5948172"/>
            <a:ext cx="320040" cy="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046720" y="5650992"/>
            <a:ext cx="3429000" cy="594360"/>
          </a:xfrm>
          <a:prstGeom prst="roundRect">
            <a:avLst>
              <a:gd name="adj" fmla="val 12308"/>
            </a:avLst>
          </a:prstGeom>
          <a:solidFill>
            <a:srgbClr val="0FB98A"/>
          </a:solidFill>
          <a:ln w="12700">
            <a:solidFill>
              <a:srgbClr val="1B7A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119872" y="5650992"/>
            <a:ext cx="3282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is stored in the Cache DB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1 — How It Works, Step by Step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" y="1911096"/>
            <a:ext cx="420624" cy="420624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81965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request received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211226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submits one or more content items for translation.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52344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420624" cy="420624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DB is checked first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1729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is looked up against the Cache DB before anything else happens.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813048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77240" y="4032504"/>
            <a:ext cx="420624" cy="420624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394106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 → instant “Translated”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423367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content already exists in cache, it is returned immediately with status “Translated.”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73752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77240" y="5093208"/>
            <a:ext cx="420624" cy="420624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50017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 → instant “Submitted”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52943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 cached, a job is dispatched to the LLM and the consumer instantly receives status “Submitted.”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1691640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DEF7E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92240" y="1911096"/>
            <a:ext cx="420624" cy="420624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92240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86600" y="181965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translates in the background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86600" y="211226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processes the content asynchronously, outside the consumer's request/response cycle.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63640" y="2752344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DEF7E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92240" y="2971800"/>
            <a:ext cx="420624" cy="420624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9224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8660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Judge scores the 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31729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caching, an LLM Judge evaluates translation quality — this is unique to Service 1.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63640" y="3813048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DEF7E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92240" y="4032504"/>
            <a:ext cx="420624" cy="420624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9224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86600" y="394106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written to Cache DB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86600" y="423367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scored translation is stored so future requests for the same content are instant, cached hits.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0A4D68"/>
          </a:solidFill>
          <a:ln w="12700">
            <a:solidFill>
              <a:srgbClr val="0A4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68680" y="598932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trait: consumers never wait on the LLM — the response is instant either way, and cached content is quality-gated by the LLM Judge.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2 — Sync Real-Time Translation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DB is checked first; on a cache miss the consumer waits on a direct, synchronous LLM call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082796" y="1600200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55948" y="1600200"/>
            <a:ext cx="3877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sends a real-time translation request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4476" y="2148840"/>
            <a:ext cx="0" cy="301752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082796" y="2450592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1B7A93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55948" y="2450592"/>
            <a:ext cx="3877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Cache DB for existing translation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flipH="1">
            <a:off x="3268980" y="2999232"/>
            <a:ext cx="2734056" cy="310896"/>
          </a:xfrm>
          <a:prstGeom prst="line">
            <a:avLst/>
          </a:prstGeom>
          <a:noFill/>
          <a:ln w="22225">
            <a:solidFill>
              <a:srgbClr val="0FB98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85916" y="2999232"/>
            <a:ext cx="2752344" cy="310896"/>
          </a:xfrm>
          <a:prstGeom prst="line">
            <a:avLst/>
          </a:prstGeom>
          <a:noFill/>
          <a:ln w="22225">
            <a:solidFill>
              <a:srgbClr val="E897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310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310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MISS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639312"/>
            <a:ext cx="4983480" cy="777240"/>
          </a:xfrm>
          <a:prstGeom prst="roundRect">
            <a:avLst>
              <a:gd name="adj" fmla="val 9412"/>
            </a:avLst>
          </a:prstGeom>
          <a:solidFill>
            <a:srgbClr val="DEF7EF"/>
          </a:solidFill>
          <a:ln w="12700">
            <a:solidFill>
              <a:srgbClr val="0FB98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50392" y="3639312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cached translated text to consumer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97280" y="4526280"/>
            <a:ext cx="1645920" cy="320040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97280" y="4526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response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46520" y="3639312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FCEDDA"/>
          </a:solidFill>
          <a:ln w="12700">
            <a:solidFill>
              <a:srgbClr val="E8973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19672" y="3639312"/>
            <a:ext cx="4837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LLM synchronously — consumer request blocks and waits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38260" y="4279392"/>
            <a:ext cx="0" cy="274320"/>
          </a:xfrm>
          <a:prstGeom prst="line">
            <a:avLst/>
          </a:prstGeom>
          <a:noFill/>
          <a:ln w="22225">
            <a:solidFill>
              <a:srgbClr val="E897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446520" y="4553712"/>
            <a:ext cx="4983480" cy="777240"/>
          </a:xfrm>
          <a:prstGeom prst="roundRect">
            <a:avLst>
              <a:gd name="adj" fmla="val 9412"/>
            </a:avLst>
          </a:prstGeom>
          <a:solidFill>
            <a:srgbClr val="FCEDDA"/>
          </a:solidFill>
          <a:ln w="12700">
            <a:solidFill>
              <a:srgbClr val="E8973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519672" y="4553712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final translated text to consumer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766560" y="5440680"/>
            <a:ext cx="1645920" cy="320040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66560" y="5440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61120" y="5440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Up to 30 seconds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" y="59893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unlike Service 1, no async “Submitted” state exists — the consumer always receives the final “Translated” result directly, with no LLM Judge scoring step.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2 — How It Works, Step by Step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" y="1911096"/>
            <a:ext cx="420624" cy="420624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81965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request received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211226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sends a single request expecting an immediate, final answer.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52344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420624" cy="420624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DB is checked first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1729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shared Cache DB is queried before any LLM call is made.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813048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77240" y="4032504"/>
            <a:ext cx="420624" cy="420624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394106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 → instant “Translated”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423367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cached, the translated text is returned immediately with status “Translated.”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73752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77240" y="5093208"/>
            <a:ext cx="420624" cy="420624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50017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 → synchronous LLM call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52943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 cached, the service calls the LLM directly and the request blocks.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1691640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FCEDD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92240" y="1911096"/>
            <a:ext cx="420624" cy="420624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92240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86600" y="181965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waits on the LLM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86600" y="211226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async hand-off — the caller holds the connection open.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63640" y="2752344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FCEDD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92240" y="2971800"/>
            <a:ext cx="420624" cy="420624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9224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8660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Response can take up to 30s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31729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time varies with content length and LLM load, up to ~30 seconds.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63640" y="3813048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FCEDD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92240" y="4032504"/>
            <a:ext cx="420624" cy="420624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9224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86600" y="394106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result returned directly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86600" y="423367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Judge scoring step — the LLM's output is returned as the final response.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E8973A"/>
          </a:solidFill>
          <a:ln w="12700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68680" y="598932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trait: consumers always get a final, ready-to-use translation — at the cost of blocking latency on a cache miss (up to 30s).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Side-by-Side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services share one Cache DB — they differ in what happens on a cache miss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063240" cy="566928"/>
          </a:xfrm>
          <a:prstGeom prst="rect">
            <a:avLst/>
          </a:prstGeom>
          <a:solidFill>
            <a:srgbClr val="0A2A3D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13232" y="1691640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1691640"/>
            <a:ext cx="4206240" cy="566928"/>
          </a:xfrm>
          <a:prstGeom prst="rect">
            <a:avLst/>
          </a:prstGeom>
          <a:solidFill>
            <a:srgbClr val="0A4D68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867912" y="1691640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1 — Async Batch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01000" y="1691640"/>
            <a:ext cx="3794760" cy="566928"/>
          </a:xfrm>
          <a:prstGeom prst="rect">
            <a:avLst/>
          </a:prstGeom>
          <a:solidFill>
            <a:srgbClr val="1B7A93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165592" y="1691640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2 — Sync Real-Time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258568"/>
            <a:ext cx="3063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3232" y="2258568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pattern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03320" y="22585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67912" y="2258568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instant to the consumer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01000" y="2258568"/>
            <a:ext cx="3794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65592" y="2258568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on hit; blocking on miss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825496"/>
            <a:ext cx="306324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3232" y="2825496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behavior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03320" y="2825496"/>
            <a:ext cx="420624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67912" y="2825496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cached text — status “Translated”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2825496"/>
            <a:ext cx="379476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165592" y="2825496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cached text — status “Translated”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392424"/>
            <a:ext cx="3063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3232" y="3392424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miss behavior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03320" y="3392424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67912" y="3392424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Submits async LLM job, returns “Submitted”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01000" y="3392424"/>
            <a:ext cx="3794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165592" y="3392424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LLM synchronously and waits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959352"/>
            <a:ext cx="306324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3232" y="3959352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codes used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703320" y="3959352"/>
            <a:ext cx="420624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867912" y="3959352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“Translated” or “Submitted”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001000" y="3959352"/>
            <a:ext cx="379476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165592" y="3959352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“Translated” only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526280"/>
            <a:ext cx="3063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13232" y="4526280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703320" y="452628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867912" y="4526280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by LLM Judge before caching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01000" y="4526280"/>
            <a:ext cx="3794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165592" y="4526280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scoring step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093208"/>
            <a:ext cx="306324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13232" y="5093208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latency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703320" y="5093208"/>
            <a:ext cx="420624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867912" y="5093208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(processing deferred)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001000" y="5093208"/>
            <a:ext cx="3794760" cy="566928"/>
          </a:xfrm>
          <a:prstGeom prst="rect">
            <a:avLst/>
          </a:prstGeom>
          <a:solidFill>
            <a:srgbClr val="E4F1F5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165592" y="5093208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on hit; up to 30s on miss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48640" y="5660136"/>
            <a:ext cx="3063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13232" y="5660136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for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703320" y="566013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867912" y="5660136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batch translation jobs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001000" y="5660136"/>
            <a:ext cx="3794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165592" y="5660136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on-demand translation lookups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Real-Time Applications Actually Call These Services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consumption patterns in production — each with a very different latency profile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DEF7EF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1938528"/>
            <a:ext cx="512064" cy="512064"/>
          </a:xfrm>
          <a:prstGeom prst="ellipse">
            <a:avLst/>
          </a:prstGeom>
          <a:solidFill>
            <a:srgbClr val="0FB98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819656"/>
            <a:ext cx="7452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 API for Resource Bundles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554480" y="2148840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always calls the async batch API (Service 1) to fetch UI/resource bundle content in the desired language.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281160" y="2020824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281160" y="202082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Milliseconds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862072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CEDDA"/>
          </a:solidFill>
          <a:ln w="12700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04672" y="3108960"/>
            <a:ext cx="512064" cy="512064"/>
          </a:xfrm>
          <a:prstGeom prst="ellipse">
            <a:avLst/>
          </a:prstGeom>
          <a:solidFill>
            <a:srgbClr val="E897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4672" y="3108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2990088"/>
            <a:ext cx="7452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Intent → English → Sync Translate (Cached)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54480" y="3319272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calls the LLM to resolve intent and produce an English response, then calls the sync API (Service 2) — translation is a cache hit.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81160" y="319125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E8973A"/>
          </a:solidFill>
          <a:ln w="12700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281160" y="319125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seconds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032504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8E3E5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04672" y="4279392"/>
            <a:ext cx="512064" cy="512064"/>
          </a:xfrm>
          <a:prstGeom prst="ellipse">
            <a:avLst/>
          </a:prstGeom>
          <a:solidFill>
            <a:srgbClr val="B23A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04672" y="42793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554480" y="4160520"/>
            <a:ext cx="7452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Intent → English → Sync Translate (Not Cached)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554480" y="4489704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#2, but the sync translation call also misses cache — a second LLM call lands on the critical path.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281160" y="43616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81160" y="4361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~4–5 seconds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202936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8E3E5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04672" y="5449824"/>
            <a:ext cx="512064" cy="512064"/>
          </a:xfrm>
          <a:prstGeom prst="ellipse">
            <a:avLst/>
          </a:prstGeom>
          <a:solidFill>
            <a:srgbClr val="B23A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4672" y="54498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554480" y="5330952"/>
            <a:ext cx="7452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Handles Intent + Language Together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554480" y="5660136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calls the LLM once; the prompt instructs it to resolve intent and answer directly in English or the target language.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281160" y="5532120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281160" y="55321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~4–5 seconds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1 — Real-Time App Fetching Resource Bundles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goes through the async API (Service 1); bundle content is pre-translated, so it's always a cache hit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345436" y="1554480"/>
            <a:ext cx="7498080" cy="566928"/>
          </a:xfrm>
          <a:prstGeom prst="roundRect">
            <a:avLst>
              <a:gd name="adj" fmla="val 12903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418588" y="1554480"/>
            <a:ext cx="7351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application requests a resource bundle in the desired language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2121408"/>
            <a:ext cx="0" cy="27432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345436" y="2395728"/>
            <a:ext cx="7498080" cy="566928"/>
          </a:xfrm>
          <a:prstGeom prst="roundRect">
            <a:avLst>
              <a:gd name="adj" fmla="val 12903"/>
            </a:avLst>
          </a:prstGeom>
          <a:solidFill>
            <a:srgbClr val="1B7A93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18588" y="2395728"/>
            <a:ext cx="7351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calls the Async Batch Translation API (Service 1)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4476" y="2962656"/>
            <a:ext cx="0" cy="27432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345436" y="3236976"/>
            <a:ext cx="7498080" cy="566928"/>
          </a:xfrm>
          <a:prstGeom prst="roundRect">
            <a:avLst>
              <a:gd name="adj" fmla="val 12903"/>
            </a:avLst>
          </a:prstGeom>
          <a:solidFill>
            <a:srgbClr val="DEF7EF"/>
          </a:solidFill>
          <a:ln w="12700">
            <a:solidFill>
              <a:srgbClr val="0FB98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18588" y="3236976"/>
            <a:ext cx="7351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DB lookup — resource bundles are always pre-cached, so this is always a hit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94476" y="3803904"/>
            <a:ext cx="0" cy="27432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345436" y="4078224"/>
            <a:ext cx="7498080" cy="566928"/>
          </a:xfrm>
          <a:prstGeom prst="roundRect">
            <a:avLst>
              <a:gd name="adj" fmla="val 12903"/>
            </a:avLst>
          </a:prstGeom>
          <a:solidFill>
            <a:srgbClr val="DEF7EF"/>
          </a:solidFill>
          <a:ln w="12700">
            <a:solidFill>
              <a:srgbClr val="0FB98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418588" y="4078224"/>
            <a:ext cx="7351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content returned to the application instantly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619756" y="4700016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19756" y="47000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36876" y="5010912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B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 Milliseconds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522476" y="563270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bundle content is pre-translated and always cached, this path never calls the LLM at request time.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2 — LLM Intent Processing, Then Sync Translation (Cached)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resolves intent in English via the LLM, then calls the sync API (Service 2) — translation is already cached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162556" y="1536192"/>
            <a:ext cx="7863840" cy="457200"/>
          </a:xfrm>
          <a:prstGeom prst="roundRect">
            <a:avLst>
              <a:gd name="adj" fmla="val 16000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35708" y="1536192"/>
            <a:ext cx="7717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application sends the user's request to the LLM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94476" y="1993392"/>
            <a:ext cx="0" cy="18288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62556" y="2176272"/>
            <a:ext cx="7863840" cy="457200"/>
          </a:xfrm>
          <a:prstGeom prst="roundRect">
            <a:avLst>
              <a:gd name="adj" fmla="val 16000"/>
            </a:avLst>
          </a:prstGeom>
          <a:solidFill>
            <a:srgbClr val="1B7A93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35708" y="2176272"/>
            <a:ext cx="7717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processes intent and produces a response in English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94476" y="2633472"/>
            <a:ext cx="0" cy="18288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162556" y="2816352"/>
            <a:ext cx="7863840" cy="457200"/>
          </a:xfrm>
          <a:prstGeom prst="roundRect">
            <a:avLst>
              <a:gd name="adj" fmla="val 16000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35708" y="2816352"/>
            <a:ext cx="7717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calls the Sync Translation API (Service 2) with the English response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4476" y="3273552"/>
            <a:ext cx="0" cy="18288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162556" y="3456432"/>
            <a:ext cx="7863840" cy="457200"/>
          </a:xfrm>
          <a:prstGeom prst="roundRect">
            <a:avLst>
              <a:gd name="adj" fmla="val 16000"/>
            </a:avLst>
          </a:prstGeom>
          <a:solidFill>
            <a:srgbClr val="FCEDDA"/>
          </a:solidFill>
          <a:ln w="12700">
            <a:solidFill>
              <a:srgbClr val="E8973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235708" y="3456432"/>
            <a:ext cx="7717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DB is checked; translated text is returned to the application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94476" y="3913632"/>
            <a:ext cx="0" cy="18288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162556" y="4096512"/>
            <a:ext cx="7863840" cy="457200"/>
          </a:xfrm>
          <a:prstGeom prst="roundRect">
            <a:avLst>
              <a:gd name="adj" fmla="val 16000"/>
            </a:avLst>
          </a:prstGeom>
          <a:solidFill>
            <a:srgbClr val="FCEDDA"/>
          </a:solidFill>
          <a:ln w="12700">
            <a:solidFill>
              <a:srgbClr val="E8973A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35708" y="4096512"/>
            <a:ext cx="7717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response returned to the user in the desired language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36876" y="4608576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436876" y="460857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36876" y="482803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9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seconds total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522476" y="53766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hops add up: LLM intent processing, then a sync translation call — together they add real latency versus Case 1.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3 — LLM Intent + Sync Translate (Not Cached)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call pattern as Case 2, but the sync translation request also misses cache — a second LLM call lands on the critical path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162556" y="1536192"/>
            <a:ext cx="7863840" cy="438912"/>
          </a:xfrm>
          <a:prstGeom prst="roundRect">
            <a:avLst>
              <a:gd name="adj" fmla="val 16667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35708" y="1536192"/>
            <a:ext cx="7717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application sends the user's request to the LLM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94476" y="1975104"/>
            <a:ext cx="0" cy="146304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62556" y="2121408"/>
            <a:ext cx="7863840" cy="438912"/>
          </a:xfrm>
          <a:prstGeom prst="roundRect">
            <a:avLst>
              <a:gd name="adj" fmla="val 16667"/>
            </a:avLst>
          </a:prstGeom>
          <a:solidFill>
            <a:srgbClr val="1B7A93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35708" y="2121408"/>
            <a:ext cx="7717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processes intent and produces a response in English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94476" y="2560320"/>
            <a:ext cx="0" cy="146304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162556" y="2706624"/>
            <a:ext cx="7863840" cy="438912"/>
          </a:xfrm>
          <a:prstGeom prst="roundRect">
            <a:avLst>
              <a:gd name="adj" fmla="val 16667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35708" y="2706624"/>
            <a:ext cx="7717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calls the Sync Translation API (Service 2)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4476" y="3145536"/>
            <a:ext cx="0" cy="146304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162556" y="3291840"/>
            <a:ext cx="7863840" cy="438912"/>
          </a:xfrm>
          <a:prstGeom prst="roundRect">
            <a:avLst>
              <a:gd name="adj" fmla="val 16667"/>
            </a:avLst>
          </a:prstGeom>
          <a:solidFill>
            <a:srgbClr val="F8E3E5"/>
          </a:solidFill>
          <a:ln w="12700">
            <a:solidFill>
              <a:srgbClr val="B23A48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235708" y="3291840"/>
            <a:ext cx="7717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DB lookup — this time it's a MISS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94476" y="3730752"/>
            <a:ext cx="0" cy="146304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162556" y="3877056"/>
            <a:ext cx="7863840" cy="438912"/>
          </a:xfrm>
          <a:prstGeom prst="roundRect">
            <a:avLst>
              <a:gd name="adj" fmla="val 16667"/>
            </a:avLst>
          </a:prstGeom>
          <a:solidFill>
            <a:srgbClr val="F8E3E5"/>
          </a:solidFill>
          <a:ln w="12700">
            <a:solidFill>
              <a:srgbClr val="B23A48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35708" y="3877056"/>
            <a:ext cx="7717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2 calls the LLM synchronously to translate (2nd LLM call, blocking)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94476" y="4315968"/>
            <a:ext cx="0" cy="146304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162556" y="4462272"/>
            <a:ext cx="7863840" cy="438912"/>
          </a:xfrm>
          <a:prstGeom prst="roundRect">
            <a:avLst>
              <a:gd name="adj" fmla="val 16667"/>
            </a:avLst>
          </a:prstGeom>
          <a:solidFill>
            <a:srgbClr val="F8E3E5"/>
          </a:solidFill>
          <a:ln w="12700">
            <a:solidFill>
              <a:srgbClr val="B23A48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235708" y="4462272"/>
            <a:ext cx="7717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translated response returned to the user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436876" y="4956048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36876" y="49560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36876" y="51389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~4–5 seconds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522476" y="5705856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back-to-back LLM calls — one for intent, one for translation — with no cache to shortcut either.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4 — LLM Handles Intent and Language Together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prompt-guided LLM call resolves intent and answers directly in English or the target language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162556" y="169164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0A4D68"/>
          </a:solidFill>
          <a:ln w="12700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35708" y="1691640"/>
            <a:ext cx="7717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application sends the user's request plus the target language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2377440"/>
            <a:ext cx="0" cy="32004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62556" y="269748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8E3E5"/>
          </a:solidFill>
          <a:ln w="12700">
            <a:solidFill>
              <a:srgbClr val="B23A48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35708" y="2697480"/>
            <a:ext cx="7717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LLM call: the prompt instructs it to process intent AND generate the response directly in English or the requested language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4476" y="3383280"/>
            <a:ext cx="0" cy="320040"/>
          </a:xfrm>
          <a:prstGeom prst="line">
            <a:avLst/>
          </a:prstGeom>
          <a:noFill/>
          <a:ln w="22225">
            <a:solidFill>
              <a:srgbClr val="12293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162556" y="370332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8E3E5"/>
          </a:solidFill>
          <a:ln w="12700">
            <a:solidFill>
              <a:srgbClr val="B23A48"/>
            </a:solidFill>
            <a:prstDash val="solid"/>
          </a:ln>
          <a:effectLst>
            <a:outerShdw blurRad="76200" dist="25400" dir="5400000" algn="bl" rotWithShape="0">
              <a:srgbClr val="1B2733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35708" y="3703320"/>
            <a:ext cx="7717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returned directly to the user — no separate translation call, no cache lookup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436876" y="4846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~4–5 seconds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522476" y="5486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does full intent resolution and language generation in one pass every time — there's no cache to shortcut the work.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 by Consumption Pattern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services, very different response times depending on how the application calls them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96896" cy="4251960"/>
          </a:xfrm>
          <a:prstGeom prst="roundRect">
            <a:avLst>
              <a:gd name="adj" fmla="val 4225"/>
            </a:avLst>
          </a:prstGeom>
          <a:solidFill>
            <a:srgbClr val="DEF7EF"/>
          </a:solidFill>
          <a:ln w="15875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04672" y="1929384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F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2221992"/>
            <a:ext cx="2084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 Resource Bundle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3172968"/>
            <a:ext cx="20848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B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Milliseconds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04672" y="3886200"/>
            <a:ext cx="20848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 Cache DB hit via the async API (Service 1) — the LLM is never called at request time.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596896" cy="4251960"/>
          </a:xfrm>
          <a:prstGeom prst="roundRect">
            <a:avLst>
              <a:gd name="adj" fmla="val 4225"/>
            </a:avLst>
          </a:prstGeom>
          <a:solidFill>
            <a:srgbClr val="FCEDDA"/>
          </a:solidFill>
          <a:ln w="15875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21024" y="1929384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21024" y="2221992"/>
            <a:ext cx="2084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Intent + Sync Translate (Cached)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21024" y="3172968"/>
            <a:ext cx="20848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9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sec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621024" y="3886200"/>
            <a:ext cx="20848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 for intent, then one sync API call (Service 2) that hits cache for the translation.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691640"/>
            <a:ext cx="2596896" cy="4251960"/>
          </a:xfrm>
          <a:prstGeom prst="roundRect">
            <a:avLst>
              <a:gd name="adj" fmla="val 4225"/>
            </a:avLst>
          </a:prstGeom>
          <a:solidFill>
            <a:srgbClr val="F8E3E5"/>
          </a:solidFill>
          <a:ln w="15875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37376" y="1929384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37376" y="2221992"/>
            <a:ext cx="2084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Intent + Sync Translate (Not Cached)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37376" y="3172968"/>
            <a:ext cx="20848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~4–5 sec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437376" y="3886200"/>
            <a:ext cx="20848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Case 2, but the sync translation call also misses cache — a second LLM call joins the path.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97696" y="1691640"/>
            <a:ext cx="2596896" cy="4251960"/>
          </a:xfrm>
          <a:prstGeom prst="roundRect">
            <a:avLst>
              <a:gd name="adj" fmla="val 4225"/>
            </a:avLst>
          </a:prstGeom>
          <a:solidFill>
            <a:srgbClr val="F8E3E5"/>
          </a:solidFill>
          <a:ln w="15875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53728" y="1929384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53728" y="2221992"/>
            <a:ext cx="2084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Intent + Direct Translate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53728" y="3172968"/>
            <a:ext cx="20848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~4–5 sec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253728" y="3886200"/>
            <a:ext cx="20848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 does both intent resolution and language generation — no cache assist at all.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0A4D68"/>
          </a:solidFill>
          <a:ln w="12700">
            <a:solidFill>
              <a:srgbClr val="0A4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8680" y="598932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patterns share the same Cache DB and LLM — latency comes entirely from how many model or translation calls sit on the request path.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2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Timeline — 8 Weeks to Go-Live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is 70% complete today — four milestones stand between here and launch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600200" y="3794760"/>
            <a:ext cx="8961120" cy="0"/>
          </a:xfrm>
          <a:prstGeom prst="line">
            <a:avLst/>
          </a:prstGeom>
          <a:noFill/>
          <a:ln w="38100">
            <a:solidFill>
              <a:srgbClr val="D7E4E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00200" y="3310128"/>
            <a:ext cx="0" cy="219456"/>
          </a:xfrm>
          <a:prstGeom prst="line">
            <a:avLst/>
          </a:prstGeom>
          <a:noFill/>
          <a:ln w="19050">
            <a:solidFill>
              <a:srgbClr val="0A4D6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4133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4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39496" y="1828800"/>
            <a:ext cx="212140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5875">
            <a:solidFill>
              <a:srgbClr val="0A4D68"/>
            </a:solidFill>
            <a:prstDash val="solid"/>
          </a:ln>
          <a:effectLst>
            <a:outerShdw blurRad="76200" dist="25400" dir="5400000" algn="bl" rotWithShape="0">
              <a:srgbClr val="1B27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2376" y="1956816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4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22376" y="2176272"/>
            <a:ext cx="1755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" y="2944368"/>
            <a:ext cx="1755648" cy="219456"/>
          </a:xfrm>
          <a:prstGeom prst="roundRect">
            <a:avLst>
              <a:gd name="adj" fmla="val 50000"/>
            </a:avLst>
          </a:prstGeom>
          <a:solidFill>
            <a:srgbClr val="E4F1F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22376" y="2944368"/>
            <a:ext cx="1228954" cy="219456"/>
          </a:xfrm>
          <a:prstGeom prst="roundRect">
            <a:avLst>
              <a:gd name="adj" fmla="val 50000"/>
            </a:avLst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2376" y="2944368"/>
            <a:ext cx="12289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024482" y="2944368"/>
            <a:ext cx="43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335024" y="3529584"/>
            <a:ext cx="530352" cy="530352"/>
          </a:xfrm>
          <a:prstGeom prst="ellipse">
            <a:avLst/>
          </a:prstGeom>
          <a:solidFill>
            <a:srgbClr val="0A4D68"/>
          </a:solidFill>
          <a:ln w="25400">
            <a:solidFill>
              <a:srgbClr val="FFFFFF"/>
            </a:solidFill>
            <a:prstDash val="solid"/>
          </a:ln>
          <a:effectLst>
            <a:outerShdw blurRad="63500" dist="19050" dir="5400000" algn="bl" rotWithShape="0">
              <a:srgbClr val="1B2733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335024" y="3511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840480" y="4059936"/>
            <a:ext cx="0" cy="219456"/>
          </a:xfrm>
          <a:prstGeom prst="line">
            <a:avLst/>
          </a:prstGeom>
          <a:noFill/>
          <a:ln w="19050">
            <a:solidFill>
              <a:srgbClr val="1B7A9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926080" y="32186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2–5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79776" y="4279392"/>
            <a:ext cx="212140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5875">
            <a:solidFill>
              <a:srgbClr val="1B7A93"/>
            </a:solidFill>
            <a:prstDash val="solid"/>
          </a:ln>
          <a:effectLst>
            <a:outerShdw blurRad="76200" dist="25400" dir="5400000" algn="bl" rotWithShape="0">
              <a:srgbClr val="1B27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962656" y="4407408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962656" y="4626864"/>
            <a:ext cx="1755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Testing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962656" y="5394960"/>
            <a:ext cx="1755648" cy="256032"/>
          </a:xfrm>
          <a:prstGeom prst="roundRect">
            <a:avLst>
              <a:gd name="adj" fmla="val 50000"/>
            </a:avLst>
          </a:prstGeom>
          <a:solidFill>
            <a:srgbClr val="1B7A93"/>
          </a:solidFill>
          <a:ln w="12700">
            <a:solidFill>
              <a:srgbClr val="1B7A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962656" y="539496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weeks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75304" y="3529584"/>
            <a:ext cx="530352" cy="530352"/>
          </a:xfrm>
          <a:prstGeom prst="ellipse">
            <a:avLst/>
          </a:prstGeom>
          <a:solidFill>
            <a:srgbClr val="1B7A93"/>
          </a:solidFill>
          <a:ln w="25400">
            <a:solidFill>
              <a:srgbClr val="FFFFFF"/>
            </a:solidFill>
            <a:prstDash val="solid"/>
          </a:ln>
          <a:effectLst>
            <a:outerShdw blurRad="63500" dist="19050" dir="5400000" algn="bl" rotWithShape="0">
              <a:srgbClr val="1B2733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575304" y="3511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080760" y="3310128"/>
            <a:ext cx="0" cy="219456"/>
          </a:xfrm>
          <a:prstGeom prst="line">
            <a:avLst/>
          </a:prstGeom>
          <a:noFill/>
          <a:ln w="19050">
            <a:solidFill>
              <a:srgbClr val="E8973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360" y="4133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6–7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0056" y="1828800"/>
            <a:ext cx="212140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5875">
            <a:solidFill>
              <a:srgbClr val="E8973A"/>
            </a:solidFill>
            <a:prstDash val="solid"/>
          </a:ln>
          <a:effectLst>
            <a:outerShdw blurRad="76200" dist="25400" dir="5400000" algn="bl" rotWithShape="0">
              <a:srgbClr val="1B27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202936" y="1956816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E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202936" y="2176272"/>
            <a:ext cx="1755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2 Testing + Content Validation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202936" y="2944368"/>
            <a:ext cx="1755648" cy="256032"/>
          </a:xfrm>
          <a:prstGeom prst="roundRect">
            <a:avLst>
              <a:gd name="adj" fmla="val 50000"/>
            </a:avLst>
          </a:prstGeom>
          <a:solidFill>
            <a:srgbClr val="E8973A"/>
          </a:solidFill>
          <a:ln w="12700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202936" y="29443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815584" y="3529584"/>
            <a:ext cx="530352" cy="530352"/>
          </a:xfrm>
          <a:prstGeom prst="ellipse">
            <a:avLst/>
          </a:prstGeom>
          <a:solidFill>
            <a:srgbClr val="E8973A"/>
          </a:solidFill>
          <a:ln w="25400">
            <a:solidFill>
              <a:srgbClr val="FFFFFF"/>
            </a:solidFill>
            <a:prstDash val="solid"/>
          </a:ln>
          <a:effectLst>
            <a:outerShdw blurRad="63500" dist="19050" dir="5400000" algn="bl" rotWithShape="0">
              <a:srgbClr val="1B2733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815584" y="3511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8321040" y="4059936"/>
            <a:ext cx="0" cy="219456"/>
          </a:xfrm>
          <a:prstGeom prst="line">
            <a:avLst/>
          </a:prstGeom>
          <a:noFill/>
          <a:ln w="19050">
            <a:solidFill>
              <a:srgbClr val="B23A4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406640" y="32186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260336" y="4279392"/>
            <a:ext cx="212140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5875">
            <a:solidFill>
              <a:srgbClr val="B23A48"/>
            </a:solidFill>
            <a:prstDash val="solid"/>
          </a:ln>
          <a:effectLst>
            <a:outerShdw blurRad="76200" dist="25400" dir="5400000" algn="bl" rotWithShape="0">
              <a:srgbClr val="1B27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443216" y="4407408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443216" y="4626864"/>
            <a:ext cx="1755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Config Changes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443216" y="5394960"/>
            <a:ext cx="1755648" cy="256032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443216" y="539496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055864" y="3529584"/>
            <a:ext cx="530352" cy="530352"/>
          </a:xfrm>
          <a:prstGeom prst="ellipse">
            <a:avLst/>
          </a:prstGeom>
          <a:solidFill>
            <a:srgbClr val="B23A48"/>
          </a:solidFill>
          <a:ln w="25400">
            <a:solidFill>
              <a:srgbClr val="FFFFFF"/>
            </a:solidFill>
            <a:prstDash val="solid"/>
          </a:ln>
          <a:effectLst>
            <a:outerShdw blurRad="63500" dist="19050" dir="5400000" algn="bl" rotWithShape="0">
              <a:srgbClr val="1B2733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055864" y="3511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10561320" y="3310128"/>
            <a:ext cx="0" cy="219456"/>
          </a:xfrm>
          <a:prstGeom prst="line">
            <a:avLst/>
          </a:prstGeom>
          <a:noFill/>
          <a:ln w="19050">
            <a:solidFill>
              <a:srgbClr val="0FB98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646920" y="4133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Wk 8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500616" y="1828800"/>
            <a:ext cx="212140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5875">
            <a:solidFill>
              <a:srgbClr val="0FB98A"/>
            </a:solidFill>
            <a:prstDash val="solid"/>
          </a:ln>
          <a:effectLst>
            <a:outerShdw blurRad="76200" dist="25400" dir="5400000" algn="bl" rotWithShape="0">
              <a:srgbClr val="1B27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683496" y="1956816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FB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9683496" y="2176272"/>
            <a:ext cx="1755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A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/ Go-Live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9683496" y="2944368"/>
            <a:ext cx="1755648" cy="256032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683496" y="29443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0296144" y="3529584"/>
            <a:ext cx="530352" cy="530352"/>
          </a:xfrm>
          <a:prstGeom prst="ellipse">
            <a:avLst/>
          </a:prstGeom>
          <a:solidFill>
            <a:srgbClr val="0FB98A"/>
          </a:solidFill>
          <a:ln w="25400">
            <a:solidFill>
              <a:srgbClr val="FFFFFF"/>
            </a:solidFill>
            <a:prstDash val="solid"/>
          </a:ln>
          <a:effectLst>
            <a:outerShdw blurRad="63500" dist="19050" dir="5400000" algn="bl" rotWithShape="0">
              <a:srgbClr val="1B2733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10296144" y="3511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700" dirty="0"/>
          </a:p>
        </p:txBody>
      </p:sp>
      <p:sp>
        <p:nvSpPr>
          <p:cNvPr id="52" name="Shape 50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0A4D68"/>
          </a:solidFill>
          <a:ln w="12700">
            <a:solidFill>
              <a:srgbClr val="0A4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68680" y="598932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plan: 1 week to finish development, 3–4 weeks of Level 1 testing, 2 weeks of Level 2 testing and content validation, and 1 week of rollout config changes before go-live.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6586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A4D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789920" y="4754880"/>
            <a:ext cx="3291840" cy="3291840"/>
          </a:xfrm>
          <a:prstGeom prst="ellipse">
            <a:avLst/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Cache DB. Two delivery patterns, tuned for different workloads.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9659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13293D"/>
          </a:solidFill>
          <a:ln w="15875">
            <a:solidFill>
              <a:srgbClr val="0FB9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51560" y="228600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0FB98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Cache-first, always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32461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services check the Cache DB before doing anything else — it's the fastest path to a response.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26280" y="19659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13293D"/>
          </a:solidFill>
          <a:ln w="15875">
            <a:solidFill>
              <a:srgbClr val="E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228600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E897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25603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 absorbs load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46320" y="32461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1 never blocks: cache misses become background jobs, quality-checked by an LLM Judge before caching.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21040" y="19659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13293D"/>
          </a:solidFill>
          <a:ln w="15875">
            <a:solidFill>
              <a:srgbClr val="1B7A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41080" y="228600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1B7A9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41080" y="25603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 guarantees finality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41080" y="32461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2 always hands back a finished translation, trading up to 30s of latency for a complete answer on the spot.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1897</Words>
  <Application>Microsoft Office PowerPoint</Application>
  <PresentationFormat>Widescreen</PresentationFormat>
  <Paragraphs>265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Sunil Kumar</cp:lastModifiedBy>
  <cp:revision>1</cp:revision>
  <dcterms:created xsi:type="dcterms:W3CDTF">2026-07-12T00:44:31Z</dcterms:created>
  <dcterms:modified xsi:type="dcterms:W3CDTF">2026-07-12T23:00:22Z</dcterms:modified>
</cp:coreProperties>
</file>