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7A96DFD4-AF5D-4899-A6F7-B7550F9FC141}"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9" name="PlaceHolder 1"/>
          <p:cNvSpPr>
            <a:spLocks noGrp="1" noRot="1" noChangeAspect="1"/>
          </p:cNvSpPr>
          <p:nvPr>
            <p:ph type="sldImg"/>
          </p:nvPr>
        </p:nvSpPr>
        <p:spPr>
          <a:xfrm>
            <a:off x="685800" y="1143000"/>
            <a:ext cx="5486040" cy="3085920"/>
          </a:xfrm>
          <a:prstGeom prst="rect">
            <a:avLst/>
          </a:prstGeom>
          <a:ln w="0">
            <a:noFill/>
          </a:ln>
        </p:spPr>
      </p:sp>
      <p:sp>
        <p:nvSpPr>
          <p:cNvPr id="10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091"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4FF2682-5B02-4102-BB98-2FFEC17DB75C}"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2" name="PlaceHolder 1"/>
          <p:cNvSpPr>
            <a:spLocks noGrp="1" noRot="1" noChangeAspect="1"/>
          </p:cNvSpPr>
          <p:nvPr>
            <p:ph type="sldImg"/>
          </p:nvPr>
        </p:nvSpPr>
        <p:spPr>
          <a:xfrm>
            <a:off x="685800" y="1143000"/>
            <a:ext cx="5486040" cy="3085920"/>
          </a:xfrm>
          <a:prstGeom prst="rect">
            <a:avLst/>
          </a:prstGeom>
          <a:ln w="0">
            <a:noFill/>
          </a:ln>
        </p:spPr>
      </p:sp>
      <p:sp>
        <p:nvSpPr>
          <p:cNvPr id="10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094"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D90ECDA-6906-463B-9233-8BFFD35776CB}"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 name="PlaceHolder 1"/>
          <p:cNvSpPr>
            <a:spLocks noGrp="1" noRot="1" noChangeAspect="1"/>
          </p:cNvSpPr>
          <p:nvPr>
            <p:ph type="sldImg"/>
          </p:nvPr>
        </p:nvSpPr>
        <p:spPr>
          <a:xfrm>
            <a:off x="685800" y="1143000"/>
            <a:ext cx="5486040" cy="3085920"/>
          </a:xfrm>
          <a:prstGeom prst="rect">
            <a:avLst/>
          </a:prstGeom>
          <a:ln w="0">
            <a:noFill/>
          </a:ln>
        </p:spPr>
      </p:sp>
      <p:sp>
        <p:nvSpPr>
          <p:cNvPr id="10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097"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467109F-DAAA-4482-AE45-658B55F0F3A3}"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8" name="PlaceHolder 1"/>
          <p:cNvSpPr>
            <a:spLocks noGrp="1" noRot="1" noChangeAspect="1"/>
          </p:cNvSpPr>
          <p:nvPr>
            <p:ph type="sldImg"/>
          </p:nvPr>
        </p:nvSpPr>
        <p:spPr>
          <a:xfrm>
            <a:off x="685800" y="1143000"/>
            <a:ext cx="5486040" cy="3085920"/>
          </a:xfrm>
          <a:prstGeom prst="rect">
            <a:avLst/>
          </a:prstGeom>
          <a:ln w="0">
            <a:noFill/>
          </a:ln>
        </p:spPr>
      </p:sp>
      <p:sp>
        <p:nvSpPr>
          <p:cNvPr id="10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Host framing: deterministic means 'if X, say Y' - a fixed decision tree. Agentic flips this to 'given this goal and these capabilities, figure out the right sequence of actions.' Use the two-screen hook here if time allows: a static FAQ bot vs. an assistant that greets a returning user by name.</a:t>
            </a:r>
          </a:p>
        </p:txBody>
      </p:sp>
      <p:sp>
        <p:nvSpPr>
          <p:cNvPr id="1100"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EA2F08D-3A63-4B63-AD83-E7E931ADD7C7}" type="slidenum">
              <a:rPr lang="en-US" sz="1200" b="0" strike="noStrike" spc="-1">
                <a:solidFill>
                  <a:schemeClr val="dk1"/>
                </a:solidFill>
                <a:latin typeface="+mn-lt"/>
                <a:ea typeface="+mn-ea"/>
              </a:rPr>
              <a:t>4</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 name="PlaceHolder 1"/>
          <p:cNvSpPr>
            <a:spLocks noGrp="1" noRot="1" noChangeAspect="1"/>
          </p:cNvSpPr>
          <p:nvPr>
            <p:ph type="sldImg"/>
          </p:nvPr>
        </p:nvSpPr>
        <p:spPr>
          <a:xfrm>
            <a:off x="685800" y="1143000"/>
            <a:ext cx="5486040" cy="3085920"/>
          </a:xfrm>
          <a:prstGeom prst="rect">
            <a:avLst/>
          </a:prstGeom>
          <a:ln w="0">
            <a:noFill/>
          </a:ln>
        </p:spPr>
      </p:sp>
      <p:sp>
        <p:nvSpPr>
          <p:cNvPr id="11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sets up the institutional-research slides that follow (Gartner, McKinsey, Forrester perspectives), before the bridge into Part 2. Close with the running example that carries through the rest of the deck: a banking user looking at transactions who pivots mid-conversation to applying for a new card - that single scenario is what every later building-block slide maps back to. Stats are sourced - full citations on the references slide at the end of the deck; cite the source name if asked, e.g. 'that's from McKinsey's 2025 Global Banking Annual Review survey of 30,021 consumers.'</a:t>
            </a:r>
          </a:p>
        </p:txBody>
      </p:sp>
      <p:sp>
        <p:nvSpPr>
          <p:cNvPr id="1103"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FB083D6-3460-4C93-B7C2-02668064928A}" type="slidenum">
              <a:rPr lang="en-US" sz="1200" b="0" strike="noStrike" spc="-1">
                <a:solidFill>
                  <a:schemeClr val="dk1"/>
                </a:solidFill>
                <a:latin typeface="+mn-lt"/>
                <a:ea typeface="+mn-ea"/>
              </a:rPr>
              <a:t>5</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 name="PlaceHolder 1"/>
          <p:cNvSpPr>
            <a:spLocks noGrp="1" noRot="1" noChangeAspect="1"/>
          </p:cNvSpPr>
          <p:nvPr>
            <p:ph type="sldImg"/>
          </p:nvPr>
        </p:nvSpPr>
        <p:spPr>
          <a:xfrm>
            <a:off x="685800" y="1143000"/>
            <a:ext cx="5486040" cy="3085920"/>
          </a:xfrm>
          <a:prstGeom prst="rect">
            <a:avLst/>
          </a:prstGeom>
          <a:ln w="0">
            <a:noFill/>
          </a:ln>
        </p:spPr>
      </p:sp>
      <p:sp>
        <p:nvSpPr>
          <p:cNvPr id="11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Gartner's framing is explicitly two-sided: adoption is accelerating faster than almost any prior enterprise tech curve, AND a large share of projects will fail from poor scoping or governance. Use both numbers together - don't cherry-pick only the bullish stat, since the failure-rate stat is exactly why this seminar spends so much time on architecture, evals, and honest current-state framing rather than just hype.</a:t>
            </a:r>
          </a:p>
        </p:txBody>
      </p:sp>
      <p:sp>
        <p:nvSpPr>
          <p:cNvPr id="1106"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E7802B2-CD04-4333-9BAA-F9D01D073617}" type="slidenum">
              <a:rPr lang="en-US" sz="1200" b="0" strike="noStrike" spc="-1">
                <a:solidFill>
                  <a:schemeClr val="dk1"/>
                </a:solidFill>
                <a:latin typeface="+mn-lt"/>
                <a:ea typeface="+mn-ea"/>
              </a:rPr>
              <a:t>6</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PlaceHolder 1"/>
          <p:cNvSpPr>
            <a:spLocks noGrp="1" noRot="1" noChangeAspect="1"/>
          </p:cNvSpPr>
          <p:nvPr>
            <p:ph type="sldImg"/>
          </p:nvPr>
        </p:nvSpPr>
        <p:spPr>
          <a:xfrm>
            <a:off x="685800" y="1143000"/>
            <a:ext cx="5486040" cy="3085920"/>
          </a:xfrm>
          <a:prstGeom prst="rect">
            <a:avLst/>
          </a:prstGeom>
          <a:ln w="0">
            <a:noFill/>
          </a:ln>
        </p:spPr>
      </p:sp>
      <p:sp>
        <p:nvSpPr>
          <p:cNvPr id="11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core McKinsey framing worth repeating verbally: 'moving from chatbots that talk to agents that do' (a line from Avero Advisors summarizing the report, not McKinsey's own words - attribute it if quoting). The workflow-redesign stat is the most important one for this audience specifically, since it's the difference between bolting an agent onto an existing FAQ flow vs. actually rebuilding the experience around what agents can do.</a:t>
            </a:r>
          </a:p>
        </p:txBody>
      </p:sp>
      <p:sp>
        <p:nvSpPr>
          <p:cNvPr id="110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CA1034B-2961-48E4-985C-BF0E05539CD6}" type="slidenum">
              <a:rPr lang="en-US" sz="1200" b="0" strike="noStrike" spc="-1">
                <a:solidFill>
                  <a:schemeClr val="dk1"/>
                </a:solidFill>
                <a:latin typeface="+mn-lt"/>
                <a:ea typeface="+mn-ea"/>
              </a:rPr>
              <a:t>7</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0" name="PlaceHolder 1"/>
          <p:cNvSpPr>
            <a:spLocks noGrp="1" noRot="1" noChangeAspect="1"/>
          </p:cNvSpPr>
          <p:nvPr>
            <p:ph type="sldImg"/>
          </p:nvPr>
        </p:nvSpPr>
        <p:spPr>
          <a:xfrm>
            <a:off x="685800" y="1143000"/>
            <a:ext cx="5486040" cy="3085920"/>
          </a:xfrm>
          <a:prstGeom prst="rect">
            <a:avLst/>
          </a:prstGeom>
          <a:ln w="0">
            <a:noFill/>
          </a:ln>
        </p:spPr>
      </p:sp>
      <p:sp>
        <p:nvSpPr>
          <p:cNvPr id="11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is the slide that most directly motivates the rest of today's session: Forrester's framing that a long-running agent 'behaves like a distributed system, not a chatbot' is the exact reason this seminar spends so much time on session/state/orchestration/observability instead of just prompt-writing. The governance-gap stat (sprawl even after NIST AI RMF adoption) is a good bridge into why this deck repeatedly distinguishes 'architecture pattern is proven' from 'our implementation is still early.'</a:t>
            </a:r>
          </a:p>
        </p:txBody>
      </p:sp>
      <p:sp>
        <p:nvSpPr>
          <p:cNvPr id="1112"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B6ABF08-16C4-402B-AEA5-093F734A1A74}" type="slidenum">
              <a:rPr lang="en-US" sz="1200" b="0" strike="noStrike" spc="-1">
                <a:solidFill>
                  <a:schemeClr val="dk1"/>
                </a:solidFill>
                <a:latin typeface="+mn-lt"/>
                <a:ea typeface="+mn-ea"/>
              </a:rPr>
              <a:t>8</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3" name="PlaceHolder 1"/>
          <p:cNvSpPr>
            <a:spLocks noGrp="1" noRot="1" noChangeAspect="1"/>
          </p:cNvSpPr>
          <p:nvPr>
            <p:ph type="sldImg"/>
          </p:nvPr>
        </p:nvSpPr>
        <p:spPr>
          <a:xfrm>
            <a:off x="685800" y="1143000"/>
            <a:ext cx="5486040" cy="3085920"/>
          </a:xfrm>
          <a:prstGeom prst="rect">
            <a:avLst/>
          </a:prstGeom>
          <a:ln w="0">
            <a:noFill/>
          </a:ln>
        </p:spPr>
      </p:sp>
      <p:sp>
        <p:nvSpPr>
          <p:cNvPr id="11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is a visual citation wall, not literal screenshots of paywalled reports - styled cards with institution, headline stat, short paraphrase, and source URL for each. Treat as a quick-reference / credibility slide; not necessarily walked through line by line live. Full URLs are spelled out on the following slide for anyone who wants to type them manually.</a:t>
            </a:r>
          </a:p>
        </p:txBody>
      </p:sp>
      <p:sp>
        <p:nvSpPr>
          <p:cNvPr id="1115"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87AFD75-8C53-4C9A-9F7C-61DF746ED781}" type="slidenum">
              <a:rPr lang="en-US" sz="1200" b="0" strike="noStrike" spc="-1">
                <a:solidFill>
                  <a:schemeClr val="dk1"/>
                </a:solidFill>
                <a:latin typeface="+mn-lt"/>
                <a:ea typeface="+mn-ea"/>
              </a:rPr>
              <a:t>9</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 name="PlaceHolder 1"/>
          <p:cNvSpPr>
            <a:spLocks noGrp="1" noRot="1" noChangeAspect="1"/>
          </p:cNvSpPr>
          <p:nvPr>
            <p:ph type="sldImg"/>
          </p:nvPr>
        </p:nvSpPr>
        <p:spPr>
          <a:xfrm>
            <a:off x="685800" y="1143000"/>
            <a:ext cx="5486040" cy="3085920"/>
          </a:xfrm>
          <a:prstGeom prst="rect">
            <a:avLst/>
          </a:prstGeom>
          <a:ln w="0">
            <a:noFill/>
          </a:ln>
        </p:spPr>
      </p:sp>
      <p:sp>
        <p:nvSpPr>
          <p:cNvPr id="11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Full, untruncated URLs for every distinct source behind the citation card grid, deduplicated (7 unique URLs across 9 cards, since a few cards share a source). Provided as plain text since this slide is for manual reference / copy-paste, not click-through - the live hyperlinks are on the citation card slide itself.</a:t>
            </a:r>
          </a:p>
        </p:txBody>
      </p:sp>
      <p:sp>
        <p:nvSpPr>
          <p:cNvPr id="1118"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9BCAA57-BAB2-4E5A-831C-54E5B0086B28}" type="slidenum">
              <a:rPr lang="en-US" sz="1200" b="0" strike="noStrike" spc="-1">
                <a:solidFill>
                  <a:schemeClr val="dk1"/>
                </a:solidFill>
                <a:latin typeface="+mn-lt"/>
                <a:ea typeface="+mn-ea"/>
              </a:rPr>
              <a:t>10</a:t>
            </a:fld>
            <a:endParaRPr lang="en-US"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 name="PlaceHolder 1"/>
          <p:cNvSpPr>
            <a:spLocks noGrp="1" noRot="1" noChangeAspect="1"/>
          </p:cNvSpPr>
          <p:nvPr>
            <p:ph type="sldImg"/>
          </p:nvPr>
        </p:nvSpPr>
        <p:spPr>
          <a:xfrm>
            <a:off x="685800" y="1143000"/>
            <a:ext cx="5486040" cy="3085920"/>
          </a:xfrm>
          <a:prstGeom prst="rect">
            <a:avLst/>
          </a:prstGeom>
          <a:ln w="0">
            <a:noFill/>
          </a:ln>
        </p:spPr>
      </p:sp>
      <p:sp>
        <p:nvSpPr>
          <p:cNvPr id="11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Top 10 IT-research and banking-press sources specifically on why chatbots are migrating to agentic AI - distinct from the earlier Gartner/McKinsey/Forrester adoption-stats slides. This set leans on Deloitte's flagship enterprise AI research plus banking-specific risk/governance pieces, Accenture's banking trends report, American Banker and Banking Dive (banking trade press), IDC ROI data, and two banking-strategy specialist outlets (CCG Catalyst, The Digital Banker). Note: the American Banker 'Not Just a Smarter Bot' piece is a sponsored/partner-insight article (Dell/NVIDIA), not pure editorial - flag this if asked about source independence.</a:t>
            </a:r>
          </a:p>
        </p:txBody>
      </p:sp>
      <p:sp>
        <p:nvSpPr>
          <p:cNvPr id="1121"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C0F0AA0-7903-43E9-B481-6EB21DA29A33}" type="slidenum">
              <a:rPr lang="en-US" sz="1200" b="0" strike="noStrike" spc="-1">
                <a:solidFill>
                  <a:schemeClr val="dk1"/>
                </a:solidFill>
                <a:latin typeface="+mn-lt"/>
                <a:ea typeface="+mn-ea"/>
              </a:rPr>
              <a:t>11</a:t>
            </a:fld>
            <a:endParaRPr lang="en-US"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2" name="PlaceHolder 1"/>
          <p:cNvSpPr>
            <a:spLocks noGrp="1" noRot="1" noChangeAspect="1"/>
          </p:cNvSpPr>
          <p:nvPr>
            <p:ph type="sldImg"/>
          </p:nvPr>
        </p:nvSpPr>
        <p:spPr>
          <a:xfrm>
            <a:off x="685800" y="1143000"/>
            <a:ext cx="5486040" cy="3085920"/>
          </a:xfrm>
          <a:prstGeom prst="rect">
            <a:avLst/>
          </a:prstGeom>
          <a:ln w="0">
            <a:noFill/>
          </a:ln>
        </p:spPr>
      </p:sp>
      <p:sp>
        <p:nvSpPr>
          <p:cNvPr id="11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Full URLs for the 10 IT-research / banking-press sources on the previous slide. Verified live via direct fetch where possible (Deloitte risk article, American Banker CX article, Yahoo/CIO Dive Accenture piece, Banking Dive U.S. Bank piece all confirmed). The Deloitte 'State of AI in the Enterprise' base URL and the CCG Catalyst / Digital Banker URLs were sourced from search results but not independently re-fetched in this pass - worth a quick click-test before presenting, same caveat as the earlier Gartner links.</a:t>
            </a:r>
          </a:p>
        </p:txBody>
      </p:sp>
      <p:sp>
        <p:nvSpPr>
          <p:cNvPr id="1124"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8D64E7F-A2AB-4A11-9AC4-D387DE2F8A92}" type="slidenum">
              <a:rPr lang="en-US" sz="1200" b="0" strike="noStrike" spc="-1">
                <a:solidFill>
                  <a:schemeClr val="dk1"/>
                </a:solidFill>
                <a:latin typeface="+mn-lt"/>
                <a:ea typeface="+mn-ea"/>
              </a:rPr>
              <a:t>12</a:t>
            </a:fld>
            <a:endParaRPr lang="en-US" sz="12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5" name="PlaceHolder 1"/>
          <p:cNvSpPr>
            <a:spLocks noGrp="1" noRot="1" noChangeAspect="1"/>
          </p:cNvSpPr>
          <p:nvPr>
            <p:ph type="sldImg"/>
          </p:nvPr>
        </p:nvSpPr>
        <p:spPr>
          <a:xfrm>
            <a:off x="685800" y="1143000"/>
            <a:ext cx="5486040" cy="3085920"/>
          </a:xfrm>
          <a:prstGeom prst="rect">
            <a:avLst/>
          </a:prstGeom>
          <a:ln w="0">
            <a:noFill/>
          </a:ln>
        </p:spPr>
      </p:sp>
      <p:sp>
        <p:nvSpPr>
          <p:cNvPr id="11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127"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BFDF1A5-3B83-48E4-B2C3-4D7D6F3DF5A2}" type="slidenum">
              <a:rPr lang="en-US" sz="1200" b="0" strike="noStrike" spc="-1">
                <a:solidFill>
                  <a:schemeClr val="dk1"/>
                </a:solidFill>
                <a:latin typeface="+mn-lt"/>
                <a:ea typeface="+mn-ea"/>
              </a:rPr>
              <a:t>13</a:t>
            </a:fld>
            <a:endParaRPr lang="en-US" sz="12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 name="PlaceHolder 1"/>
          <p:cNvSpPr>
            <a:spLocks noGrp="1" noRot="1" noChangeAspect="1"/>
          </p:cNvSpPr>
          <p:nvPr>
            <p:ph type="sldImg"/>
          </p:nvPr>
        </p:nvSpPr>
        <p:spPr>
          <a:xfrm>
            <a:off x="685800" y="1143000"/>
            <a:ext cx="5486040" cy="3085920"/>
          </a:xfrm>
          <a:prstGeom prst="rect">
            <a:avLst/>
          </a:prstGeom>
          <a:ln w="0">
            <a:noFill/>
          </a:ln>
        </p:spPr>
      </p:sp>
      <p:sp>
        <p:nvSpPr>
          <p:cNvPr id="11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is the 30,000-foot view before we zoom into ADK specifics. Treat the agent as a distributed system, not a single prompt: each layer here can be reasoned about, tested, and changed independently. Everything in the next two parts maps back into one of these six layers.</a:t>
            </a:r>
          </a:p>
        </p:txBody>
      </p:sp>
      <p:sp>
        <p:nvSpPr>
          <p:cNvPr id="1130"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3A04475-B35D-4157-9D8A-B65C9C56F095}" type="slidenum">
              <a:rPr lang="en-US" sz="1200" b="0" strike="noStrike" spc="-1">
                <a:solidFill>
                  <a:schemeClr val="dk1"/>
                </a:solidFill>
                <a:latin typeface="+mn-lt"/>
                <a:ea typeface="+mn-ea"/>
              </a:rPr>
              <a:t>14</a:t>
            </a:fld>
            <a:endParaRPr lang="en-US" sz="12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1" name="PlaceHolder 1"/>
          <p:cNvSpPr>
            <a:spLocks noGrp="1" noRot="1" noChangeAspect="1"/>
          </p:cNvSpPr>
          <p:nvPr>
            <p:ph type="sldImg"/>
          </p:nvPr>
        </p:nvSpPr>
        <p:spPr>
          <a:xfrm>
            <a:off x="685800" y="1143000"/>
            <a:ext cx="5486040" cy="3085920"/>
          </a:xfrm>
          <a:prstGeom prst="rect">
            <a:avLst/>
          </a:prstGeom>
          <a:ln w="0">
            <a:noFill/>
          </a:ln>
        </p:spPr>
      </p:sp>
      <p:sp>
        <p:nvSpPr>
          <p:cNvPr id="11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133"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8BE9EF2-E422-4F66-ABD5-2B3BC312954D}" type="slidenum">
              <a:rPr lang="en-US" sz="1200" b="0" strike="noStrike" spc="-1">
                <a:solidFill>
                  <a:schemeClr val="dk1"/>
                </a:solidFill>
                <a:latin typeface="+mn-lt"/>
                <a:ea typeface="+mn-ea"/>
              </a:rPr>
              <a:t>15</a:t>
            </a:fld>
            <a:endParaRPr lang="en-US" sz="12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4" name="PlaceHolder 1"/>
          <p:cNvSpPr>
            <a:spLocks noGrp="1" noRot="1" noChangeAspect="1"/>
          </p:cNvSpPr>
          <p:nvPr>
            <p:ph type="sldImg"/>
          </p:nvPr>
        </p:nvSpPr>
        <p:spPr>
          <a:xfrm>
            <a:off x="685800" y="1143000"/>
            <a:ext cx="5486040" cy="3085920"/>
          </a:xfrm>
          <a:prstGeom prst="rect">
            <a:avLst/>
          </a:prstGeom>
          <a:ln w="0">
            <a:noFill/>
          </a:ln>
        </p:spPr>
      </p:sp>
      <p:sp>
        <p:nvSpPr>
          <p:cNvPr id="11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is the anchor diagram for all of Part 3 - the mini-map at the bottom of the next six slides highlights whichever step is being discussed. Walk across left to right once at a high level before diving into each box. Note the rightmost box is labeled 'Session store (Redis)', not 'Memory bank' - this matches our actual implementation: Redis extends session state across restarts/instances, but it is NOT the long-term Memory Bank, which remains unbuilt. Don't let the room conflate the two.</a:t>
            </a:r>
          </a:p>
        </p:txBody>
      </p:sp>
      <p:sp>
        <p:nvSpPr>
          <p:cNvPr id="1136"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0E2010D-CD30-4B25-AF23-F06C669223F6}" type="slidenum">
              <a:rPr lang="en-US" sz="1200" b="0" strike="noStrike" spc="-1">
                <a:solidFill>
                  <a:schemeClr val="dk1"/>
                </a:solidFill>
                <a:latin typeface="+mn-lt"/>
                <a:ea typeface="+mn-ea"/>
              </a:rPr>
              <a:t>16</a:t>
            </a:fld>
            <a:endParaRPr lang="en-US" sz="1200" b="0" strike="noStrike" spc="-1">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7" name="PlaceHolder 1"/>
          <p:cNvSpPr>
            <a:spLocks noGrp="1" noRot="1" noChangeAspect="1"/>
          </p:cNvSpPr>
          <p:nvPr>
            <p:ph type="sldImg"/>
          </p:nvPr>
        </p:nvSpPr>
        <p:spPr>
          <a:xfrm>
            <a:off x="685800" y="1143000"/>
            <a:ext cx="5486040" cy="3085920"/>
          </a:xfrm>
          <a:prstGeom prst="rect">
            <a:avLst/>
          </a:prstGeom>
          <a:ln w="0">
            <a:noFill/>
          </a:ln>
        </p:spPr>
      </p:sp>
      <p:sp>
        <p:nvSpPr>
          <p:cNvPr id="11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slide replaces the production/future-state picture with where we honestly are today. InMemorySessionService gives real value (turn continuity, per-user isolation, recency, routing trail, event-sourced writes) even though list_sessions() can't yet repopulate a chat-history sidebar across logins - that requires swapping to a persistent backend. Our planned path is a Redis-backed SessionService (see the architecture slide later) rather than Database/VertexAI - it gets us cross-restart session persistence without a full DB migration, though it's still short-term storage, not the long-term Memory Bank. Emphasize: nothing about the tool code needs to change when that swap happens, because state writes already go through the correct event-sourced mechanism.</a:t>
            </a:r>
          </a:p>
        </p:txBody>
      </p:sp>
      <p:sp>
        <p:nvSpPr>
          <p:cNvPr id="1139"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B79DFD6-F513-4739-AE5F-7F564C8B3CDC}" type="slidenum">
              <a:rPr lang="en-US" sz="1200" b="0" strike="noStrike" spc="-1">
                <a:solidFill>
                  <a:schemeClr val="dk1"/>
                </a:solidFill>
                <a:latin typeface="+mn-lt"/>
                <a:ea typeface="+mn-ea"/>
              </a:rPr>
              <a:t>17</a:t>
            </a:fld>
            <a:endParaRPr lang="en-US" sz="1200" b="0" strike="noStrike" spc="-1">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0" name="PlaceHolder 1"/>
          <p:cNvSpPr>
            <a:spLocks noGrp="1" noRot="1" noChangeAspect="1"/>
          </p:cNvSpPr>
          <p:nvPr>
            <p:ph type="sldImg"/>
          </p:nvPr>
        </p:nvSpPr>
        <p:spPr>
          <a:xfrm>
            <a:off x="685800" y="1143000"/>
            <a:ext cx="5486040" cy="3085920"/>
          </a:xfrm>
          <a:prstGeom prst="rect">
            <a:avLst/>
          </a:prstGeom>
          <a:ln w="0">
            <a:noFill/>
          </a:ln>
        </p:spPr>
      </p:sp>
      <p:sp>
        <p:nvSpPr>
          <p:cNvPr id="11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is the slide most worth slowing down on. A good check: ask the room 'if I tell the bot my preferred name now, where does that live - state or memory?' (Answer: it could be either, depending on whether the app explicitly writes it to memory at session end.)</a:t>
            </a:r>
          </a:p>
        </p:txBody>
      </p:sp>
      <p:sp>
        <p:nvSpPr>
          <p:cNvPr id="1142"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5912002-0D37-4D04-ABB9-3572CCDF8DB0}" type="slidenum">
              <a:rPr lang="en-US" sz="1200" b="0" strike="noStrike" spc="-1">
                <a:solidFill>
                  <a:schemeClr val="dk1"/>
                </a:solidFill>
                <a:latin typeface="+mn-lt"/>
                <a:ea typeface="+mn-ea"/>
              </a:rPr>
              <a:t>18</a:t>
            </a:fld>
            <a:endParaRPr lang="en-US" sz="1200" b="0" strike="noStrike" spc="-1">
              <a:solidFill>
                <a:srgbClr val="000000"/>
              </a:solidFill>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3" name="PlaceHolder 1"/>
          <p:cNvSpPr>
            <a:spLocks noGrp="1" noRot="1" noChangeAspect="1"/>
          </p:cNvSpPr>
          <p:nvPr>
            <p:ph type="sldImg"/>
          </p:nvPr>
        </p:nvSpPr>
        <p:spPr>
          <a:xfrm>
            <a:off x="685800" y="1143000"/>
            <a:ext cx="5486040" cy="3085920"/>
          </a:xfrm>
          <a:prstGeom prst="rect">
            <a:avLst/>
          </a:prstGeom>
          <a:ln w="0">
            <a:noFill/>
          </a:ln>
        </p:spPr>
      </p:sp>
      <p:sp>
        <p:nvSpPr>
          <p:cNvPr id="11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is the ADK AutoFlow / transfer_to_agent mechanism. The orchestrator's working context is dynamically given a description of every sub-agent, which is what lets it reason about 'who should handle this'. Emphasize: the user sent ONE message, but it became two routed sub-tasks behind the scenes.</a:t>
            </a:r>
          </a:p>
        </p:txBody>
      </p:sp>
      <p:sp>
        <p:nvSpPr>
          <p:cNvPr id="1145"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6B7039CD-359B-46FD-8A08-691212622C5C}" type="slidenum">
              <a:rPr lang="en-US" sz="1200" b="0" strike="noStrike" spc="-1">
                <a:solidFill>
                  <a:schemeClr val="dk1"/>
                </a:solidFill>
                <a:latin typeface="+mn-lt"/>
                <a:ea typeface="+mn-ea"/>
              </a:rPr>
              <a:t>19</a:t>
            </a:fld>
            <a:endParaRPr lang="en-US" sz="1200" b="0" strike="noStrike" spc="-1">
              <a:solidFill>
                <a:srgbClr val="000000"/>
              </a:solidFill>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 name="PlaceHolder 1"/>
          <p:cNvSpPr>
            <a:spLocks noGrp="1" noRot="1" noChangeAspect="1"/>
          </p:cNvSpPr>
          <p:nvPr>
            <p:ph type="sldImg"/>
          </p:nvPr>
        </p:nvSpPr>
        <p:spPr>
          <a:xfrm>
            <a:off x="685800" y="1143000"/>
            <a:ext cx="5486040" cy="3085920"/>
          </a:xfrm>
          <a:prstGeom prst="rect">
            <a:avLst/>
          </a:prstGeom>
          <a:ln w="0">
            <a:noFill/>
          </a:ln>
        </p:spPr>
      </p:sp>
      <p:sp>
        <p:nvSpPr>
          <p:cNvPr id="11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Tie this directly back to slide 11: the boxes labeled 'Order agent' and 'Profile agent' there are examples of the specialists shown here. The orchestrator is intentionally 'dumb' about the actual work - its job is purely classification + handoff.</a:t>
            </a:r>
          </a:p>
        </p:txBody>
      </p:sp>
      <p:sp>
        <p:nvSpPr>
          <p:cNvPr id="1148"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27B757DF-3F45-4C90-A803-782E7AAC4162}" type="slidenum">
              <a:rPr lang="en-US" sz="1200" b="0" strike="noStrike" spc="-1">
                <a:solidFill>
                  <a:schemeClr val="dk1"/>
                </a:solidFill>
                <a:latin typeface="+mn-lt"/>
                <a:ea typeface="+mn-ea"/>
              </a:rPr>
              <a:t>20</a:t>
            </a:fld>
            <a:endParaRPr lang="en-US" sz="1200" b="0" strike="noStrike" spc="-1">
              <a:solidFill>
                <a:srgbClr val="000000"/>
              </a:solidFill>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9" name="PlaceHolder 1"/>
          <p:cNvSpPr>
            <a:spLocks noGrp="1" noRot="1" noChangeAspect="1"/>
          </p:cNvSpPr>
          <p:nvPr>
            <p:ph type="sldImg"/>
          </p:nvPr>
        </p:nvSpPr>
        <p:spPr>
          <a:xfrm>
            <a:off x="685800" y="1143000"/>
            <a:ext cx="5486040" cy="3085920"/>
          </a:xfrm>
          <a:prstGeom prst="rect">
            <a:avLst/>
          </a:prstGeom>
          <a:ln w="0">
            <a:noFill/>
          </a:ln>
        </p:spPr>
      </p:sp>
      <p:sp>
        <p:nvSpPr>
          <p:cNvPr id="11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Point out the gap between 'the model decided to call a tool' (an agent-layer event) and 'the UI rendered a card' (a front-end decision about how to display that tool's structured result). ADK gives you the structured result; your app decides the presentation. Be explicit about MCP status: the server is real and provisioning tools for sub-agents today; the Gateway (central auth, access policy, audit trail, discovery) is a planned next step, not built yet - don't let the room assume governance exists that doesn't.</a:t>
            </a:r>
          </a:p>
        </p:txBody>
      </p:sp>
      <p:sp>
        <p:nvSpPr>
          <p:cNvPr id="1151"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E534412-1CEB-4BEE-A472-FC49C9DD8646}" type="slidenum">
              <a:rPr lang="en-US" sz="1200" b="0" strike="noStrike" spc="-1">
                <a:solidFill>
                  <a:schemeClr val="dk1"/>
                </a:solidFill>
                <a:latin typeface="+mn-lt"/>
                <a:ea typeface="+mn-ea"/>
              </a:rPr>
              <a:t>21</a:t>
            </a:fld>
            <a:endParaRPr lang="en-US" sz="1200" b="0" strike="noStrike" spc="-1">
              <a:solidFill>
                <a:srgbClr val="000000"/>
              </a:solidFill>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2" name="PlaceHolder 1"/>
          <p:cNvSpPr>
            <a:spLocks noGrp="1" noRot="1" noChangeAspect="1"/>
          </p:cNvSpPr>
          <p:nvPr>
            <p:ph type="sldImg"/>
          </p:nvPr>
        </p:nvSpPr>
        <p:spPr>
          <a:xfrm>
            <a:off x="685800" y="1143000"/>
            <a:ext cx="5486040" cy="3085920"/>
          </a:xfrm>
          <a:prstGeom prst="rect">
            <a:avLst/>
          </a:prstGeom>
          <a:ln w="0">
            <a:noFill/>
          </a:ln>
        </p:spPr>
      </p:sp>
      <p:sp>
        <p:nvSpPr>
          <p:cNvPr id="11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Concrete inventory for the room - these are the actual tools behind the banking example. FAQAnswers needs no account context (general knowledge), while AccountHelper and BalanceChecker both require account_id and are scoped per-customer. Worth noting live: BalanceChecker is the highest-volume tool in practice, which is exactly the kind of signal the enhanced evals/observability framework (coming up in the platform section) is built to track per-tool.</a:t>
            </a:r>
          </a:p>
        </p:txBody>
      </p:sp>
      <p:sp>
        <p:nvSpPr>
          <p:cNvPr id="1154"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9F5122A-4691-4B8A-BC0A-EAAC183F50EC}" type="slidenum">
              <a:rPr lang="en-US" sz="1200" b="0" strike="noStrike" spc="-1">
                <a:solidFill>
                  <a:schemeClr val="dk1"/>
                </a:solidFill>
                <a:latin typeface="+mn-lt"/>
                <a:ea typeface="+mn-ea"/>
              </a:rPr>
              <a:t>22</a:t>
            </a:fld>
            <a:endParaRPr lang="en-US" sz="1200" b="0" strike="noStrike" spc="-1">
              <a:solidFill>
                <a:srgbClr val="000000"/>
              </a:solidFill>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5" name="PlaceHolder 1"/>
          <p:cNvSpPr>
            <a:spLocks noGrp="1" noRot="1" noChangeAspect="1"/>
          </p:cNvSpPr>
          <p:nvPr>
            <p:ph type="sldImg"/>
          </p:nvPr>
        </p:nvSpPr>
        <p:spPr>
          <a:xfrm>
            <a:off x="685800" y="1143000"/>
            <a:ext cx="5486040" cy="3085920"/>
          </a:xfrm>
          <a:prstGeom prst="rect">
            <a:avLst/>
          </a:prstGeom>
          <a:ln w="0">
            <a:noFill/>
          </a:ln>
        </p:spPr>
      </p:sp>
      <p:sp>
        <p:nvSpPr>
          <p:cNvPr id="11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Frame this as the 'show your work' UI pattern. From a single Runner.run_async() call, ADK streams a sequence of Events - this slide is literally that event stream rendered as a status feed instead of raw JSON.</a:t>
            </a:r>
          </a:p>
        </p:txBody>
      </p:sp>
      <p:sp>
        <p:nvSpPr>
          <p:cNvPr id="1157"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7B2402B-01B5-477A-83C9-5124F5827CD7}" type="slidenum">
              <a:rPr lang="en-US" sz="1200" b="0" strike="noStrike" spc="-1">
                <a:solidFill>
                  <a:schemeClr val="dk1"/>
                </a:solidFill>
                <a:latin typeface="+mn-lt"/>
                <a:ea typeface="+mn-ea"/>
              </a:rPr>
              <a:t>23</a:t>
            </a:fld>
            <a:endParaRPr lang="en-US" sz="1200" b="0" strike="noStrike" spc="-1">
              <a:solidFill>
                <a:srgbClr val="000000"/>
              </a:solidFill>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 name="PlaceHolder 1"/>
          <p:cNvSpPr>
            <a:spLocks noGrp="1" noRot="1" noChangeAspect="1"/>
          </p:cNvSpPr>
          <p:nvPr>
            <p:ph type="sldImg"/>
          </p:nvPr>
        </p:nvSpPr>
        <p:spPr>
          <a:xfrm>
            <a:off x="685800" y="1143000"/>
            <a:ext cx="5486040" cy="3085920"/>
          </a:xfrm>
          <a:prstGeom prst="rect">
            <a:avLst/>
          </a:prstGeom>
          <a:ln w="0">
            <a:noFill/>
          </a:ln>
        </p:spPr>
      </p:sp>
      <p:sp>
        <p:nvSpPr>
          <p:cNvPr id="11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160"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25745A8-B8C4-4709-9D60-4FDA14D28213}" type="slidenum">
              <a:rPr lang="en-US" sz="1200" b="0" strike="noStrike" spc="-1">
                <a:solidFill>
                  <a:schemeClr val="dk1"/>
                </a:solidFill>
                <a:latin typeface="+mn-lt"/>
                <a:ea typeface="+mn-ea"/>
              </a:rPr>
              <a:t>24</a:t>
            </a:fld>
            <a:endParaRPr lang="en-US" sz="1200" b="0" strike="noStrike" spc="-1">
              <a:solidFill>
                <a:srgbClr val="000000"/>
              </a:solidFill>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1" name="PlaceHolder 1"/>
          <p:cNvSpPr>
            <a:spLocks noGrp="1" noRot="1" noChangeAspect="1"/>
          </p:cNvSpPr>
          <p:nvPr>
            <p:ph type="sldImg"/>
          </p:nvPr>
        </p:nvSpPr>
        <p:spPr>
          <a:xfrm>
            <a:off x="685800" y="1143000"/>
            <a:ext cx="5486040" cy="3085920"/>
          </a:xfrm>
          <a:prstGeom prst="rect">
            <a:avLst/>
          </a:prstGeom>
          <a:ln w="0">
            <a:noFill/>
          </a:ln>
        </p:spPr>
      </p:sp>
      <p:sp>
        <p:nvSpPr>
          <p:cNvPr id="11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is the bridge slide from 'seminar concepts' to 'the platform we are actually building'. Session/state from earlier in the talk becomes 'single session system of record' here; multi-agent orchestration becomes 'reusable sub-agent hosting'.</a:t>
            </a:r>
          </a:p>
        </p:txBody>
      </p:sp>
      <p:sp>
        <p:nvSpPr>
          <p:cNvPr id="1163"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FA86E88-FF8E-427C-9D76-29FC3EF5C85C}" type="slidenum">
              <a:rPr lang="en-US" sz="1200" b="0" strike="noStrike" spc="-1">
                <a:solidFill>
                  <a:schemeClr val="dk1"/>
                </a:solidFill>
                <a:latin typeface="+mn-lt"/>
                <a:ea typeface="+mn-ea"/>
              </a:rPr>
              <a:t>25</a:t>
            </a:fld>
            <a:endParaRPr lang="en-US" sz="1200" b="0" strike="noStrike" spc="-1">
              <a:solidFill>
                <a:srgbClr val="000000"/>
              </a:solidFill>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4" name="PlaceHolder 1"/>
          <p:cNvSpPr>
            <a:spLocks noGrp="1" noRot="1" noChangeAspect="1"/>
          </p:cNvSpPr>
          <p:nvPr>
            <p:ph type="sldImg"/>
          </p:nvPr>
        </p:nvSpPr>
        <p:spPr>
          <a:xfrm>
            <a:off x="685800" y="1143000"/>
            <a:ext cx="5486040" cy="3085920"/>
          </a:xfrm>
          <a:prstGeom prst="rect">
            <a:avLst/>
          </a:prstGeom>
          <a:ln w="0">
            <a:noFill/>
          </a:ln>
        </p:spPr>
      </p:sp>
      <p:sp>
        <p:nvSpPr>
          <p:cNvPr id="11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166"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3E057DA-0E0C-47E0-92BB-CC289C4CD2C9}" type="slidenum">
              <a:rPr lang="en-US" sz="1200" b="0" strike="noStrike" spc="-1">
                <a:solidFill>
                  <a:schemeClr val="dk1"/>
                </a:solidFill>
                <a:latin typeface="+mn-lt"/>
                <a:ea typeface="+mn-ea"/>
              </a:rPr>
              <a:t>26</a:t>
            </a:fld>
            <a:endParaRPr lang="en-US" sz="1200" b="0" strike="noStrike" spc="-1">
              <a:solidFill>
                <a:srgbClr val="000000"/>
              </a:solidFill>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 name="PlaceHolder 1"/>
          <p:cNvSpPr>
            <a:spLocks noGrp="1" noRot="1" noChangeAspect="1"/>
          </p:cNvSpPr>
          <p:nvPr>
            <p:ph type="sldImg"/>
          </p:nvPr>
        </p:nvSpPr>
        <p:spPr>
          <a:xfrm>
            <a:off x="685800" y="1143000"/>
            <a:ext cx="5486040" cy="3085920"/>
          </a:xfrm>
          <a:prstGeom prst="rect">
            <a:avLst/>
          </a:prstGeom>
          <a:ln w="0">
            <a:noFill/>
          </a:ln>
        </p:spPr>
      </p:sp>
      <p:sp>
        <p:nvSpPr>
          <p:cNvPr id="11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Concrete example for the room: a banking orchestrator might use a small/fast model purely for intent classification and routing, then escalate to a larger reasoning model only for the sub-agent step that actually needs judgment, like evaluating a dispute.</a:t>
            </a:r>
          </a:p>
        </p:txBody>
      </p:sp>
      <p:sp>
        <p:nvSpPr>
          <p:cNvPr id="1169"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6B4BA45F-F5CD-4C94-A574-A061B85BC492}" type="slidenum">
              <a:rPr lang="en-US" sz="1200" b="0" strike="noStrike" spc="-1">
                <a:solidFill>
                  <a:schemeClr val="dk1"/>
                </a:solidFill>
                <a:latin typeface="+mn-lt"/>
                <a:ea typeface="+mn-ea"/>
              </a:rPr>
              <a:t>27</a:t>
            </a:fld>
            <a:endParaRPr lang="en-US" sz="1200" b="0" strike="noStrike" spc="-1">
              <a:solidFill>
                <a:srgbClr val="000000"/>
              </a:solidFill>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 name="PlaceHolder 1"/>
          <p:cNvSpPr>
            <a:spLocks noGrp="1" noRot="1" noChangeAspect="1"/>
          </p:cNvSpPr>
          <p:nvPr>
            <p:ph type="sldImg"/>
          </p:nvPr>
        </p:nvSpPr>
        <p:spPr>
          <a:xfrm>
            <a:off x="685800" y="1143000"/>
            <a:ext cx="5486040" cy="3085920"/>
          </a:xfrm>
          <a:prstGeom prst="rect">
            <a:avLst/>
          </a:prstGeom>
          <a:ln w="0">
            <a:noFill/>
          </a:ln>
        </p:spPr>
      </p:sp>
      <p:sp>
        <p:nvSpPr>
          <p:cNvPr id="11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172"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F27D3EC-C0C9-489B-8CA6-B670E0E8844B}" type="slidenum">
              <a:rPr lang="en-US" sz="1200" b="0" strike="noStrike" spc="-1">
                <a:solidFill>
                  <a:schemeClr val="dk1"/>
                </a:solidFill>
                <a:latin typeface="+mn-lt"/>
                <a:ea typeface="+mn-ea"/>
              </a:rPr>
              <a:t>28</a:t>
            </a:fld>
            <a:endParaRPr lang="en-US" sz="1200" b="0" strike="noStrike" spc="-1">
              <a:solidFill>
                <a:srgbClr val="000000"/>
              </a:solidFill>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3" name="PlaceHolder 1"/>
          <p:cNvSpPr>
            <a:spLocks noGrp="1" noRot="1" noChangeAspect="1"/>
          </p:cNvSpPr>
          <p:nvPr>
            <p:ph type="sldImg"/>
          </p:nvPr>
        </p:nvSpPr>
        <p:spPr>
          <a:xfrm>
            <a:off x="685800" y="1143000"/>
            <a:ext cx="5486040" cy="3085920"/>
          </a:xfrm>
          <a:prstGeom prst="rect">
            <a:avLst/>
          </a:prstGeom>
          <a:ln w="0">
            <a:noFill/>
          </a:ln>
        </p:spPr>
      </p:sp>
      <p:sp>
        <p:nvSpPr>
          <p:cNvPr id="11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is the deep-dive behind the brief 'Evals + prompt eng' card on the previous slide. Walk left to right: tool-call metrics catch 'did it use the right tool correctly', trajectory metrics catch 'was the overall route and hand-off sensible', outcome metrics catch 'did it actually solve the user's problem'. The framing that lands best with a technical audience: a trajectory can pass every tool-call check and still fail task completion - that's why all three layers run together, not just the first one. Concretely for our banking example: BalanceChecker passing its parameter-correctness check doesn't tell you whether the orchestrator routed the right sub-intent to it in the first place, or whether the final answer to the customer was actually correct.</a:t>
            </a:r>
          </a:p>
        </p:txBody>
      </p:sp>
      <p:sp>
        <p:nvSpPr>
          <p:cNvPr id="1175"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D525BF2-D890-41AC-A43C-88193C728D77}" type="slidenum">
              <a:rPr lang="en-US" sz="1200" b="0" strike="noStrike" spc="-1">
                <a:solidFill>
                  <a:schemeClr val="dk1"/>
                </a:solidFill>
                <a:latin typeface="+mn-lt"/>
                <a:ea typeface="+mn-ea"/>
              </a:rPr>
              <a:t>29</a:t>
            </a:fld>
            <a:endParaRPr lang="en-US" sz="1200" b="0" strike="noStrike" spc="-1">
              <a:solidFill>
                <a:srgbClr val="000000"/>
              </a:solidFill>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6" name="PlaceHolder 1"/>
          <p:cNvSpPr>
            <a:spLocks noGrp="1" noRot="1" noChangeAspect="1"/>
          </p:cNvSpPr>
          <p:nvPr>
            <p:ph type="sldImg"/>
          </p:nvPr>
        </p:nvSpPr>
        <p:spPr>
          <a:xfrm>
            <a:off x="685800" y="1143000"/>
            <a:ext cx="5486040" cy="3085920"/>
          </a:xfrm>
          <a:prstGeom prst="rect">
            <a:avLst/>
          </a:prstGeom>
          <a:ln w="0">
            <a:noFill/>
          </a:ln>
        </p:spPr>
      </p:sp>
      <p:sp>
        <p:nvSpPr>
          <p:cNvPr id="11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Good closing point for this block: the four ADK building blocks from earlier in the deck (session, context engineering, orchestration, tools/events) are exactly what this platform standardizes and hosts centrally for every domain team.</a:t>
            </a:r>
          </a:p>
        </p:txBody>
      </p:sp>
      <p:sp>
        <p:nvSpPr>
          <p:cNvPr id="1178"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51744C5-3580-42A9-9504-1301C054896B}" type="slidenum">
              <a:rPr lang="en-US" sz="1200" b="0" strike="noStrike" spc="-1">
                <a:solidFill>
                  <a:schemeClr val="dk1"/>
                </a:solidFill>
                <a:latin typeface="+mn-lt"/>
                <a:ea typeface="+mn-ea"/>
              </a:rPr>
              <a:t>30</a:t>
            </a:fld>
            <a:endParaRPr lang="en-US" sz="1200" b="0" strike="noStrike" spc="-1">
              <a:solidFill>
                <a:srgbClr val="000000"/>
              </a:solidFill>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9" name="PlaceHolder 1"/>
          <p:cNvSpPr>
            <a:spLocks noGrp="1" noRot="1" noChangeAspect="1"/>
          </p:cNvSpPr>
          <p:nvPr>
            <p:ph type="sldImg"/>
          </p:nvPr>
        </p:nvSpPr>
        <p:spPr>
          <a:xfrm>
            <a:off x="685800" y="1143000"/>
            <a:ext cx="5486040" cy="3085920"/>
          </a:xfrm>
          <a:prstGeom prst="rect">
            <a:avLst/>
          </a:prstGeom>
          <a:ln w="0">
            <a:noFill/>
          </a:ln>
        </p:spPr>
      </p:sp>
      <p:sp>
        <p:nvSpPr>
          <p:cNvPr id="11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181"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46B2DFC-1CC0-49D2-A289-D8B08670723B}" type="slidenum">
              <a:rPr lang="en-US" sz="1200" b="0" strike="noStrike" spc="-1">
                <a:solidFill>
                  <a:schemeClr val="dk1"/>
                </a:solidFill>
                <a:latin typeface="+mn-lt"/>
                <a:ea typeface="+mn-ea"/>
              </a:rPr>
              <a:t>31</a:t>
            </a:fld>
            <a:endParaRPr lang="en-US" sz="1200" b="0" strike="noStrike" spc="-1">
              <a:solidFill>
                <a:srgbClr val="000000"/>
              </a:solidFill>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2" name="PlaceHolder 1"/>
          <p:cNvSpPr>
            <a:spLocks noGrp="1" noRot="1" noChangeAspect="1"/>
          </p:cNvSpPr>
          <p:nvPr>
            <p:ph type="sldImg"/>
          </p:nvPr>
        </p:nvSpPr>
        <p:spPr>
          <a:xfrm>
            <a:off x="685800" y="1143000"/>
            <a:ext cx="5486040" cy="3085920"/>
          </a:xfrm>
          <a:prstGeom prst="rect">
            <a:avLst/>
          </a:prstGeom>
          <a:ln w="0">
            <a:noFill/>
          </a:ln>
        </p:spPr>
      </p:sp>
      <p:sp>
        <p:nvSpPr>
          <p:cNvPr id="11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Run `adk web` ahead of time and have a sample multi-agent project already loaded. For the second demo, pre-seed a session in Redis and literally kill/restart the app process to show the session resume - this is honest proof the session store works, without overclaiming memory recall we haven't built. The third card is intentionally NOT a live demo - say so explicitly, so the room doesn't assume cross-session memory exists today.</a:t>
            </a:r>
          </a:p>
        </p:txBody>
      </p:sp>
      <p:sp>
        <p:nvSpPr>
          <p:cNvPr id="1184"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7B9D36C-0542-4FDC-98BF-AD8018485963}" type="slidenum">
              <a:rPr lang="en-US" sz="1200" b="0" strike="noStrike" spc="-1">
                <a:solidFill>
                  <a:schemeClr val="dk1"/>
                </a:solidFill>
                <a:latin typeface="+mn-lt"/>
                <a:ea typeface="+mn-ea"/>
              </a:rPr>
              <a:t>32</a:t>
            </a:fld>
            <a:endParaRPr lang="en-US" sz="1200" b="0" strike="noStrike" spc="-1">
              <a:solidFill>
                <a:srgbClr val="000000"/>
              </a:solidFill>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5" name="PlaceHolder 1"/>
          <p:cNvSpPr>
            <a:spLocks noGrp="1" noRot="1" noChangeAspect="1"/>
          </p:cNvSpPr>
          <p:nvPr>
            <p:ph type="sldImg"/>
          </p:nvPr>
        </p:nvSpPr>
        <p:spPr>
          <a:xfrm>
            <a:off x="685800" y="1143000"/>
            <a:ext cx="5486040" cy="3085920"/>
          </a:xfrm>
          <a:prstGeom prst="rect">
            <a:avLst/>
          </a:prstGeom>
          <a:ln w="0">
            <a:noFill/>
          </a:ln>
        </p:spPr>
      </p:sp>
      <p:sp>
        <p:nvSpPr>
          <p:cNvPr id="11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187"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60D76F5-2140-448E-A823-86C391BD5351}" type="slidenum">
              <a:rPr lang="en-US" sz="1200" b="0" strike="noStrike" spc="-1">
                <a:solidFill>
                  <a:schemeClr val="dk1"/>
                </a:solidFill>
                <a:latin typeface="+mn-lt"/>
                <a:ea typeface="+mn-ea"/>
              </a:rPr>
              <a:t>33</a:t>
            </a:fld>
            <a:endParaRPr lang="en-US" sz="1200" b="0" strike="noStrike" spc="-1">
              <a:solidFill>
                <a:srgbClr val="000000"/>
              </a:solidFill>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8" name="PlaceHolder 1"/>
          <p:cNvSpPr>
            <a:spLocks noGrp="1" noRot="1" noChangeAspect="1"/>
          </p:cNvSpPr>
          <p:nvPr>
            <p:ph type="sldImg"/>
          </p:nvPr>
        </p:nvSpPr>
        <p:spPr>
          <a:xfrm>
            <a:off x="685800" y="1143000"/>
            <a:ext cx="5486040" cy="3085920"/>
          </a:xfrm>
          <a:prstGeom prst="rect">
            <a:avLst/>
          </a:prstGeom>
          <a:ln w="0">
            <a:noFill/>
          </a:ln>
        </p:spPr>
      </p:sp>
      <p:sp>
        <p:nvSpPr>
          <p:cNvPr id="11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190"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97EADEB-60E1-496E-8EF7-0ABC27BDD3D1}" type="slidenum">
              <a:rPr lang="en-US" sz="1200" b="0" strike="noStrike" spc="-1">
                <a:solidFill>
                  <a:schemeClr val="dk1"/>
                </a:solidFill>
                <a:latin typeface="+mn-lt"/>
                <a:ea typeface="+mn-ea"/>
              </a:rPr>
              <a:t>34</a:t>
            </a:fld>
            <a:endParaRPr lang="en-US" sz="1200" b="0" strike="noStrike" spc="-1">
              <a:solidFill>
                <a:srgbClr val="000000"/>
              </a:solidFill>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1" name="PlaceHolder 1"/>
          <p:cNvSpPr>
            <a:spLocks noGrp="1" noRot="1" noChangeAspect="1"/>
          </p:cNvSpPr>
          <p:nvPr>
            <p:ph type="sldImg"/>
          </p:nvPr>
        </p:nvSpPr>
        <p:spPr>
          <a:xfrm>
            <a:off x="685800" y="1143000"/>
            <a:ext cx="5486040" cy="3085920"/>
          </a:xfrm>
          <a:prstGeom prst="rect">
            <a:avLst/>
          </a:prstGeom>
          <a:ln w="0">
            <a:noFill/>
          </a:ln>
        </p:spPr>
      </p:sp>
      <p:sp>
        <p:nvSpPr>
          <p:cNvPr id="11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Background reference only. If the room seems to already understand LLM basics, skip this slide entirely. An LLM by itself is a stateless, single-shot text predictor - everything in the main session is about what gets added on top of this.</a:t>
            </a:r>
          </a:p>
        </p:txBody>
      </p:sp>
      <p:sp>
        <p:nvSpPr>
          <p:cNvPr id="1193"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75B9BB1-3B24-401D-8110-6116F51970AF}" type="slidenum">
              <a:rPr lang="en-US" sz="1200" b="0" strike="noStrike" spc="-1">
                <a:solidFill>
                  <a:schemeClr val="dk1"/>
                </a:solidFill>
                <a:latin typeface="+mn-lt"/>
                <a:ea typeface="+mn-ea"/>
              </a:rPr>
              <a:t>35</a:t>
            </a:fld>
            <a:endParaRPr lang="en-US" sz="1200" b="0" strike="noStrike" spc="-1">
              <a:solidFill>
                <a:srgbClr val="000000"/>
              </a:solidFill>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4" name="PlaceHolder 1"/>
          <p:cNvSpPr>
            <a:spLocks noGrp="1" noRot="1" noChangeAspect="1"/>
          </p:cNvSpPr>
          <p:nvPr>
            <p:ph type="sldImg"/>
          </p:nvPr>
        </p:nvSpPr>
        <p:spPr>
          <a:xfrm>
            <a:off x="685800" y="1143000"/>
            <a:ext cx="5486040" cy="3085920"/>
          </a:xfrm>
          <a:prstGeom prst="rect">
            <a:avLst/>
          </a:prstGeom>
          <a:ln w="0">
            <a:noFill/>
          </a:ln>
        </p:spPr>
      </p:sp>
      <p:sp>
        <p:nvSpPr>
          <p:cNvPr id="11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Background reference only. Every box in this loop maps to an ADK concept covered in the main session: Perceive = context engineering pulling in state/memory, Reason = the LLM call, Act = tool or sub-agent invocation, Observe = the event/result feeding back into state.</a:t>
            </a:r>
          </a:p>
        </p:txBody>
      </p:sp>
      <p:sp>
        <p:nvSpPr>
          <p:cNvPr id="1196"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6B8DD1C-B8DE-4159-8379-E5795968E9B7}" type="slidenum">
              <a:rPr lang="en-US" sz="1200" b="0" strike="noStrike" spc="-1">
                <a:solidFill>
                  <a:schemeClr val="dk1"/>
                </a:solidFill>
                <a:latin typeface="+mn-lt"/>
                <a:ea typeface="+mn-ea"/>
              </a:rPr>
              <a:t>36</a:t>
            </a:fld>
            <a:endParaRPr lang="en-US" sz="1200" b="0" strike="noStrike" spc="-1">
              <a:solidFill>
                <a:srgbClr val="000000"/>
              </a:solidFill>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7" name="PlaceHolder 1"/>
          <p:cNvSpPr>
            <a:spLocks noGrp="1" noRot="1" noChangeAspect="1"/>
          </p:cNvSpPr>
          <p:nvPr>
            <p:ph type="sldImg"/>
          </p:nvPr>
        </p:nvSpPr>
        <p:spPr>
          <a:xfrm>
            <a:off x="685800" y="1143000"/>
            <a:ext cx="5486040" cy="3085920"/>
          </a:xfrm>
          <a:prstGeom prst="rect">
            <a:avLst/>
          </a:prstGeom>
          <a:ln w="0">
            <a:noFill/>
          </a:ln>
        </p:spPr>
      </p:sp>
      <p:sp>
        <p:nvSpPr>
          <p:cNvPr id="11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Background reference only - this is the same deterministic-vs-agentic contrast used to open the main session, shown here again with extra detail in case a deeper audience Q&amp;A calls for it.</a:t>
            </a:r>
          </a:p>
        </p:txBody>
      </p:sp>
      <p:sp>
        <p:nvSpPr>
          <p:cNvPr id="1199"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21B14D2-0C2B-4CD7-B6E7-786C8E32514F}" type="slidenum">
              <a:rPr lang="en-US" sz="1200" b="0" strike="noStrike" spc="-1">
                <a:solidFill>
                  <a:schemeClr val="dk1"/>
                </a:solidFill>
                <a:latin typeface="+mn-lt"/>
                <a:ea typeface="+mn-ea"/>
              </a:rPr>
              <a:t>37</a:t>
            </a:fld>
            <a:endParaRPr lang="en-US" sz="1200" b="0" strike="noStrike" spc="-1">
              <a:solidFill>
                <a:srgbClr val="000000"/>
              </a:solidFill>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0" name="PlaceHolder 1"/>
          <p:cNvSpPr>
            <a:spLocks noGrp="1" noRot="1" noChangeAspect="1"/>
          </p:cNvSpPr>
          <p:nvPr>
            <p:ph type="sldImg"/>
          </p:nvPr>
        </p:nvSpPr>
        <p:spPr>
          <a:xfrm>
            <a:off x="685800" y="1143000"/>
            <a:ext cx="5486040" cy="3085920"/>
          </a:xfrm>
          <a:prstGeom prst="rect">
            <a:avLst/>
          </a:prstGeom>
          <a:ln w="0">
            <a:noFill/>
          </a:ln>
        </p:spPr>
      </p:sp>
      <p:sp>
        <p:nvSpPr>
          <p:cNvPr id="12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Keep this slide available for Q&amp;A or for anyone who wants to verify a number afterward - not necessarily presented live unless someone asks for sources during the talk.</a:t>
            </a:r>
          </a:p>
        </p:txBody>
      </p:sp>
      <p:sp>
        <p:nvSpPr>
          <p:cNvPr id="1202"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6309819B-4347-40C3-A794-A6F36AC8CBAB}" type="slidenum">
              <a:rPr lang="en-US" sz="1200" b="0" strike="noStrike" spc="-1">
                <a:solidFill>
                  <a:schemeClr val="dk1"/>
                </a:solidFill>
                <a:latin typeface="+mn-lt"/>
                <a:ea typeface="+mn-ea"/>
              </a:rPr>
              <a:t>38</a:t>
            </a:fld>
            <a:endParaRPr lang="en-US" sz="1200" b="0" strike="noStrike" spc="-1">
              <a:solidFill>
                <a:srgbClr val="000000"/>
              </a:solidFill>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3" name="PlaceHolder 1"/>
          <p:cNvSpPr>
            <a:spLocks noGrp="1" noRot="1" noChangeAspect="1"/>
          </p:cNvSpPr>
          <p:nvPr>
            <p:ph type="sldImg"/>
          </p:nvPr>
        </p:nvSpPr>
        <p:spPr>
          <a:xfrm>
            <a:off x="685800" y="1143000"/>
            <a:ext cx="5486040" cy="3085920"/>
          </a:xfrm>
          <a:prstGeom prst="rect">
            <a:avLst/>
          </a:prstGeom>
          <a:ln w="0">
            <a:noFill/>
          </a:ln>
        </p:spPr>
      </p:sp>
      <p:sp>
        <p:nvSpPr>
          <p:cNvPr id="12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Be honest on the scale question - the architecture pattern is proven industry-wide, but explicitly distinguish that from our own implementation maturity, which still has named gaps (Redis session store, Memory Bank) covered earlier in the deck. Don't oversell.</a:t>
            </a:r>
          </a:p>
        </p:txBody>
      </p:sp>
      <p:sp>
        <p:nvSpPr>
          <p:cNvPr id="1205"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A844F18-FEE2-48AB-9CD6-34D008DC54CF}" type="slidenum">
              <a:rPr lang="en-US" sz="1200" b="0" strike="noStrike" spc="-1">
                <a:solidFill>
                  <a:schemeClr val="dk1"/>
                </a:solidFill>
                <a:latin typeface="+mn-lt"/>
                <a:ea typeface="+mn-ea"/>
              </a:rPr>
              <a:t>39</a:t>
            </a:fld>
            <a:endParaRPr lang="en-US" sz="1200" b="0" strike="noStrike" spc="-1">
              <a:solidFill>
                <a:srgbClr val="000000"/>
              </a:solidFill>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6" name="PlaceHolder 1"/>
          <p:cNvSpPr>
            <a:spLocks noGrp="1" noRot="1" noChangeAspect="1"/>
          </p:cNvSpPr>
          <p:nvPr>
            <p:ph type="sldImg"/>
          </p:nvPr>
        </p:nvSpPr>
        <p:spPr>
          <a:xfrm>
            <a:off x="685800" y="1143000"/>
            <a:ext cx="5486040" cy="3085920"/>
          </a:xfrm>
          <a:prstGeom prst="rect">
            <a:avLst/>
          </a:prstGeom>
          <a:ln w="0">
            <a:noFill/>
          </a:ln>
        </p:spPr>
      </p:sp>
      <p:sp>
        <p:nvSpPr>
          <p:cNvPr id="12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MCP Gateway answer is a good moment to reinforce the earlier slide - today's resilience is per-sub-agent and basic; centralized retry/circuit-breaking is explicitly future work, not implemented yet.</a:t>
            </a:r>
          </a:p>
        </p:txBody>
      </p:sp>
      <p:sp>
        <p:nvSpPr>
          <p:cNvPr id="1208"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EE0156D-94E6-4DDA-808C-08BD1735D65C}" type="slidenum">
              <a:rPr lang="en-US" sz="1200" b="0" strike="noStrike" spc="-1">
                <a:solidFill>
                  <a:schemeClr val="dk1"/>
                </a:solidFill>
                <a:latin typeface="+mn-lt"/>
                <a:ea typeface="+mn-ea"/>
              </a:rPr>
              <a:t>40</a:t>
            </a:fld>
            <a:endParaRPr lang="en-US" sz="1200" b="0" strike="noStrike" spc="-1">
              <a:solidFill>
                <a:srgbClr val="000000"/>
              </a:solidFill>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9" name="PlaceHolder 1"/>
          <p:cNvSpPr>
            <a:spLocks noGrp="1" noRot="1" noChangeAspect="1"/>
          </p:cNvSpPr>
          <p:nvPr>
            <p:ph type="sldImg"/>
          </p:nvPr>
        </p:nvSpPr>
        <p:spPr>
          <a:xfrm>
            <a:off x="685800" y="1143000"/>
            <a:ext cx="5486040" cy="3085920"/>
          </a:xfrm>
          <a:prstGeom prst="rect">
            <a:avLst/>
          </a:prstGeom>
          <a:ln w="0">
            <a:noFill/>
          </a:ln>
        </p:spPr>
      </p:sp>
      <p:sp>
        <p:nvSpPr>
          <p:cNvPr id="12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compliance question is a good moment for an honest caveat: we have the architectural building blocks (traceability, evals) that a compliance review would need, but have NOT yet done a formal audit against EU AI Act provisions specifically. Don't claim compliance we haven't verified.</a:t>
            </a:r>
          </a:p>
        </p:txBody>
      </p:sp>
      <p:sp>
        <p:nvSpPr>
          <p:cNvPr id="1211"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8FEAF02-9641-4B86-BCF8-6A414C4DFE1F}" type="slidenum">
              <a:rPr lang="en-US" sz="1200" b="0" strike="noStrike" spc="-1">
                <a:solidFill>
                  <a:schemeClr val="dk1"/>
                </a:solidFill>
                <a:latin typeface="+mn-lt"/>
                <a:ea typeface="+mn-ea"/>
              </a:rPr>
              <a:t>41</a:t>
            </a:fld>
            <a:endParaRPr lang="en-US" sz="1200" b="0" strike="noStrike" spc="-1">
              <a:solidFill>
                <a:srgbClr val="000000"/>
              </a:solidFill>
              <a:latin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2" name="PlaceHolder 1"/>
          <p:cNvSpPr>
            <a:spLocks noGrp="1" noRot="1" noChangeAspect="1"/>
          </p:cNvSpPr>
          <p:nvPr>
            <p:ph type="sldImg"/>
          </p:nvPr>
        </p:nvSpPr>
        <p:spPr>
          <a:xfrm>
            <a:off x="685800" y="1143000"/>
            <a:ext cx="5486040" cy="3085920"/>
          </a:xfrm>
          <a:prstGeom prst="rect">
            <a:avLst/>
          </a:prstGeom>
          <a:ln w="0">
            <a:noFill/>
          </a:ln>
        </p:spPr>
      </p:sp>
      <p:sp>
        <p:nvSpPr>
          <p:cNvPr id="12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214"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BE6B210-A7DD-4D1A-A163-72C1D7965991}" type="slidenum">
              <a:rPr lang="en-US" sz="1200" b="0" strike="noStrike" spc="-1">
                <a:solidFill>
                  <a:schemeClr val="dk1"/>
                </a:solidFill>
                <a:latin typeface="+mn-lt"/>
                <a:ea typeface="+mn-ea"/>
              </a:rPr>
              <a:t>42</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hyperlink" Target="https://forrester.com/blogs/the-state-of-agentic-ai-in-2026-companies-are-chasing-few-are-catching" TargetMode="External"/><Relationship Id="rId3" Type="http://schemas.openxmlformats.org/officeDocument/2006/relationships/hyperlink" Target="https://gartner.com/en/newsroom/press-releases/2025-08-26-gartner-predicts-40-percent-of-enterprise-apps-will-feature-task-specific-ai-agents-by-2026-up-from-less-than-5-percent-in-2025" TargetMode="External"/><Relationship Id="rId7" Type="http://schemas.openxmlformats.org/officeDocument/2006/relationships/hyperlink" Target="https://mckinsey.com/featured-insights/week-in-charts/agentic-ai-advance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mckinsey.com/capabilities/quantumblack/our-insights/the-state-of-ai" TargetMode="External"/><Relationship Id="rId5" Type="http://schemas.openxmlformats.org/officeDocument/2006/relationships/hyperlink" Target="https://gartner.com/en/newsroom/press-releases/2025-06-25-gartner-predicts-over-40-percent-of-agentic-ai-projects-will-be-canceled-by-end-of-2027" TargetMode="External"/><Relationship Id="rId4" Type="http://schemas.openxmlformats.org/officeDocument/2006/relationships/hyperlink" Target="https://gartner.com/en/articles/hype-cycle-for-agentic-ai" TargetMode="External"/><Relationship Id="rId9" Type="http://schemas.openxmlformats.org/officeDocument/2006/relationships/hyperlink" Target="https://forrester.com/blogs/agentic-software-development-takes-the-lead-from-code-assistants-to-orchestrated-sdlc-agents"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hyperlink" Target="https://americanbanker.com/payments/news/banks-arent-ready-for-ai-agents-moving-money-experts-warn" TargetMode="External"/><Relationship Id="rId3" Type="http://schemas.openxmlformats.org/officeDocument/2006/relationships/hyperlink" Target="https://deloitte.com/us/en/what-we-do/capabilities/applied-artificial-intelligence/content/state-of-ai-in-the-enterprise.html" TargetMode="External"/><Relationship Id="rId7" Type="http://schemas.openxmlformats.org/officeDocument/2006/relationships/hyperlink" Target="https://americanbanker.com/not-just-a-smarter-bot-how-agentic-ai-can-transform-customer-experience"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ciodive.com/news/banks-agentic-ai-scale-2026/809532/" TargetMode="External"/><Relationship Id="rId11" Type="http://schemas.openxmlformats.org/officeDocument/2006/relationships/hyperlink" Target="https://ccgcatalyst.com/thought-leadership/commentary/agentic-ai-bankings-next-frontier-beyond-the-chatbot/" TargetMode="External"/><Relationship Id="rId5" Type="http://schemas.openxmlformats.org/officeDocument/2006/relationships/hyperlink" Target="https://deloitte.com/us/en/insights/industry/financial-services/agentic-ai-banking.html" TargetMode="External"/><Relationship Id="rId10" Type="http://schemas.openxmlformats.org/officeDocument/2006/relationships/hyperlink" Target="https://neurons-lab.com/articles/agentic-ai-in-financial-services-2026/" TargetMode="External"/><Relationship Id="rId4" Type="http://schemas.openxmlformats.org/officeDocument/2006/relationships/hyperlink" Target="https://deloitte.com/us/en/insights/industry/financial-services/agentic-ai-risks-banking.html" TargetMode="External"/><Relationship Id="rId9" Type="http://schemas.openxmlformats.org/officeDocument/2006/relationships/hyperlink" Target="https://bankingdive.com/news/us-bank-ces-agentic-ai-digital-banking-innovation-relyea/809574/"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3.png"/><Relationship Id="rId7"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image" Target="../media/image14.png"/><Relationship Id="rId5" Type="http://schemas.openxmlformats.org/officeDocument/2006/relationships/image" Target="../media/image44.png"/><Relationship Id="rId10" Type="http://schemas.openxmlformats.org/officeDocument/2006/relationships/image" Target="../media/image13.png"/><Relationship Id="rId4" Type="http://schemas.openxmlformats.org/officeDocument/2006/relationships/image" Target="../media/image24.png"/><Relationship Id="rId9"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hyperlink" Target="https://blott.com/reports/ai-use-cases-in-banking" TargetMode="External"/><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hyperlink" Target="https://thefinancialbrand.com/news/artificial-intelligence-banking/three-key-shifts-to-make-2026-your-inflection-point-for-ai-in-banking-194723" TargetMode="External"/><Relationship Id="rId5" Type="http://schemas.openxmlformats.org/officeDocument/2006/relationships/hyperlink" Target="https://mckinsey.com/industries/financial-services/our-insights/how-gen-ai-agents-threaten-retail-banks-customer-relationships" TargetMode="External"/><Relationship Id="rId4" Type="http://schemas.openxmlformats.org/officeDocument/2006/relationships/hyperlink" Target="https://neurons-lab.com/articles/agentic-ai-in-financial-services-2026"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215C"/>
        </a:solidFill>
        <a:effectLst/>
      </p:bgPr>
    </p:bg>
    <p:spTree>
      <p:nvGrpSpPr>
        <p:cNvPr id="1" name=""/>
        <p:cNvGrpSpPr/>
        <p:nvPr/>
      </p:nvGrpSpPr>
      <p:grpSpPr>
        <a:xfrm>
          <a:off x="0" y="0"/>
          <a:ext cx="0" cy="0"/>
          <a:chOff x="0" y="0"/>
          <a:chExt cx="0" cy="0"/>
        </a:xfrm>
      </p:grpSpPr>
      <p:sp>
        <p:nvSpPr>
          <p:cNvPr id="8" name="Shape 0"/>
          <p:cNvSpPr/>
          <p:nvPr/>
        </p:nvSpPr>
        <p:spPr>
          <a:xfrm>
            <a:off x="7058880" y="749520"/>
            <a:ext cx="914400" cy="54864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9" name="Shape 1"/>
          <p:cNvSpPr/>
          <p:nvPr/>
        </p:nvSpPr>
        <p:spPr>
          <a:xfrm flipH="1">
            <a:off x="7278480" y="1298160"/>
            <a:ext cx="694800" cy="4024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0" name="Shape 2"/>
          <p:cNvSpPr/>
          <p:nvPr/>
        </p:nvSpPr>
        <p:spPr>
          <a:xfrm flipV="1">
            <a:off x="7973280" y="767880"/>
            <a:ext cx="384120" cy="5302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1" name="Shape 3"/>
          <p:cNvSpPr/>
          <p:nvPr/>
        </p:nvSpPr>
        <p:spPr>
          <a:xfrm>
            <a:off x="7973280" y="1298160"/>
            <a:ext cx="567000" cy="38412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2" name="Shape 4"/>
          <p:cNvSpPr/>
          <p:nvPr/>
        </p:nvSpPr>
        <p:spPr>
          <a:xfrm>
            <a:off x="6858000" y="548640"/>
            <a:ext cx="402120" cy="40212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 name="Shape 5"/>
          <p:cNvSpPr/>
          <p:nvPr/>
        </p:nvSpPr>
        <p:spPr>
          <a:xfrm>
            <a:off x="7680960" y="1005840"/>
            <a:ext cx="585000" cy="585000"/>
          </a:xfrm>
          <a:prstGeom prst="ellipse">
            <a:avLst/>
          </a:prstGeom>
          <a:solidFill>
            <a:srgbClr val="7F77DD">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 name="Shape 6"/>
          <p:cNvSpPr/>
          <p:nvPr/>
        </p:nvSpPr>
        <p:spPr>
          <a:xfrm>
            <a:off x="7132320" y="1554480"/>
            <a:ext cx="292320" cy="29232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 name="Shape 7"/>
          <p:cNvSpPr/>
          <p:nvPr/>
        </p:nvSpPr>
        <p:spPr>
          <a:xfrm>
            <a:off x="8229600" y="640080"/>
            <a:ext cx="255600" cy="25560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 name="Shape 8"/>
          <p:cNvSpPr/>
          <p:nvPr/>
        </p:nvSpPr>
        <p:spPr>
          <a:xfrm>
            <a:off x="8321040" y="1463040"/>
            <a:ext cx="438480" cy="43848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 name="Shape 9"/>
          <p:cNvSpPr/>
          <p:nvPr/>
        </p:nvSpPr>
        <p:spPr>
          <a:xfrm>
            <a:off x="566640" y="3492720"/>
            <a:ext cx="914400" cy="54864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8" name="Shape 10"/>
          <p:cNvSpPr/>
          <p:nvPr/>
        </p:nvSpPr>
        <p:spPr>
          <a:xfrm flipH="1">
            <a:off x="786240" y="4041360"/>
            <a:ext cx="694800" cy="4024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9" name="Shape 11"/>
          <p:cNvSpPr/>
          <p:nvPr/>
        </p:nvSpPr>
        <p:spPr>
          <a:xfrm flipV="1">
            <a:off x="1481040" y="3511080"/>
            <a:ext cx="384120" cy="5302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20" name="Shape 12"/>
          <p:cNvSpPr/>
          <p:nvPr/>
        </p:nvSpPr>
        <p:spPr>
          <a:xfrm>
            <a:off x="1481040" y="4041360"/>
            <a:ext cx="567000" cy="38412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21" name="Shape 13"/>
          <p:cNvSpPr/>
          <p:nvPr/>
        </p:nvSpPr>
        <p:spPr>
          <a:xfrm>
            <a:off x="365760" y="3291840"/>
            <a:ext cx="402120" cy="40212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2" name="Shape 14"/>
          <p:cNvSpPr/>
          <p:nvPr/>
        </p:nvSpPr>
        <p:spPr>
          <a:xfrm>
            <a:off x="1188720" y="3749040"/>
            <a:ext cx="585000" cy="585000"/>
          </a:xfrm>
          <a:prstGeom prst="ellipse">
            <a:avLst/>
          </a:prstGeom>
          <a:solidFill>
            <a:srgbClr val="7F77DD">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3" name="Shape 15"/>
          <p:cNvSpPr/>
          <p:nvPr/>
        </p:nvSpPr>
        <p:spPr>
          <a:xfrm>
            <a:off x="640080" y="4297680"/>
            <a:ext cx="292320" cy="29232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4" name="Shape 16"/>
          <p:cNvSpPr/>
          <p:nvPr/>
        </p:nvSpPr>
        <p:spPr>
          <a:xfrm>
            <a:off x="1737360" y="3383280"/>
            <a:ext cx="255600" cy="25560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5" name="Shape 17"/>
          <p:cNvSpPr/>
          <p:nvPr/>
        </p:nvSpPr>
        <p:spPr>
          <a:xfrm>
            <a:off x="1828800" y="4206240"/>
            <a:ext cx="438480" cy="43848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6" name="Text 18"/>
          <p:cNvSpPr/>
          <p:nvPr/>
        </p:nvSpPr>
        <p:spPr>
          <a:xfrm>
            <a:off x="640080" y="1051560"/>
            <a:ext cx="7314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299">
                <a:solidFill>
                  <a:srgbClr val="F2A623"/>
                </a:solidFill>
                <a:latin typeface="Calibri"/>
                <a:ea typeface="Calibri"/>
              </a:rPr>
              <a:t>TECHNICAL SEMINAR  ·  75 MINUTES</a:t>
            </a:r>
            <a:endParaRPr lang="en-US" sz="1300" b="0" strike="noStrike" spc="-1">
              <a:solidFill>
                <a:srgbClr val="FFFFFF"/>
              </a:solidFill>
              <a:latin typeface="Arial"/>
            </a:endParaRPr>
          </a:p>
        </p:txBody>
      </p:sp>
      <p:sp>
        <p:nvSpPr>
          <p:cNvPr id="27" name="Text 19"/>
          <p:cNvSpPr/>
          <p:nvPr/>
        </p:nvSpPr>
        <p:spPr>
          <a:xfrm>
            <a:off x="640080" y="1463040"/>
            <a:ext cx="786348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4200" b="1" strike="noStrike" spc="-1">
                <a:solidFill>
                  <a:srgbClr val="FFFFFF"/>
                </a:solidFill>
                <a:latin typeface="Cambria"/>
                <a:ea typeface="Cambria"/>
              </a:rPr>
              <a:t>Agentic AI for Conversational Apps</a:t>
            </a:r>
            <a:endParaRPr lang="en-US" sz="4200" b="0" strike="noStrike" spc="-1">
              <a:solidFill>
                <a:srgbClr val="FFFFFF"/>
              </a:solidFill>
              <a:latin typeface="Arial"/>
            </a:endParaRPr>
          </a:p>
        </p:txBody>
      </p:sp>
      <p:sp>
        <p:nvSpPr>
          <p:cNvPr id="28" name="Text 20"/>
          <p:cNvSpPr/>
          <p:nvPr/>
        </p:nvSpPr>
        <p:spPr>
          <a:xfrm>
            <a:off x="640080" y="2788920"/>
            <a:ext cx="73148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0000"/>
              </a:lnSpc>
              <a:tabLst>
                <a:tab pos="0" algn="l"/>
              </a:tabLst>
            </a:pPr>
            <a:r>
              <a:rPr lang="en-US" sz="1600" b="0" strike="noStrike" spc="-1">
                <a:solidFill>
                  <a:srgbClr val="CADCFC"/>
                </a:solidFill>
                <a:latin typeface="Calibri"/>
                <a:ea typeface="Calibri"/>
              </a:rPr>
              <a:t>Mapping Google ADK concepts to real user-experience moments —</a:t>
            </a:r>
            <a:endParaRPr lang="en-US" sz="1600" b="0" strike="noStrike" spc="-1">
              <a:solidFill>
                <a:srgbClr val="FFFFFF"/>
              </a:solidFill>
              <a:latin typeface="Arial"/>
            </a:endParaRPr>
          </a:p>
          <a:p>
            <a:pPr defTabSz="914400">
              <a:lnSpc>
                <a:spcPct val="130000"/>
              </a:lnSpc>
              <a:tabLst>
                <a:tab pos="0" algn="l"/>
              </a:tabLst>
            </a:pPr>
            <a:r>
              <a:rPr lang="en-US" sz="1600" b="0" strike="noStrike" spc="-1">
                <a:solidFill>
                  <a:srgbClr val="CADCFC"/>
                </a:solidFill>
                <a:latin typeface="Calibri"/>
                <a:ea typeface="Calibri"/>
              </a:rPr>
              <a:t>built for technical teams who are new to Gen AI and agentic AI.</a:t>
            </a:r>
            <a:endParaRPr lang="en-US" sz="1600" b="0" strike="noStrike" spc="-1">
              <a:solidFill>
                <a:srgbClr val="FFFFFF"/>
              </a:solidFill>
              <a:latin typeface="Arial"/>
            </a:endParaRPr>
          </a:p>
        </p:txBody>
      </p:sp>
      <p:sp>
        <p:nvSpPr>
          <p:cNvPr id="29" name="Shape 21"/>
          <p:cNvSpPr/>
          <p:nvPr/>
        </p:nvSpPr>
        <p:spPr>
          <a:xfrm>
            <a:off x="640080" y="4160520"/>
            <a:ext cx="3172680" cy="383760"/>
          </a:xfrm>
          <a:prstGeom prst="roundRect">
            <a:avLst>
              <a:gd name="adj" fmla="val 50000"/>
            </a:avLst>
          </a:prstGeom>
          <a:solidFill>
            <a:srgbClr val="3C3489"/>
          </a:solidFill>
          <a:ln w="12700">
            <a:solidFill>
              <a:srgbClr val="3C348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0" name="Text 22"/>
          <p:cNvSpPr/>
          <p:nvPr/>
        </p:nvSpPr>
        <p:spPr>
          <a:xfrm>
            <a:off x="640080" y="4160520"/>
            <a:ext cx="3172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rgbClr val="CECBF6"/>
                </a:solidFill>
                <a:latin typeface="Calibri"/>
                <a:ea typeface="Calibri"/>
              </a:rPr>
              <a:t>No prior Gen AI experience needed</a:t>
            </a:r>
            <a:endParaRPr lang="en-US" sz="1100" b="0" strike="noStrike" spc="-1">
              <a:solidFill>
                <a:srgbClr val="FFFFFF"/>
              </a:solidFill>
              <a:latin typeface="Arial"/>
            </a:endParaRPr>
          </a:p>
        </p:txBody>
      </p:sp>
      <p:sp>
        <p:nvSpPr>
          <p:cNvPr id="31" name="Shape 23"/>
          <p:cNvSpPr/>
          <p:nvPr/>
        </p:nvSpPr>
        <p:spPr>
          <a:xfrm>
            <a:off x="3977640" y="4160520"/>
            <a:ext cx="1279800" cy="383760"/>
          </a:xfrm>
          <a:prstGeom prst="roundRect">
            <a:avLst>
              <a:gd name="adj" fmla="val 50000"/>
            </a:avLst>
          </a:prstGeom>
          <a:solidFill>
            <a:srgbClr val="3C3489"/>
          </a:solidFill>
          <a:ln w="12700">
            <a:solidFill>
              <a:srgbClr val="3C348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2" name="Text 24"/>
          <p:cNvSpPr/>
          <p:nvPr/>
        </p:nvSpPr>
        <p:spPr>
          <a:xfrm>
            <a:off x="3977640" y="4160520"/>
            <a:ext cx="12798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rgbClr val="CECBF6"/>
                </a:solidFill>
                <a:latin typeface="Calibri"/>
                <a:ea typeface="Calibri"/>
              </a:rPr>
              <a:t>Google ADK</a:t>
            </a:r>
            <a:endParaRPr lang="en-US" sz="1100" b="0" strike="noStrike" spc="-1">
              <a:solidFill>
                <a:srgbClr val="FFFFFF"/>
              </a:solidFill>
              <a:latin typeface="Arial"/>
            </a:endParaRPr>
          </a:p>
        </p:txBody>
      </p:sp>
      <p:sp>
        <p:nvSpPr>
          <p:cNvPr id="33" name="Shape 25"/>
          <p:cNvSpPr/>
          <p:nvPr/>
        </p:nvSpPr>
        <p:spPr>
          <a:xfrm>
            <a:off x="5422320" y="4160520"/>
            <a:ext cx="2267280" cy="383760"/>
          </a:xfrm>
          <a:prstGeom prst="roundRect">
            <a:avLst>
              <a:gd name="adj" fmla="val 50000"/>
            </a:avLst>
          </a:prstGeom>
          <a:solidFill>
            <a:srgbClr val="3C3489"/>
          </a:solidFill>
          <a:ln w="12700">
            <a:solidFill>
              <a:srgbClr val="3C348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4" name="Text 26"/>
          <p:cNvSpPr/>
          <p:nvPr/>
        </p:nvSpPr>
        <p:spPr>
          <a:xfrm>
            <a:off x="5422320" y="4160520"/>
            <a:ext cx="2267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rgbClr val="CECBF6"/>
                </a:solidFill>
                <a:latin typeface="Calibri"/>
                <a:ea typeface="Calibri"/>
              </a:rPr>
              <a:t>Live ADK demo included</a:t>
            </a:r>
            <a:endParaRPr lang="en-US" sz="110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SESSION ROADMAP</a:t>
            </a:r>
            <a:endParaRPr lang="en-US" sz="1200" b="0" strike="noStrike" spc="-1">
              <a:solidFill>
                <a:srgbClr val="000000"/>
              </a:solidFill>
              <a:latin typeface="Arial"/>
            </a:endParaRPr>
          </a:p>
        </p:txBody>
      </p:sp>
      <p:sp>
        <p:nvSpPr>
          <p:cNvPr id="36"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How we'll spend 75 minutes</a:t>
            </a:r>
            <a:endParaRPr lang="en-US" sz="2800" b="0" strike="noStrike" spc="-1">
              <a:solidFill>
                <a:srgbClr val="000000"/>
              </a:solidFill>
              <a:latin typeface="Arial"/>
            </a:endParaRPr>
          </a:p>
        </p:txBody>
      </p:sp>
      <p:sp>
        <p:nvSpPr>
          <p:cNvPr id="37" name="Shape 2"/>
          <p:cNvSpPr/>
          <p:nvPr/>
        </p:nvSpPr>
        <p:spPr>
          <a:xfrm>
            <a:off x="457200" y="1508760"/>
            <a:ext cx="1325520" cy="3245760"/>
          </a:xfrm>
          <a:prstGeom prst="roundRect">
            <a:avLst>
              <a:gd name="adj" fmla="val 5517"/>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8" name="Shape 3"/>
          <p:cNvSpPr/>
          <p:nvPr/>
        </p:nvSpPr>
        <p:spPr>
          <a:xfrm>
            <a:off x="891720" y="1737360"/>
            <a:ext cx="456840" cy="45684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39" name="Image 0" descr="preencoded.png"/>
          <p:cNvPicPr/>
          <p:nvPr/>
        </p:nvPicPr>
        <p:blipFill>
          <a:blip r:embed="rId3"/>
          <a:stretch/>
        </p:blipFill>
        <p:spPr>
          <a:xfrm>
            <a:off x="1001160" y="1847160"/>
            <a:ext cx="237240" cy="237240"/>
          </a:xfrm>
          <a:prstGeom prst="rect">
            <a:avLst/>
          </a:prstGeom>
          <a:ln w="0">
            <a:noFill/>
          </a:ln>
        </p:spPr>
      </p:pic>
      <p:sp>
        <p:nvSpPr>
          <p:cNvPr id="40" name="Text 4"/>
          <p:cNvSpPr/>
          <p:nvPr/>
        </p:nvSpPr>
        <p:spPr>
          <a:xfrm>
            <a:off x="548640" y="2331720"/>
            <a:ext cx="1142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strike="noStrike" spc="-1">
                <a:solidFill>
                  <a:srgbClr val="767290"/>
                </a:solidFill>
                <a:latin typeface="Calibri"/>
                <a:ea typeface="Calibri"/>
              </a:rPr>
              <a:t>0:00 – 0:07</a:t>
            </a:r>
            <a:endParaRPr lang="en-US" sz="1050" b="0" strike="noStrike" spc="-1">
              <a:solidFill>
                <a:srgbClr val="000000"/>
              </a:solidFill>
              <a:latin typeface="Arial"/>
            </a:endParaRPr>
          </a:p>
        </p:txBody>
      </p:sp>
      <p:sp>
        <p:nvSpPr>
          <p:cNvPr id="41" name="Text 5"/>
          <p:cNvSpPr/>
          <p:nvPr/>
        </p:nvSpPr>
        <p:spPr>
          <a:xfrm>
            <a:off x="548640" y="2606040"/>
            <a:ext cx="11426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1" strike="noStrike" spc="-1">
                <a:solidFill>
                  <a:srgbClr val="26215C"/>
                </a:solidFill>
                <a:latin typeface="Calibri"/>
                <a:ea typeface="Calibri"/>
              </a:rPr>
              <a:t>Why agentic, why now</a:t>
            </a:r>
            <a:endParaRPr lang="en-US" sz="1250" b="0" strike="noStrike" spc="-1">
              <a:solidFill>
                <a:srgbClr val="000000"/>
              </a:solidFill>
              <a:latin typeface="Arial"/>
            </a:endParaRPr>
          </a:p>
        </p:txBody>
      </p:sp>
      <p:sp>
        <p:nvSpPr>
          <p:cNvPr id="42" name="Text 6"/>
          <p:cNvSpPr/>
          <p:nvPr/>
        </p:nvSpPr>
        <p:spPr>
          <a:xfrm>
            <a:off x="567000" y="3154680"/>
            <a:ext cx="110592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50" b="0" strike="noStrike" spc="-1">
                <a:solidFill>
                  <a:srgbClr val="433F5C"/>
                </a:solidFill>
                <a:latin typeface="Calibri"/>
                <a:ea typeface="Calibri"/>
              </a:rPr>
              <a:t>The shift from deterministic chatbots to agentic AI, and why it matters for this use case.</a:t>
            </a:r>
            <a:endParaRPr lang="en-US" sz="950" b="0" strike="noStrike" spc="-1">
              <a:solidFill>
                <a:srgbClr val="000000"/>
              </a:solidFill>
              <a:latin typeface="Arial"/>
            </a:endParaRPr>
          </a:p>
        </p:txBody>
      </p:sp>
      <p:sp>
        <p:nvSpPr>
          <p:cNvPr id="43" name="Shape 7"/>
          <p:cNvSpPr/>
          <p:nvPr/>
        </p:nvSpPr>
        <p:spPr>
          <a:xfrm>
            <a:off x="1892880" y="1508760"/>
            <a:ext cx="1325520" cy="3245760"/>
          </a:xfrm>
          <a:prstGeom prst="roundRect">
            <a:avLst>
              <a:gd name="adj" fmla="val 5517"/>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4" name="Shape 8"/>
          <p:cNvSpPr/>
          <p:nvPr/>
        </p:nvSpPr>
        <p:spPr>
          <a:xfrm>
            <a:off x="2327040" y="1737360"/>
            <a:ext cx="456840" cy="45684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45" name="Image 1" descr="preencoded.png"/>
          <p:cNvPicPr/>
          <p:nvPr/>
        </p:nvPicPr>
        <p:blipFill>
          <a:blip r:embed="rId4"/>
          <a:stretch/>
        </p:blipFill>
        <p:spPr>
          <a:xfrm>
            <a:off x="2436840" y="1847160"/>
            <a:ext cx="237240" cy="237240"/>
          </a:xfrm>
          <a:prstGeom prst="rect">
            <a:avLst/>
          </a:prstGeom>
          <a:ln w="0">
            <a:noFill/>
          </a:ln>
        </p:spPr>
      </p:pic>
      <p:sp>
        <p:nvSpPr>
          <p:cNvPr id="46" name="Text 9"/>
          <p:cNvSpPr/>
          <p:nvPr/>
        </p:nvSpPr>
        <p:spPr>
          <a:xfrm>
            <a:off x="1984320" y="2331720"/>
            <a:ext cx="1142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strike="noStrike" spc="-1">
                <a:solidFill>
                  <a:srgbClr val="767290"/>
                </a:solidFill>
                <a:latin typeface="Calibri"/>
                <a:ea typeface="Calibri"/>
              </a:rPr>
              <a:t>0:07 – 0:13</a:t>
            </a:r>
            <a:endParaRPr lang="en-US" sz="1050" b="0" strike="noStrike" spc="-1">
              <a:solidFill>
                <a:srgbClr val="000000"/>
              </a:solidFill>
              <a:latin typeface="Arial"/>
            </a:endParaRPr>
          </a:p>
        </p:txBody>
      </p:sp>
      <p:sp>
        <p:nvSpPr>
          <p:cNvPr id="47" name="Text 10"/>
          <p:cNvSpPr/>
          <p:nvPr/>
        </p:nvSpPr>
        <p:spPr>
          <a:xfrm>
            <a:off x="1984320" y="2606040"/>
            <a:ext cx="11426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1" strike="noStrike" spc="-1">
                <a:solidFill>
                  <a:srgbClr val="26215C"/>
                </a:solidFill>
                <a:latin typeface="Calibri"/>
                <a:ea typeface="Calibri"/>
              </a:rPr>
              <a:t>Overall architecture</a:t>
            </a:r>
            <a:endParaRPr lang="en-US" sz="1250" b="0" strike="noStrike" spc="-1">
              <a:solidFill>
                <a:srgbClr val="000000"/>
              </a:solidFill>
              <a:latin typeface="Arial"/>
            </a:endParaRPr>
          </a:p>
        </p:txBody>
      </p:sp>
      <p:sp>
        <p:nvSpPr>
          <p:cNvPr id="48" name="Text 11"/>
          <p:cNvSpPr/>
          <p:nvPr/>
        </p:nvSpPr>
        <p:spPr>
          <a:xfrm>
            <a:off x="2002680" y="3154680"/>
            <a:ext cx="110592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50" b="0" strike="noStrike" spc="-1">
                <a:solidFill>
                  <a:srgbClr val="433F5C"/>
                </a:solidFill>
                <a:latin typeface="Calibri"/>
                <a:ea typeface="Calibri"/>
              </a:rPr>
              <a:t>Zooming out: the full stack this seminar's concepts live inside.</a:t>
            </a:r>
            <a:endParaRPr lang="en-US" sz="950" b="0" strike="noStrike" spc="-1">
              <a:solidFill>
                <a:srgbClr val="000000"/>
              </a:solidFill>
              <a:latin typeface="Arial"/>
            </a:endParaRPr>
          </a:p>
        </p:txBody>
      </p:sp>
      <p:sp>
        <p:nvSpPr>
          <p:cNvPr id="49" name="Shape 12"/>
          <p:cNvSpPr/>
          <p:nvPr/>
        </p:nvSpPr>
        <p:spPr>
          <a:xfrm>
            <a:off x="3328560" y="1508760"/>
            <a:ext cx="1325520" cy="3245760"/>
          </a:xfrm>
          <a:prstGeom prst="roundRect">
            <a:avLst>
              <a:gd name="adj" fmla="val 5517"/>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0" name="Shape 13"/>
          <p:cNvSpPr/>
          <p:nvPr/>
        </p:nvSpPr>
        <p:spPr>
          <a:xfrm>
            <a:off x="3762720" y="1737360"/>
            <a:ext cx="456840" cy="45684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51" name="Image 2" descr="preencoded.png"/>
          <p:cNvPicPr/>
          <p:nvPr/>
        </p:nvPicPr>
        <p:blipFill>
          <a:blip r:embed="rId5"/>
          <a:stretch/>
        </p:blipFill>
        <p:spPr>
          <a:xfrm>
            <a:off x="3872520" y="1847160"/>
            <a:ext cx="237240" cy="237240"/>
          </a:xfrm>
          <a:prstGeom prst="rect">
            <a:avLst/>
          </a:prstGeom>
          <a:ln w="0">
            <a:noFill/>
          </a:ln>
        </p:spPr>
      </p:pic>
      <p:sp>
        <p:nvSpPr>
          <p:cNvPr id="52" name="Text 14"/>
          <p:cNvSpPr/>
          <p:nvPr/>
        </p:nvSpPr>
        <p:spPr>
          <a:xfrm>
            <a:off x="3420000" y="2331720"/>
            <a:ext cx="1142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strike="noStrike" spc="-1">
                <a:solidFill>
                  <a:srgbClr val="767290"/>
                </a:solidFill>
                <a:latin typeface="Calibri"/>
                <a:ea typeface="Calibri"/>
              </a:rPr>
              <a:t>0:13 – 0:55</a:t>
            </a:r>
            <a:endParaRPr lang="en-US" sz="1050" b="0" strike="noStrike" spc="-1">
              <a:solidFill>
                <a:srgbClr val="000000"/>
              </a:solidFill>
              <a:latin typeface="Arial"/>
            </a:endParaRPr>
          </a:p>
        </p:txBody>
      </p:sp>
      <p:sp>
        <p:nvSpPr>
          <p:cNvPr id="53" name="Text 15"/>
          <p:cNvSpPr/>
          <p:nvPr/>
        </p:nvSpPr>
        <p:spPr>
          <a:xfrm>
            <a:off x="3420000" y="2606040"/>
            <a:ext cx="11426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1" strike="noStrike" spc="-1">
                <a:solidFill>
                  <a:srgbClr val="26215C"/>
                </a:solidFill>
                <a:latin typeface="Calibri"/>
                <a:ea typeface="Calibri"/>
              </a:rPr>
              <a:t>ADK building blocks ↔ UX</a:t>
            </a:r>
            <a:endParaRPr lang="en-US" sz="1250" b="0" strike="noStrike" spc="-1">
              <a:solidFill>
                <a:srgbClr val="000000"/>
              </a:solidFill>
              <a:latin typeface="Arial"/>
            </a:endParaRPr>
          </a:p>
        </p:txBody>
      </p:sp>
      <p:sp>
        <p:nvSpPr>
          <p:cNvPr id="54" name="Text 16"/>
          <p:cNvSpPr/>
          <p:nvPr/>
        </p:nvSpPr>
        <p:spPr>
          <a:xfrm>
            <a:off x="3438000" y="3154680"/>
            <a:ext cx="110592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50" b="0" strike="noStrike" spc="-1">
                <a:solidFill>
                  <a:srgbClr val="433F5C"/>
                </a:solidFill>
                <a:latin typeface="Calibri"/>
                <a:ea typeface="Calibri"/>
              </a:rPr>
              <a:t>Session, state, memory, context engineering, multi-agent routing, tools.</a:t>
            </a:r>
            <a:endParaRPr lang="en-US" sz="950" b="0" strike="noStrike" spc="-1">
              <a:solidFill>
                <a:srgbClr val="000000"/>
              </a:solidFill>
              <a:latin typeface="Arial"/>
            </a:endParaRPr>
          </a:p>
        </p:txBody>
      </p:sp>
      <p:sp>
        <p:nvSpPr>
          <p:cNvPr id="55" name="Shape 17"/>
          <p:cNvSpPr/>
          <p:nvPr/>
        </p:nvSpPr>
        <p:spPr>
          <a:xfrm>
            <a:off x="4763880" y="1508760"/>
            <a:ext cx="1325520" cy="3245760"/>
          </a:xfrm>
          <a:prstGeom prst="roundRect">
            <a:avLst>
              <a:gd name="adj" fmla="val 5517"/>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6" name="Shape 18"/>
          <p:cNvSpPr/>
          <p:nvPr/>
        </p:nvSpPr>
        <p:spPr>
          <a:xfrm>
            <a:off x="5198400" y="1737360"/>
            <a:ext cx="456840" cy="45684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57" name="Image 3" descr="preencoded.png"/>
          <p:cNvPicPr/>
          <p:nvPr/>
        </p:nvPicPr>
        <p:blipFill>
          <a:blip r:embed="rId6"/>
          <a:stretch/>
        </p:blipFill>
        <p:spPr>
          <a:xfrm>
            <a:off x="5308200" y="1847160"/>
            <a:ext cx="237240" cy="237240"/>
          </a:xfrm>
          <a:prstGeom prst="rect">
            <a:avLst/>
          </a:prstGeom>
          <a:ln w="0">
            <a:noFill/>
          </a:ln>
        </p:spPr>
      </p:pic>
      <p:sp>
        <p:nvSpPr>
          <p:cNvPr id="58" name="Text 19"/>
          <p:cNvSpPr/>
          <p:nvPr/>
        </p:nvSpPr>
        <p:spPr>
          <a:xfrm>
            <a:off x="4855320" y="2331720"/>
            <a:ext cx="1142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strike="noStrike" spc="-1">
                <a:solidFill>
                  <a:srgbClr val="767290"/>
                </a:solidFill>
                <a:latin typeface="Calibri"/>
                <a:ea typeface="Calibri"/>
              </a:rPr>
              <a:t>0:55 – 1:05</a:t>
            </a:r>
            <a:endParaRPr lang="en-US" sz="1050" b="0" strike="noStrike" spc="-1">
              <a:solidFill>
                <a:srgbClr val="000000"/>
              </a:solidFill>
              <a:latin typeface="Arial"/>
            </a:endParaRPr>
          </a:p>
        </p:txBody>
      </p:sp>
      <p:sp>
        <p:nvSpPr>
          <p:cNvPr id="59" name="Text 20"/>
          <p:cNvSpPr/>
          <p:nvPr/>
        </p:nvSpPr>
        <p:spPr>
          <a:xfrm>
            <a:off x="4855320" y="2606040"/>
            <a:ext cx="11426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1" strike="noStrike" spc="-1">
                <a:solidFill>
                  <a:srgbClr val="26215C"/>
                </a:solidFill>
                <a:latin typeface="Calibri"/>
                <a:ea typeface="Calibri"/>
              </a:rPr>
              <a:t>Platform onboarding</a:t>
            </a:r>
            <a:endParaRPr lang="en-US" sz="1250" b="0" strike="noStrike" spc="-1">
              <a:solidFill>
                <a:srgbClr val="000000"/>
              </a:solidFill>
              <a:latin typeface="Arial"/>
            </a:endParaRPr>
          </a:p>
        </p:txBody>
      </p:sp>
      <p:sp>
        <p:nvSpPr>
          <p:cNvPr id="60" name="Text 21"/>
          <p:cNvSpPr/>
          <p:nvPr/>
        </p:nvSpPr>
        <p:spPr>
          <a:xfrm>
            <a:off x="4873680" y="3154680"/>
            <a:ext cx="110592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50" b="0" strike="noStrike" spc="-1">
                <a:solidFill>
                  <a:srgbClr val="433F5C"/>
                </a:solidFill>
                <a:latin typeface="Calibri"/>
                <a:ea typeface="Calibri"/>
              </a:rPr>
              <a:t>Reusable sub-agent hosting, sidecar services, and onboarding best practices.</a:t>
            </a:r>
            <a:endParaRPr lang="en-US" sz="950" b="0" strike="noStrike" spc="-1">
              <a:solidFill>
                <a:srgbClr val="000000"/>
              </a:solidFill>
              <a:latin typeface="Arial"/>
            </a:endParaRPr>
          </a:p>
        </p:txBody>
      </p:sp>
      <p:sp>
        <p:nvSpPr>
          <p:cNvPr id="61" name="Shape 22"/>
          <p:cNvSpPr/>
          <p:nvPr/>
        </p:nvSpPr>
        <p:spPr>
          <a:xfrm>
            <a:off x="6199560" y="1508760"/>
            <a:ext cx="1325520" cy="3245760"/>
          </a:xfrm>
          <a:prstGeom prst="roundRect">
            <a:avLst>
              <a:gd name="adj" fmla="val 5517"/>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2" name="Shape 23"/>
          <p:cNvSpPr/>
          <p:nvPr/>
        </p:nvSpPr>
        <p:spPr>
          <a:xfrm>
            <a:off x="6634080" y="1737360"/>
            <a:ext cx="456840" cy="45684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63" name="Image 4" descr="preencoded.png"/>
          <p:cNvPicPr/>
          <p:nvPr/>
        </p:nvPicPr>
        <p:blipFill>
          <a:blip r:embed="rId7"/>
          <a:stretch/>
        </p:blipFill>
        <p:spPr>
          <a:xfrm>
            <a:off x="6743880" y="1847160"/>
            <a:ext cx="237240" cy="237240"/>
          </a:xfrm>
          <a:prstGeom prst="rect">
            <a:avLst/>
          </a:prstGeom>
          <a:ln w="0">
            <a:noFill/>
          </a:ln>
        </p:spPr>
      </p:pic>
      <p:sp>
        <p:nvSpPr>
          <p:cNvPr id="64" name="Text 24"/>
          <p:cNvSpPr/>
          <p:nvPr/>
        </p:nvSpPr>
        <p:spPr>
          <a:xfrm>
            <a:off x="6291000" y="2331720"/>
            <a:ext cx="1142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strike="noStrike" spc="-1">
                <a:solidFill>
                  <a:srgbClr val="767290"/>
                </a:solidFill>
                <a:latin typeface="Calibri"/>
                <a:ea typeface="Calibri"/>
              </a:rPr>
              <a:t>1:05 – 1:12</a:t>
            </a:r>
            <a:endParaRPr lang="en-US" sz="1050" b="0" strike="noStrike" spc="-1">
              <a:solidFill>
                <a:srgbClr val="000000"/>
              </a:solidFill>
              <a:latin typeface="Arial"/>
            </a:endParaRPr>
          </a:p>
        </p:txBody>
      </p:sp>
      <p:sp>
        <p:nvSpPr>
          <p:cNvPr id="65" name="Text 25"/>
          <p:cNvSpPr/>
          <p:nvPr/>
        </p:nvSpPr>
        <p:spPr>
          <a:xfrm>
            <a:off x="6291000" y="2606040"/>
            <a:ext cx="11426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1" strike="noStrike" spc="-1">
                <a:solidFill>
                  <a:srgbClr val="26215C"/>
                </a:solidFill>
                <a:latin typeface="Calibri"/>
                <a:ea typeface="Calibri"/>
              </a:rPr>
              <a:t>Live demo</a:t>
            </a:r>
            <a:endParaRPr lang="en-US" sz="1250" b="0" strike="noStrike" spc="-1">
              <a:solidFill>
                <a:srgbClr val="000000"/>
              </a:solidFill>
              <a:latin typeface="Arial"/>
            </a:endParaRPr>
          </a:p>
        </p:txBody>
      </p:sp>
      <p:sp>
        <p:nvSpPr>
          <p:cNvPr id="66" name="Text 26"/>
          <p:cNvSpPr/>
          <p:nvPr/>
        </p:nvSpPr>
        <p:spPr>
          <a:xfrm>
            <a:off x="6309360" y="3154680"/>
            <a:ext cx="110592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50" b="0" strike="noStrike" spc="-1">
                <a:solidFill>
                  <a:srgbClr val="433F5C"/>
                </a:solidFill>
                <a:latin typeface="Calibri"/>
                <a:ea typeface="Calibri"/>
              </a:rPr>
              <a:t>A real ADK agent, traced end to end on the running banking example.</a:t>
            </a:r>
            <a:endParaRPr lang="en-US" sz="950" b="0" strike="noStrike" spc="-1">
              <a:solidFill>
                <a:srgbClr val="000000"/>
              </a:solidFill>
              <a:latin typeface="Arial"/>
            </a:endParaRPr>
          </a:p>
        </p:txBody>
      </p:sp>
      <p:sp>
        <p:nvSpPr>
          <p:cNvPr id="67" name="Shape 27"/>
          <p:cNvSpPr/>
          <p:nvPr/>
        </p:nvSpPr>
        <p:spPr>
          <a:xfrm>
            <a:off x="7635240" y="1508760"/>
            <a:ext cx="1325520" cy="3245760"/>
          </a:xfrm>
          <a:prstGeom prst="roundRect">
            <a:avLst>
              <a:gd name="adj" fmla="val 5517"/>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8" name="Shape 28"/>
          <p:cNvSpPr/>
          <p:nvPr/>
        </p:nvSpPr>
        <p:spPr>
          <a:xfrm>
            <a:off x="8069760" y="1737360"/>
            <a:ext cx="456840" cy="45684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69" name="Image 5" descr="preencoded.png"/>
          <p:cNvPicPr/>
          <p:nvPr/>
        </p:nvPicPr>
        <p:blipFill>
          <a:blip r:embed="rId8"/>
          <a:stretch/>
        </p:blipFill>
        <p:spPr>
          <a:xfrm>
            <a:off x="8179200" y="1847160"/>
            <a:ext cx="237240" cy="237240"/>
          </a:xfrm>
          <a:prstGeom prst="rect">
            <a:avLst/>
          </a:prstGeom>
          <a:ln w="0">
            <a:noFill/>
          </a:ln>
        </p:spPr>
      </p:pic>
      <p:sp>
        <p:nvSpPr>
          <p:cNvPr id="70" name="Text 29"/>
          <p:cNvSpPr/>
          <p:nvPr/>
        </p:nvSpPr>
        <p:spPr>
          <a:xfrm>
            <a:off x="7726680" y="2331720"/>
            <a:ext cx="1142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strike="noStrike" spc="-1">
                <a:solidFill>
                  <a:srgbClr val="767290"/>
                </a:solidFill>
                <a:latin typeface="Calibri"/>
                <a:ea typeface="Calibri"/>
              </a:rPr>
              <a:t>1:12 – 1:15</a:t>
            </a:r>
            <a:endParaRPr lang="en-US" sz="1050" b="0" strike="noStrike" spc="-1">
              <a:solidFill>
                <a:srgbClr val="000000"/>
              </a:solidFill>
              <a:latin typeface="Arial"/>
            </a:endParaRPr>
          </a:p>
        </p:txBody>
      </p:sp>
      <p:sp>
        <p:nvSpPr>
          <p:cNvPr id="71" name="Text 30"/>
          <p:cNvSpPr/>
          <p:nvPr/>
        </p:nvSpPr>
        <p:spPr>
          <a:xfrm>
            <a:off x="7726680" y="2606040"/>
            <a:ext cx="11426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1" strike="noStrike" spc="-1">
                <a:solidFill>
                  <a:srgbClr val="26215C"/>
                </a:solidFill>
                <a:latin typeface="Calibri"/>
                <a:ea typeface="Calibri"/>
              </a:rPr>
              <a:t>Wrap-up &amp; Q&amp;A</a:t>
            </a:r>
            <a:endParaRPr lang="en-US" sz="1250" b="0" strike="noStrike" spc="-1">
              <a:solidFill>
                <a:srgbClr val="000000"/>
              </a:solidFill>
              <a:latin typeface="Arial"/>
            </a:endParaRPr>
          </a:p>
        </p:txBody>
      </p:sp>
      <p:sp>
        <p:nvSpPr>
          <p:cNvPr id="72" name="Text 31"/>
          <p:cNvSpPr/>
          <p:nvPr/>
        </p:nvSpPr>
        <p:spPr>
          <a:xfrm>
            <a:off x="7745040" y="3154680"/>
            <a:ext cx="110592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50" b="0" strike="noStrike" spc="-1">
                <a:solidFill>
                  <a:srgbClr val="433F5C"/>
                </a:solidFill>
                <a:latin typeface="Calibri"/>
                <a:ea typeface="Calibri"/>
              </a:rPr>
              <a:t>Key takeaways, resources, and a few quick questions.</a:t>
            </a:r>
            <a:endParaRPr lang="en-US" sz="95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6215C"/>
        </a:solidFill>
        <a:effectLst/>
      </p:bgPr>
    </p:bg>
    <p:spTree>
      <p:nvGrpSpPr>
        <p:cNvPr id="1" name=""/>
        <p:cNvGrpSpPr/>
        <p:nvPr/>
      </p:nvGrpSpPr>
      <p:grpSpPr>
        <a:xfrm>
          <a:off x="0" y="0"/>
          <a:ext cx="0" cy="0"/>
          <a:chOff x="0" y="0"/>
          <a:chExt cx="0" cy="0"/>
        </a:xfrm>
      </p:grpSpPr>
      <p:sp>
        <p:nvSpPr>
          <p:cNvPr id="73" name="Shape 0"/>
          <p:cNvSpPr/>
          <p:nvPr/>
        </p:nvSpPr>
        <p:spPr>
          <a:xfrm>
            <a:off x="7150320" y="658080"/>
            <a:ext cx="914400" cy="54864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74" name="Shape 1"/>
          <p:cNvSpPr/>
          <p:nvPr/>
        </p:nvSpPr>
        <p:spPr>
          <a:xfrm flipH="1">
            <a:off x="7369920" y="1206720"/>
            <a:ext cx="694800" cy="4024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75" name="Shape 2"/>
          <p:cNvSpPr/>
          <p:nvPr/>
        </p:nvSpPr>
        <p:spPr>
          <a:xfrm flipV="1">
            <a:off x="8064720" y="676440"/>
            <a:ext cx="384120" cy="5302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76" name="Shape 3"/>
          <p:cNvSpPr/>
          <p:nvPr/>
        </p:nvSpPr>
        <p:spPr>
          <a:xfrm>
            <a:off x="8064720" y="1206720"/>
            <a:ext cx="567000" cy="38412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77" name="Shape 4"/>
          <p:cNvSpPr/>
          <p:nvPr/>
        </p:nvSpPr>
        <p:spPr>
          <a:xfrm>
            <a:off x="6949440" y="457200"/>
            <a:ext cx="402120" cy="40212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8" name="Shape 5"/>
          <p:cNvSpPr/>
          <p:nvPr/>
        </p:nvSpPr>
        <p:spPr>
          <a:xfrm>
            <a:off x="7772400" y="914400"/>
            <a:ext cx="585000" cy="585000"/>
          </a:xfrm>
          <a:prstGeom prst="ellipse">
            <a:avLst/>
          </a:prstGeom>
          <a:solidFill>
            <a:srgbClr val="7F77DD">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9" name="Shape 6"/>
          <p:cNvSpPr/>
          <p:nvPr/>
        </p:nvSpPr>
        <p:spPr>
          <a:xfrm>
            <a:off x="7223760" y="1463040"/>
            <a:ext cx="292320" cy="29232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0" name="Shape 7"/>
          <p:cNvSpPr/>
          <p:nvPr/>
        </p:nvSpPr>
        <p:spPr>
          <a:xfrm>
            <a:off x="8321040" y="548640"/>
            <a:ext cx="255600" cy="25560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1" name="Shape 8"/>
          <p:cNvSpPr/>
          <p:nvPr/>
        </p:nvSpPr>
        <p:spPr>
          <a:xfrm>
            <a:off x="8412480" y="1371600"/>
            <a:ext cx="438480" cy="43848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2" name="Shape 9"/>
          <p:cNvSpPr/>
          <p:nvPr/>
        </p:nvSpPr>
        <p:spPr>
          <a:xfrm>
            <a:off x="640080" y="1417320"/>
            <a:ext cx="914040" cy="914040"/>
          </a:xfrm>
          <a:prstGeom prst="ellipse">
            <a:avLst/>
          </a:prstGeom>
          <a:solidFill>
            <a:srgbClr val="3C348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83" name="Image 0" descr="preencoded.png"/>
          <p:cNvPicPr/>
          <p:nvPr/>
        </p:nvPicPr>
        <p:blipFill>
          <a:blip r:embed="rId3"/>
          <a:stretch/>
        </p:blipFill>
        <p:spPr>
          <a:xfrm>
            <a:off x="859680" y="1636920"/>
            <a:ext cx="475200" cy="475200"/>
          </a:xfrm>
          <a:prstGeom prst="rect">
            <a:avLst/>
          </a:prstGeom>
          <a:ln w="0">
            <a:noFill/>
          </a:ln>
        </p:spPr>
      </p:pic>
      <p:sp>
        <p:nvSpPr>
          <p:cNvPr id="84" name="Text 10"/>
          <p:cNvSpPr/>
          <p:nvPr/>
        </p:nvSpPr>
        <p:spPr>
          <a:xfrm>
            <a:off x="1828800" y="1417320"/>
            <a:ext cx="6400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299">
                <a:solidFill>
                  <a:srgbClr val="F2A623"/>
                </a:solidFill>
                <a:latin typeface="Calibri"/>
                <a:ea typeface="Calibri"/>
              </a:rPr>
              <a:t>PART 1</a:t>
            </a:r>
            <a:endParaRPr lang="en-US" sz="1400" b="0" strike="noStrike" spc="-1">
              <a:solidFill>
                <a:srgbClr val="FFFFFF"/>
              </a:solidFill>
              <a:latin typeface="Arial"/>
            </a:endParaRPr>
          </a:p>
        </p:txBody>
      </p:sp>
      <p:sp>
        <p:nvSpPr>
          <p:cNvPr id="85" name="Text 11"/>
          <p:cNvSpPr/>
          <p:nvPr/>
        </p:nvSpPr>
        <p:spPr>
          <a:xfrm>
            <a:off x="1828800" y="1783080"/>
            <a:ext cx="66747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strike="noStrike" spc="-1">
                <a:solidFill>
                  <a:srgbClr val="FFFFFF"/>
                </a:solidFill>
                <a:latin typeface="Cambria"/>
                <a:ea typeface="Cambria"/>
              </a:rPr>
              <a:t>Why shift from deterministic to agentic</a:t>
            </a:r>
            <a:endParaRPr lang="en-US" sz="3400" b="0" strike="noStrike" spc="-1">
              <a:solidFill>
                <a:srgbClr val="FFFFFF"/>
              </a:solidFill>
              <a:latin typeface="Arial"/>
            </a:endParaRPr>
          </a:p>
        </p:txBody>
      </p:sp>
      <p:sp>
        <p:nvSpPr>
          <p:cNvPr id="86" name="Text 12"/>
          <p:cNvSpPr/>
          <p:nvPr/>
        </p:nvSpPr>
        <p:spPr>
          <a:xfrm>
            <a:off x="1828800" y="2788920"/>
            <a:ext cx="64004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0000"/>
              </a:lnSpc>
              <a:tabLst>
                <a:tab pos="0" algn="l"/>
              </a:tabLst>
            </a:pPr>
            <a:r>
              <a:rPr lang="en-US" sz="1500" b="0" strike="noStrike" spc="-1">
                <a:solidFill>
                  <a:srgbClr val="CECBF6"/>
                </a:solidFill>
                <a:latin typeface="Calibri"/>
                <a:ea typeface="Calibri"/>
              </a:rPr>
              <a:t>Setting up the rest of the session: what's actually changing, and why it matters now.</a:t>
            </a:r>
            <a:endParaRPr lang="en-US" sz="1500" b="0" strike="noStrike" spc="-1">
              <a:solidFill>
                <a:srgbClr val="FFFFFF"/>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INTRODUCTION</a:t>
            </a:r>
            <a:endParaRPr lang="en-US" sz="1200" b="0" strike="noStrike" spc="-1">
              <a:solidFill>
                <a:srgbClr val="000000"/>
              </a:solidFill>
              <a:latin typeface="Arial"/>
            </a:endParaRPr>
          </a:p>
        </p:txBody>
      </p:sp>
      <p:sp>
        <p:nvSpPr>
          <p:cNvPr id="88"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From a fixed decision tree to a reasoning loop</a:t>
            </a:r>
            <a:endParaRPr lang="en-US" sz="2800" b="0" strike="noStrike" spc="-1">
              <a:solidFill>
                <a:srgbClr val="000000"/>
              </a:solidFill>
              <a:latin typeface="Arial"/>
            </a:endParaRPr>
          </a:p>
        </p:txBody>
      </p:sp>
      <p:sp>
        <p:nvSpPr>
          <p:cNvPr id="89" name="Shape 2"/>
          <p:cNvSpPr/>
          <p:nvPr/>
        </p:nvSpPr>
        <p:spPr>
          <a:xfrm>
            <a:off x="457200" y="1554480"/>
            <a:ext cx="4023000" cy="3200040"/>
          </a:xfrm>
          <a:prstGeom prst="roundRect">
            <a:avLst>
              <a:gd name="adj" fmla="val 2857"/>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0" name="Shape 3"/>
          <p:cNvSpPr/>
          <p:nvPr/>
        </p:nvSpPr>
        <p:spPr>
          <a:xfrm>
            <a:off x="777240" y="1828800"/>
            <a:ext cx="548280" cy="548280"/>
          </a:xfrm>
          <a:prstGeom prst="ellipse">
            <a:avLst/>
          </a:prstGeom>
          <a:solidFill>
            <a:srgbClr val="ECEB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91" name="Image 0" descr="preencoded.png"/>
          <p:cNvPicPr/>
          <p:nvPr/>
        </p:nvPicPr>
        <p:blipFill>
          <a:blip r:embed="rId3"/>
          <a:stretch/>
        </p:blipFill>
        <p:spPr>
          <a:xfrm>
            <a:off x="909000" y="1960560"/>
            <a:ext cx="284760" cy="284760"/>
          </a:xfrm>
          <a:prstGeom prst="rect">
            <a:avLst/>
          </a:prstGeom>
          <a:ln w="0">
            <a:noFill/>
          </a:ln>
        </p:spPr>
      </p:pic>
      <p:sp>
        <p:nvSpPr>
          <p:cNvPr id="92" name="Text 4"/>
          <p:cNvSpPr/>
          <p:nvPr/>
        </p:nvSpPr>
        <p:spPr>
          <a:xfrm>
            <a:off x="1463040" y="1828800"/>
            <a:ext cx="27428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strike="noStrike" spc="-1">
                <a:solidFill>
                  <a:srgbClr val="26215C"/>
                </a:solidFill>
                <a:latin typeface="Cambria"/>
                <a:ea typeface="Cambria"/>
              </a:rPr>
              <a:t>Deterministic chatbot</a:t>
            </a:r>
            <a:endParaRPr lang="en-US" sz="1700" b="0" strike="noStrike" spc="-1">
              <a:solidFill>
                <a:srgbClr val="000000"/>
              </a:solidFill>
              <a:latin typeface="Arial"/>
            </a:endParaRPr>
          </a:p>
        </p:txBody>
      </p:sp>
      <p:sp>
        <p:nvSpPr>
          <p:cNvPr id="93" name="Text 5"/>
          <p:cNvSpPr/>
          <p:nvPr/>
        </p:nvSpPr>
        <p:spPr>
          <a:xfrm>
            <a:off x="777240" y="2606040"/>
            <a:ext cx="33829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8000"/>
              </a:lnSpc>
              <a:buClr>
                <a:srgbClr val="433F5C"/>
              </a:buClr>
              <a:buFont typeface="Symbol" charset="2"/>
              <a:buChar char=""/>
            </a:pPr>
            <a:r>
              <a:rPr lang="en-US" sz="1200" b="0" strike="noStrike" spc="-1">
                <a:solidFill>
                  <a:srgbClr val="433F5C"/>
                </a:solidFill>
                <a:latin typeface="Calibri"/>
                <a:ea typeface="Calibri"/>
              </a:rPr>
              <a:t>Fixed path: for a given input, there's one pre-mapped output</a:t>
            </a:r>
            <a:endParaRPr lang="en-US" sz="1200" b="0" strike="noStrike" spc="-1">
              <a:solidFill>
                <a:srgbClr val="000000"/>
              </a:solidFill>
              <a:latin typeface="Arial"/>
            </a:endParaRPr>
          </a:p>
        </p:txBody>
      </p:sp>
      <p:sp>
        <p:nvSpPr>
          <p:cNvPr id="94" name="Text 6"/>
          <p:cNvSpPr/>
          <p:nvPr/>
        </p:nvSpPr>
        <p:spPr>
          <a:xfrm>
            <a:off x="777240" y="3319200"/>
            <a:ext cx="33829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8000"/>
              </a:lnSpc>
              <a:buClr>
                <a:srgbClr val="433F5C"/>
              </a:buClr>
              <a:buFont typeface="Symbol" charset="2"/>
              <a:buChar char=""/>
            </a:pPr>
            <a:r>
              <a:rPr lang="en-US" sz="1200" b="0" strike="noStrike" spc="-1">
                <a:solidFill>
                  <a:srgbClr val="433F5C"/>
                </a:solidFill>
                <a:latin typeface="Calibri"/>
                <a:ea typeface="Calibri"/>
              </a:rPr>
              <a:t>Fails outside known intents — falls back to “I didn't understand” or a human handoff</a:t>
            </a:r>
            <a:endParaRPr lang="en-US" sz="1200" b="0" strike="noStrike" spc="-1">
              <a:solidFill>
                <a:srgbClr val="000000"/>
              </a:solidFill>
              <a:latin typeface="Arial"/>
            </a:endParaRPr>
          </a:p>
        </p:txBody>
      </p:sp>
      <p:sp>
        <p:nvSpPr>
          <p:cNvPr id="95" name="Text 7"/>
          <p:cNvSpPr/>
          <p:nvPr/>
        </p:nvSpPr>
        <p:spPr>
          <a:xfrm>
            <a:off x="777240" y="4032360"/>
            <a:ext cx="33829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8000"/>
              </a:lnSpc>
              <a:buClr>
                <a:srgbClr val="433F5C"/>
              </a:buClr>
              <a:buFont typeface="Symbol" charset="2"/>
              <a:buChar char=""/>
            </a:pPr>
            <a:r>
              <a:rPr lang="en-US" sz="1200" b="0" strike="noStrike" spc="-1">
                <a:solidFill>
                  <a:srgbClr val="433F5C"/>
                </a:solidFill>
                <a:latin typeface="Calibri"/>
                <a:ea typeface="Calibri"/>
              </a:rPr>
              <a:t>Same answer for every user, no memory of past interactions</a:t>
            </a:r>
            <a:endParaRPr lang="en-US" sz="1200" b="0" strike="noStrike" spc="-1">
              <a:solidFill>
                <a:srgbClr val="000000"/>
              </a:solidFill>
              <a:latin typeface="Arial"/>
            </a:endParaRPr>
          </a:p>
        </p:txBody>
      </p:sp>
      <p:sp>
        <p:nvSpPr>
          <p:cNvPr id="96" name="Shape 8"/>
          <p:cNvSpPr/>
          <p:nvPr/>
        </p:nvSpPr>
        <p:spPr>
          <a:xfrm>
            <a:off x="4663440" y="1554480"/>
            <a:ext cx="4023000" cy="3200040"/>
          </a:xfrm>
          <a:prstGeom prst="roundRect">
            <a:avLst>
              <a:gd name="adj" fmla="val 2857"/>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7" name="Shape 9"/>
          <p:cNvSpPr/>
          <p:nvPr/>
        </p:nvSpPr>
        <p:spPr>
          <a:xfrm>
            <a:off x="4983480" y="1828800"/>
            <a:ext cx="548280" cy="54828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98" name="Image 1" descr="preencoded.png"/>
          <p:cNvPicPr/>
          <p:nvPr/>
        </p:nvPicPr>
        <p:blipFill>
          <a:blip r:embed="rId4"/>
          <a:stretch/>
        </p:blipFill>
        <p:spPr>
          <a:xfrm>
            <a:off x="5115240" y="1960560"/>
            <a:ext cx="284760" cy="284760"/>
          </a:xfrm>
          <a:prstGeom prst="rect">
            <a:avLst/>
          </a:prstGeom>
          <a:ln w="0">
            <a:noFill/>
          </a:ln>
        </p:spPr>
      </p:pic>
      <p:sp>
        <p:nvSpPr>
          <p:cNvPr id="99" name="Text 10"/>
          <p:cNvSpPr/>
          <p:nvPr/>
        </p:nvSpPr>
        <p:spPr>
          <a:xfrm>
            <a:off x="5669280" y="1828800"/>
            <a:ext cx="27428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strike="noStrike" spc="-1">
                <a:solidFill>
                  <a:srgbClr val="26215C"/>
                </a:solidFill>
                <a:latin typeface="Cambria"/>
                <a:ea typeface="Cambria"/>
              </a:rPr>
              <a:t>Agentic assistant</a:t>
            </a:r>
            <a:endParaRPr lang="en-US" sz="1700" b="0" strike="noStrike" spc="-1">
              <a:solidFill>
                <a:srgbClr val="000000"/>
              </a:solidFill>
              <a:latin typeface="Arial"/>
            </a:endParaRPr>
          </a:p>
        </p:txBody>
      </p:sp>
      <p:sp>
        <p:nvSpPr>
          <p:cNvPr id="100" name="Text 11"/>
          <p:cNvSpPr/>
          <p:nvPr/>
        </p:nvSpPr>
        <p:spPr>
          <a:xfrm>
            <a:off x="4983480" y="2606040"/>
            <a:ext cx="33829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8000"/>
              </a:lnSpc>
              <a:buClr>
                <a:srgbClr val="433F5C"/>
              </a:buClr>
              <a:buFont typeface="Symbol" charset="2"/>
              <a:buChar char=""/>
            </a:pPr>
            <a:r>
              <a:rPr lang="en-US" sz="1200" b="0" strike="noStrike" spc="-1">
                <a:solidFill>
                  <a:srgbClr val="433F5C"/>
                </a:solidFill>
                <a:latin typeface="Calibri"/>
                <a:ea typeface="Calibri"/>
              </a:rPr>
              <a:t>Given a goal, tools, and memory, it reasons at runtime about what to do</a:t>
            </a:r>
            <a:endParaRPr lang="en-US" sz="1200" b="0" strike="noStrike" spc="-1">
              <a:solidFill>
                <a:srgbClr val="000000"/>
              </a:solidFill>
              <a:latin typeface="Arial"/>
            </a:endParaRPr>
          </a:p>
        </p:txBody>
      </p:sp>
      <p:sp>
        <p:nvSpPr>
          <p:cNvPr id="101" name="Text 12"/>
          <p:cNvSpPr/>
          <p:nvPr/>
        </p:nvSpPr>
        <p:spPr>
          <a:xfrm>
            <a:off x="4983480" y="3319200"/>
            <a:ext cx="33829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8000"/>
              </a:lnSpc>
              <a:buClr>
                <a:srgbClr val="433F5C"/>
              </a:buClr>
              <a:buFont typeface="Symbol" charset="2"/>
              <a:buChar char=""/>
            </a:pPr>
            <a:r>
              <a:rPr lang="en-US" sz="1200" b="0" strike="noStrike" spc="-1">
                <a:solidFill>
                  <a:srgbClr val="433F5C"/>
                </a:solidFill>
                <a:latin typeface="Calibri"/>
                <a:ea typeface="Calibri"/>
              </a:rPr>
              <a:t>Handles multi-part and novel requests, not just pre-mapped ones</a:t>
            </a:r>
            <a:endParaRPr lang="en-US" sz="1200" b="0" strike="noStrike" spc="-1">
              <a:solidFill>
                <a:srgbClr val="000000"/>
              </a:solidFill>
              <a:latin typeface="Arial"/>
            </a:endParaRPr>
          </a:p>
        </p:txBody>
      </p:sp>
      <p:sp>
        <p:nvSpPr>
          <p:cNvPr id="102" name="Text 13"/>
          <p:cNvSpPr/>
          <p:nvPr/>
        </p:nvSpPr>
        <p:spPr>
          <a:xfrm>
            <a:off x="4983480" y="4032360"/>
            <a:ext cx="33829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8000"/>
              </a:lnSpc>
              <a:buClr>
                <a:srgbClr val="433F5C"/>
              </a:buClr>
              <a:buFont typeface="Symbol" charset="2"/>
              <a:buChar char=""/>
            </a:pPr>
            <a:r>
              <a:rPr lang="en-US" sz="1200" b="0" strike="noStrike" spc="-1">
                <a:solidFill>
                  <a:srgbClr val="433F5C"/>
                </a:solidFill>
                <a:latin typeface="Calibri"/>
                <a:ea typeface="Calibri"/>
              </a:rPr>
              <a:t>Personalizes using memory and can take real actions, not just answer</a:t>
            </a:r>
            <a:endParaRPr lang="en-US" sz="1200" b="0" strike="noStrike" spc="-1">
              <a:solidFill>
                <a:srgbClr val="000000"/>
              </a:solidFill>
              <a:latin typeface="Arial"/>
            </a:endParaRPr>
          </a:p>
        </p:txBody>
      </p:sp>
      <p:sp>
        <p:nvSpPr>
          <p:cNvPr id="103" name="Shape 14"/>
          <p:cNvSpPr/>
          <p:nvPr/>
        </p:nvSpPr>
        <p:spPr>
          <a:xfrm>
            <a:off x="4297680" y="2971800"/>
            <a:ext cx="548280" cy="54828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4" name="Text 15"/>
          <p:cNvSpPr/>
          <p:nvPr/>
        </p:nvSpPr>
        <p:spPr>
          <a:xfrm>
            <a:off x="4297680" y="2971800"/>
            <a:ext cx="548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Calibri"/>
                <a:ea typeface="Calibri"/>
              </a:rPr>
              <a:t>&gt;</a:t>
            </a:r>
            <a:endParaRPr lang="en-US" sz="18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INTRODUCTION</a:t>
            </a:r>
            <a:endParaRPr lang="en-US" sz="1200" b="0" strike="noStrike" spc="-1">
              <a:solidFill>
                <a:srgbClr val="000000"/>
              </a:solidFill>
              <a:latin typeface="Arial"/>
            </a:endParaRPr>
          </a:p>
        </p:txBody>
      </p:sp>
      <p:sp>
        <p:nvSpPr>
          <p:cNvPr id="106"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Why this shift matters right now</a:t>
            </a:r>
            <a:endParaRPr lang="en-US" sz="2800" b="0" strike="noStrike" spc="-1">
              <a:solidFill>
                <a:srgbClr val="000000"/>
              </a:solidFill>
              <a:latin typeface="Arial"/>
            </a:endParaRPr>
          </a:p>
        </p:txBody>
      </p:sp>
      <p:sp>
        <p:nvSpPr>
          <p:cNvPr id="107" name="Shape 2"/>
          <p:cNvSpPr/>
          <p:nvPr/>
        </p:nvSpPr>
        <p:spPr>
          <a:xfrm>
            <a:off x="548640" y="1463040"/>
            <a:ext cx="566640" cy="56664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108" name="Image 0" descr="preencoded.png"/>
          <p:cNvPicPr/>
          <p:nvPr/>
        </p:nvPicPr>
        <p:blipFill>
          <a:blip r:embed="rId3"/>
          <a:stretch/>
        </p:blipFill>
        <p:spPr>
          <a:xfrm>
            <a:off x="684720" y="1599120"/>
            <a:ext cx="294480" cy="294480"/>
          </a:xfrm>
          <a:prstGeom prst="rect">
            <a:avLst/>
          </a:prstGeom>
          <a:ln w="0">
            <a:noFill/>
          </a:ln>
        </p:spPr>
      </p:pic>
      <p:sp>
        <p:nvSpPr>
          <p:cNvPr id="109" name="Text 3"/>
          <p:cNvSpPr/>
          <p:nvPr/>
        </p:nvSpPr>
        <p:spPr>
          <a:xfrm>
            <a:off x="1371600" y="1408320"/>
            <a:ext cx="51202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26215C"/>
                </a:solidFill>
                <a:latin typeface="Calibri"/>
                <a:ea typeface="Calibri"/>
              </a:rPr>
              <a:t>Richer, generative use cases</a:t>
            </a:r>
            <a:endParaRPr lang="en-US" sz="1400" b="0" strike="noStrike" spc="-1">
              <a:solidFill>
                <a:srgbClr val="000000"/>
              </a:solidFill>
              <a:latin typeface="Arial"/>
            </a:endParaRPr>
          </a:p>
        </p:txBody>
      </p:sp>
      <p:sp>
        <p:nvSpPr>
          <p:cNvPr id="110" name="Text 4"/>
          <p:cNvSpPr/>
          <p:nvPr/>
        </p:nvSpPr>
        <p:spPr>
          <a:xfrm>
            <a:off x="1371600" y="1728360"/>
            <a:ext cx="512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050" b="0" strike="noStrike" spc="-1">
                <a:solidFill>
                  <a:srgbClr val="433F5C"/>
                </a:solidFill>
                <a:latin typeface="Calibri"/>
                <a:ea typeface="Calibri"/>
              </a:rPr>
              <a:t>One message can now carry multiple intents — e.g. reviewing a transaction and applying for a new card in the same conversation — without the user starting over.</a:t>
            </a:r>
            <a:endParaRPr lang="en-US" sz="1050" b="0" strike="noStrike" spc="-1">
              <a:solidFill>
                <a:srgbClr val="000000"/>
              </a:solidFill>
              <a:latin typeface="Arial"/>
            </a:endParaRPr>
          </a:p>
        </p:txBody>
      </p:sp>
      <p:sp>
        <p:nvSpPr>
          <p:cNvPr id="111" name="Shape 5"/>
          <p:cNvSpPr/>
          <p:nvPr/>
        </p:nvSpPr>
        <p:spPr>
          <a:xfrm>
            <a:off x="6629400" y="1444680"/>
            <a:ext cx="2057040" cy="767880"/>
          </a:xfrm>
          <a:prstGeom prst="roundRect">
            <a:avLst>
              <a:gd name="adj" fmla="val 9524"/>
            </a:avLst>
          </a:prstGeom>
          <a:solidFill>
            <a:srgbClr val="F8F7F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2" name="Text 6"/>
          <p:cNvSpPr/>
          <p:nvPr/>
        </p:nvSpPr>
        <p:spPr>
          <a:xfrm>
            <a:off x="6766560" y="1444680"/>
            <a:ext cx="1782720" cy="76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050" b="1" strike="noStrike" spc="-1">
                <a:solidFill>
                  <a:srgbClr val="26215C"/>
                </a:solidFill>
                <a:latin typeface="Calibri"/>
                <a:ea typeface="Calibri"/>
              </a:rPr>
              <a:t>99% plan to deploy AI agents; only 11% have¹</a:t>
            </a:r>
            <a:endParaRPr lang="en-US" sz="1050" b="0" strike="noStrike" spc="-1">
              <a:solidFill>
                <a:srgbClr val="000000"/>
              </a:solidFill>
              <a:latin typeface="Arial"/>
            </a:endParaRPr>
          </a:p>
        </p:txBody>
      </p:sp>
      <p:sp>
        <p:nvSpPr>
          <p:cNvPr id="113" name="Shape 7"/>
          <p:cNvSpPr/>
          <p:nvPr/>
        </p:nvSpPr>
        <p:spPr>
          <a:xfrm>
            <a:off x="548640" y="2377440"/>
            <a:ext cx="566640" cy="56664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114" name="Image 1" descr="preencoded.png"/>
          <p:cNvPicPr/>
          <p:nvPr/>
        </p:nvPicPr>
        <p:blipFill>
          <a:blip r:embed="rId4"/>
          <a:stretch/>
        </p:blipFill>
        <p:spPr>
          <a:xfrm>
            <a:off x="684720" y="2513520"/>
            <a:ext cx="294480" cy="294480"/>
          </a:xfrm>
          <a:prstGeom prst="rect">
            <a:avLst/>
          </a:prstGeom>
          <a:ln w="0">
            <a:noFill/>
          </a:ln>
        </p:spPr>
      </p:pic>
      <p:sp>
        <p:nvSpPr>
          <p:cNvPr id="115" name="Text 8"/>
          <p:cNvSpPr/>
          <p:nvPr/>
        </p:nvSpPr>
        <p:spPr>
          <a:xfrm>
            <a:off x="1371600" y="2322720"/>
            <a:ext cx="51202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26215C"/>
                </a:solidFill>
                <a:latin typeface="Calibri"/>
                <a:ea typeface="Calibri"/>
              </a:rPr>
              <a:t>Customer expectations have shifted</a:t>
            </a:r>
            <a:endParaRPr lang="en-US" sz="1400" b="0" strike="noStrike" spc="-1">
              <a:solidFill>
                <a:srgbClr val="000000"/>
              </a:solidFill>
              <a:latin typeface="Arial"/>
            </a:endParaRPr>
          </a:p>
        </p:txBody>
      </p:sp>
      <p:sp>
        <p:nvSpPr>
          <p:cNvPr id="116" name="Text 9"/>
          <p:cNvSpPr/>
          <p:nvPr/>
        </p:nvSpPr>
        <p:spPr>
          <a:xfrm>
            <a:off x="1371600" y="2642760"/>
            <a:ext cx="512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050" b="0" strike="noStrike" spc="-1">
                <a:solidFill>
                  <a:srgbClr val="433F5C"/>
                </a:solidFill>
                <a:latin typeface="Calibri"/>
                <a:ea typeface="Calibri"/>
              </a:rPr>
              <a:t>People compare every assistant to the best generative AI products they already use — an FAQ-only bot now feels outdated by comparison.</a:t>
            </a:r>
            <a:endParaRPr lang="en-US" sz="1050" b="0" strike="noStrike" spc="-1">
              <a:solidFill>
                <a:srgbClr val="000000"/>
              </a:solidFill>
              <a:latin typeface="Arial"/>
            </a:endParaRPr>
          </a:p>
        </p:txBody>
      </p:sp>
      <p:sp>
        <p:nvSpPr>
          <p:cNvPr id="117" name="Shape 10"/>
          <p:cNvSpPr/>
          <p:nvPr/>
        </p:nvSpPr>
        <p:spPr>
          <a:xfrm>
            <a:off x="6629400" y="2359080"/>
            <a:ext cx="2057040" cy="767880"/>
          </a:xfrm>
          <a:prstGeom prst="roundRect">
            <a:avLst>
              <a:gd name="adj" fmla="val 9524"/>
            </a:avLst>
          </a:prstGeom>
          <a:solidFill>
            <a:srgbClr val="F8F7F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8" name="Text 11"/>
          <p:cNvSpPr/>
          <p:nvPr/>
        </p:nvSpPr>
        <p:spPr>
          <a:xfrm>
            <a:off x="6766560" y="2359080"/>
            <a:ext cx="1782720" cy="76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050" b="1" strike="noStrike" spc="-1">
                <a:solidFill>
                  <a:srgbClr val="854F0B"/>
                </a:solidFill>
                <a:latin typeface="Calibri"/>
                <a:ea typeface="Calibri"/>
              </a:rPr>
              <a:t>62% trust their bank most for gen AI — vs. 19% for big tech²</a:t>
            </a:r>
            <a:endParaRPr lang="en-US" sz="1050" b="0" strike="noStrike" spc="-1">
              <a:solidFill>
                <a:srgbClr val="000000"/>
              </a:solidFill>
              <a:latin typeface="Arial"/>
            </a:endParaRPr>
          </a:p>
        </p:txBody>
      </p:sp>
      <p:sp>
        <p:nvSpPr>
          <p:cNvPr id="119" name="Shape 12"/>
          <p:cNvSpPr/>
          <p:nvPr/>
        </p:nvSpPr>
        <p:spPr>
          <a:xfrm>
            <a:off x="548640" y="3291840"/>
            <a:ext cx="566640" cy="566640"/>
          </a:xfrm>
          <a:prstGeom prst="ellipse">
            <a:avLst/>
          </a:prstGeom>
          <a:solidFill>
            <a:srgbClr val="FAEC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120" name="Image 2" descr="preencoded.png"/>
          <p:cNvPicPr/>
          <p:nvPr/>
        </p:nvPicPr>
        <p:blipFill>
          <a:blip r:embed="rId5"/>
          <a:stretch/>
        </p:blipFill>
        <p:spPr>
          <a:xfrm>
            <a:off x="684720" y="3427920"/>
            <a:ext cx="294480" cy="294480"/>
          </a:xfrm>
          <a:prstGeom prst="rect">
            <a:avLst/>
          </a:prstGeom>
          <a:ln w="0">
            <a:noFill/>
          </a:ln>
        </p:spPr>
      </p:pic>
      <p:sp>
        <p:nvSpPr>
          <p:cNvPr id="121" name="Text 13"/>
          <p:cNvSpPr/>
          <p:nvPr/>
        </p:nvSpPr>
        <p:spPr>
          <a:xfrm>
            <a:off x="1371600" y="3237120"/>
            <a:ext cx="51202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26215C"/>
                </a:solidFill>
                <a:latin typeface="Calibri"/>
                <a:ea typeface="Calibri"/>
              </a:rPr>
              <a:t>Meeting industry standards for external experiences</a:t>
            </a:r>
            <a:endParaRPr lang="en-US" sz="1400" b="0" strike="noStrike" spc="-1">
              <a:solidFill>
                <a:srgbClr val="000000"/>
              </a:solidFill>
              <a:latin typeface="Arial"/>
            </a:endParaRPr>
          </a:p>
        </p:txBody>
      </p:sp>
      <p:sp>
        <p:nvSpPr>
          <p:cNvPr id="122" name="Text 14"/>
          <p:cNvSpPr/>
          <p:nvPr/>
        </p:nvSpPr>
        <p:spPr>
          <a:xfrm>
            <a:off x="1371600" y="3557160"/>
            <a:ext cx="512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050" b="0" strike="noStrike" spc="-1">
                <a:solidFill>
                  <a:srgbClr val="433F5C"/>
                </a:solidFill>
                <a:latin typeface="Calibri"/>
                <a:ea typeface="Calibri"/>
              </a:rPr>
              <a:t>Customer- and partner-facing conversations carry real brand and trust risk, and regulated industries need every agent action to be traceable and auditable.</a:t>
            </a:r>
            <a:endParaRPr lang="en-US" sz="1050" b="0" strike="noStrike" spc="-1">
              <a:solidFill>
                <a:srgbClr val="000000"/>
              </a:solidFill>
              <a:latin typeface="Arial"/>
            </a:endParaRPr>
          </a:p>
        </p:txBody>
      </p:sp>
      <p:sp>
        <p:nvSpPr>
          <p:cNvPr id="123" name="Shape 15"/>
          <p:cNvSpPr/>
          <p:nvPr/>
        </p:nvSpPr>
        <p:spPr>
          <a:xfrm>
            <a:off x="6629400" y="3273480"/>
            <a:ext cx="2057040" cy="767880"/>
          </a:xfrm>
          <a:prstGeom prst="roundRect">
            <a:avLst>
              <a:gd name="adj" fmla="val 9524"/>
            </a:avLst>
          </a:prstGeom>
          <a:solidFill>
            <a:srgbClr val="F8F7F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4" name="Text 16"/>
          <p:cNvSpPr/>
          <p:nvPr/>
        </p:nvSpPr>
        <p:spPr>
          <a:xfrm>
            <a:off x="6766560" y="3273480"/>
            <a:ext cx="1782720" cy="76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1050" b="1" strike="noStrike" spc="-1">
                <a:solidFill>
                  <a:srgbClr val="D85A30"/>
                </a:solidFill>
                <a:latin typeface="Calibri"/>
                <a:ea typeface="Calibri"/>
              </a:rPr>
              <a:t>EU AI Act high-risk rules apply from Aug 2026³</a:t>
            </a:r>
            <a:endParaRPr lang="en-US" sz="1050" b="0" strike="noStrike" spc="-1">
              <a:solidFill>
                <a:srgbClr val="000000"/>
              </a:solidFill>
              <a:latin typeface="Arial"/>
            </a:endParaRPr>
          </a:p>
        </p:txBody>
      </p:sp>
      <p:sp>
        <p:nvSpPr>
          <p:cNvPr id="125" name="Shape 17"/>
          <p:cNvSpPr/>
          <p:nvPr/>
        </p:nvSpPr>
        <p:spPr>
          <a:xfrm>
            <a:off x="457200" y="4251960"/>
            <a:ext cx="8229240" cy="456840"/>
          </a:xfrm>
          <a:prstGeom prst="roundRect">
            <a:avLst>
              <a:gd name="adj" fmla="val 16000"/>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6" name="Text 18"/>
          <p:cNvSpPr/>
          <p:nvPr/>
        </p:nvSpPr>
        <p:spPr>
          <a:xfrm>
            <a:off x="640080" y="4251960"/>
            <a:ext cx="7863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26215C"/>
                </a:solidFill>
                <a:latin typeface="Calibri"/>
                <a:ea typeface="Calibri"/>
              </a:rPr>
              <a:t>We'll use Google's Agent Development Kit (ADK) as our reference framework — a consistent vocabulary for every concept in today's session.</a:t>
            </a:r>
            <a:endParaRPr lang="en-US" sz="1100" b="0" strike="noStrike" spc="-1">
              <a:solidFill>
                <a:srgbClr val="000000"/>
              </a:solidFill>
              <a:latin typeface="Arial"/>
            </a:endParaRPr>
          </a:p>
        </p:txBody>
      </p:sp>
      <p:sp>
        <p:nvSpPr>
          <p:cNvPr id="127" name="Text 19"/>
          <p:cNvSpPr/>
          <p:nvPr/>
        </p:nvSpPr>
        <p:spPr>
          <a:xfrm>
            <a:off x="457200" y="477324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i="1" strike="noStrike" spc="-1">
                <a:solidFill>
                  <a:srgbClr val="767290"/>
                </a:solidFill>
                <a:latin typeface="Calibri"/>
                <a:ea typeface="Calibri"/>
              </a:rPr>
              <a:t>¹ KPMG, via Neurons Lab (2026)   ¹¹ McKinsey Global Banking Annual Review Survey (2025)   ¹¹¹ EU AI Act, high-risk provisions — full references on the last slide</a:t>
            </a:r>
            <a:endParaRPr lang="en-US" sz="8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8"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INDUSTRY RESEARCH · 1 OF 3</a:t>
            </a:r>
            <a:endParaRPr lang="en-US" sz="1200" b="0" strike="noStrike" spc="-1">
              <a:solidFill>
                <a:srgbClr val="000000"/>
              </a:solidFill>
              <a:latin typeface="Arial"/>
            </a:endParaRPr>
          </a:p>
        </p:txBody>
      </p:sp>
      <p:sp>
        <p:nvSpPr>
          <p:cNvPr id="129"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Gartner: the adoption curve is real, and uneven</a:t>
            </a:r>
            <a:endParaRPr lang="en-US" sz="2800" b="0" strike="noStrike" spc="-1">
              <a:solidFill>
                <a:srgbClr val="000000"/>
              </a:solidFill>
              <a:latin typeface="Arial"/>
            </a:endParaRPr>
          </a:p>
        </p:txBody>
      </p:sp>
      <p:sp>
        <p:nvSpPr>
          <p:cNvPr id="130" name="Shape 2"/>
          <p:cNvSpPr/>
          <p:nvPr/>
        </p:nvSpPr>
        <p:spPr>
          <a:xfrm>
            <a:off x="457200" y="1417320"/>
            <a:ext cx="4023000" cy="1416960"/>
          </a:xfrm>
          <a:prstGeom prst="roundRect">
            <a:avLst>
              <a:gd name="adj" fmla="val 5806"/>
            </a:avLst>
          </a:prstGeom>
          <a:solidFill>
            <a:srgbClr val="F8F7FC"/>
          </a:solidFill>
          <a:ln w="0">
            <a:noFill/>
          </a:ln>
          <a:effectLst>
            <a:outerShdw blurRad="50760" dist="2556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1" name="Shape 3"/>
          <p:cNvSpPr/>
          <p:nvPr/>
        </p:nvSpPr>
        <p:spPr>
          <a:xfrm>
            <a:off x="640080" y="1600200"/>
            <a:ext cx="456840" cy="45684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132" name="Image 0" descr="preencoded.png"/>
          <p:cNvPicPr/>
          <p:nvPr/>
        </p:nvPicPr>
        <p:blipFill>
          <a:blip r:embed="rId3"/>
          <a:stretch/>
        </p:blipFill>
        <p:spPr>
          <a:xfrm>
            <a:off x="749880" y="1710000"/>
            <a:ext cx="237240" cy="237240"/>
          </a:xfrm>
          <a:prstGeom prst="rect">
            <a:avLst/>
          </a:prstGeom>
          <a:ln w="0">
            <a:noFill/>
          </a:ln>
        </p:spPr>
      </p:pic>
      <p:sp>
        <p:nvSpPr>
          <p:cNvPr id="133" name="Text 4"/>
          <p:cNvSpPr/>
          <p:nvPr/>
        </p:nvSpPr>
        <p:spPr>
          <a:xfrm>
            <a:off x="1234440" y="1527120"/>
            <a:ext cx="3062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26215C"/>
                </a:solidFill>
                <a:latin typeface="Cambria"/>
                <a:ea typeface="Cambria"/>
              </a:rPr>
              <a:t>40%</a:t>
            </a:r>
            <a:endParaRPr lang="en-US" sz="2200" b="0" strike="noStrike" spc="-1">
              <a:solidFill>
                <a:srgbClr val="000000"/>
              </a:solidFill>
              <a:latin typeface="Arial"/>
            </a:endParaRPr>
          </a:p>
        </p:txBody>
      </p:sp>
      <p:sp>
        <p:nvSpPr>
          <p:cNvPr id="134" name="Text 5"/>
          <p:cNvSpPr/>
          <p:nvPr/>
        </p:nvSpPr>
        <p:spPr>
          <a:xfrm>
            <a:off x="640080" y="2039040"/>
            <a:ext cx="3657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8000"/>
              </a:lnSpc>
              <a:tabLst>
                <a:tab pos="0" algn="l"/>
              </a:tabLst>
            </a:pPr>
            <a:r>
              <a:rPr lang="en-US" sz="950" b="0" strike="noStrike" spc="-1">
                <a:solidFill>
                  <a:srgbClr val="433F5C"/>
                </a:solidFill>
                <a:latin typeface="Calibri"/>
                <a:ea typeface="Calibri"/>
              </a:rPr>
              <a:t>of enterprise apps will feature task-specific AI agents by end of 2026, up from &lt;5% in 2025</a:t>
            </a:r>
            <a:endParaRPr lang="en-US" sz="950" b="0" strike="noStrike" spc="-1">
              <a:solidFill>
                <a:srgbClr val="000000"/>
              </a:solidFill>
              <a:latin typeface="Arial"/>
            </a:endParaRPr>
          </a:p>
        </p:txBody>
      </p:sp>
      <p:sp>
        <p:nvSpPr>
          <p:cNvPr id="135" name="Text 6"/>
          <p:cNvSpPr/>
          <p:nvPr/>
        </p:nvSpPr>
        <p:spPr>
          <a:xfrm>
            <a:off x="640080" y="2541960"/>
            <a:ext cx="36572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i="1" strike="noStrike" spc="-1">
                <a:solidFill>
                  <a:srgbClr val="767290"/>
                </a:solidFill>
                <a:latin typeface="Calibri"/>
                <a:ea typeface="Calibri"/>
              </a:rPr>
              <a:t>Gartner press release, Aug 2025</a:t>
            </a:r>
            <a:endParaRPr lang="en-US" sz="800" b="0" strike="noStrike" spc="-1">
              <a:solidFill>
                <a:srgbClr val="000000"/>
              </a:solidFill>
              <a:latin typeface="Arial"/>
            </a:endParaRPr>
          </a:p>
        </p:txBody>
      </p:sp>
      <p:sp>
        <p:nvSpPr>
          <p:cNvPr id="136" name="Shape 7"/>
          <p:cNvSpPr/>
          <p:nvPr/>
        </p:nvSpPr>
        <p:spPr>
          <a:xfrm>
            <a:off x="4663440" y="1417320"/>
            <a:ext cx="4023000" cy="1416960"/>
          </a:xfrm>
          <a:prstGeom prst="roundRect">
            <a:avLst>
              <a:gd name="adj" fmla="val 5806"/>
            </a:avLst>
          </a:prstGeom>
          <a:solidFill>
            <a:srgbClr val="F8F7FC"/>
          </a:solidFill>
          <a:ln w="0">
            <a:noFill/>
          </a:ln>
          <a:effectLst>
            <a:outerShdw blurRad="50760" dist="2556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7" name="Shape 8"/>
          <p:cNvSpPr/>
          <p:nvPr/>
        </p:nvSpPr>
        <p:spPr>
          <a:xfrm>
            <a:off x="4846320" y="1600200"/>
            <a:ext cx="456840" cy="45684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138" name="Image 1" descr="preencoded.png"/>
          <p:cNvPicPr/>
          <p:nvPr/>
        </p:nvPicPr>
        <p:blipFill>
          <a:blip r:embed="rId4"/>
          <a:stretch/>
        </p:blipFill>
        <p:spPr>
          <a:xfrm>
            <a:off x="4956120" y="1710000"/>
            <a:ext cx="237240" cy="237240"/>
          </a:xfrm>
          <a:prstGeom prst="rect">
            <a:avLst/>
          </a:prstGeom>
          <a:ln w="0">
            <a:noFill/>
          </a:ln>
        </p:spPr>
      </p:pic>
      <p:sp>
        <p:nvSpPr>
          <p:cNvPr id="139" name="Text 9"/>
          <p:cNvSpPr/>
          <p:nvPr/>
        </p:nvSpPr>
        <p:spPr>
          <a:xfrm>
            <a:off x="5440680" y="1527120"/>
            <a:ext cx="3062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26215C"/>
                </a:solidFill>
                <a:latin typeface="Cambria"/>
                <a:ea typeface="Cambria"/>
              </a:rPr>
              <a:t>17% / 60%</a:t>
            </a:r>
            <a:endParaRPr lang="en-US" sz="2200" b="0" strike="noStrike" spc="-1">
              <a:solidFill>
                <a:srgbClr val="000000"/>
              </a:solidFill>
              <a:latin typeface="Arial"/>
            </a:endParaRPr>
          </a:p>
        </p:txBody>
      </p:sp>
      <p:sp>
        <p:nvSpPr>
          <p:cNvPr id="140" name="Text 10"/>
          <p:cNvSpPr/>
          <p:nvPr/>
        </p:nvSpPr>
        <p:spPr>
          <a:xfrm>
            <a:off x="4846320" y="2039040"/>
            <a:ext cx="3657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8000"/>
              </a:lnSpc>
              <a:tabLst>
                <a:tab pos="0" algn="l"/>
              </a:tabLst>
            </a:pPr>
            <a:r>
              <a:rPr lang="en-US" sz="950" b="0" strike="noStrike" spc="-1">
                <a:solidFill>
                  <a:srgbClr val="433F5C"/>
                </a:solidFill>
                <a:latin typeface="Calibri"/>
                <a:ea typeface="Calibri"/>
              </a:rPr>
              <a:t>of orgs have deployed AI agents today vs. expect to within two years — the steepest adoption curve Gartner tracks</a:t>
            </a:r>
            <a:endParaRPr lang="en-US" sz="950" b="0" strike="noStrike" spc="-1">
              <a:solidFill>
                <a:srgbClr val="000000"/>
              </a:solidFill>
              <a:latin typeface="Arial"/>
            </a:endParaRPr>
          </a:p>
        </p:txBody>
      </p:sp>
      <p:sp>
        <p:nvSpPr>
          <p:cNvPr id="141" name="Text 11"/>
          <p:cNvSpPr/>
          <p:nvPr/>
        </p:nvSpPr>
        <p:spPr>
          <a:xfrm>
            <a:off x="4846320" y="2541960"/>
            <a:ext cx="36572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i="1" strike="noStrike" spc="-1">
                <a:solidFill>
                  <a:srgbClr val="767290"/>
                </a:solidFill>
                <a:latin typeface="Calibri"/>
                <a:ea typeface="Calibri"/>
              </a:rPr>
              <a:t>2026 Gartner CIO Survey</a:t>
            </a:r>
            <a:endParaRPr lang="en-US" sz="800" b="0" strike="noStrike" spc="-1">
              <a:solidFill>
                <a:srgbClr val="000000"/>
              </a:solidFill>
              <a:latin typeface="Arial"/>
            </a:endParaRPr>
          </a:p>
        </p:txBody>
      </p:sp>
      <p:sp>
        <p:nvSpPr>
          <p:cNvPr id="142" name="Shape 12"/>
          <p:cNvSpPr/>
          <p:nvPr/>
        </p:nvSpPr>
        <p:spPr>
          <a:xfrm>
            <a:off x="457200" y="2971800"/>
            <a:ext cx="4023000" cy="1416960"/>
          </a:xfrm>
          <a:prstGeom prst="roundRect">
            <a:avLst>
              <a:gd name="adj" fmla="val 5806"/>
            </a:avLst>
          </a:prstGeom>
          <a:solidFill>
            <a:srgbClr val="F8F7FC"/>
          </a:solidFill>
          <a:ln w="0">
            <a:noFill/>
          </a:ln>
          <a:effectLst>
            <a:outerShdw blurRad="50760" dist="2556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3" name="Shape 13"/>
          <p:cNvSpPr/>
          <p:nvPr/>
        </p:nvSpPr>
        <p:spPr>
          <a:xfrm>
            <a:off x="640080" y="3154680"/>
            <a:ext cx="456840" cy="456840"/>
          </a:xfrm>
          <a:prstGeom prst="ellipse">
            <a:avLst/>
          </a:prstGeom>
          <a:solidFill>
            <a:srgbClr val="FAEC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144" name="Image 2" descr="preencoded.png"/>
          <p:cNvPicPr/>
          <p:nvPr/>
        </p:nvPicPr>
        <p:blipFill>
          <a:blip r:embed="rId5"/>
          <a:stretch/>
        </p:blipFill>
        <p:spPr>
          <a:xfrm>
            <a:off x="749880" y="3264480"/>
            <a:ext cx="237240" cy="237240"/>
          </a:xfrm>
          <a:prstGeom prst="rect">
            <a:avLst/>
          </a:prstGeom>
          <a:ln w="0">
            <a:noFill/>
          </a:ln>
        </p:spPr>
      </p:pic>
      <p:sp>
        <p:nvSpPr>
          <p:cNvPr id="145" name="Text 14"/>
          <p:cNvSpPr/>
          <p:nvPr/>
        </p:nvSpPr>
        <p:spPr>
          <a:xfrm>
            <a:off x="1234440" y="3081600"/>
            <a:ext cx="3062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26215C"/>
                </a:solidFill>
                <a:latin typeface="Cambria"/>
                <a:ea typeface="Cambria"/>
              </a:rPr>
              <a:t>40%+</a:t>
            </a:r>
            <a:endParaRPr lang="en-US" sz="2200" b="0" strike="noStrike" spc="-1">
              <a:solidFill>
                <a:srgbClr val="000000"/>
              </a:solidFill>
              <a:latin typeface="Arial"/>
            </a:endParaRPr>
          </a:p>
        </p:txBody>
      </p:sp>
      <p:sp>
        <p:nvSpPr>
          <p:cNvPr id="146" name="Text 15"/>
          <p:cNvSpPr/>
          <p:nvPr/>
        </p:nvSpPr>
        <p:spPr>
          <a:xfrm>
            <a:off x="640080" y="3593520"/>
            <a:ext cx="3657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8000"/>
              </a:lnSpc>
              <a:tabLst>
                <a:tab pos="0" algn="l"/>
              </a:tabLst>
            </a:pPr>
            <a:r>
              <a:rPr lang="en-US" sz="950" b="0" strike="noStrike" spc="-1">
                <a:solidFill>
                  <a:srgbClr val="433F5C"/>
                </a:solidFill>
                <a:latin typeface="Calibri"/>
                <a:ea typeface="Calibri"/>
              </a:rPr>
              <a:t>of agentic AI projects will be canceled by end of 2027 — cost, unclear value, or weak risk controls</a:t>
            </a:r>
            <a:endParaRPr lang="en-US" sz="950" b="0" strike="noStrike" spc="-1">
              <a:solidFill>
                <a:srgbClr val="000000"/>
              </a:solidFill>
              <a:latin typeface="Arial"/>
            </a:endParaRPr>
          </a:p>
        </p:txBody>
      </p:sp>
      <p:sp>
        <p:nvSpPr>
          <p:cNvPr id="147" name="Text 16"/>
          <p:cNvSpPr/>
          <p:nvPr/>
        </p:nvSpPr>
        <p:spPr>
          <a:xfrm>
            <a:off x="640080" y="4096440"/>
            <a:ext cx="36572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i="1" strike="noStrike" spc="-1">
                <a:solidFill>
                  <a:srgbClr val="767290"/>
                </a:solidFill>
                <a:latin typeface="Calibri"/>
                <a:ea typeface="Calibri"/>
              </a:rPr>
              <a:t>Gartner, Jun 2025</a:t>
            </a:r>
            <a:endParaRPr lang="en-US" sz="800" b="0" strike="noStrike" spc="-1">
              <a:solidFill>
                <a:srgbClr val="000000"/>
              </a:solidFill>
              <a:latin typeface="Arial"/>
            </a:endParaRPr>
          </a:p>
        </p:txBody>
      </p:sp>
      <p:sp>
        <p:nvSpPr>
          <p:cNvPr id="148" name="Shape 17"/>
          <p:cNvSpPr/>
          <p:nvPr/>
        </p:nvSpPr>
        <p:spPr>
          <a:xfrm>
            <a:off x="4663440" y="2971800"/>
            <a:ext cx="4023000" cy="1416960"/>
          </a:xfrm>
          <a:prstGeom prst="roundRect">
            <a:avLst>
              <a:gd name="adj" fmla="val 5806"/>
            </a:avLst>
          </a:prstGeom>
          <a:solidFill>
            <a:srgbClr val="F8F7FC"/>
          </a:solidFill>
          <a:ln w="0">
            <a:noFill/>
          </a:ln>
          <a:effectLst>
            <a:outerShdw blurRad="50760" dist="2556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9" name="Shape 18"/>
          <p:cNvSpPr/>
          <p:nvPr/>
        </p:nvSpPr>
        <p:spPr>
          <a:xfrm>
            <a:off x="4846320" y="3154680"/>
            <a:ext cx="456840" cy="45684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150" name="Image 3" descr="preencoded.png"/>
          <p:cNvPicPr/>
          <p:nvPr/>
        </p:nvPicPr>
        <p:blipFill>
          <a:blip r:embed="rId6"/>
          <a:stretch/>
        </p:blipFill>
        <p:spPr>
          <a:xfrm>
            <a:off x="4956120" y="3264480"/>
            <a:ext cx="237240" cy="237240"/>
          </a:xfrm>
          <a:prstGeom prst="rect">
            <a:avLst/>
          </a:prstGeom>
          <a:ln w="0">
            <a:noFill/>
          </a:ln>
        </p:spPr>
      </p:pic>
      <p:sp>
        <p:nvSpPr>
          <p:cNvPr id="151" name="Text 19"/>
          <p:cNvSpPr/>
          <p:nvPr/>
        </p:nvSpPr>
        <p:spPr>
          <a:xfrm>
            <a:off x="5440680" y="3081600"/>
            <a:ext cx="3062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26215C"/>
                </a:solidFill>
                <a:latin typeface="Cambria"/>
                <a:ea typeface="Cambria"/>
              </a:rPr>
              <a:t>80%</a:t>
            </a:r>
            <a:endParaRPr lang="en-US" sz="2200" b="0" strike="noStrike" spc="-1">
              <a:solidFill>
                <a:srgbClr val="000000"/>
              </a:solidFill>
              <a:latin typeface="Arial"/>
            </a:endParaRPr>
          </a:p>
        </p:txBody>
      </p:sp>
      <p:sp>
        <p:nvSpPr>
          <p:cNvPr id="152" name="Text 20"/>
          <p:cNvSpPr/>
          <p:nvPr/>
        </p:nvSpPr>
        <p:spPr>
          <a:xfrm>
            <a:off x="4846320" y="3593520"/>
            <a:ext cx="36572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8000"/>
              </a:lnSpc>
              <a:tabLst>
                <a:tab pos="0" algn="l"/>
              </a:tabLst>
            </a:pPr>
            <a:r>
              <a:rPr lang="en-US" sz="950" b="0" strike="noStrike" spc="-1">
                <a:solidFill>
                  <a:srgbClr val="433F5C"/>
                </a:solidFill>
                <a:latin typeface="Calibri"/>
                <a:ea typeface="Calibri"/>
              </a:rPr>
              <a:t>of common customer-service issues resolved autonomously by 2029, a projected 30% cut in operating cost</a:t>
            </a:r>
            <a:endParaRPr lang="en-US" sz="950" b="0" strike="noStrike" spc="-1">
              <a:solidFill>
                <a:srgbClr val="000000"/>
              </a:solidFill>
              <a:latin typeface="Arial"/>
            </a:endParaRPr>
          </a:p>
        </p:txBody>
      </p:sp>
      <p:sp>
        <p:nvSpPr>
          <p:cNvPr id="153" name="Text 21"/>
          <p:cNvSpPr/>
          <p:nvPr/>
        </p:nvSpPr>
        <p:spPr>
          <a:xfrm>
            <a:off x="4846320" y="4096440"/>
            <a:ext cx="36572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i="1" strike="noStrike" spc="-1">
                <a:solidFill>
                  <a:srgbClr val="767290"/>
                </a:solidFill>
                <a:latin typeface="Calibri"/>
                <a:ea typeface="Calibri"/>
              </a:rPr>
              <a:t>Gartner press release, Mar 2025</a:t>
            </a:r>
            <a:endParaRPr lang="en-US" sz="800" b="0" strike="noStrike" spc="-1">
              <a:solidFill>
                <a:srgbClr val="000000"/>
              </a:solidFill>
              <a:latin typeface="Arial"/>
            </a:endParaRPr>
          </a:p>
        </p:txBody>
      </p:sp>
      <p:sp>
        <p:nvSpPr>
          <p:cNvPr id="154" name="Text 22"/>
          <p:cNvSpPr/>
          <p:nvPr/>
        </p:nvSpPr>
        <p:spPr>
          <a:xfrm>
            <a:off x="457200" y="4526280"/>
            <a:ext cx="8229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i="1" strike="noStrike" spc="-1">
                <a:solidFill>
                  <a:srgbClr val="767290"/>
                </a:solidFill>
                <a:latin typeface="Calibri"/>
                <a:ea typeface="Calibri"/>
              </a:rPr>
              <a:t>The business case is moving faster than most teams' readiness — a gap, not a reason to wait.</a:t>
            </a:r>
            <a:endParaRPr lang="en-US" sz="105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5"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INDUSTRY RESEARCH · 2 OF 3</a:t>
            </a:r>
            <a:endParaRPr lang="en-US" sz="1200" b="0" strike="noStrike" spc="-1">
              <a:solidFill>
                <a:srgbClr val="000000"/>
              </a:solidFill>
              <a:latin typeface="Arial"/>
            </a:endParaRPr>
          </a:p>
        </p:txBody>
      </p:sp>
      <p:sp>
        <p:nvSpPr>
          <p:cNvPr id="156"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McKinsey: from chatbots that talk to agents that do</a:t>
            </a:r>
            <a:endParaRPr lang="en-US" sz="2800" b="0" strike="noStrike" spc="-1">
              <a:solidFill>
                <a:srgbClr val="000000"/>
              </a:solidFill>
              <a:latin typeface="Arial"/>
            </a:endParaRPr>
          </a:p>
        </p:txBody>
      </p:sp>
      <p:sp>
        <p:nvSpPr>
          <p:cNvPr id="157" name="Shape 2"/>
          <p:cNvSpPr/>
          <p:nvPr/>
        </p:nvSpPr>
        <p:spPr>
          <a:xfrm>
            <a:off x="548640" y="1371600"/>
            <a:ext cx="456840" cy="45684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158" name="Image 0" descr="preencoded.png"/>
          <p:cNvPicPr/>
          <p:nvPr/>
        </p:nvPicPr>
        <p:blipFill>
          <a:blip r:embed="rId3"/>
          <a:stretch/>
        </p:blipFill>
        <p:spPr>
          <a:xfrm>
            <a:off x="658440" y="1481400"/>
            <a:ext cx="237240" cy="237240"/>
          </a:xfrm>
          <a:prstGeom prst="rect">
            <a:avLst/>
          </a:prstGeom>
          <a:ln w="0">
            <a:noFill/>
          </a:ln>
        </p:spPr>
      </p:pic>
      <p:sp>
        <p:nvSpPr>
          <p:cNvPr id="159" name="Text 3"/>
          <p:cNvSpPr/>
          <p:nvPr/>
        </p:nvSpPr>
        <p:spPr>
          <a:xfrm>
            <a:off x="1234440" y="133488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26215C"/>
                </a:solidFill>
                <a:latin typeface="Calibri"/>
                <a:ea typeface="Calibri"/>
              </a:rPr>
              <a:t>62% are experimenting, 23% scaling agentic AI</a:t>
            </a:r>
            <a:endParaRPr lang="en-US" sz="1200" b="0" strike="noStrike" spc="-1">
              <a:solidFill>
                <a:srgbClr val="000000"/>
              </a:solidFill>
              <a:latin typeface="Arial"/>
            </a:endParaRPr>
          </a:p>
        </p:txBody>
      </p:sp>
      <p:sp>
        <p:nvSpPr>
          <p:cNvPr id="160" name="Text 4"/>
          <p:cNvSpPr/>
          <p:nvPr/>
        </p:nvSpPr>
        <p:spPr>
          <a:xfrm>
            <a:off x="1234440" y="1600200"/>
            <a:ext cx="7314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50" b="0" strike="noStrike" spc="-1">
                <a:solidFill>
                  <a:srgbClr val="433F5C"/>
                </a:solidFill>
                <a:latin typeface="Calibri"/>
                <a:ea typeface="Calibri"/>
              </a:rPr>
              <a:t>in at least one business function — but only 39% report EBIT impact at the enterprise level, despite ~88% regularly using AI somewhere.</a:t>
            </a:r>
            <a:endParaRPr lang="en-US" sz="950" b="0" strike="noStrike" spc="-1">
              <a:solidFill>
                <a:srgbClr val="000000"/>
              </a:solidFill>
              <a:latin typeface="Arial"/>
            </a:endParaRPr>
          </a:p>
        </p:txBody>
      </p:sp>
      <p:sp>
        <p:nvSpPr>
          <p:cNvPr id="161" name="Shape 5"/>
          <p:cNvSpPr/>
          <p:nvPr/>
        </p:nvSpPr>
        <p:spPr>
          <a:xfrm>
            <a:off x="548640" y="2121480"/>
            <a:ext cx="456840" cy="45684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162" name="Image 1" descr="preencoded.png"/>
          <p:cNvPicPr/>
          <p:nvPr/>
        </p:nvPicPr>
        <p:blipFill>
          <a:blip r:embed="rId4"/>
          <a:stretch/>
        </p:blipFill>
        <p:spPr>
          <a:xfrm>
            <a:off x="658440" y="2231280"/>
            <a:ext cx="237240" cy="237240"/>
          </a:xfrm>
          <a:prstGeom prst="rect">
            <a:avLst/>
          </a:prstGeom>
          <a:ln w="0">
            <a:noFill/>
          </a:ln>
        </p:spPr>
      </p:pic>
      <p:sp>
        <p:nvSpPr>
          <p:cNvPr id="163" name="Text 6"/>
          <p:cNvSpPr/>
          <p:nvPr/>
        </p:nvSpPr>
        <p:spPr>
          <a:xfrm>
            <a:off x="1234440" y="208476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26215C"/>
                </a:solidFill>
                <a:latin typeface="Calibri"/>
                <a:ea typeface="Calibri"/>
              </a:rPr>
              <a:t>Workflow redesign is the real differentiator</a:t>
            </a:r>
            <a:endParaRPr lang="en-US" sz="1200" b="0" strike="noStrike" spc="-1">
              <a:solidFill>
                <a:srgbClr val="000000"/>
              </a:solidFill>
              <a:latin typeface="Arial"/>
            </a:endParaRPr>
          </a:p>
        </p:txBody>
      </p:sp>
      <p:sp>
        <p:nvSpPr>
          <p:cNvPr id="164" name="Text 7"/>
          <p:cNvSpPr/>
          <p:nvPr/>
        </p:nvSpPr>
        <p:spPr>
          <a:xfrm>
            <a:off x="1234440" y="2350080"/>
            <a:ext cx="7314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50" b="0" strike="noStrike" spc="-1">
                <a:solidFill>
                  <a:srgbClr val="433F5C"/>
                </a:solidFill>
                <a:latin typeface="Calibri"/>
                <a:ea typeface="Calibri"/>
              </a:rPr>
              <a:t>High performers are nearly 3x more likely to have redesigned workflows end-to-end — only 21% of all companies do this. Bolting agents onto old processes caps the upside.</a:t>
            </a:r>
            <a:endParaRPr lang="en-US" sz="950" b="0" strike="noStrike" spc="-1">
              <a:solidFill>
                <a:srgbClr val="000000"/>
              </a:solidFill>
              <a:latin typeface="Arial"/>
            </a:endParaRPr>
          </a:p>
        </p:txBody>
      </p:sp>
      <p:sp>
        <p:nvSpPr>
          <p:cNvPr id="165" name="Shape 8"/>
          <p:cNvSpPr/>
          <p:nvPr/>
        </p:nvSpPr>
        <p:spPr>
          <a:xfrm>
            <a:off x="548640" y="2871360"/>
            <a:ext cx="456840" cy="45684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166" name="Image 2" descr="preencoded.png"/>
          <p:cNvPicPr/>
          <p:nvPr/>
        </p:nvPicPr>
        <p:blipFill>
          <a:blip r:embed="rId5"/>
          <a:stretch/>
        </p:blipFill>
        <p:spPr>
          <a:xfrm>
            <a:off x="658440" y="2980800"/>
            <a:ext cx="237240" cy="237240"/>
          </a:xfrm>
          <a:prstGeom prst="rect">
            <a:avLst/>
          </a:prstGeom>
          <a:ln w="0">
            <a:noFill/>
          </a:ln>
        </p:spPr>
      </p:pic>
      <p:sp>
        <p:nvSpPr>
          <p:cNvPr id="167" name="Text 9"/>
          <p:cNvSpPr/>
          <p:nvPr/>
        </p:nvSpPr>
        <p:spPr>
          <a:xfrm>
            <a:off x="1234440" y="283464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26215C"/>
                </a:solidFill>
                <a:latin typeface="Calibri"/>
                <a:ea typeface="Calibri"/>
              </a:rPr>
              <a:t>Adoption concentrates in IT and knowledge management</a:t>
            </a:r>
            <a:endParaRPr lang="en-US" sz="1200" b="0" strike="noStrike" spc="-1">
              <a:solidFill>
                <a:srgbClr val="000000"/>
              </a:solidFill>
              <a:latin typeface="Arial"/>
            </a:endParaRPr>
          </a:p>
        </p:txBody>
      </p:sp>
      <p:sp>
        <p:nvSpPr>
          <p:cNvPr id="168" name="Text 10"/>
          <p:cNvSpPr/>
          <p:nvPr/>
        </p:nvSpPr>
        <p:spPr>
          <a:xfrm>
            <a:off x="1234440" y="3099960"/>
            <a:ext cx="7314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50" b="0" strike="noStrike" spc="-1">
                <a:solidFill>
                  <a:srgbClr val="433F5C"/>
                </a:solidFill>
                <a:latin typeface="Calibri"/>
                <a:ea typeface="Calibri"/>
              </a:rPr>
              <a:t>and is most reported in technology, media/telecom, and healthcare — not evenly spread across every function or industry yet.</a:t>
            </a:r>
            <a:endParaRPr lang="en-US" sz="950" b="0" strike="noStrike" spc="-1">
              <a:solidFill>
                <a:srgbClr val="000000"/>
              </a:solidFill>
              <a:latin typeface="Arial"/>
            </a:endParaRPr>
          </a:p>
        </p:txBody>
      </p:sp>
      <p:sp>
        <p:nvSpPr>
          <p:cNvPr id="169" name="Shape 11"/>
          <p:cNvSpPr/>
          <p:nvPr/>
        </p:nvSpPr>
        <p:spPr>
          <a:xfrm>
            <a:off x="548640" y="3620880"/>
            <a:ext cx="456840" cy="456840"/>
          </a:xfrm>
          <a:prstGeom prst="ellipse">
            <a:avLst/>
          </a:prstGeom>
          <a:solidFill>
            <a:srgbClr val="FAEC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170" name="Image 3" descr="preencoded.png"/>
          <p:cNvPicPr/>
          <p:nvPr/>
        </p:nvPicPr>
        <p:blipFill>
          <a:blip r:embed="rId6"/>
          <a:stretch/>
        </p:blipFill>
        <p:spPr>
          <a:xfrm>
            <a:off x="658440" y="3730680"/>
            <a:ext cx="237240" cy="237240"/>
          </a:xfrm>
          <a:prstGeom prst="rect">
            <a:avLst/>
          </a:prstGeom>
          <a:ln w="0">
            <a:noFill/>
          </a:ln>
        </p:spPr>
      </p:pic>
      <p:sp>
        <p:nvSpPr>
          <p:cNvPr id="171" name="Text 12"/>
          <p:cNvSpPr/>
          <p:nvPr/>
        </p:nvSpPr>
        <p:spPr>
          <a:xfrm>
            <a:off x="1234440" y="358452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26215C"/>
                </a:solidFill>
                <a:latin typeface="Calibri"/>
                <a:ea typeface="Calibri"/>
              </a:rPr>
              <a:t>$2.6–4.4 trillion in estimated annual value</a:t>
            </a:r>
            <a:endParaRPr lang="en-US" sz="1200" b="0" strike="noStrike" spc="-1">
              <a:solidFill>
                <a:srgbClr val="000000"/>
              </a:solidFill>
              <a:latin typeface="Arial"/>
            </a:endParaRPr>
          </a:p>
        </p:txBody>
      </p:sp>
      <p:sp>
        <p:nvSpPr>
          <p:cNvPr id="172" name="Text 13"/>
          <p:cNvSpPr/>
          <p:nvPr/>
        </p:nvSpPr>
        <p:spPr>
          <a:xfrm>
            <a:off x="1234440" y="3849480"/>
            <a:ext cx="7314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50" b="0" strike="noStrike" spc="-1">
                <a:solidFill>
                  <a:srgbClr val="433F5C"/>
                </a:solidFill>
                <a:latin typeface="Calibri"/>
                <a:ea typeface="Calibri"/>
              </a:rPr>
              <a:t>across business use cases — McKinsey's headline number for what agentic AI could add, once organizations get past the pilot stage.</a:t>
            </a:r>
            <a:endParaRPr lang="en-US" sz="950" b="0" strike="noStrike" spc="-1">
              <a:solidFill>
                <a:srgbClr val="000000"/>
              </a:solidFill>
              <a:latin typeface="Arial"/>
            </a:endParaRPr>
          </a:p>
        </p:txBody>
      </p:sp>
      <p:sp>
        <p:nvSpPr>
          <p:cNvPr id="173" name="Text 14"/>
          <p:cNvSpPr/>
          <p:nvPr/>
        </p:nvSpPr>
        <p:spPr>
          <a:xfrm>
            <a:off x="457200" y="4443840"/>
            <a:ext cx="8229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0" i="1" strike="noStrike" spc="-1">
                <a:solidFill>
                  <a:srgbClr val="767290"/>
                </a:solidFill>
                <a:latin typeface="Calibri"/>
                <a:ea typeface="Calibri"/>
              </a:rPr>
              <a:t>Source: McKinsey Global Survey on the state of AI, 1,993 participants, June–July 2025 — “The state of AI in 2025: Agents, innovation, and transformation,” Nov 2025.</a:t>
            </a:r>
            <a:endParaRPr lang="en-US" sz="85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INDUSTRY RESEARCH · 3 OF 3</a:t>
            </a:r>
            <a:endParaRPr lang="en-US" sz="1200" b="0" strike="noStrike" spc="-1">
              <a:solidFill>
                <a:srgbClr val="000000"/>
              </a:solidFill>
              <a:latin typeface="Arial"/>
            </a:endParaRPr>
          </a:p>
        </p:txBody>
      </p:sp>
      <p:sp>
        <p:nvSpPr>
          <p:cNvPr id="175"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Forrester: a long-running agent behaves like a distributed system</a:t>
            </a:r>
            <a:endParaRPr lang="en-US" sz="2800" b="0" strike="noStrike" spc="-1">
              <a:solidFill>
                <a:srgbClr val="000000"/>
              </a:solidFill>
              <a:latin typeface="Arial"/>
            </a:endParaRPr>
          </a:p>
        </p:txBody>
      </p:sp>
      <p:sp>
        <p:nvSpPr>
          <p:cNvPr id="176" name="Shape 2"/>
          <p:cNvSpPr/>
          <p:nvPr/>
        </p:nvSpPr>
        <p:spPr>
          <a:xfrm>
            <a:off x="457200" y="1463040"/>
            <a:ext cx="4023000" cy="2834280"/>
          </a:xfrm>
          <a:prstGeom prst="roundRect">
            <a:avLst>
              <a:gd name="adj" fmla="val 3226"/>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7" name="Shape 3"/>
          <p:cNvSpPr/>
          <p:nvPr/>
        </p:nvSpPr>
        <p:spPr>
          <a:xfrm>
            <a:off x="731520" y="1691640"/>
            <a:ext cx="502560" cy="50256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178" name="Image 0" descr="preencoded.png"/>
          <p:cNvPicPr/>
          <p:nvPr/>
        </p:nvPicPr>
        <p:blipFill>
          <a:blip r:embed="rId3"/>
          <a:stretch/>
        </p:blipFill>
        <p:spPr>
          <a:xfrm>
            <a:off x="852120" y="1812240"/>
            <a:ext cx="261000" cy="261000"/>
          </a:xfrm>
          <a:prstGeom prst="rect">
            <a:avLst/>
          </a:prstGeom>
          <a:ln w="0">
            <a:noFill/>
          </a:ln>
        </p:spPr>
      </p:pic>
      <p:sp>
        <p:nvSpPr>
          <p:cNvPr id="179" name="Text 4"/>
          <p:cNvSpPr/>
          <p:nvPr/>
        </p:nvSpPr>
        <p:spPr>
          <a:xfrm>
            <a:off x="1371600" y="1691640"/>
            <a:ext cx="2742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strike="noStrike" spc="-1">
                <a:solidFill>
                  <a:srgbClr val="26215C"/>
                </a:solidFill>
                <a:latin typeface="Cambria"/>
                <a:ea typeface="Cambria"/>
              </a:rPr>
              <a:t>Development shift</a:t>
            </a:r>
            <a:endParaRPr lang="en-US" sz="1550" b="0" strike="noStrike" spc="-1">
              <a:solidFill>
                <a:srgbClr val="000000"/>
              </a:solidFill>
              <a:latin typeface="Arial"/>
            </a:endParaRPr>
          </a:p>
        </p:txBody>
      </p:sp>
      <p:sp>
        <p:nvSpPr>
          <p:cNvPr id="180" name="Text 5"/>
          <p:cNvSpPr/>
          <p:nvPr/>
        </p:nvSpPr>
        <p:spPr>
          <a:xfrm>
            <a:off x="731520" y="2331720"/>
            <a:ext cx="3474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5000"/>
              </a:lnSpc>
              <a:buClr>
                <a:srgbClr val="433F5C"/>
              </a:buClr>
              <a:buFont typeface="Symbol" charset="2"/>
              <a:buChar char=""/>
            </a:pPr>
            <a:r>
              <a:rPr lang="en-US" sz="950" b="0" strike="noStrike" spc="-1">
                <a:solidFill>
                  <a:srgbClr val="433F5C"/>
                </a:solidFill>
                <a:latin typeface="Calibri"/>
                <a:ea typeface="Calibri"/>
              </a:rPr>
              <a:t>Agents now span analysis, planning, design, build, test, and delivery — not just code generation</a:t>
            </a:r>
            <a:endParaRPr lang="en-US" sz="950" b="0" strike="noStrike" spc="-1">
              <a:solidFill>
                <a:srgbClr val="000000"/>
              </a:solidFill>
              <a:latin typeface="Arial"/>
            </a:endParaRPr>
          </a:p>
        </p:txBody>
      </p:sp>
      <p:sp>
        <p:nvSpPr>
          <p:cNvPr id="181" name="Text 6"/>
          <p:cNvSpPr/>
          <p:nvPr/>
        </p:nvSpPr>
        <p:spPr>
          <a:xfrm>
            <a:off x="731520" y="2990160"/>
            <a:ext cx="3474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5000"/>
              </a:lnSpc>
              <a:buClr>
                <a:srgbClr val="433F5C"/>
              </a:buClr>
              <a:buFont typeface="Symbol" charset="2"/>
              <a:buChar char=""/>
            </a:pPr>
            <a:r>
              <a:rPr lang="en-US" sz="950" b="0" strike="noStrike" spc="-1">
                <a:solidFill>
                  <a:srgbClr val="433F5C"/>
                </a:solidFill>
                <a:latin typeface="Calibri"/>
                <a:ea typeface="Calibri"/>
              </a:rPr>
              <a:t>Coding gains of 30–40% don't translate to team productivity unless planning and testing are redesigned too (often &lt;10% overall gain otherwise)</a:t>
            </a:r>
            <a:endParaRPr lang="en-US" sz="950" b="0" strike="noStrike" spc="-1">
              <a:solidFill>
                <a:srgbClr val="000000"/>
              </a:solidFill>
              <a:latin typeface="Arial"/>
            </a:endParaRPr>
          </a:p>
        </p:txBody>
      </p:sp>
      <p:sp>
        <p:nvSpPr>
          <p:cNvPr id="182" name="Text 7"/>
          <p:cNvSpPr/>
          <p:nvPr/>
        </p:nvSpPr>
        <p:spPr>
          <a:xfrm>
            <a:off x="731520" y="3648600"/>
            <a:ext cx="3474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5000"/>
              </a:lnSpc>
              <a:buClr>
                <a:srgbClr val="433F5C"/>
              </a:buClr>
              <a:buFont typeface="Symbol" charset="2"/>
              <a:buChar char=""/>
            </a:pPr>
            <a:r>
              <a:rPr lang="en-US" sz="950" b="0" strike="noStrike" spc="-1">
                <a:solidFill>
                  <a:srgbClr val="433F5C"/>
                </a:solidFill>
                <a:latin typeface="Calibri"/>
                <a:ea typeface="Calibri"/>
              </a:rPr>
              <a:t>“Prompt engineering” is giving way to context engineering as 2026's defining technical shift</a:t>
            </a:r>
            <a:endParaRPr lang="en-US" sz="950" b="0" strike="noStrike" spc="-1">
              <a:solidFill>
                <a:srgbClr val="000000"/>
              </a:solidFill>
              <a:latin typeface="Arial"/>
            </a:endParaRPr>
          </a:p>
        </p:txBody>
      </p:sp>
      <p:sp>
        <p:nvSpPr>
          <p:cNvPr id="183" name="Shape 8"/>
          <p:cNvSpPr/>
          <p:nvPr/>
        </p:nvSpPr>
        <p:spPr>
          <a:xfrm>
            <a:off x="4663440" y="1463040"/>
            <a:ext cx="4023000" cy="2834280"/>
          </a:xfrm>
          <a:prstGeom prst="roundRect">
            <a:avLst>
              <a:gd name="adj" fmla="val 3226"/>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4" name="Shape 9"/>
          <p:cNvSpPr/>
          <p:nvPr/>
        </p:nvSpPr>
        <p:spPr>
          <a:xfrm>
            <a:off x="4937760" y="1691640"/>
            <a:ext cx="502560" cy="50256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185" name="Image 1" descr="preencoded.png"/>
          <p:cNvPicPr/>
          <p:nvPr/>
        </p:nvPicPr>
        <p:blipFill>
          <a:blip r:embed="rId4"/>
          <a:stretch/>
        </p:blipFill>
        <p:spPr>
          <a:xfrm>
            <a:off x="5058360" y="1812240"/>
            <a:ext cx="261000" cy="261000"/>
          </a:xfrm>
          <a:prstGeom prst="rect">
            <a:avLst/>
          </a:prstGeom>
          <a:ln w="0">
            <a:noFill/>
          </a:ln>
        </p:spPr>
      </p:pic>
      <p:sp>
        <p:nvSpPr>
          <p:cNvPr id="186" name="Text 10"/>
          <p:cNvSpPr/>
          <p:nvPr/>
        </p:nvSpPr>
        <p:spPr>
          <a:xfrm>
            <a:off x="5577840" y="1691640"/>
            <a:ext cx="2742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strike="noStrike" spc="-1">
                <a:solidFill>
                  <a:srgbClr val="26215C"/>
                </a:solidFill>
                <a:latin typeface="Cambria"/>
                <a:ea typeface="Cambria"/>
              </a:rPr>
              <a:t>UX &amp; governance shift</a:t>
            </a:r>
            <a:endParaRPr lang="en-US" sz="1550" b="0" strike="noStrike" spc="-1">
              <a:solidFill>
                <a:srgbClr val="000000"/>
              </a:solidFill>
              <a:latin typeface="Arial"/>
            </a:endParaRPr>
          </a:p>
        </p:txBody>
      </p:sp>
      <p:sp>
        <p:nvSpPr>
          <p:cNvPr id="187" name="Text 11"/>
          <p:cNvSpPr/>
          <p:nvPr/>
        </p:nvSpPr>
        <p:spPr>
          <a:xfrm>
            <a:off x="4937760" y="2331720"/>
            <a:ext cx="3474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5000"/>
              </a:lnSpc>
              <a:buClr>
                <a:srgbClr val="433F5C"/>
              </a:buClr>
              <a:buFont typeface="Symbol" charset="2"/>
              <a:buChar char=""/>
            </a:pPr>
            <a:r>
              <a:rPr lang="en-US" sz="950" b="0" strike="noStrike" spc="-1">
                <a:solidFill>
                  <a:srgbClr val="433F5C"/>
                </a:solidFill>
                <a:latin typeface="Calibri"/>
                <a:ea typeface="Calibri"/>
              </a:rPr>
              <a:t>Scaling depends less on model capability and more on usability and cocreated workflow redesign</a:t>
            </a:r>
            <a:endParaRPr lang="en-US" sz="950" b="0" strike="noStrike" spc="-1">
              <a:solidFill>
                <a:srgbClr val="000000"/>
              </a:solidFill>
              <a:latin typeface="Arial"/>
            </a:endParaRPr>
          </a:p>
        </p:txBody>
      </p:sp>
      <p:sp>
        <p:nvSpPr>
          <p:cNvPr id="188" name="Text 12"/>
          <p:cNvSpPr/>
          <p:nvPr/>
        </p:nvSpPr>
        <p:spPr>
          <a:xfrm>
            <a:off x="4937760" y="2990160"/>
            <a:ext cx="3474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5000"/>
              </a:lnSpc>
              <a:buClr>
                <a:srgbClr val="433F5C"/>
              </a:buClr>
              <a:buFont typeface="Symbol" charset="2"/>
              <a:buChar char=""/>
            </a:pPr>
            <a:r>
              <a:rPr lang="en-US" sz="950" b="0" strike="noStrike" spc="-1">
                <a:solidFill>
                  <a:srgbClr val="433F5C"/>
                </a:solidFill>
                <a:latin typeface="Calibri"/>
                <a:ea typeface="Calibri"/>
              </a:rPr>
              <a:t>More than half of enterprises report agentic sprawl even after adopting governance frameworks like NIST AI RMF</a:t>
            </a:r>
            <a:endParaRPr lang="en-US" sz="950" b="0" strike="noStrike" spc="-1">
              <a:solidFill>
                <a:srgbClr val="000000"/>
              </a:solidFill>
              <a:latin typeface="Arial"/>
            </a:endParaRPr>
          </a:p>
        </p:txBody>
      </p:sp>
      <p:sp>
        <p:nvSpPr>
          <p:cNvPr id="189" name="Text 13"/>
          <p:cNvSpPr/>
          <p:nvPr/>
        </p:nvSpPr>
        <p:spPr>
          <a:xfrm>
            <a:off x="4937760" y="3648600"/>
            <a:ext cx="3474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5000"/>
              </a:lnSpc>
              <a:buClr>
                <a:srgbClr val="433F5C"/>
              </a:buClr>
              <a:buFont typeface="Symbol" charset="2"/>
              <a:buChar char=""/>
            </a:pPr>
            <a:r>
              <a:rPr lang="en-US" sz="950" b="0" strike="noStrike" spc="-1">
                <a:solidFill>
                  <a:srgbClr val="433F5C"/>
                </a:solidFill>
                <a:latin typeface="Calibri"/>
                <a:ea typeface="Calibri"/>
              </a:rPr>
              <a:t>Every autonomous action must be logged and defensible to an auditor — the “trust tax” slowing production rollout</a:t>
            </a:r>
            <a:endParaRPr lang="en-US" sz="950" b="0" strike="noStrike" spc="-1">
              <a:solidFill>
                <a:srgbClr val="000000"/>
              </a:solidFill>
              <a:latin typeface="Arial"/>
            </a:endParaRPr>
          </a:p>
        </p:txBody>
      </p:sp>
      <p:sp>
        <p:nvSpPr>
          <p:cNvPr id="190" name="Text 14"/>
          <p:cNvSpPr/>
          <p:nvPr/>
        </p:nvSpPr>
        <p:spPr>
          <a:xfrm>
            <a:off x="457200" y="443484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0" i="1" strike="noStrike" spc="-1">
                <a:solidFill>
                  <a:srgbClr val="767290"/>
                </a:solidFill>
                <a:latin typeface="Calibri"/>
                <a:ea typeface="Calibri"/>
              </a:rPr>
              <a:t>Source: Forrester, “The State Of Agentic AI, 2026” and “Agentic Software Development Takes The Lead,” 2026.</a:t>
            </a:r>
            <a:endParaRPr lang="en-US" sz="85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1"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INDUSTRY RESEARCH · SOURCES</a:t>
            </a:r>
            <a:endParaRPr lang="en-US" sz="1200" b="0" strike="noStrike" spc="-1">
              <a:solidFill>
                <a:srgbClr val="000000"/>
              </a:solidFill>
              <a:latin typeface="Arial"/>
            </a:endParaRPr>
          </a:p>
        </p:txBody>
      </p:sp>
      <p:sp>
        <p:nvSpPr>
          <p:cNvPr id="192"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Where this research comes from</a:t>
            </a:r>
            <a:endParaRPr lang="en-US" sz="2800" b="0" strike="noStrike" spc="-1">
              <a:solidFill>
                <a:srgbClr val="000000"/>
              </a:solidFill>
              <a:latin typeface="Arial"/>
            </a:endParaRPr>
          </a:p>
        </p:txBody>
      </p:sp>
      <p:sp>
        <p:nvSpPr>
          <p:cNvPr id="193" name="Shape 2"/>
          <p:cNvSpPr/>
          <p:nvPr/>
        </p:nvSpPr>
        <p:spPr>
          <a:xfrm>
            <a:off x="457200" y="1325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4" name="Shape 3"/>
          <p:cNvSpPr/>
          <p:nvPr/>
        </p:nvSpPr>
        <p:spPr>
          <a:xfrm>
            <a:off x="457200" y="1325880"/>
            <a:ext cx="2605680" cy="219240"/>
          </a:xfrm>
          <a:prstGeom prst="roundRect">
            <a:avLst>
              <a:gd name="adj" fmla="val 29167"/>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5" name="Text 4"/>
          <p:cNvSpPr/>
          <p:nvPr/>
        </p:nvSpPr>
        <p:spPr>
          <a:xfrm>
            <a:off x="548640" y="132588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97">
                <a:solidFill>
                  <a:srgbClr val="26215C"/>
                </a:solidFill>
                <a:latin typeface="Calibri"/>
                <a:ea typeface="Calibri"/>
              </a:rPr>
              <a:t>GARTNER</a:t>
            </a:r>
            <a:endParaRPr lang="en-US" sz="800" b="0" strike="noStrike" spc="-1">
              <a:solidFill>
                <a:srgbClr val="000000"/>
              </a:solidFill>
              <a:latin typeface="Arial"/>
            </a:endParaRPr>
          </a:p>
        </p:txBody>
      </p:sp>
      <p:sp>
        <p:nvSpPr>
          <p:cNvPr id="196" name="Text 5"/>
          <p:cNvSpPr/>
          <p:nvPr/>
        </p:nvSpPr>
        <p:spPr>
          <a:xfrm>
            <a:off x="548640" y="1581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40% of enterprise apps</a:t>
            </a:r>
            <a:endParaRPr lang="en-US" sz="950" b="0" strike="noStrike" spc="-1">
              <a:solidFill>
                <a:srgbClr val="000000"/>
              </a:solidFill>
              <a:latin typeface="Arial"/>
            </a:endParaRPr>
          </a:p>
        </p:txBody>
      </p:sp>
      <p:sp>
        <p:nvSpPr>
          <p:cNvPr id="197" name="Text 6"/>
          <p:cNvSpPr/>
          <p:nvPr/>
        </p:nvSpPr>
        <p:spPr>
          <a:xfrm>
            <a:off x="548640" y="1856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will be integrated with task-specific AI agents by end of 2026</a:t>
            </a:r>
            <a:endParaRPr lang="en-US" sz="700" b="0" strike="noStrike" spc="-1">
              <a:solidFill>
                <a:srgbClr val="000000"/>
              </a:solidFill>
              <a:latin typeface="Arial"/>
            </a:endParaRPr>
          </a:p>
        </p:txBody>
      </p:sp>
      <p:sp>
        <p:nvSpPr>
          <p:cNvPr id="198" name="Text 7">
            <a:hlinkClick r:id="rId3"/>
          </p:cNvPr>
          <p:cNvSpPr/>
          <p:nvPr/>
        </p:nvSpPr>
        <p:spPr>
          <a:xfrm>
            <a:off x="548640" y="2176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26215C"/>
                </a:solidFill>
                <a:uFillTx/>
                <a:latin typeface="Calibri"/>
                <a:ea typeface="Calibri"/>
                <a:hlinkClick r:id="rId3"/>
              </a:rPr>
              <a:t>gartner.com  →</a:t>
            </a:r>
            <a:endParaRPr lang="en-US" sz="800" b="0" strike="noStrike" spc="-1">
              <a:solidFill>
                <a:srgbClr val="000000"/>
              </a:solidFill>
              <a:latin typeface="Arial"/>
            </a:endParaRPr>
          </a:p>
        </p:txBody>
      </p:sp>
      <p:sp>
        <p:nvSpPr>
          <p:cNvPr id="199" name="Shape 8"/>
          <p:cNvSpPr/>
          <p:nvPr/>
        </p:nvSpPr>
        <p:spPr>
          <a:xfrm>
            <a:off x="3182040" y="1325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0" name="Shape 9"/>
          <p:cNvSpPr/>
          <p:nvPr/>
        </p:nvSpPr>
        <p:spPr>
          <a:xfrm>
            <a:off x="3182040" y="1325880"/>
            <a:ext cx="2605680" cy="219240"/>
          </a:xfrm>
          <a:prstGeom prst="roundRect">
            <a:avLst>
              <a:gd name="adj" fmla="val 29167"/>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1" name="Text 10"/>
          <p:cNvSpPr/>
          <p:nvPr/>
        </p:nvSpPr>
        <p:spPr>
          <a:xfrm>
            <a:off x="3273480" y="132588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97">
                <a:solidFill>
                  <a:srgbClr val="26215C"/>
                </a:solidFill>
                <a:latin typeface="Calibri"/>
                <a:ea typeface="Calibri"/>
              </a:rPr>
              <a:t>GARTNER</a:t>
            </a:r>
            <a:endParaRPr lang="en-US" sz="800" b="0" strike="noStrike" spc="-1">
              <a:solidFill>
                <a:srgbClr val="000000"/>
              </a:solidFill>
              <a:latin typeface="Arial"/>
            </a:endParaRPr>
          </a:p>
        </p:txBody>
      </p:sp>
      <p:sp>
        <p:nvSpPr>
          <p:cNvPr id="202" name="Text 11"/>
          <p:cNvSpPr/>
          <p:nvPr/>
        </p:nvSpPr>
        <p:spPr>
          <a:xfrm>
            <a:off x="3273480" y="1581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17% deployed, 60%+ expect to</a:t>
            </a:r>
            <a:endParaRPr lang="en-US" sz="950" b="0" strike="noStrike" spc="-1">
              <a:solidFill>
                <a:srgbClr val="000000"/>
              </a:solidFill>
              <a:latin typeface="Arial"/>
            </a:endParaRPr>
          </a:p>
        </p:txBody>
      </p:sp>
      <p:sp>
        <p:nvSpPr>
          <p:cNvPr id="203" name="Text 12"/>
          <p:cNvSpPr/>
          <p:nvPr/>
        </p:nvSpPr>
        <p:spPr>
          <a:xfrm>
            <a:off x="3273480" y="1856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within two years — the steepest curve in the 2026 CIO Survey</a:t>
            </a:r>
            <a:endParaRPr lang="en-US" sz="700" b="0" strike="noStrike" spc="-1">
              <a:solidFill>
                <a:srgbClr val="000000"/>
              </a:solidFill>
              <a:latin typeface="Arial"/>
            </a:endParaRPr>
          </a:p>
        </p:txBody>
      </p:sp>
      <p:sp>
        <p:nvSpPr>
          <p:cNvPr id="204" name="Text 13">
            <a:hlinkClick r:id="rId4"/>
          </p:cNvPr>
          <p:cNvSpPr/>
          <p:nvPr/>
        </p:nvSpPr>
        <p:spPr>
          <a:xfrm>
            <a:off x="3273480" y="2176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26215C"/>
                </a:solidFill>
                <a:uFillTx/>
                <a:latin typeface="Calibri"/>
                <a:ea typeface="Calibri"/>
                <a:hlinkClick r:id="rId4"/>
              </a:rPr>
              <a:t>gartner.com  →</a:t>
            </a:r>
            <a:endParaRPr lang="en-US" sz="800" b="0" strike="noStrike" spc="-1">
              <a:solidFill>
                <a:srgbClr val="000000"/>
              </a:solidFill>
              <a:latin typeface="Arial"/>
            </a:endParaRPr>
          </a:p>
        </p:txBody>
      </p:sp>
      <p:sp>
        <p:nvSpPr>
          <p:cNvPr id="205" name="Shape 14"/>
          <p:cNvSpPr/>
          <p:nvPr/>
        </p:nvSpPr>
        <p:spPr>
          <a:xfrm>
            <a:off x="5906880" y="1325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6" name="Shape 15"/>
          <p:cNvSpPr/>
          <p:nvPr/>
        </p:nvSpPr>
        <p:spPr>
          <a:xfrm>
            <a:off x="5906880" y="1325880"/>
            <a:ext cx="2605680" cy="219240"/>
          </a:xfrm>
          <a:prstGeom prst="roundRect">
            <a:avLst>
              <a:gd name="adj" fmla="val 29167"/>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7" name="Text 16"/>
          <p:cNvSpPr/>
          <p:nvPr/>
        </p:nvSpPr>
        <p:spPr>
          <a:xfrm>
            <a:off x="5998320" y="132588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97">
                <a:solidFill>
                  <a:srgbClr val="26215C"/>
                </a:solidFill>
                <a:latin typeface="Calibri"/>
                <a:ea typeface="Calibri"/>
              </a:rPr>
              <a:t>GARTNER</a:t>
            </a:r>
            <a:endParaRPr lang="en-US" sz="800" b="0" strike="noStrike" spc="-1">
              <a:solidFill>
                <a:srgbClr val="000000"/>
              </a:solidFill>
              <a:latin typeface="Arial"/>
            </a:endParaRPr>
          </a:p>
        </p:txBody>
      </p:sp>
      <p:sp>
        <p:nvSpPr>
          <p:cNvPr id="208" name="Text 17"/>
          <p:cNvSpPr/>
          <p:nvPr/>
        </p:nvSpPr>
        <p:spPr>
          <a:xfrm>
            <a:off x="5998320" y="1581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40%+ projects canceled</a:t>
            </a:r>
            <a:endParaRPr lang="en-US" sz="950" b="0" strike="noStrike" spc="-1">
              <a:solidFill>
                <a:srgbClr val="000000"/>
              </a:solidFill>
              <a:latin typeface="Arial"/>
            </a:endParaRPr>
          </a:p>
        </p:txBody>
      </p:sp>
      <p:sp>
        <p:nvSpPr>
          <p:cNvPr id="209" name="Text 18"/>
          <p:cNvSpPr/>
          <p:nvPr/>
        </p:nvSpPr>
        <p:spPr>
          <a:xfrm>
            <a:off x="5998320" y="1856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by end of 2027 on cost, unclear value, or weak risk controls</a:t>
            </a:r>
            <a:endParaRPr lang="en-US" sz="700" b="0" strike="noStrike" spc="-1">
              <a:solidFill>
                <a:srgbClr val="000000"/>
              </a:solidFill>
              <a:latin typeface="Arial"/>
            </a:endParaRPr>
          </a:p>
        </p:txBody>
      </p:sp>
      <p:sp>
        <p:nvSpPr>
          <p:cNvPr id="210" name="Text 19">
            <a:hlinkClick r:id="rId5"/>
          </p:cNvPr>
          <p:cNvSpPr/>
          <p:nvPr/>
        </p:nvSpPr>
        <p:spPr>
          <a:xfrm>
            <a:off x="5998320" y="2176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26215C"/>
                </a:solidFill>
                <a:uFillTx/>
                <a:latin typeface="Calibri"/>
                <a:ea typeface="Calibri"/>
                <a:hlinkClick r:id="rId5"/>
              </a:rPr>
              <a:t>gartner.com  →</a:t>
            </a:r>
            <a:endParaRPr lang="en-US" sz="800" b="0" strike="noStrike" spc="-1">
              <a:solidFill>
                <a:srgbClr val="000000"/>
              </a:solidFill>
              <a:latin typeface="Arial"/>
            </a:endParaRPr>
          </a:p>
        </p:txBody>
      </p:sp>
      <p:sp>
        <p:nvSpPr>
          <p:cNvPr id="211" name="Shape 20"/>
          <p:cNvSpPr/>
          <p:nvPr/>
        </p:nvSpPr>
        <p:spPr>
          <a:xfrm>
            <a:off x="457200" y="2468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2" name="Shape 21"/>
          <p:cNvSpPr/>
          <p:nvPr/>
        </p:nvSpPr>
        <p:spPr>
          <a:xfrm>
            <a:off x="457200" y="2468880"/>
            <a:ext cx="2605680" cy="219240"/>
          </a:xfrm>
          <a:prstGeom prst="roundRect">
            <a:avLst>
              <a:gd name="adj" fmla="val 29167"/>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3" name="Text 22"/>
          <p:cNvSpPr/>
          <p:nvPr/>
        </p:nvSpPr>
        <p:spPr>
          <a:xfrm>
            <a:off x="548640" y="246888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97">
                <a:solidFill>
                  <a:srgbClr val="0F6E56"/>
                </a:solidFill>
                <a:latin typeface="Calibri"/>
                <a:ea typeface="Calibri"/>
              </a:rPr>
              <a:t>McKINSEY</a:t>
            </a:r>
            <a:endParaRPr lang="en-US" sz="800" b="0" strike="noStrike" spc="-1">
              <a:solidFill>
                <a:srgbClr val="000000"/>
              </a:solidFill>
              <a:latin typeface="Arial"/>
            </a:endParaRPr>
          </a:p>
        </p:txBody>
      </p:sp>
      <p:sp>
        <p:nvSpPr>
          <p:cNvPr id="214" name="Text 23"/>
          <p:cNvSpPr/>
          <p:nvPr/>
        </p:nvSpPr>
        <p:spPr>
          <a:xfrm>
            <a:off x="548640" y="2724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62% experimenting, 23% scaling</a:t>
            </a:r>
            <a:endParaRPr lang="en-US" sz="950" b="0" strike="noStrike" spc="-1">
              <a:solidFill>
                <a:srgbClr val="000000"/>
              </a:solidFill>
              <a:latin typeface="Arial"/>
            </a:endParaRPr>
          </a:p>
        </p:txBody>
      </p:sp>
      <p:sp>
        <p:nvSpPr>
          <p:cNvPr id="215" name="Text 24"/>
          <p:cNvSpPr/>
          <p:nvPr/>
        </p:nvSpPr>
        <p:spPr>
          <a:xfrm>
            <a:off x="548640" y="2999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agentic AI in at least one business function</a:t>
            </a:r>
            <a:endParaRPr lang="en-US" sz="700" b="0" strike="noStrike" spc="-1">
              <a:solidFill>
                <a:srgbClr val="000000"/>
              </a:solidFill>
              <a:latin typeface="Arial"/>
            </a:endParaRPr>
          </a:p>
        </p:txBody>
      </p:sp>
      <p:sp>
        <p:nvSpPr>
          <p:cNvPr id="216" name="Text 25">
            <a:hlinkClick r:id="rId6"/>
          </p:cNvPr>
          <p:cNvSpPr/>
          <p:nvPr/>
        </p:nvSpPr>
        <p:spPr>
          <a:xfrm>
            <a:off x="548640" y="3319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0F6E56"/>
                </a:solidFill>
                <a:uFillTx/>
                <a:latin typeface="Calibri"/>
                <a:ea typeface="Calibri"/>
                <a:hlinkClick r:id="rId6"/>
              </a:rPr>
              <a:t>mckinsey.com  →</a:t>
            </a:r>
            <a:endParaRPr lang="en-US" sz="800" b="0" strike="noStrike" spc="-1">
              <a:solidFill>
                <a:srgbClr val="000000"/>
              </a:solidFill>
              <a:latin typeface="Arial"/>
            </a:endParaRPr>
          </a:p>
        </p:txBody>
      </p:sp>
      <p:sp>
        <p:nvSpPr>
          <p:cNvPr id="217" name="Shape 26"/>
          <p:cNvSpPr/>
          <p:nvPr/>
        </p:nvSpPr>
        <p:spPr>
          <a:xfrm>
            <a:off x="3182040" y="2468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8" name="Shape 27"/>
          <p:cNvSpPr/>
          <p:nvPr/>
        </p:nvSpPr>
        <p:spPr>
          <a:xfrm>
            <a:off x="3182040" y="2468880"/>
            <a:ext cx="2605680" cy="219240"/>
          </a:xfrm>
          <a:prstGeom prst="roundRect">
            <a:avLst>
              <a:gd name="adj" fmla="val 29167"/>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9" name="Text 28"/>
          <p:cNvSpPr/>
          <p:nvPr/>
        </p:nvSpPr>
        <p:spPr>
          <a:xfrm>
            <a:off x="3273480" y="246888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97">
                <a:solidFill>
                  <a:srgbClr val="0F6E56"/>
                </a:solidFill>
                <a:latin typeface="Calibri"/>
                <a:ea typeface="Calibri"/>
              </a:rPr>
              <a:t>McKINSEY</a:t>
            </a:r>
            <a:endParaRPr lang="en-US" sz="800" b="0" strike="noStrike" spc="-1">
              <a:solidFill>
                <a:srgbClr val="000000"/>
              </a:solidFill>
              <a:latin typeface="Arial"/>
            </a:endParaRPr>
          </a:p>
        </p:txBody>
      </p:sp>
      <p:sp>
        <p:nvSpPr>
          <p:cNvPr id="220" name="Text 29"/>
          <p:cNvSpPr/>
          <p:nvPr/>
        </p:nvSpPr>
        <p:spPr>
          <a:xfrm>
            <a:off x="3273480" y="2724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3x more likely</a:t>
            </a:r>
            <a:endParaRPr lang="en-US" sz="950" b="0" strike="noStrike" spc="-1">
              <a:solidFill>
                <a:srgbClr val="000000"/>
              </a:solidFill>
              <a:latin typeface="Arial"/>
            </a:endParaRPr>
          </a:p>
        </p:txBody>
      </p:sp>
      <p:sp>
        <p:nvSpPr>
          <p:cNvPr id="221" name="Text 30"/>
          <p:cNvSpPr/>
          <p:nvPr/>
        </p:nvSpPr>
        <p:spPr>
          <a:xfrm>
            <a:off x="3273480" y="2999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high performers have redesigned workflows end-to-end vs. peers</a:t>
            </a:r>
            <a:endParaRPr lang="en-US" sz="700" b="0" strike="noStrike" spc="-1">
              <a:solidFill>
                <a:srgbClr val="000000"/>
              </a:solidFill>
              <a:latin typeface="Arial"/>
            </a:endParaRPr>
          </a:p>
        </p:txBody>
      </p:sp>
      <p:sp>
        <p:nvSpPr>
          <p:cNvPr id="222" name="Text 31">
            <a:hlinkClick r:id="rId6"/>
          </p:cNvPr>
          <p:cNvSpPr/>
          <p:nvPr/>
        </p:nvSpPr>
        <p:spPr>
          <a:xfrm>
            <a:off x="3273480" y="3319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0F6E56"/>
                </a:solidFill>
                <a:uFillTx/>
                <a:latin typeface="Calibri"/>
                <a:ea typeface="Calibri"/>
                <a:hlinkClick r:id="rId6"/>
              </a:rPr>
              <a:t>mckinsey.com  →</a:t>
            </a:r>
            <a:endParaRPr lang="en-US" sz="800" b="0" strike="noStrike" spc="-1">
              <a:solidFill>
                <a:srgbClr val="000000"/>
              </a:solidFill>
              <a:latin typeface="Arial"/>
            </a:endParaRPr>
          </a:p>
        </p:txBody>
      </p:sp>
      <p:sp>
        <p:nvSpPr>
          <p:cNvPr id="223" name="Shape 32"/>
          <p:cNvSpPr/>
          <p:nvPr/>
        </p:nvSpPr>
        <p:spPr>
          <a:xfrm>
            <a:off x="5906880" y="2468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24" name="Shape 33"/>
          <p:cNvSpPr/>
          <p:nvPr/>
        </p:nvSpPr>
        <p:spPr>
          <a:xfrm>
            <a:off x="5906880" y="2468880"/>
            <a:ext cx="2605680" cy="219240"/>
          </a:xfrm>
          <a:prstGeom prst="roundRect">
            <a:avLst>
              <a:gd name="adj" fmla="val 29167"/>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25" name="Text 34"/>
          <p:cNvSpPr/>
          <p:nvPr/>
        </p:nvSpPr>
        <p:spPr>
          <a:xfrm>
            <a:off x="5998320" y="246888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97">
                <a:solidFill>
                  <a:srgbClr val="0F6E56"/>
                </a:solidFill>
                <a:latin typeface="Calibri"/>
                <a:ea typeface="Calibri"/>
              </a:rPr>
              <a:t>McKINSEY</a:t>
            </a:r>
            <a:endParaRPr lang="en-US" sz="800" b="0" strike="noStrike" spc="-1">
              <a:solidFill>
                <a:srgbClr val="000000"/>
              </a:solidFill>
              <a:latin typeface="Arial"/>
            </a:endParaRPr>
          </a:p>
        </p:txBody>
      </p:sp>
      <p:sp>
        <p:nvSpPr>
          <p:cNvPr id="226" name="Text 35"/>
          <p:cNvSpPr/>
          <p:nvPr/>
        </p:nvSpPr>
        <p:spPr>
          <a:xfrm>
            <a:off x="5998320" y="2724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$2.6–4.4 trillion</a:t>
            </a:r>
            <a:endParaRPr lang="en-US" sz="950" b="0" strike="noStrike" spc="-1">
              <a:solidFill>
                <a:srgbClr val="000000"/>
              </a:solidFill>
              <a:latin typeface="Arial"/>
            </a:endParaRPr>
          </a:p>
        </p:txBody>
      </p:sp>
      <p:sp>
        <p:nvSpPr>
          <p:cNvPr id="227" name="Text 36"/>
          <p:cNvSpPr/>
          <p:nvPr/>
        </p:nvSpPr>
        <p:spPr>
          <a:xfrm>
            <a:off x="5998320" y="2999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estimated annual value from agentic AI across business use cases</a:t>
            </a:r>
            <a:endParaRPr lang="en-US" sz="700" b="0" strike="noStrike" spc="-1">
              <a:solidFill>
                <a:srgbClr val="000000"/>
              </a:solidFill>
              <a:latin typeface="Arial"/>
            </a:endParaRPr>
          </a:p>
        </p:txBody>
      </p:sp>
      <p:sp>
        <p:nvSpPr>
          <p:cNvPr id="228" name="Text 37">
            <a:hlinkClick r:id="rId7"/>
          </p:cNvPr>
          <p:cNvSpPr/>
          <p:nvPr/>
        </p:nvSpPr>
        <p:spPr>
          <a:xfrm>
            <a:off x="5998320" y="3319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0F6E56"/>
                </a:solidFill>
                <a:uFillTx/>
                <a:latin typeface="Calibri"/>
                <a:ea typeface="Calibri"/>
                <a:hlinkClick r:id="rId7"/>
              </a:rPr>
              <a:t>mckinsey.com  →</a:t>
            </a:r>
            <a:endParaRPr lang="en-US" sz="800" b="0" strike="noStrike" spc="-1">
              <a:solidFill>
                <a:srgbClr val="000000"/>
              </a:solidFill>
              <a:latin typeface="Arial"/>
            </a:endParaRPr>
          </a:p>
        </p:txBody>
      </p:sp>
      <p:sp>
        <p:nvSpPr>
          <p:cNvPr id="229" name="Shape 38"/>
          <p:cNvSpPr/>
          <p:nvPr/>
        </p:nvSpPr>
        <p:spPr>
          <a:xfrm>
            <a:off x="457200" y="3611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30" name="Shape 39"/>
          <p:cNvSpPr/>
          <p:nvPr/>
        </p:nvSpPr>
        <p:spPr>
          <a:xfrm>
            <a:off x="457200" y="3611880"/>
            <a:ext cx="2605680" cy="219240"/>
          </a:xfrm>
          <a:prstGeom prst="roundRect">
            <a:avLst>
              <a:gd name="adj" fmla="val 29167"/>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31" name="Text 40"/>
          <p:cNvSpPr/>
          <p:nvPr/>
        </p:nvSpPr>
        <p:spPr>
          <a:xfrm>
            <a:off x="548640" y="361188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97">
                <a:solidFill>
                  <a:srgbClr val="854F0B"/>
                </a:solidFill>
                <a:latin typeface="Calibri"/>
                <a:ea typeface="Calibri"/>
              </a:rPr>
              <a:t>FORRESTER</a:t>
            </a:r>
            <a:endParaRPr lang="en-US" sz="800" b="0" strike="noStrike" spc="-1">
              <a:solidFill>
                <a:srgbClr val="000000"/>
              </a:solidFill>
              <a:latin typeface="Arial"/>
            </a:endParaRPr>
          </a:p>
        </p:txBody>
      </p:sp>
      <p:sp>
        <p:nvSpPr>
          <p:cNvPr id="232" name="Text 41"/>
          <p:cNvSpPr/>
          <p:nvPr/>
        </p:nvSpPr>
        <p:spPr>
          <a:xfrm>
            <a:off x="548640" y="3867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“Behaves like a distributed system”</a:t>
            </a:r>
            <a:endParaRPr lang="en-US" sz="950" b="0" strike="noStrike" spc="-1">
              <a:solidFill>
                <a:srgbClr val="000000"/>
              </a:solidFill>
              <a:latin typeface="Arial"/>
            </a:endParaRPr>
          </a:p>
        </p:txBody>
      </p:sp>
      <p:sp>
        <p:nvSpPr>
          <p:cNvPr id="233" name="Text 42"/>
          <p:cNvSpPr/>
          <p:nvPr/>
        </p:nvSpPr>
        <p:spPr>
          <a:xfrm>
            <a:off x="548640" y="4142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not a chatbot — demands orchestration, identity, context management</a:t>
            </a:r>
            <a:endParaRPr lang="en-US" sz="700" b="0" strike="noStrike" spc="-1">
              <a:solidFill>
                <a:srgbClr val="000000"/>
              </a:solidFill>
              <a:latin typeface="Arial"/>
            </a:endParaRPr>
          </a:p>
        </p:txBody>
      </p:sp>
      <p:sp>
        <p:nvSpPr>
          <p:cNvPr id="234" name="Text 43">
            <a:hlinkClick r:id="rId8"/>
          </p:cNvPr>
          <p:cNvSpPr/>
          <p:nvPr/>
        </p:nvSpPr>
        <p:spPr>
          <a:xfrm>
            <a:off x="548640" y="4462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854F0B"/>
                </a:solidFill>
                <a:uFillTx/>
                <a:latin typeface="Calibri"/>
                <a:ea typeface="Calibri"/>
                <a:hlinkClick r:id="rId8"/>
              </a:rPr>
              <a:t>forrester.com  →</a:t>
            </a:r>
            <a:endParaRPr lang="en-US" sz="800" b="0" strike="noStrike" spc="-1">
              <a:solidFill>
                <a:srgbClr val="000000"/>
              </a:solidFill>
              <a:latin typeface="Arial"/>
            </a:endParaRPr>
          </a:p>
        </p:txBody>
      </p:sp>
      <p:sp>
        <p:nvSpPr>
          <p:cNvPr id="235" name="Shape 44"/>
          <p:cNvSpPr/>
          <p:nvPr/>
        </p:nvSpPr>
        <p:spPr>
          <a:xfrm>
            <a:off x="3182040" y="3611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36" name="Shape 45"/>
          <p:cNvSpPr/>
          <p:nvPr/>
        </p:nvSpPr>
        <p:spPr>
          <a:xfrm>
            <a:off x="3182040" y="3611880"/>
            <a:ext cx="2605680" cy="219240"/>
          </a:xfrm>
          <a:prstGeom prst="roundRect">
            <a:avLst>
              <a:gd name="adj" fmla="val 29167"/>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37" name="Text 46"/>
          <p:cNvSpPr/>
          <p:nvPr/>
        </p:nvSpPr>
        <p:spPr>
          <a:xfrm>
            <a:off x="3273480" y="361188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97">
                <a:solidFill>
                  <a:srgbClr val="854F0B"/>
                </a:solidFill>
                <a:latin typeface="Calibri"/>
                <a:ea typeface="Calibri"/>
              </a:rPr>
              <a:t>FORRESTER</a:t>
            </a:r>
            <a:endParaRPr lang="en-US" sz="800" b="0" strike="noStrike" spc="-1">
              <a:solidFill>
                <a:srgbClr val="000000"/>
              </a:solidFill>
              <a:latin typeface="Arial"/>
            </a:endParaRPr>
          </a:p>
        </p:txBody>
      </p:sp>
      <p:sp>
        <p:nvSpPr>
          <p:cNvPr id="238" name="Text 47"/>
          <p:cNvSpPr/>
          <p:nvPr/>
        </p:nvSpPr>
        <p:spPr>
          <a:xfrm>
            <a:off x="3273480" y="3867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30–40% vs. &lt;10%</a:t>
            </a:r>
            <a:endParaRPr lang="en-US" sz="950" b="0" strike="noStrike" spc="-1">
              <a:solidFill>
                <a:srgbClr val="000000"/>
              </a:solidFill>
              <a:latin typeface="Arial"/>
            </a:endParaRPr>
          </a:p>
        </p:txBody>
      </p:sp>
      <p:sp>
        <p:nvSpPr>
          <p:cNvPr id="239" name="Text 48"/>
          <p:cNvSpPr/>
          <p:nvPr/>
        </p:nvSpPr>
        <p:spPr>
          <a:xfrm>
            <a:off x="3273480" y="4142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coding gains don't translate to team gains without full SDLC redesign</a:t>
            </a:r>
            <a:endParaRPr lang="en-US" sz="700" b="0" strike="noStrike" spc="-1">
              <a:solidFill>
                <a:srgbClr val="000000"/>
              </a:solidFill>
              <a:latin typeface="Arial"/>
            </a:endParaRPr>
          </a:p>
        </p:txBody>
      </p:sp>
      <p:sp>
        <p:nvSpPr>
          <p:cNvPr id="240" name="Text 49">
            <a:hlinkClick r:id="rId9"/>
          </p:cNvPr>
          <p:cNvSpPr/>
          <p:nvPr/>
        </p:nvSpPr>
        <p:spPr>
          <a:xfrm>
            <a:off x="3273480" y="4462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854F0B"/>
                </a:solidFill>
                <a:uFillTx/>
                <a:latin typeface="Calibri"/>
                <a:ea typeface="Calibri"/>
                <a:hlinkClick r:id="rId9"/>
              </a:rPr>
              <a:t>forrester.com  →</a:t>
            </a:r>
            <a:endParaRPr lang="en-US" sz="800" b="0" strike="noStrike" spc="-1">
              <a:solidFill>
                <a:srgbClr val="000000"/>
              </a:solidFill>
              <a:latin typeface="Arial"/>
            </a:endParaRPr>
          </a:p>
        </p:txBody>
      </p:sp>
      <p:sp>
        <p:nvSpPr>
          <p:cNvPr id="241" name="Shape 50"/>
          <p:cNvSpPr/>
          <p:nvPr/>
        </p:nvSpPr>
        <p:spPr>
          <a:xfrm>
            <a:off x="5906880" y="3611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42" name="Shape 51"/>
          <p:cNvSpPr/>
          <p:nvPr/>
        </p:nvSpPr>
        <p:spPr>
          <a:xfrm>
            <a:off x="5906880" y="3611880"/>
            <a:ext cx="2605680" cy="219240"/>
          </a:xfrm>
          <a:prstGeom prst="roundRect">
            <a:avLst>
              <a:gd name="adj" fmla="val 29167"/>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43" name="Text 52"/>
          <p:cNvSpPr/>
          <p:nvPr/>
        </p:nvSpPr>
        <p:spPr>
          <a:xfrm>
            <a:off x="5998320" y="3611880"/>
            <a:ext cx="2422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97">
                <a:solidFill>
                  <a:srgbClr val="854F0B"/>
                </a:solidFill>
                <a:latin typeface="Calibri"/>
                <a:ea typeface="Calibri"/>
              </a:rPr>
              <a:t>FORRESTER</a:t>
            </a:r>
            <a:endParaRPr lang="en-US" sz="800" b="0" strike="noStrike" spc="-1">
              <a:solidFill>
                <a:srgbClr val="000000"/>
              </a:solidFill>
              <a:latin typeface="Arial"/>
            </a:endParaRPr>
          </a:p>
        </p:txBody>
      </p:sp>
      <p:sp>
        <p:nvSpPr>
          <p:cNvPr id="244" name="Text 53"/>
          <p:cNvSpPr/>
          <p:nvPr/>
        </p:nvSpPr>
        <p:spPr>
          <a:xfrm>
            <a:off x="5998320" y="3867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50%+ report agentic sprawl</a:t>
            </a:r>
            <a:endParaRPr lang="en-US" sz="950" b="0" strike="noStrike" spc="-1">
              <a:solidFill>
                <a:srgbClr val="000000"/>
              </a:solidFill>
              <a:latin typeface="Arial"/>
            </a:endParaRPr>
          </a:p>
        </p:txBody>
      </p:sp>
      <p:sp>
        <p:nvSpPr>
          <p:cNvPr id="245" name="Text 54"/>
          <p:cNvSpPr/>
          <p:nvPr/>
        </p:nvSpPr>
        <p:spPr>
          <a:xfrm>
            <a:off x="5998320" y="4142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even after adopting NIST AI RMF governance frameworks</a:t>
            </a:r>
            <a:endParaRPr lang="en-US" sz="700" b="0" strike="noStrike" spc="-1">
              <a:solidFill>
                <a:srgbClr val="000000"/>
              </a:solidFill>
              <a:latin typeface="Arial"/>
            </a:endParaRPr>
          </a:p>
        </p:txBody>
      </p:sp>
      <p:sp>
        <p:nvSpPr>
          <p:cNvPr id="246" name="Text 55">
            <a:hlinkClick r:id="rId8"/>
          </p:cNvPr>
          <p:cNvSpPr/>
          <p:nvPr/>
        </p:nvSpPr>
        <p:spPr>
          <a:xfrm>
            <a:off x="5998320" y="4462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854F0B"/>
                </a:solidFill>
                <a:uFillTx/>
                <a:latin typeface="Calibri"/>
                <a:ea typeface="Calibri"/>
                <a:hlinkClick r:id="rId8"/>
              </a:rPr>
              <a:t>forrester.com  →</a:t>
            </a:r>
            <a:endParaRPr lang="en-US" sz="800" b="0" strike="noStrike" spc="-1">
              <a:solidFill>
                <a:srgbClr val="000000"/>
              </a:solidFill>
              <a:latin typeface="Arial"/>
            </a:endParaRPr>
          </a:p>
        </p:txBody>
      </p:sp>
      <p:sp>
        <p:nvSpPr>
          <p:cNvPr id="247" name="Text 56"/>
          <p:cNvSpPr/>
          <p:nvPr/>
        </p:nvSpPr>
        <p:spPr>
          <a:xfrm>
            <a:off x="457200" y="48096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0" i="1" strike="noStrike" spc="-1">
                <a:solidFill>
                  <a:srgbClr val="767290"/>
                </a:solidFill>
                <a:latin typeface="Calibri"/>
                <a:ea typeface="Calibri"/>
              </a:rPr>
              <a:t>Cards link to the live source; full URLs are spelled out on the next slide.</a:t>
            </a:r>
            <a:endParaRPr lang="en-US" sz="85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8"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INDUSTRY RESEARCH · FULL URLS</a:t>
            </a:r>
            <a:endParaRPr lang="en-US" sz="1200" b="0" strike="noStrike" spc="-1">
              <a:solidFill>
                <a:srgbClr val="000000"/>
              </a:solidFill>
              <a:latin typeface="Arial"/>
            </a:endParaRPr>
          </a:p>
        </p:txBody>
      </p:sp>
      <p:sp>
        <p:nvSpPr>
          <p:cNvPr id="249"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Full source links, spelled out</a:t>
            </a:r>
            <a:endParaRPr lang="en-US" sz="2800" b="0" strike="noStrike" spc="-1">
              <a:solidFill>
                <a:srgbClr val="000000"/>
              </a:solidFill>
              <a:latin typeface="Arial"/>
            </a:endParaRPr>
          </a:p>
        </p:txBody>
      </p:sp>
      <p:sp>
        <p:nvSpPr>
          <p:cNvPr id="250" name="Shape 2"/>
          <p:cNvSpPr/>
          <p:nvPr/>
        </p:nvSpPr>
        <p:spPr>
          <a:xfrm>
            <a:off x="457200" y="1325880"/>
            <a:ext cx="1279800" cy="237240"/>
          </a:xfrm>
          <a:prstGeom prst="roundRect">
            <a:avLst>
              <a:gd name="adj" fmla="val 23077"/>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51" name="Text 3"/>
          <p:cNvSpPr/>
          <p:nvPr/>
        </p:nvSpPr>
        <p:spPr>
          <a:xfrm>
            <a:off x="457200" y="1325880"/>
            <a:ext cx="1279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strike="noStrike" spc="97">
                <a:solidFill>
                  <a:srgbClr val="26215C"/>
                </a:solidFill>
                <a:latin typeface="Calibri"/>
                <a:ea typeface="Calibri"/>
              </a:rPr>
              <a:t>GARTNER</a:t>
            </a:r>
            <a:endParaRPr lang="en-US" sz="850" b="0" strike="noStrike" spc="-1">
              <a:solidFill>
                <a:srgbClr val="000000"/>
              </a:solidFill>
              <a:latin typeface="Arial"/>
            </a:endParaRPr>
          </a:p>
        </p:txBody>
      </p:sp>
      <p:sp>
        <p:nvSpPr>
          <p:cNvPr id="252" name="Text 4"/>
          <p:cNvSpPr/>
          <p:nvPr/>
        </p:nvSpPr>
        <p:spPr>
          <a:xfrm>
            <a:off x="548640" y="161856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26215C"/>
                </a:solidFill>
                <a:latin typeface="Calibri"/>
                <a:ea typeface="Calibri"/>
              </a:rPr>
              <a:t>40% of enterprise apps / 80% customer service resolution</a:t>
            </a:r>
            <a:endParaRPr lang="en-US" sz="900" b="0" strike="noStrike" spc="-1">
              <a:solidFill>
                <a:srgbClr val="000000"/>
              </a:solidFill>
              <a:latin typeface="Arial"/>
            </a:endParaRPr>
          </a:p>
        </p:txBody>
      </p:sp>
      <p:sp>
        <p:nvSpPr>
          <p:cNvPr id="253" name="Text 5"/>
          <p:cNvSpPr/>
          <p:nvPr/>
        </p:nvSpPr>
        <p:spPr>
          <a:xfrm>
            <a:off x="548640" y="179208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767290"/>
                </a:solidFill>
                <a:latin typeface="Consolas"/>
                <a:ea typeface="Consolas"/>
              </a:rPr>
              <a:t>https://gartner.com/en/newsroom/press-releases/2025-08-26-gartner-predicts-40-percent-of-enterprise-apps-will-feature-task-specific-ai-agents-by-2026-up-from-less-than-5-percent-in-2025</a:t>
            </a:r>
            <a:endParaRPr lang="en-US" sz="750" b="0" strike="noStrike" spc="-1">
              <a:solidFill>
                <a:srgbClr val="000000"/>
              </a:solidFill>
              <a:latin typeface="Arial"/>
            </a:endParaRPr>
          </a:p>
        </p:txBody>
      </p:sp>
      <p:sp>
        <p:nvSpPr>
          <p:cNvPr id="254" name="Text 6"/>
          <p:cNvSpPr/>
          <p:nvPr/>
        </p:nvSpPr>
        <p:spPr>
          <a:xfrm>
            <a:off x="548640" y="196596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26215C"/>
                </a:solidFill>
                <a:latin typeface="Calibri"/>
                <a:ea typeface="Calibri"/>
              </a:rPr>
              <a:t>17% deployed, 60%+ expect to (2026 Hype Cycle / CIO Survey)</a:t>
            </a:r>
            <a:endParaRPr lang="en-US" sz="900" b="0" strike="noStrike" spc="-1">
              <a:solidFill>
                <a:srgbClr val="000000"/>
              </a:solidFill>
              <a:latin typeface="Arial"/>
            </a:endParaRPr>
          </a:p>
        </p:txBody>
      </p:sp>
      <p:sp>
        <p:nvSpPr>
          <p:cNvPr id="255" name="Text 7"/>
          <p:cNvSpPr/>
          <p:nvPr/>
        </p:nvSpPr>
        <p:spPr>
          <a:xfrm>
            <a:off x="548640" y="213984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767290"/>
                </a:solidFill>
                <a:latin typeface="Consolas"/>
                <a:ea typeface="Consolas"/>
              </a:rPr>
              <a:t>https://gartner.com/en/articles/hype-cycle-for-agentic-ai</a:t>
            </a:r>
            <a:endParaRPr lang="en-US" sz="750" b="0" strike="noStrike" spc="-1">
              <a:solidFill>
                <a:srgbClr val="000000"/>
              </a:solidFill>
              <a:latin typeface="Arial"/>
            </a:endParaRPr>
          </a:p>
        </p:txBody>
      </p:sp>
      <p:sp>
        <p:nvSpPr>
          <p:cNvPr id="256" name="Text 8"/>
          <p:cNvSpPr/>
          <p:nvPr/>
        </p:nvSpPr>
        <p:spPr>
          <a:xfrm>
            <a:off x="548640" y="231336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26215C"/>
                </a:solidFill>
                <a:latin typeface="Calibri"/>
                <a:ea typeface="Calibri"/>
              </a:rPr>
              <a:t>40%+ projects canceled by end of 2027</a:t>
            </a:r>
            <a:endParaRPr lang="en-US" sz="900" b="0" strike="noStrike" spc="-1">
              <a:solidFill>
                <a:srgbClr val="000000"/>
              </a:solidFill>
              <a:latin typeface="Arial"/>
            </a:endParaRPr>
          </a:p>
        </p:txBody>
      </p:sp>
      <p:sp>
        <p:nvSpPr>
          <p:cNvPr id="257" name="Text 9"/>
          <p:cNvSpPr/>
          <p:nvPr/>
        </p:nvSpPr>
        <p:spPr>
          <a:xfrm>
            <a:off x="548640" y="248724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767290"/>
                </a:solidFill>
                <a:latin typeface="Consolas"/>
                <a:ea typeface="Consolas"/>
              </a:rPr>
              <a:t>https://gartner.com/en/newsroom/press-releases/2025-06-25-gartner-predicts-over-40-percent-of-agentic-ai-projects-will-be-canceled-by-end-of-2027</a:t>
            </a:r>
            <a:endParaRPr lang="en-US" sz="750" b="0" strike="noStrike" spc="-1">
              <a:solidFill>
                <a:srgbClr val="000000"/>
              </a:solidFill>
              <a:latin typeface="Arial"/>
            </a:endParaRPr>
          </a:p>
        </p:txBody>
      </p:sp>
      <p:sp>
        <p:nvSpPr>
          <p:cNvPr id="258" name="Shape 10"/>
          <p:cNvSpPr/>
          <p:nvPr/>
        </p:nvSpPr>
        <p:spPr>
          <a:xfrm>
            <a:off x="457200" y="2715840"/>
            <a:ext cx="1279800" cy="237240"/>
          </a:xfrm>
          <a:prstGeom prst="roundRect">
            <a:avLst>
              <a:gd name="adj" fmla="val 23077"/>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59" name="Text 11"/>
          <p:cNvSpPr/>
          <p:nvPr/>
        </p:nvSpPr>
        <p:spPr>
          <a:xfrm>
            <a:off x="457200" y="2715840"/>
            <a:ext cx="1279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strike="noStrike" spc="97">
                <a:solidFill>
                  <a:srgbClr val="0F6E56"/>
                </a:solidFill>
                <a:latin typeface="Calibri"/>
                <a:ea typeface="Calibri"/>
              </a:rPr>
              <a:t>McKINSEY</a:t>
            </a:r>
            <a:endParaRPr lang="en-US" sz="850" b="0" strike="noStrike" spc="-1">
              <a:solidFill>
                <a:srgbClr val="000000"/>
              </a:solidFill>
              <a:latin typeface="Arial"/>
            </a:endParaRPr>
          </a:p>
        </p:txBody>
      </p:sp>
      <p:sp>
        <p:nvSpPr>
          <p:cNvPr id="260" name="Text 12"/>
          <p:cNvSpPr/>
          <p:nvPr/>
        </p:nvSpPr>
        <p:spPr>
          <a:xfrm>
            <a:off x="548640" y="300852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26215C"/>
                </a:solidFill>
                <a:latin typeface="Calibri"/>
                <a:ea typeface="Calibri"/>
              </a:rPr>
              <a:t>62% experimenting / 23% scaling; 3x more likely to redesign workflows</a:t>
            </a:r>
            <a:endParaRPr lang="en-US" sz="900" b="0" strike="noStrike" spc="-1">
              <a:solidFill>
                <a:srgbClr val="000000"/>
              </a:solidFill>
              <a:latin typeface="Arial"/>
            </a:endParaRPr>
          </a:p>
        </p:txBody>
      </p:sp>
      <p:sp>
        <p:nvSpPr>
          <p:cNvPr id="261" name="Text 13"/>
          <p:cNvSpPr/>
          <p:nvPr/>
        </p:nvSpPr>
        <p:spPr>
          <a:xfrm>
            <a:off x="548640" y="318204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767290"/>
                </a:solidFill>
                <a:latin typeface="Consolas"/>
                <a:ea typeface="Consolas"/>
              </a:rPr>
              <a:t>https://mckinsey.com/capabilities/quantumblack/our-insights/the-state-of-ai</a:t>
            </a:r>
            <a:endParaRPr lang="en-US" sz="750" b="0" strike="noStrike" spc="-1">
              <a:solidFill>
                <a:srgbClr val="000000"/>
              </a:solidFill>
              <a:latin typeface="Arial"/>
            </a:endParaRPr>
          </a:p>
        </p:txBody>
      </p:sp>
      <p:sp>
        <p:nvSpPr>
          <p:cNvPr id="262" name="Text 14"/>
          <p:cNvSpPr/>
          <p:nvPr/>
        </p:nvSpPr>
        <p:spPr>
          <a:xfrm>
            <a:off x="548640" y="335592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26215C"/>
                </a:solidFill>
                <a:latin typeface="Calibri"/>
                <a:ea typeface="Calibri"/>
              </a:rPr>
              <a:t>$2.6–4.4 trillion estimated annual value</a:t>
            </a:r>
            <a:endParaRPr lang="en-US" sz="900" b="0" strike="noStrike" spc="-1">
              <a:solidFill>
                <a:srgbClr val="000000"/>
              </a:solidFill>
              <a:latin typeface="Arial"/>
            </a:endParaRPr>
          </a:p>
        </p:txBody>
      </p:sp>
      <p:sp>
        <p:nvSpPr>
          <p:cNvPr id="263" name="Text 15"/>
          <p:cNvSpPr/>
          <p:nvPr/>
        </p:nvSpPr>
        <p:spPr>
          <a:xfrm>
            <a:off x="548640" y="352944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767290"/>
                </a:solidFill>
                <a:latin typeface="Consolas"/>
                <a:ea typeface="Consolas"/>
              </a:rPr>
              <a:t>https://mckinsey.com/featured-insights/week-in-charts/agentic-ai-advances</a:t>
            </a:r>
            <a:endParaRPr lang="en-US" sz="750" b="0" strike="noStrike" spc="-1">
              <a:solidFill>
                <a:srgbClr val="000000"/>
              </a:solidFill>
              <a:latin typeface="Arial"/>
            </a:endParaRPr>
          </a:p>
        </p:txBody>
      </p:sp>
      <p:sp>
        <p:nvSpPr>
          <p:cNvPr id="264" name="Shape 16"/>
          <p:cNvSpPr/>
          <p:nvPr/>
        </p:nvSpPr>
        <p:spPr>
          <a:xfrm>
            <a:off x="457200" y="3758040"/>
            <a:ext cx="1279800" cy="237240"/>
          </a:xfrm>
          <a:prstGeom prst="roundRect">
            <a:avLst>
              <a:gd name="adj" fmla="val 23077"/>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65" name="Text 17"/>
          <p:cNvSpPr/>
          <p:nvPr/>
        </p:nvSpPr>
        <p:spPr>
          <a:xfrm>
            <a:off x="457200" y="3758040"/>
            <a:ext cx="1279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strike="noStrike" spc="97">
                <a:solidFill>
                  <a:srgbClr val="854F0B"/>
                </a:solidFill>
                <a:latin typeface="Calibri"/>
                <a:ea typeface="Calibri"/>
              </a:rPr>
              <a:t>FORRESTER</a:t>
            </a:r>
            <a:endParaRPr lang="en-US" sz="850" b="0" strike="noStrike" spc="-1">
              <a:solidFill>
                <a:srgbClr val="000000"/>
              </a:solidFill>
              <a:latin typeface="Arial"/>
            </a:endParaRPr>
          </a:p>
        </p:txBody>
      </p:sp>
      <p:sp>
        <p:nvSpPr>
          <p:cNvPr id="266" name="Text 18"/>
          <p:cNvSpPr/>
          <p:nvPr/>
        </p:nvSpPr>
        <p:spPr>
          <a:xfrm>
            <a:off x="548640" y="405072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26215C"/>
                </a:solidFill>
                <a:latin typeface="Calibri"/>
                <a:ea typeface="Calibri"/>
              </a:rPr>
              <a:t>“Behaves like a distributed system”; 50%+ report agentic sprawl</a:t>
            </a:r>
            <a:endParaRPr lang="en-US" sz="900" b="0" strike="noStrike" spc="-1">
              <a:solidFill>
                <a:srgbClr val="000000"/>
              </a:solidFill>
              <a:latin typeface="Arial"/>
            </a:endParaRPr>
          </a:p>
        </p:txBody>
      </p:sp>
      <p:sp>
        <p:nvSpPr>
          <p:cNvPr id="267" name="Text 19"/>
          <p:cNvSpPr/>
          <p:nvPr/>
        </p:nvSpPr>
        <p:spPr>
          <a:xfrm>
            <a:off x="548640" y="422460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767290"/>
                </a:solidFill>
                <a:latin typeface="Consolas"/>
                <a:ea typeface="Consolas"/>
              </a:rPr>
              <a:t>https://forrester.com/blogs/the-state-of-agentic-ai-in-2026-companies-are-chasing-few-are-catching</a:t>
            </a:r>
            <a:endParaRPr lang="en-US" sz="750" b="0" strike="noStrike" spc="-1">
              <a:solidFill>
                <a:srgbClr val="000000"/>
              </a:solidFill>
              <a:latin typeface="Arial"/>
            </a:endParaRPr>
          </a:p>
        </p:txBody>
      </p:sp>
      <p:sp>
        <p:nvSpPr>
          <p:cNvPr id="268" name="Text 20"/>
          <p:cNvSpPr/>
          <p:nvPr/>
        </p:nvSpPr>
        <p:spPr>
          <a:xfrm>
            <a:off x="548640" y="439812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26215C"/>
                </a:solidFill>
                <a:latin typeface="Calibri"/>
                <a:ea typeface="Calibri"/>
              </a:rPr>
              <a:t>30–40% vs. &lt;10% — coding gains vs. full SDLC redesign</a:t>
            </a:r>
            <a:endParaRPr lang="en-US" sz="900" b="0" strike="noStrike" spc="-1">
              <a:solidFill>
                <a:srgbClr val="000000"/>
              </a:solidFill>
              <a:latin typeface="Arial"/>
            </a:endParaRPr>
          </a:p>
        </p:txBody>
      </p:sp>
      <p:sp>
        <p:nvSpPr>
          <p:cNvPr id="269" name="Text 21"/>
          <p:cNvSpPr/>
          <p:nvPr/>
        </p:nvSpPr>
        <p:spPr>
          <a:xfrm>
            <a:off x="548640" y="4572000"/>
            <a:ext cx="8046360" cy="1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767290"/>
                </a:solidFill>
                <a:latin typeface="Consolas"/>
                <a:ea typeface="Consolas"/>
              </a:rPr>
              <a:t>https://forrester.com/blogs/agentic-software-development-takes-the-lead-from-code-assistants-to-orchestrated-sdlc-agents</a:t>
            </a:r>
            <a:endParaRPr lang="en-US" sz="750" b="0" strike="noStrike" spc="-1">
              <a:solidFill>
                <a:srgbClr val="000000"/>
              </a:solidFill>
              <a:latin typeface="Arial"/>
            </a:endParaRPr>
          </a:p>
        </p:txBody>
      </p:sp>
      <p:sp>
        <p:nvSpPr>
          <p:cNvPr id="270" name="Text 22"/>
          <p:cNvSpPr/>
          <p:nvPr/>
        </p:nvSpPr>
        <p:spPr>
          <a:xfrm>
            <a:off x="457200" y="4800600"/>
            <a:ext cx="82292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0" i="1" strike="noStrike" spc="-1">
                <a:solidFill>
                  <a:srgbClr val="767290"/>
                </a:solidFill>
                <a:latin typeface="Calibri"/>
                <a:ea typeface="Calibri"/>
              </a:rPr>
              <a:t>Listed as plain text for manual copy/typing — not active hyperlinks on this slide.</a:t>
            </a:r>
            <a:endParaRPr lang="en-US" sz="85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1"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INDUSTRY RESEARCH · WHY MIGRATE FROM CHATBOTS</a:t>
            </a:r>
            <a:endParaRPr lang="en-US" sz="1200" b="0" strike="noStrike" spc="-1">
              <a:solidFill>
                <a:srgbClr val="000000"/>
              </a:solidFill>
              <a:latin typeface="Arial"/>
            </a:endParaRPr>
          </a:p>
        </p:txBody>
      </p:sp>
      <p:sp>
        <p:nvSpPr>
          <p:cNvPr id="272"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What IT research and banking press are saying</a:t>
            </a:r>
            <a:endParaRPr lang="en-US" sz="2800" b="0" strike="noStrike" spc="-1">
              <a:solidFill>
                <a:srgbClr val="000000"/>
              </a:solidFill>
              <a:latin typeface="Arial"/>
            </a:endParaRPr>
          </a:p>
        </p:txBody>
      </p:sp>
      <p:sp>
        <p:nvSpPr>
          <p:cNvPr id="273" name="Shape 2"/>
          <p:cNvSpPr/>
          <p:nvPr/>
        </p:nvSpPr>
        <p:spPr>
          <a:xfrm>
            <a:off x="457200" y="1325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4" name="Shape 3"/>
          <p:cNvSpPr/>
          <p:nvPr/>
        </p:nvSpPr>
        <p:spPr>
          <a:xfrm>
            <a:off x="457200" y="1325880"/>
            <a:ext cx="2605680" cy="219240"/>
          </a:xfrm>
          <a:prstGeom prst="roundRect">
            <a:avLst>
              <a:gd name="adj" fmla="val 29167"/>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5" name="Text 4"/>
          <p:cNvSpPr/>
          <p:nvPr/>
        </p:nvSpPr>
        <p:spPr>
          <a:xfrm>
            <a:off x="530280" y="1325880"/>
            <a:ext cx="24595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1" strike="noStrike" spc="49">
                <a:solidFill>
                  <a:srgbClr val="26215C"/>
                </a:solidFill>
                <a:latin typeface="Calibri"/>
                <a:ea typeface="Calibri"/>
              </a:rPr>
              <a:t>DELOITTE</a:t>
            </a:r>
            <a:endParaRPr lang="en-US" sz="750" b="0" strike="noStrike" spc="-1">
              <a:solidFill>
                <a:srgbClr val="000000"/>
              </a:solidFill>
              <a:latin typeface="Arial"/>
            </a:endParaRPr>
          </a:p>
        </p:txBody>
      </p:sp>
      <p:sp>
        <p:nvSpPr>
          <p:cNvPr id="276" name="Text 5"/>
          <p:cNvSpPr/>
          <p:nvPr/>
        </p:nvSpPr>
        <p:spPr>
          <a:xfrm>
            <a:off x="548640" y="1581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Only 1 in 5 have mature governance</a:t>
            </a:r>
            <a:endParaRPr lang="en-US" sz="950" b="0" strike="noStrike" spc="-1">
              <a:solidFill>
                <a:srgbClr val="000000"/>
              </a:solidFill>
              <a:latin typeface="Arial"/>
            </a:endParaRPr>
          </a:p>
        </p:txBody>
      </p:sp>
      <p:sp>
        <p:nvSpPr>
          <p:cNvPr id="277" name="Text 6"/>
          <p:cNvSpPr/>
          <p:nvPr/>
        </p:nvSpPr>
        <p:spPr>
          <a:xfrm>
            <a:off x="548640" y="1856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Agentic AI usage set to rise sharply in 2 years, but oversight is lagging</a:t>
            </a:r>
            <a:endParaRPr lang="en-US" sz="700" b="0" strike="noStrike" spc="-1">
              <a:solidFill>
                <a:srgbClr val="000000"/>
              </a:solidFill>
              <a:latin typeface="Arial"/>
            </a:endParaRPr>
          </a:p>
        </p:txBody>
      </p:sp>
      <p:sp>
        <p:nvSpPr>
          <p:cNvPr id="278" name="Text 7">
            <a:hlinkClick r:id="rId3"/>
          </p:cNvPr>
          <p:cNvSpPr/>
          <p:nvPr/>
        </p:nvSpPr>
        <p:spPr>
          <a:xfrm>
            <a:off x="548640" y="2176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26215C"/>
                </a:solidFill>
                <a:uFillTx/>
                <a:latin typeface="Calibri"/>
                <a:ea typeface="Calibri"/>
                <a:hlinkClick r:id="rId3"/>
              </a:rPr>
              <a:t>deloitte.com  →</a:t>
            </a:r>
            <a:endParaRPr lang="en-US" sz="800" b="0" strike="noStrike" spc="-1">
              <a:solidFill>
                <a:srgbClr val="000000"/>
              </a:solidFill>
              <a:latin typeface="Arial"/>
            </a:endParaRPr>
          </a:p>
        </p:txBody>
      </p:sp>
      <p:sp>
        <p:nvSpPr>
          <p:cNvPr id="279" name="Shape 8"/>
          <p:cNvSpPr/>
          <p:nvPr/>
        </p:nvSpPr>
        <p:spPr>
          <a:xfrm>
            <a:off x="3182040" y="1325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0" name="Shape 9"/>
          <p:cNvSpPr/>
          <p:nvPr/>
        </p:nvSpPr>
        <p:spPr>
          <a:xfrm>
            <a:off x="3182040" y="1325880"/>
            <a:ext cx="2605680" cy="219240"/>
          </a:xfrm>
          <a:prstGeom prst="roundRect">
            <a:avLst>
              <a:gd name="adj" fmla="val 29167"/>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1" name="Text 10"/>
          <p:cNvSpPr/>
          <p:nvPr/>
        </p:nvSpPr>
        <p:spPr>
          <a:xfrm>
            <a:off x="3255120" y="1325880"/>
            <a:ext cx="24595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1" strike="noStrike" spc="49">
                <a:solidFill>
                  <a:srgbClr val="26215C"/>
                </a:solidFill>
                <a:latin typeface="Calibri"/>
                <a:ea typeface="Calibri"/>
              </a:rPr>
              <a:t>DELOITTE</a:t>
            </a:r>
            <a:endParaRPr lang="en-US" sz="750" b="0" strike="noStrike" spc="-1">
              <a:solidFill>
                <a:srgbClr val="000000"/>
              </a:solidFill>
              <a:latin typeface="Arial"/>
            </a:endParaRPr>
          </a:p>
        </p:txBody>
      </p:sp>
      <p:sp>
        <p:nvSpPr>
          <p:cNvPr id="282" name="Text 11"/>
          <p:cNvSpPr/>
          <p:nvPr/>
        </p:nvSpPr>
        <p:spPr>
          <a:xfrm>
            <a:off x="3273480" y="1581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350+ distinct agentic risks</a:t>
            </a:r>
            <a:endParaRPr lang="en-US" sz="950" b="0" strike="noStrike" spc="-1">
              <a:solidFill>
                <a:srgbClr val="000000"/>
              </a:solidFill>
              <a:latin typeface="Arial"/>
            </a:endParaRPr>
          </a:p>
        </p:txBody>
      </p:sp>
      <p:sp>
        <p:nvSpPr>
          <p:cNvPr id="283" name="Text 12"/>
          <p:cNvSpPr/>
          <p:nvPr/>
        </p:nvSpPr>
        <p:spPr>
          <a:xfrm>
            <a:off x="3273480" y="1856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identified from autonomous behavior — existing frameworks may not fully cover them</a:t>
            </a:r>
            <a:endParaRPr lang="en-US" sz="700" b="0" strike="noStrike" spc="-1">
              <a:solidFill>
                <a:srgbClr val="000000"/>
              </a:solidFill>
              <a:latin typeface="Arial"/>
            </a:endParaRPr>
          </a:p>
        </p:txBody>
      </p:sp>
      <p:sp>
        <p:nvSpPr>
          <p:cNvPr id="284" name="Text 13">
            <a:hlinkClick r:id="rId4"/>
          </p:cNvPr>
          <p:cNvSpPr/>
          <p:nvPr/>
        </p:nvSpPr>
        <p:spPr>
          <a:xfrm>
            <a:off x="3273480" y="2176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26215C"/>
                </a:solidFill>
                <a:uFillTx/>
                <a:latin typeface="Calibri"/>
                <a:ea typeface="Calibri"/>
                <a:hlinkClick r:id="rId4"/>
              </a:rPr>
              <a:t>deloitte.com  →</a:t>
            </a:r>
            <a:endParaRPr lang="en-US" sz="800" b="0" strike="noStrike" spc="-1">
              <a:solidFill>
                <a:srgbClr val="000000"/>
              </a:solidFill>
              <a:latin typeface="Arial"/>
            </a:endParaRPr>
          </a:p>
        </p:txBody>
      </p:sp>
      <p:sp>
        <p:nvSpPr>
          <p:cNvPr id="285" name="Shape 14"/>
          <p:cNvSpPr/>
          <p:nvPr/>
        </p:nvSpPr>
        <p:spPr>
          <a:xfrm>
            <a:off x="5906880" y="1325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6" name="Shape 15"/>
          <p:cNvSpPr/>
          <p:nvPr/>
        </p:nvSpPr>
        <p:spPr>
          <a:xfrm>
            <a:off x="5906880" y="1325880"/>
            <a:ext cx="2605680" cy="219240"/>
          </a:xfrm>
          <a:prstGeom prst="roundRect">
            <a:avLst>
              <a:gd name="adj" fmla="val 29167"/>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7" name="Text 16"/>
          <p:cNvSpPr/>
          <p:nvPr/>
        </p:nvSpPr>
        <p:spPr>
          <a:xfrm>
            <a:off x="5980320" y="1325880"/>
            <a:ext cx="24595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1" strike="noStrike" spc="49">
                <a:solidFill>
                  <a:srgbClr val="26215C"/>
                </a:solidFill>
                <a:latin typeface="Calibri"/>
                <a:ea typeface="Calibri"/>
              </a:rPr>
              <a:t>DELOITTE</a:t>
            </a:r>
            <a:endParaRPr lang="en-US" sz="750" b="0" strike="noStrike" spc="-1">
              <a:solidFill>
                <a:srgbClr val="000000"/>
              </a:solidFill>
              <a:latin typeface="Arial"/>
            </a:endParaRPr>
          </a:p>
        </p:txBody>
      </p:sp>
      <p:sp>
        <p:nvSpPr>
          <p:cNvPr id="288" name="Text 17"/>
          <p:cNvSpPr/>
          <p:nvPr/>
        </p:nvSpPr>
        <p:spPr>
          <a:xfrm>
            <a:off x="5998320" y="1581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“AI agents are the next big leap”</a:t>
            </a:r>
            <a:endParaRPr lang="en-US" sz="950" b="0" strike="noStrike" spc="-1">
              <a:solidFill>
                <a:srgbClr val="000000"/>
              </a:solidFill>
              <a:latin typeface="Arial"/>
            </a:endParaRPr>
          </a:p>
        </p:txBody>
      </p:sp>
      <p:sp>
        <p:nvSpPr>
          <p:cNvPr id="289" name="Text 18"/>
          <p:cNvSpPr/>
          <p:nvPr/>
        </p:nvSpPr>
        <p:spPr>
          <a:xfrm>
            <a:off x="5998320" y="1856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but banks need more than just tech to make them work</a:t>
            </a:r>
            <a:endParaRPr lang="en-US" sz="700" b="0" strike="noStrike" spc="-1">
              <a:solidFill>
                <a:srgbClr val="000000"/>
              </a:solidFill>
              <a:latin typeface="Arial"/>
            </a:endParaRPr>
          </a:p>
        </p:txBody>
      </p:sp>
      <p:sp>
        <p:nvSpPr>
          <p:cNvPr id="290" name="Text 19">
            <a:hlinkClick r:id="rId5"/>
          </p:cNvPr>
          <p:cNvSpPr/>
          <p:nvPr/>
        </p:nvSpPr>
        <p:spPr>
          <a:xfrm>
            <a:off x="5998320" y="2176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26215C"/>
                </a:solidFill>
                <a:uFillTx/>
                <a:latin typeface="Calibri"/>
                <a:ea typeface="Calibri"/>
                <a:hlinkClick r:id="rId5"/>
              </a:rPr>
              <a:t>deloitte.com  →</a:t>
            </a:r>
            <a:endParaRPr lang="en-US" sz="800" b="0" strike="noStrike" spc="-1">
              <a:solidFill>
                <a:srgbClr val="000000"/>
              </a:solidFill>
              <a:latin typeface="Arial"/>
            </a:endParaRPr>
          </a:p>
        </p:txBody>
      </p:sp>
      <p:sp>
        <p:nvSpPr>
          <p:cNvPr id="291" name="Shape 20"/>
          <p:cNvSpPr/>
          <p:nvPr/>
        </p:nvSpPr>
        <p:spPr>
          <a:xfrm>
            <a:off x="457200" y="2468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2" name="Shape 21"/>
          <p:cNvSpPr/>
          <p:nvPr/>
        </p:nvSpPr>
        <p:spPr>
          <a:xfrm>
            <a:off x="457200" y="2468880"/>
            <a:ext cx="2605680" cy="219240"/>
          </a:xfrm>
          <a:prstGeom prst="roundRect">
            <a:avLst>
              <a:gd name="adj" fmla="val 29167"/>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3" name="Text 22"/>
          <p:cNvSpPr/>
          <p:nvPr/>
        </p:nvSpPr>
        <p:spPr>
          <a:xfrm>
            <a:off x="530280" y="2468880"/>
            <a:ext cx="24595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1" strike="noStrike" spc="49">
                <a:solidFill>
                  <a:srgbClr val="0F6E56"/>
                </a:solidFill>
                <a:latin typeface="Calibri"/>
                <a:ea typeface="Calibri"/>
              </a:rPr>
              <a:t>ACCENTURE</a:t>
            </a:r>
            <a:endParaRPr lang="en-US" sz="750" b="0" strike="noStrike" spc="-1">
              <a:solidFill>
                <a:srgbClr val="000000"/>
              </a:solidFill>
              <a:latin typeface="Arial"/>
            </a:endParaRPr>
          </a:p>
        </p:txBody>
      </p:sp>
      <p:sp>
        <p:nvSpPr>
          <p:cNvPr id="294" name="Text 23"/>
          <p:cNvSpPr/>
          <p:nvPr/>
        </p:nvSpPr>
        <p:spPr>
          <a:xfrm>
            <a:off x="548640" y="2724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57% expect full embedding in 3 yrs</a:t>
            </a:r>
            <a:endParaRPr lang="en-US" sz="950" b="0" strike="noStrike" spc="-1">
              <a:solidFill>
                <a:srgbClr val="000000"/>
              </a:solidFill>
              <a:latin typeface="Arial"/>
            </a:endParaRPr>
          </a:p>
        </p:txBody>
      </p:sp>
      <p:sp>
        <p:nvSpPr>
          <p:cNvPr id="295" name="Text 24"/>
          <p:cNvSpPr/>
          <p:nvPr/>
        </p:nvSpPr>
        <p:spPr>
          <a:xfrm>
            <a:off x="548640" y="2999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of AI agents in risk, compliance, audit, fraud detection — Top Banking Trends 2026</a:t>
            </a:r>
            <a:endParaRPr lang="en-US" sz="700" b="0" strike="noStrike" spc="-1">
              <a:solidFill>
                <a:srgbClr val="000000"/>
              </a:solidFill>
              <a:latin typeface="Arial"/>
            </a:endParaRPr>
          </a:p>
        </p:txBody>
      </p:sp>
      <p:sp>
        <p:nvSpPr>
          <p:cNvPr id="296" name="Text 25">
            <a:hlinkClick r:id="rId6"/>
          </p:cNvPr>
          <p:cNvSpPr/>
          <p:nvPr/>
        </p:nvSpPr>
        <p:spPr>
          <a:xfrm>
            <a:off x="548640" y="3319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0F6E56"/>
                </a:solidFill>
                <a:uFillTx/>
                <a:latin typeface="Calibri"/>
                <a:ea typeface="Calibri"/>
                <a:hlinkClick r:id="rId6"/>
              </a:rPr>
              <a:t>ciodive.com  →</a:t>
            </a:r>
            <a:endParaRPr lang="en-US" sz="800" b="0" strike="noStrike" spc="-1">
              <a:solidFill>
                <a:srgbClr val="000000"/>
              </a:solidFill>
              <a:latin typeface="Arial"/>
            </a:endParaRPr>
          </a:p>
        </p:txBody>
      </p:sp>
      <p:sp>
        <p:nvSpPr>
          <p:cNvPr id="297" name="Shape 26"/>
          <p:cNvSpPr/>
          <p:nvPr/>
        </p:nvSpPr>
        <p:spPr>
          <a:xfrm>
            <a:off x="3182040" y="2468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8" name="Shape 27"/>
          <p:cNvSpPr/>
          <p:nvPr/>
        </p:nvSpPr>
        <p:spPr>
          <a:xfrm>
            <a:off x="3182040" y="2468880"/>
            <a:ext cx="2605680" cy="219240"/>
          </a:xfrm>
          <a:prstGeom prst="roundRect">
            <a:avLst>
              <a:gd name="adj" fmla="val 29167"/>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9" name="Text 28"/>
          <p:cNvSpPr/>
          <p:nvPr/>
        </p:nvSpPr>
        <p:spPr>
          <a:xfrm>
            <a:off x="3255120" y="2468880"/>
            <a:ext cx="24595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1" strike="noStrike" spc="49">
                <a:solidFill>
                  <a:srgbClr val="854F0B"/>
                </a:solidFill>
                <a:latin typeface="Calibri"/>
                <a:ea typeface="Calibri"/>
              </a:rPr>
              <a:t>AMERICAN BANKER</a:t>
            </a:r>
            <a:endParaRPr lang="en-US" sz="750" b="0" strike="noStrike" spc="-1">
              <a:solidFill>
                <a:srgbClr val="000000"/>
              </a:solidFill>
              <a:latin typeface="Arial"/>
            </a:endParaRPr>
          </a:p>
        </p:txBody>
      </p:sp>
      <p:sp>
        <p:nvSpPr>
          <p:cNvPr id="300" name="Text 29"/>
          <p:cNvSpPr/>
          <p:nvPr/>
        </p:nvSpPr>
        <p:spPr>
          <a:xfrm>
            <a:off x="3273480" y="2724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“Not just a smarter bot”</a:t>
            </a:r>
            <a:endParaRPr lang="en-US" sz="950" b="0" strike="noStrike" spc="-1">
              <a:solidFill>
                <a:srgbClr val="000000"/>
              </a:solidFill>
              <a:latin typeface="Arial"/>
            </a:endParaRPr>
          </a:p>
        </p:txBody>
      </p:sp>
      <p:sp>
        <p:nvSpPr>
          <p:cNvPr id="301" name="Text 30"/>
          <p:cNvSpPr/>
          <p:nvPr/>
        </p:nvSpPr>
        <p:spPr>
          <a:xfrm>
            <a:off x="3273480" y="2999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agentic AI takes chatbot complexity to the next level for CX</a:t>
            </a:r>
            <a:endParaRPr lang="en-US" sz="700" b="0" strike="noStrike" spc="-1">
              <a:solidFill>
                <a:srgbClr val="000000"/>
              </a:solidFill>
              <a:latin typeface="Arial"/>
            </a:endParaRPr>
          </a:p>
        </p:txBody>
      </p:sp>
      <p:sp>
        <p:nvSpPr>
          <p:cNvPr id="302" name="Text 31">
            <a:hlinkClick r:id="rId7"/>
          </p:cNvPr>
          <p:cNvSpPr/>
          <p:nvPr/>
        </p:nvSpPr>
        <p:spPr>
          <a:xfrm>
            <a:off x="3273480" y="3319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854F0B"/>
                </a:solidFill>
                <a:uFillTx/>
                <a:latin typeface="Calibri"/>
                <a:ea typeface="Calibri"/>
                <a:hlinkClick r:id="rId7"/>
              </a:rPr>
              <a:t>americanbanker.com  →</a:t>
            </a:r>
            <a:endParaRPr lang="en-US" sz="800" b="0" strike="noStrike" spc="-1">
              <a:solidFill>
                <a:srgbClr val="000000"/>
              </a:solidFill>
              <a:latin typeface="Arial"/>
            </a:endParaRPr>
          </a:p>
        </p:txBody>
      </p:sp>
      <p:sp>
        <p:nvSpPr>
          <p:cNvPr id="303" name="Shape 32"/>
          <p:cNvSpPr/>
          <p:nvPr/>
        </p:nvSpPr>
        <p:spPr>
          <a:xfrm>
            <a:off x="5906880" y="2468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4" name="Shape 33"/>
          <p:cNvSpPr/>
          <p:nvPr/>
        </p:nvSpPr>
        <p:spPr>
          <a:xfrm>
            <a:off x="5906880" y="2468880"/>
            <a:ext cx="2605680" cy="219240"/>
          </a:xfrm>
          <a:prstGeom prst="roundRect">
            <a:avLst>
              <a:gd name="adj" fmla="val 29167"/>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5" name="Text 34"/>
          <p:cNvSpPr/>
          <p:nvPr/>
        </p:nvSpPr>
        <p:spPr>
          <a:xfrm>
            <a:off x="5980320" y="2468880"/>
            <a:ext cx="24595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1" strike="noStrike" spc="49">
                <a:solidFill>
                  <a:srgbClr val="854F0B"/>
                </a:solidFill>
                <a:latin typeface="Calibri"/>
                <a:ea typeface="Calibri"/>
              </a:rPr>
              <a:t>AMERICAN BANKER</a:t>
            </a:r>
            <a:endParaRPr lang="en-US" sz="750" b="0" strike="noStrike" spc="-1">
              <a:solidFill>
                <a:srgbClr val="000000"/>
              </a:solidFill>
              <a:latin typeface="Arial"/>
            </a:endParaRPr>
          </a:p>
        </p:txBody>
      </p:sp>
      <p:sp>
        <p:nvSpPr>
          <p:cNvPr id="306" name="Text 35"/>
          <p:cNvSpPr/>
          <p:nvPr/>
        </p:nvSpPr>
        <p:spPr>
          <a:xfrm>
            <a:off x="5998320" y="2724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“Banks aren't ready”</a:t>
            </a:r>
            <a:endParaRPr lang="en-US" sz="950" b="0" strike="noStrike" spc="-1">
              <a:solidFill>
                <a:srgbClr val="000000"/>
              </a:solidFill>
              <a:latin typeface="Arial"/>
            </a:endParaRPr>
          </a:p>
        </p:txBody>
      </p:sp>
      <p:sp>
        <p:nvSpPr>
          <p:cNvPr id="307" name="Text 36"/>
          <p:cNvSpPr/>
          <p:nvPr/>
        </p:nvSpPr>
        <p:spPr>
          <a:xfrm>
            <a:off x="5998320" y="2999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fraud/identity defenses were built for humans, not agents acting with credentials</a:t>
            </a:r>
            <a:endParaRPr lang="en-US" sz="700" b="0" strike="noStrike" spc="-1">
              <a:solidFill>
                <a:srgbClr val="000000"/>
              </a:solidFill>
              <a:latin typeface="Arial"/>
            </a:endParaRPr>
          </a:p>
        </p:txBody>
      </p:sp>
      <p:sp>
        <p:nvSpPr>
          <p:cNvPr id="308" name="Text 37">
            <a:hlinkClick r:id="rId8"/>
          </p:cNvPr>
          <p:cNvSpPr/>
          <p:nvPr/>
        </p:nvSpPr>
        <p:spPr>
          <a:xfrm>
            <a:off x="5998320" y="3319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854F0B"/>
                </a:solidFill>
                <a:uFillTx/>
                <a:latin typeface="Calibri"/>
                <a:ea typeface="Calibri"/>
                <a:hlinkClick r:id="rId8"/>
              </a:rPr>
              <a:t>americanbanker.com  →</a:t>
            </a:r>
            <a:endParaRPr lang="en-US" sz="800" b="0" strike="noStrike" spc="-1">
              <a:solidFill>
                <a:srgbClr val="000000"/>
              </a:solidFill>
              <a:latin typeface="Arial"/>
            </a:endParaRPr>
          </a:p>
        </p:txBody>
      </p:sp>
      <p:sp>
        <p:nvSpPr>
          <p:cNvPr id="309" name="Shape 38"/>
          <p:cNvSpPr/>
          <p:nvPr/>
        </p:nvSpPr>
        <p:spPr>
          <a:xfrm>
            <a:off x="457200" y="3611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0" name="Shape 39"/>
          <p:cNvSpPr/>
          <p:nvPr/>
        </p:nvSpPr>
        <p:spPr>
          <a:xfrm>
            <a:off x="457200" y="3611880"/>
            <a:ext cx="2605680" cy="219240"/>
          </a:xfrm>
          <a:prstGeom prst="roundRect">
            <a:avLst>
              <a:gd name="adj" fmla="val 29167"/>
            </a:avLst>
          </a:prstGeom>
          <a:solidFill>
            <a:srgbClr val="FAEC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1" name="Text 40"/>
          <p:cNvSpPr/>
          <p:nvPr/>
        </p:nvSpPr>
        <p:spPr>
          <a:xfrm>
            <a:off x="530280" y="3611880"/>
            <a:ext cx="24595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1" strike="noStrike" spc="49">
                <a:solidFill>
                  <a:srgbClr val="D85A30"/>
                </a:solidFill>
                <a:latin typeface="Calibri"/>
                <a:ea typeface="Calibri"/>
              </a:rPr>
              <a:t>BANKING DIVE</a:t>
            </a:r>
            <a:endParaRPr lang="en-US" sz="750" b="0" strike="noStrike" spc="-1">
              <a:solidFill>
                <a:srgbClr val="000000"/>
              </a:solidFill>
              <a:latin typeface="Arial"/>
            </a:endParaRPr>
          </a:p>
        </p:txBody>
      </p:sp>
      <p:sp>
        <p:nvSpPr>
          <p:cNvPr id="312" name="Text 41"/>
          <p:cNvSpPr/>
          <p:nvPr/>
        </p:nvSpPr>
        <p:spPr>
          <a:xfrm>
            <a:off x="548640" y="3867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“Zero-friction” expectation</a:t>
            </a:r>
            <a:endParaRPr lang="en-US" sz="950" b="0" strike="noStrike" spc="-1">
              <a:solidFill>
                <a:srgbClr val="000000"/>
              </a:solidFill>
              <a:latin typeface="Arial"/>
            </a:endParaRPr>
          </a:p>
        </p:txBody>
      </p:sp>
      <p:sp>
        <p:nvSpPr>
          <p:cNvPr id="313" name="Text 42"/>
          <p:cNvSpPr/>
          <p:nvPr/>
        </p:nvSpPr>
        <p:spPr>
          <a:xfrm>
            <a:off x="548640" y="4142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U.S. Bank: “do it for me” has become a key customer expectation</a:t>
            </a:r>
            <a:endParaRPr lang="en-US" sz="700" b="0" strike="noStrike" spc="-1">
              <a:solidFill>
                <a:srgbClr val="000000"/>
              </a:solidFill>
              <a:latin typeface="Arial"/>
            </a:endParaRPr>
          </a:p>
        </p:txBody>
      </p:sp>
      <p:sp>
        <p:nvSpPr>
          <p:cNvPr id="314" name="Text 43">
            <a:hlinkClick r:id="rId9"/>
          </p:cNvPr>
          <p:cNvSpPr/>
          <p:nvPr/>
        </p:nvSpPr>
        <p:spPr>
          <a:xfrm>
            <a:off x="548640" y="4462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D85A30"/>
                </a:solidFill>
                <a:uFillTx/>
                <a:latin typeface="Calibri"/>
                <a:ea typeface="Calibri"/>
                <a:hlinkClick r:id="rId9"/>
              </a:rPr>
              <a:t>bankingdive.com  →</a:t>
            </a:r>
            <a:endParaRPr lang="en-US" sz="800" b="0" strike="noStrike" spc="-1">
              <a:solidFill>
                <a:srgbClr val="000000"/>
              </a:solidFill>
              <a:latin typeface="Arial"/>
            </a:endParaRPr>
          </a:p>
        </p:txBody>
      </p:sp>
      <p:sp>
        <p:nvSpPr>
          <p:cNvPr id="315" name="Shape 44"/>
          <p:cNvSpPr/>
          <p:nvPr/>
        </p:nvSpPr>
        <p:spPr>
          <a:xfrm>
            <a:off x="3182040" y="3611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6" name="Shape 45"/>
          <p:cNvSpPr/>
          <p:nvPr/>
        </p:nvSpPr>
        <p:spPr>
          <a:xfrm>
            <a:off x="3182040" y="3611880"/>
            <a:ext cx="2605680" cy="219240"/>
          </a:xfrm>
          <a:prstGeom prst="roundRect">
            <a:avLst>
              <a:gd name="adj" fmla="val 29167"/>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7" name="Text 46"/>
          <p:cNvSpPr/>
          <p:nvPr/>
        </p:nvSpPr>
        <p:spPr>
          <a:xfrm>
            <a:off x="3255120" y="3611880"/>
            <a:ext cx="24595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1" strike="noStrike" spc="49">
                <a:solidFill>
                  <a:srgbClr val="26215C"/>
                </a:solidFill>
                <a:latin typeface="Calibri"/>
                <a:ea typeface="Calibri"/>
              </a:rPr>
              <a:t>IDC</a:t>
            </a:r>
            <a:endParaRPr lang="en-US" sz="750" b="0" strike="noStrike" spc="-1">
              <a:solidFill>
                <a:srgbClr val="000000"/>
              </a:solidFill>
              <a:latin typeface="Arial"/>
            </a:endParaRPr>
          </a:p>
        </p:txBody>
      </p:sp>
      <p:sp>
        <p:nvSpPr>
          <p:cNvPr id="318" name="Text 47"/>
          <p:cNvSpPr/>
          <p:nvPr/>
        </p:nvSpPr>
        <p:spPr>
          <a:xfrm>
            <a:off x="3273480" y="3867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2.84x vs. 0.84x ROI</a:t>
            </a:r>
            <a:endParaRPr lang="en-US" sz="950" b="0" strike="noStrike" spc="-1">
              <a:solidFill>
                <a:srgbClr val="000000"/>
              </a:solidFill>
              <a:latin typeface="Arial"/>
            </a:endParaRPr>
          </a:p>
        </p:txBody>
      </p:sp>
      <p:sp>
        <p:nvSpPr>
          <p:cNvPr id="319" name="Text 48"/>
          <p:cNvSpPr/>
          <p:nvPr/>
        </p:nvSpPr>
        <p:spPr>
          <a:xfrm>
            <a:off x="3273480" y="4142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frontier AI adopters vs. laggards — return on investment gap</a:t>
            </a:r>
            <a:endParaRPr lang="en-US" sz="700" b="0" strike="noStrike" spc="-1">
              <a:solidFill>
                <a:srgbClr val="000000"/>
              </a:solidFill>
              <a:latin typeface="Arial"/>
            </a:endParaRPr>
          </a:p>
        </p:txBody>
      </p:sp>
      <p:sp>
        <p:nvSpPr>
          <p:cNvPr id="320" name="Text 49">
            <a:hlinkClick r:id="rId10"/>
          </p:cNvPr>
          <p:cNvSpPr/>
          <p:nvPr/>
        </p:nvSpPr>
        <p:spPr>
          <a:xfrm>
            <a:off x="3273480" y="4462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26215C"/>
                </a:solidFill>
                <a:uFillTx/>
                <a:latin typeface="Calibri"/>
                <a:ea typeface="Calibri"/>
                <a:hlinkClick r:id="rId10"/>
              </a:rPr>
              <a:t>neurons-lab.com  →</a:t>
            </a:r>
            <a:endParaRPr lang="en-US" sz="800" b="0" strike="noStrike" spc="-1">
              <a:solidFill>
                <a:srgbClr val="000000"/>
              </a:solidFill>
              <a:latin typeface="Arial"/>
            </a:endParaRPr>
          </a:p>
        </p:txBody>
      </p:sp>
      <p:sp>
        <p:nvSpPr>
          <p:cNvPr id="321" name="Shape 50"/>
          <p:cNvSpPr/>
          <p:nvPr/>
        </p:nvSpPr>
        <p:spPr>
          <a:xfrm>
            <a:off x="5906880" y="3611880"/>
            <a:ext cx="2605680" cy="1051200"/>
          </a:xfrm>
          <a:prstGeom prst="roundRect">
            <a:avLst>
              <a:gd name="adj" fmla="val 6087"/>
            </a:avLst>
          </a:prstGeom>
          <a:solidFill>
            <a:srgbClr val="F8F7FC"/>
          </a:solidFill>
          <a:ln w="0">
            <a:noFill/>
          </a:ln>
          <a:effectLst>
            <a:outerShdw blurRad="38160" dist="12600" dir="5400000" algn="bl" rotWithShape="0">
              <a:srgbClr val="000000">
                <a:alpha val="7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22" name="Shape 51"/>
          <p:cNvSpPr/>
          <p:nvPr/>
        </p:nvSpPr>
        <p:spPr>
          <a:xfrm>
            <a:off x="5906880" y="3611880"/>
            <a:ext cx="2605680" cy="219240"/>
          </a:xfrm>
          <a:prstGeom prst="roundRect">
            <a:avLst>
              <a:gd name="adj" fmla="val 29167"/>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23" name="Text 52"/>
          <p:cNvSpPr/>
          <p:nvPr/>
        </p:nvSpPr>
        <p:spPr>
          <a:xfrm>
            <a:off x="5980320" y="3611880"/>
            <a:ext cx="24595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1" strike="noStrike" spc="49">
                <a:solidFill>
                  <a:srgbClr val="0F6E56"/>
                </a:solidFill>
                <a:latin typeface="Calibri"/>
                <a:ea typeface="Calibri"/>
              </a:rPr>
              <a:t>CCG CATALYST</a:t>
            </a:r>
            <a:endParaRPr lang="en-US" sz="750" b="0" strike="noStrike" spc="-1">
              <a:solidFill>
                <a:srgbClr val="000000"/>
              </a:solidFill>
              <a:latin typeface="Arial"/>
            </a:endParaRPr>
          </a:p>
        </p:txBody>
      </p:sp>
      <p:sp>
        <p:nvSpPr>
          <p:cNvPr id="324" name="Text 53"/>
          <p:cNvSpPr/>
          <p:nvPr/>
        </p:nvSpPr>
        <p:spPr>
          <a:xfrm>
            <a:off x="5998320" y="386784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0000"/>
              </a:lnSpc>
              <a:tabLst>
                <a:tab pos="0" algn="l"/>
              </a:tabLst>
            </a:pPr>
            <a:r>
              <a:rPr lang="en-US" sz="950" b="1" strike="noStrike" spc="-1">
                <a:solidFill>
                  <a:srgbClr val="26215C"/>
                </a:solidFill>
                <a:latin typeface="Calibri"/>
                <a:ea typeface="Calibri"/>
              </a:rPr>
              <a:t>Most consequential shift since real-time</a:t>
            </a:r>
            <a:endParaRPr lang="en-US" sz="950" b="0" strike="noStrike" spc="-1">
              <a:solidFill>
                <a:srgbClr val="000000"/>
              </a:solidFill>
              <a:latin typeface="Arial"/>
            </a:endParaRPr>
          </a:p>
        </p:txBody>
      </p:sp>
      <p:sp>
        <p:nvSpPr>
          <p:cNvPr id="325" name="Text 54"/>
          <p:cNvSpPr/>
          <p:nvPr/>
        </p:nvSpPr>
        <p:spPr>
          <a:xfrm>
            <a:off x="5998320" y="4142160"/>
            <a:ext cx="24228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5000"/>
              </a:lnSpc>
              <a:tabLst>
                <a:tab pos="0" algn="l"/>
              </a:tabLst>
            </a:pPr>
            <a:r>
              <a:rPr lang="en-US" sz="700" b="0" i="1" strike="noStrike" spc="-1">
                <a:solidFill>
                  <a:srgbClr val="433F5C"/>
                </a:solidFill>
                <a:latin typeface="Calibri"/>
                <a:ea typeface="Calibri"/>
              </a:rPr>
              <a:t>the move from batch processing to real-time systems, per 2 decades of banking tech cycles</a:t>
            </a:r>
            <a:endParaRPr lang="en-US" sz="700" b="0" strike="noStrike" spc="-1">
              <a:solidFill>
                <a:srgbClr val="000000"/>
              </a:solidFill>
              <a:latin typeface="Arial"/>
            </a:endParaRPr>
          </a:p>
        </p:txBody>
      </p:sp>
      <p:sp>
        <p:nvSpPr>
          <p:cNvPr id="326" name="Text 55">
            <a:hlinkClick r:id="rId11"/>
          </p:cNvPr>
          <p:cNvSpPr/>
          <p:nvPr/>
        </p:nvSpPr>
        <p:spPr>
          <a:xfrm>
            <a:off x="5998320" y="446220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sng" strike="noStrike" spc="-1">
                <a:solidFill>
                  <a:srgbClr val="0F6E56"/>
                </a:solidFill>
                <a:uFillTx/>
                <a:latin typeface="Calibri"/>
                <a:ea typeface="Calibri"/>
                <a:hlinkClick r:id="rId11"/>
              </a:rPr>
              <a:t>ccgcatalyst.com  →</a:t>
            </a:r>
            <a:endParaRPr lang="en-US" sz="800" b="0" strike="noStrike" spc="-1">
              <a:solidFill>
                <a:srgbClr val="000000"/>
              </a:solidFill>
              <a:latin typeface="Arial"/>
            </a:endParaRPr>
          </a:p>
        </p:txBody>
      </p:sp>
      <p:sp>
        <p:nvSpPr>
          <p:cNvPr id="327" name="Text 56"/>
          <p:cNvSpPr/>
          <p:nvPr/>
        </p:nvSpPr>
        <p:spPr>
          <a:xfrm>
            <a:off x="457200" y="48096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0" i="1" strike="noStrike" spc="-1">
                <a:solidFill>
                  <a:srgbClr val="767290"/>
                </a:solidFill>
                <a:latin typeface="Calibri"/>
                <a:ea typeface="Calibri"/>
              </a:rPr>
              <a:t>10th source (The Digital Banker) and full URLs are spelled out on the next slide.</a:t>
            </a:r>
            <a:endParaRPr lang="en-US" sz="85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8"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INDUSTRY RESEARCH · FULL URLS</a:t>
            </a:r>
            <a:endParaRPr lang="en-US" sz="1200" b="0" strike="noStrike" spc="-1">
              <a:solidFill>
                <a:srgbClr val="000000"/>
              </a:solidFill>
              <a:latin typeface="Arial"/>
            </a:endParaRPr>
          </a:p>
        </p:txBody>
      </p:sp>
      <p:sp>
        <p:nvSpPr>
          <p:cNvPr id="329"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Full source links, spelled out</a:t>
            </a:r>
            <a:endParaRPr lang="en-US" sz="2800" b="0" strike="noStrike" spc="-1">
              <a:solidFill>
                <a:srgbClr val="000000"/>
              </a:solidFill>
              <a:latin typeface="Arial"/>
            </a:endParaRPr>
          </a:p>
        </p:txBody>
      </p:sp>
      <p:sp>
        <p:nvSpPr>
          <p:cNvPr id="330" name="Shape 2"/>
          <p:cNvSpPr/>
          <p:nvPr/>
        </p:nvSpPr>
        <p:spPr>
          <a:xfrm>
            <a:off x="457200" y="1234440"/>
            <a:ext cx="2377080" cy="182520"/>
          </a:xfrm>
          <a:prstGeom prst="roundRect">
            <a:avLst>
              <a:gd name="adj" fmla="val 25000"/>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1" name="Text 3"/>
          <p:cNvSpPr/>
          <p:nvPr/>
        </p:nvSpPr>
        <p:spPr>
          <a:xfrm>
            <a:off x="457200" y="1234440"/>
            <a:ext cx="2377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49">
                <a:solidFill>
                  <a:srgbClr val="26215C"/>
                </a:solidFill>
                <a:latin typeface="Calibri"/>
                <a:ea typeface="Calibri"/>
              </a:rPr>
              <a:t>DELOITTE</a:t>
            </a:r>
            <a:endParaRPr lang="en-US" sz="700" b="0" strike="noStrike" spc="-1">
              <a:solidFill>
                <a:srgbClr val="000000"/>
              </a:solidFill>
              <a:latin typeface="Arial"/>
            </a:endParaRPr>
          </a:p>
        </p:txBody>
      </p:sp>
      <p:sp>
        <p:nvSpPr>
          <p:cNvPr id="332" name="Text 4"/>
          <p:cNvSpPr/>
          <p:nvPr/>
        </p:nvSpPr>
        <p:spPr>
          <a:xfrm>
            <a:off x="548640" y="145404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26215C"/>
                </a:solidFill>
                <a:latin typeface="Calibri"/>
                <a:ea typeface="Calibri"/>
              </a:rPr>
              <a:t>State of AI in the Enterprise (2026)</a:t>
            </a:r>
            <a:endParaRPr lang="en-US" sz="800" b="0" strike="noStrike" spc="-1">
              <a:solidFill>
                <a:srgbClr val="000000"/>
              </a:solidFill>
              <a:latin typeface="Arial"/>
            </a:endParaRPr>
          </a:p>
        </p:txBody>
      </p:sp>
      <p:sp>
        <p:nvSpPr>
          <p:cNvPr id="333" name="Text 5"/>
          <p:cNvSpPr/>
          <p:nvPr/>
        </p:nvSpPr>
        <p:spPr>
          <a:xfrm>
            <a:off x="548640" y="160020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strike="noStrike" spc="-1">
                <a:solidFill>
                  <a:srgbClr val="767290"/>
                </a:solidFill>
                <a:latin typeface="Consolas"/>
                <a:ea typeface="Consolas"/>
              </a:rPr>
              <a:t>https://www.deloitte.com/us/en/what-we-do/capabilities/applied-artificial-intelligence/content/state-of-ai-in-the-enterprise.html</a:t>
            </a:r>
            <a:endParaRPr lang="en-US" sz="680" b="0" strike="noStrike" spc="-1">
              <a:solidFill>
                <a:srgbClr val="000000"/>
              </a:solidFill>
              <a:latin typeface="Arial"/>
            </a:endParaRPr>
          </a:p>
        </p:txBody>
      </p:sp>
      <p:sp>
        <p:nvSpPr>
          <p:cNvPr id="334" name="Text 6"/>
          <p:cNvSpPr/>
          <p:nvPr/>
        </p:nvSpPr>
        <p:spPr>
          <a:xfrm>
            <a:off x="548640" y="171900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26215C"/>
                </a:solidFill>
                <a:latin typeface="Calibri"/>
                <a:ea typeface="Calibri"/>
              </a:rPr>
              <a:t>Managing the new wave of risks from AI agents in banking</a:t>
            </a:r>
            <a:endParaRPr lang="en-US" sz="800" b="0" strike="noStrike" spc="-1">
              <a:solidFill>
                <a:srgbClr val="000000"/>
              </a:solidFill>
              <a:latin typeface="Arial"/>
            </a:endParaRPr>
          </a:p>
        </p:txBody>
      </p:sp>
      <p:sp>
        <p:nvSpPr>
          <p:cNvPr id="335" name="Text 7"/>
          <p:cNvSpPr/>
          <p:nvPr/>
        </p:nvSpPr>
        <p:spPr>
          <a:xfrm>
            <a:off x="548640" y="186552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strike="noStrike" spc="-1">
                <a:solidFill>
                  <a:srgbClr val="767290"/>
                </a:solidFill>
                <a:latin typeface="Consolas"/>
                <a:ea typeface="Consolas"/>
              </a:rPr>
              <a:t>https://www.deloitte.com/us/en/insights/industry/financial-services/agentic-ai-risks-banking.html</a:t>
            </a:r>
            <a:endParaRPr lang="en-US" sz="680" b="0" strike="noStrike" spc="-1">
              <a:solidFill>
                <a:srgbClr val="000000"/>
              </a:solidFill>
              <a:latin typeface="Arial"/>
            </a:endParaRPr>
          </a:p>
        </p:txBody>
      </p:sp>
      <p:sp>
        <p:nvSpPr>
          <p:cNvPr id="336" name="Text 8"/>
          <p:cNvSpPr/>
          <p:nvPr/>
        </p:nvSpPr>
        <p:spPr>
          <a:xfrm>
            <a:off x="548640" y="198432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26215C"/>
                </a:solidFill>
                <a:latin typeface="Calibri"/>
                <a:ea typeface="Calibri"/>
              </a:rPr>
              <a:t>How banks can supercharge intelligent automation with agentic AI</a:t>
            </a:r>
            <a:endParaRPr lang="en-US" sz="800" b="0" strike="noStrike" spc="-1">
              <a:solidFill>
                <a:srgbClr val="000000"/>
              </a:solidFill>
              <a:latin typeface="Arial"/>
            </a:endParaRPr>
          </a:p>
        </p:txBody>
      </p:sp>
      <p:sp>
        <p:nvSpPr>
          <p:cNvPr id="337" name="Text 9"/>
          <p:cNvSpPr/>
          <p:nvPr/>
        </p:nvSpPr>
        <p:spPr>
          <a:xfrm>
            <a:off x="548640" y="213048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strike="noStrike" spc="-1">
                <a:solidFill>
                  <a:srgbClr val="767290"/>
                </a:solidFill>
                <a:latin typeface="Consolas"/>
                <a:ea typeface="Consolas"/>
              </a:rPr>
              <a:t>https://www.deloitte.com/us/en/insights/industry/financial-services/agentic-ai-banking.html</a:t>
            </a:r>
            <a:endParaRPr lang="en-US" sz="680" b="0" strike="noStrike" spc="-1">
              <a:solidFill>
                <a:srgbClr val="000000"/>
              </a:solidFill>
              <a:latin typeface="Arial"/>
            </a:endParaRPr>
          </a:p>
        </p:txBody>
      </p:sp>
      <p:sp>
        <p:nvSpPr>
          <p:cNvPr id="338" name="Shape 10"/>
          <p:cNvSpPr/>
          <p:nvPr/>
        </p:nvSpPr>
        <p:spPr>
          <a:xfrm>
            <a:off x="457200" y="2286000"/>
            <a:ext cx="2377080" cy="182520"/>
          </a:xfrm>
          <a:prstGeom prst="roundRect">
            <a:avLst>
              <a:gd name="adj" fmla="val 25000"/>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9" name="Text 11"/>
          <p:cNvSpPr/>
          <p:nvPr/>
        </p:nvSpPr>
        <p:spPr>
          <a:xfrm>
            <a:off x="457200" y="2286000"/>
            <a:ext cx="2377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49">
                <a:solidFill>
                  <a:srgbClr val="0F6E56"/>
                </a:solidFill>
                <a:latin typeface="Calibri"/>
                <a:ea typeface="Calibri"/>
              </a:rPr>
              <a:t>ACCENTURE / IDC</a:t>
            </a:r>
            <a:endParaRPr lang="en-US" sz="700" b="0" strike="noStrike" spc="-1">
              <a:solidFill>
                <a:srgbClr val="000000"/>
              </a:solidFill>
              <a:latin typeface="Arial"/>
            </a:endParaRPr>
          </a:p>
        </p:txBody>
      </p:sp>
      <p:sp>
        <p:nvSpPr>
          <p:cNvPr id="340" name="Text 12"/>
          <p:cNvSpPr/>
          <p:nvPr/>
        </p:nvSpPr>
        <p:spPr>
          <a:xfrm>
            <a:off x="548640" y="250560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26215C"/>
                </a:solidFill>
                <a:latin typeface="Calibri"/>
                <a:ea typeface="Calibri"/>
              </a:rPr>
              <a:t>Banks aim for agentic AI scale in 2026 (CIO Dive, on Accenture's report)</a:t>
            </a:r>
            <a:endParaRPr lang="en-US" sz="800" b="0" strike="noStrike" spc="-1">
              <a:solidFill>
                <a:srgbClr val="000000"/>
              </a:solidFill>
              <a:latin typeface="Arial"/>
            </a:endParaRPr>
          </a:p>
        </p:txBody>
      </p:sp>
      <p:sp>
        <p:nvSpPr>
          <p:cNvPr id="341" name="Text 13"/>
          <p:cNvSpPr/>
          <p:nvPr/>
        </p:nvSpPr>
        <p:spPr>
          <a:xfrm>
            <a:off x="548640" y="265176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strike="noStrike" spc="-1">
                <a:solidFill>
                  <a:srgbClr val="767290"/>
                </a:solidFill>
                <a:latin typeface="Consolas"/>
                <a:ea typeface="Consolas"/>
              </a:rPr>
              <a:t>https://www.ciodive.com/news/banks-agentic-ai-scale-2026/809532/</a:t>
            </a:r>
            <a:endParaRPr lang="en-US" sz="680" b="0" strike="noStrike" spc="-1">
              <a:solidFill>
                <a:srgbClr val="000000"/>
              </a:solidFill>
              <a:latin typeface="Arial"/>
            </a:endParaRPr>
          </a:p>
        </p:txBody>
      </p:sp>
      <p:sp>
        <p:nvSpPr>
          <p:cNvPr id="342" name="Text 14"/>
          <p:cNvSpPr/>
          <p:nvPr/>
        </p:nvSpPr>
        <p:spPr>
          <a:xfrm>
            <a:off x="548640" y="277056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26215C"/>
                </a:solidFill>
                <a:latin typeface="Calibri"/>
                <a:ea typeface="Calibri"/>
              </a:rPr>
              <a:t>IDC ROI data (2.84x vs 0.84x), via Neurons Lab roundup</a:t>
            </a:r>
            <a:endParaRPr lang="en-US" sz="800" b="0" strike="noStrike" spc="-1">
              <a:solidFill>
                <a:srgbClr val="000000"/>
              </a:solidFill>
              <a:latin typeface="Arial"/>
            </a:endParaRPr>
          </a:p>
        </p:txBody>
      </p:sp>
      <p:sp>
        <p:nvSpPr>
          <p:cNvPr id="343" name="Text 15"/>
          <p:cNvSpPr/>
          <p:nvPr/>
        </p:nvSpPr>
        <p:spPr>
          <a:xfrm>
            <a:off x="548640" y="291708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strike="noStrike" spc="-1">
                <a:solidFill>
                  <a:srgbClr val="767290"/>
                </a:solidFill>
                <a:latin typeface="Consolas"/>
                <a:ea typeface="Consolas"/>
              </a:rPr>
              <a:t>https://neurons-lab.com/articles/agentic-ai-in-financial-services-2026/</a:t>
            </a:r>
            <a:endParaRPr lang="en-US" sz="680" b="0" strike="noStrike" spc="-1">
              <a:solidFill>
                <a:srgbClr val="000000"/>
              </a:solidFill>
              <a:latin typeface="Arial"/>
            </a:endParaRPr>
          </a:p>
        </p:txBody>
      </p:sp>
      <p:sp>
        <p:nvSpPr>
          <p:cNvPr id="344" name="Shape 16"/>
          <p:cNvSpPr/>
          <p:nvPr/>
        </p:nvSpPr>
        <p:spPr>
          <a:xfrm>
            <a:off x="457200" y="3072240"/>
            <a:ext cx="2377080" cy="182520"/>
          </a:xfrm>
          <a:prstGeom prst="roundRect">
            <a:avLst>
              <a:gd name="adj" fmla="val 25000"/>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45" name="Text 17"/>
          <p:cNvSpPr/>
          <p:nvPr/>
        </p:nvSpPr>
        <p:spPr>
          <a:xfrm>
            <a:off x="457200" y="3072240"/>
            <a:ext cx="2377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49">
                <a:solidFill>
                  <a:srgbClr val="854F0B"/>
                </a:solidFill>
                <a:latin typeface="Calibri"/>
                <a:ea typeface="Calibri"/>
              </a:rPr>
              <a:t>AMERICAN BANKER / BANKING DIVE</a:t>
            </a:r>
            <a:endParaRPr lang="en-US" sz="700" b="0" strike="noStrike" spc="-1">
              <a:solidFill>
                <a:srgbClr val="000000"/>
              </a:solidFill>
              <a:latin typeface="Arial"/>
            </a:endParaRPr>
          </a:p>
        </p:txBody>
      </p:sp>
      <p:sp>
        <p:nvSpPr>
          <p:cNvPr id="346" name="Text 18"/>
          <p:cNvSpPr/>
          <p:nvPr/>
        </p:nvSpPr>
        <p:spPr>
          <a:xfrm>
            <a:off x="548640" y="329184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26215C"/>
                </a:solidFill>
                <a:latin typeface="Calibri"/>
                <a:ea typeface="Calibri"/>
              </a:rPr>
              <a:t>Not Just a Smarter Bot: How Agentic AI can Transform CX</a:t>
            </a:r>
            <a:endParaRPr lang="en-US" sz="800" b="0" strike="noStrike" spc="-1">
              <a:solidFill>
                <a:srgbClr val="000000"/>
              </a:solidFill>
              <a:latin typeface="Arial"/>
            </a:endParaRPr>
          </a:p>
        </p:txBody>
      </p:sp>
      <p:sp>
        <p:nvSpPr>
          <p:cNvPr id="347" name="Text 19"/>
          <p:cNvSpPr/>
          <p:nvPr/>
        </p:nvSpPr>
        <p:spPr>
          <a:xfrm>
            <a:off x="548640" y="343800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strike="noStrike" spc="-1">
                <a:solidFill>
                  <a:srgbClr val="767290"/>
                </a:solidFill>
                <a:latin typeface="Consolas"/>
                <a:ea typeface="Consolas"/>
              </a:rPr>
              <a:t>https://www.americanbanker.com/not-just-a-smarter-bot-how-agentic-ai-can-transform-customer-experience</a:t>
            </a:r>
            <a:endParaRPr lang="en-US" sz="680" b="0" strike="noStrike" spc="-1">
              <a:solidFill>
                <a:srgbClr val="000000"/>
              </a:solidFill>
              <a:latin typeface="Arial"/>
            </a:endParaRPr>
          </a:p>
        </p:txBody>
      </p:sp>
      <p:sp>
        <p:nvSpPr>
          <p:cNvPr id="348" name="Text 20"/>
          <p:cNvSpPr/>
          <p:nvPr/>
        </p:nvSpPr>
        <p:spPr>
          <a:xfrm>
            <a:off x="548640" y="355716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26215C"/>
                </a:solidFill>
                <a:latin typeface="Calibri"/>
                <a:ea typeface="Calibri"/>
              </a:rPr>
              <a:t>Banks aren't ready for AI agents moving money</a:t>
            </a:r>
            <a:endParaRPr lang="en-US" sz="800" b="0" strike="noStrike" spc="-1">
              <a:solidFill>
                <a:srgbClr val="000000"/>
              </a:solidFill>
              <a:latin typeface="Arial"/>
            </a:endParaRPr>
          </a:p>
        </p:txBody>
      </p:sp>
      <p:sp>
        <p:nvSpPr>
          <p:cNvPr id="349" name="Text 21"/>
          <p:cNvSpPr/>
          <p:nvPr/>
        </p:nvSpPr>
        <p:spPr>
          <a:xfrm>
            <a:off x="548640" y="370332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strike="noStrike" spc="-1">
                <a:solidFill>
                  <a:srgbClr val="767290"/>
                </a:solidFill>
                <a:latin typeface="Consolas"/>
                <a:ea typeface="Consolas"/>
              </a:rPr>
              <a:t>https://www.americanbanker.com/payments/news/banks-arent-ready-for-ai-agents-moving-money-experts-warn</a:t>
            </a:r>
            <a:endParaRPr lang="en-US" sz="680" b="0" strike="noStrike" spc="-1">
              <a:solidFill>
                <a:srgbClr val="000000"/>
              </a:solidFill>
              <a:latin typeface="Arial"/>
            </a:endParaRPr>
          </a:p>
        </p:txBody>
      </p:sp>
      <p:sp>
        <p:nvSpPr>
          <p:cNvPr id="350" name="Text 22"/>
          <p:cNvSpPr/>
          <p:nvPr/>
        </p:nvSpPr>
        <p:spPr>
          <a:xfrm>
            <a:off x="548640" y="382212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26215C"/>
                </a:solidFill>
                <a:latin typeface="Calibri"/>
                <a:ea typeface="Calibri"/>
              </a:rPr>
              <a:t>U.S. Bank exec: zero-friction bank partner on AI</a:t>
            </a:r>
            <a:endParaRPr lang="en-US" sz="800" b="0" strike="noStrike" spc="-1">
              <a:solidFill>
                <a:srgbClr val="000000"/>
              </a:solidFill>
              <a:latin typeface="Arial"/>
            </a:endParaRPr>
          </a:p>
        </p:txBody>
      </p:sp>
      <p:sp>
        <p:nvSpPr>
          <p:cNvPr id="351" name="Text 23"/>
          <p:cNvSpPr/>
          <p:nvPr/>
        </p:nvSpPr>
        <p:spPr>
          <a:xfrm>
            <a:off x="548640" y="396864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strike="noStrike" spc="-1">
                <a:solidFill>
                  <a:srgbClr val="767290"/>
                </a:solidFill>
                <a:latin typeface="Consolas"/>
                <a:ea typeface="Consolas"/>
              </a:rPr>
              <a:t>https://www.bankingdive.com/news/us-bank-ces-agentic-ai-digital-banking-innovation-relyea/809574/</a:t>
            </a:r>
            <a:endParaRPr lang="en-US" sz="680" b="0" strike="noStrike" spc="-1">
              <a:solidFill>
                <a:srgbClr val="000000"/>
              </a:solidFill>
              <a:latin typeface="Arial"/>
            </a:endParaRPr>
          </a:p>
        </p:txBody>
      </p:sp>
      <p:sp>
        <p:nvSpPr>
          <p:cNvPr id="352" name="Shape 24"/>
          <p:cNvSpPr/>
          <p:nvPr/>
        </p:nvSpPr>
        <p:spPr>
          <a:xfrm>
            <a:off x="457200" y="4123800"/>
            <a:ext cx="2377080" cy="182520"/>
          </a:xfrm>
          <a:prstGeom prst="roundRect">
            <a:avLst>
              <a:gd name="adj" fmla="val 25000"/>
            </a:avLst>
          </a:prstGeom>
          <a:solidFill>
            <a:srgbClr val="FAEC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53" name="Text 25"/>
          <p:cNvSpPr/>
          <p:nvPr/>
        </p:nvSpPr>
        <p:spPr>
          <a:xfrm>
            <a:off x="457200" y="4123800"/>
            <a:ext cx="2377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49">
                <a:solidFill>
                  <a:srgbClr val="D85A30"/>
                </a:solidFill>
                <a:latin typeface="Calibri"/>
                <a:ea typeface="Calibri"/>
              </a:rPr>
              <a:t>BANKING STRATEGY SPECIALISTS</a:t>
            </a:r>
            <a:endParaRPr lang="en-US" sz="700" b="0" strike="noStrike" spc="-1">
              <a:solidFill>
                <a:srgbClr val="000000"/>
              </a:solidFill>
              <a:latin typeface="Arial"/>
            </a:endParaRPr>
          </a:p>
        </p:txBody>
      </p:sp>
      <p:sp>
        <p:nvSpPr>
          <p:cNvPr id="354" name="Text 26"/>
          <p:cNvSpPr/>
          <p:nvPr/>
        </p:nvSpPr>
        <p:spPr>
          <a:xfrm>
            <a:off x="548640" y="434340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26215C"/>
                </a:solidFill>
                <a:latin typeface="Calibri"/>
                <a:ea typeface="Calibri"/>
              </a:rPr>
              <a:t>CCG Catalyst: Agentic AI, Banking's Next Frontier Beyond the Chatbot</a:t>
            </a:r>
            <a:endParaRPr lang="en-US" sz="800" b="0" strike="noStrike" spc="-1">
              <a:solidFill>
                <a:srgbClr val="000000"/>
              </a:solidFill>
              <a:latin typeface="Arial"/>
            </a:endParaRPr>
          </a:p>
        </p:txBody>
      </p:sp>
      <p:sp>
        <p:nvSpPr>
          <p:cNvPr id="355" name="Text 27"/>
          <p:cNvSpPr/>
          <p:nvPr/>
        </p:nvSpPr>
        <p:spPr>
          <a:xfrm>
            <a:off x="548640" y="448956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strike="noStrike" spc="-1">
                <a:solidFill>
                  <a:srgbClr val="767290"/>
                </a:solidFill>
                <a:latin typeface="Consolas"/>
                <a:ea typeface="Consolas"/>
              </a:rPr>
              <a:t>https://www.ccgcatalyst.com/thought-leadership/commentary/agentic-ai-bankings-next-frontier-beyond-the-chatbot/</a:t>
            </a:r>
            <a:endParaRPr lang="en-US" sz="680" b="0" strike="noStrike" spc="-1">
              <a:solidFill>
                <a:srgbClr val="000000"/>
              </a:solidFill>
              <a:latin typeface="Arial"/>
            </a:endParaRPr>
          </a:p>
        </p:txBody>
      </p:sp>
      <p:sp>
        <p:nvSpPr>
          <p:cNvPr id="356" name="Text 28"/>
          <p:cNvSpPr/>
          <p:nvPr/>
        </p:nvSpPr>
        <p:spPr>
          <a:xfrm>
            <a:off x="548640" y="460872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26215C"/>
                </a:solidFill>
                <a:latin typeface="Calibri"/>
                <a:ea typeface="Calibri"/>
              </a:rPr>
              <a:t>The Digital Banker: 2026 make-or-break year for agentic AI cloud ops</a:t>
            </a:r>
            <a:endParaRPr lang="en-US" sz="800" b="0" strike="noStrike" spc="-1">
              <a:solidFill>
                <a:srgbClr val="000000"/>
              </a:solidFill>
              <a:latin typeface="Arial"/>
            </a:endParaRPr>
          </a:p>
        </p:txBody>
      </p:sp>
      <p:sp>
        <p:nvSpPr>
          <p:cNvPr id="357" name="Text 29"/>
          <p:cNvSpPr/>
          <p:nvPr/>
        </p:nvSpPr>
        <p:spPr>
          <a:xfrm>
            <a:off x="548640" y="475488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strike="noStrike" spc="-1">
                <a:solidFill>
                  <a:srgbClr val="767290"/>
                </a:solidFill>
                <a:latin typeface="Consolas"/>
                <a:ea typeface="Consolas"/>
              </a:rPr>
              <a:t>https://thedigitalbanker.com/why-2026-is-the-make-or-break-year-for-agentic-ai-in-banking-cloud-operations/</a:t>
            </a:r>
            <a:endParaRPr lang="en-US" sz="680" b="0" strike="noStrike" spc="-1">
              <a:solidFill>
                <a:srgbClr val="000000"/>
              </a:solidFill>
              <a:latin typeface="Arial"/>
            </a:endParaRPr>
          </a:p>
        </p:txBody>
      </p:sp>
      <p:sp>
        <p:nvSpPr>
          <p:cNvPr id="358" name="Text 30"/>
          <p:cNvSpPr/>
          <p:nvPr/>
        </p:nvSpPr>
        <p:spPr>
          <a:xfrm>
            <a:off x="457200" y="4910400"/>
            <a:ext cx="822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i="1" strike="noStrike" spc="-1">
                <a:solidFill>
                  <a:srgbClr val="767290"/>
                </a:solidFill>
                <a:latin typeface="Calibri"/>
                <a:ea typeface="Calibri"/>
              </a:rPr>
              <a:t>Listed as plain text for manual copy/typing — not active hyperlinks on this slide.</a:t>
            </a:r>
            <a:endParaRPr lang="en-US" sz="8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6215C"/>
        </a:solidFill>
        <a:effectLst/>
      </p:bgPr>
    </p:bg>
    <p:spTree>
      <p:nvGrpSpPr>
        <p:cNvPr id="1" name=""/>
        <p:cNvGrpSpPr/>
        <p:nvPr/>
      </p:nvGrpSpPr>
      <p:grpSpPr>
        <a:xfrm>
          <a:off x="0" y="0"/>
          <a:ext cx="0" cy="0"/>
          <a:chOff x="0" y="0"/>
          <a:chExt cx="0" cy="0"/>
        </a:xfrm>
      </p:grpSpPr>
      <p:sp>
        <p:nvSpPr>
          <p:cNvPr id="359" name="Shape 0"/>
          <p:cNvSpPr/>
          <p:nvPr/>
        </p:nvSpPr>
        <p:spPr>
          <a:xfrm>
            <a:off x="7150320" y="658080"/>
            <a:ext cx="914400" cy="54864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360" name="Shape 1"/>
          <p:cNvSpPr/>
          <p:nvPr/>
        </p:nvSpPr>
        <p:spPr>
          <a:xfrm flipH="1">
            <a:off x="7369920" y="1206720"/>
            <a:ext cx="694800" cy="4024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361" name="Shape 2"/>
          <p:cNvSpPr/>
          <p:nvPr/>
        </p:nvSpPr>
        <p:spPr>
          <a:xfrm flipV="1">
            <a:off x="8064720" y="676440"/>
            <a:ext cx="384120" cy="5302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362" name="Shape 3"/>
          <p:cNvSpPr/>
          <p:nvPr/>
        </p:nvSpPr>
        <p:spPr>
          <a:xfrm>
            <a:off x="8064720" y="1206720"/>
            <a:ext cx="567000" cy="38412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363" name="Shape 4"/>
          <p:cNvSpPr/>
          <p:nvPr/>
        </p:nvSpPr>
        <p:spPr>
          <a:xfrm>
            <a:off x="6949440" y="457200"/>
            <a:ext cx="402120" cy="40212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64" name="Shape 5"/>
          <p:cNvSpPr/>
          <p:nvPr/>
        </p:nvSpPr>
        <p:spPr>
          <a:xfrm>
            <a:off x="7772400" y="914400"/>
            <a:ext cx="585000" cy="585000"/>
          </a:xfrm>
          <a:prstGeom prst="ellipse">
            <a:avLst/>
          </a:prstGeom>
          <a:solidFill>
            <a:srgbClr val="7F77DD">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65" name="Shape 6"/>
          <p:cNvSpPr/>
          <p:nvPr/>
        </p:nvSpPr>
        <p:spPr>
          <a:xfrm>
            <a:off x="7223760" y="1463040"/>
            <a:ext cx="292320" cy="29232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66" name="Shape 7"/>
          <p:cNvSpPr/>
          <p:nvPr/>
        </p:nvSpPr>
        <p:spPr>
          <a:xfrm>
            <a:off x="8321040" y="548640"/>
            <a:ext cx="255600" cy="25560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67" name="Shape 8"/>
          <p:cNvSpPr/>
          <p:nvPr/>
        </p:nvSpPr>
        <p:spPr>
          <a:xfrm>
            <a:off x="8412480" y="1371600"/>
            <a:ext cx="438480" cy="43848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68" name="Shape 9"/>
          <p:cNvSpPr/>
          <p:nvPr/>
        </p:nvSpPr>
        <p:spPr>
          <a:xfrm>
            <a:off x="640080" y="1417320"/>
            <a:ext cx="914040" cy="914040"/>
          </a:xfrm>
          <a:prstGeom prst="ellipse">
            <a:avLst/>
          </a:prstGeom>
          <a:solidFill>
            <a:srgbClr val="3C348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369" name="Image 0" descr="preencoded.png"/>
          <p:cNvPicPr/>
          <p:nvPr/>
        </p:nvPicPr>
        <p:blipFill>
          <a:blip r:embed="rId3"/>
          <a:stretch/>
        </p:blipFill>
        <p:spPr>
          <a:xfrm>
            <a:off x="859680" y="1636920"/>
            <a:ext cx="475200" cy="475200"/>
          </a:xfrm>
          <a:prstGeom prst="rect">
            <a:avLst/>
          </a:prstGeom>
          <a:ln w="0">
            <a:noFill/>
          </a:ln>
        </p:spPr>
      </p:pic>
      <p:sp>
        <p:nvSpPr>
          <p:cNvPr id="370" name="Text 10"/>
          <p:cNvSpPr/>
          <p:nvPr/>
        </p:nvSpPr>
        <p:spPr>
          <a:xfrm>
            <a:off x="1828800" y="1417320"/>
            <a:ext cx="6400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299">
                <a:solidFill>
                  <a:srgbClr val="F2A623"/>
                </a:solidFill>
                <a:latin typeface="Calibri"/>
                <a:ea typeface="Calibri"/>
              </a:rPr>
              <a:t>PART 2</a:t>
            </a:r>
            <a:endParaRPr lang="en-US" sz="1400" b="0" strike="noStrike" spc="-1">
              <a:solidFill>
                <a:srgbClr val="FFFFFF"/>
              </a:solidFill>
              <a:latin typeface="Arial"/>
            </a:endParaRPr>
          </a:p>
        </p:txBody>
      </p:sp>
      <p:sp>
        <p:nvSpPr>
          <p:cNvPr id="371" name="Text 11"/>
          <p:cNvSpPr/>
          <p:nvPr/>
        </p:nvSpPr>
        <p:spPr>
          <a:xfrm>
            <a:off x="1828800" y="1783080"/>
            <a:ext cx="66747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strike="noStrike" spc="-1">
                <a:solidFill>
                  <a:srgbClr val="FFFFFF"/>
                </a:solidFill>
                <a:latin typeface="Cambria"/>
                <a:ea typeface="Cambria"/>
              </a:rPr>
              <a:t>Overall Agentic AI Architecture</a:t>
            </a:r>
            <a:endParaRPr lang="en-US" sz="3400" b="0" strike="noStrike" spc="-1">
              <a:solidFill>
                <a:srgbClr val="FFFFFF"/>
              </a:solidFill>
              <a:latin typeface="Arial"/>
            </a:endParaRPr>
          </a:p>
        </p:txBody>
      </p:sp>
      <p:sp>
        <p:nvSpPr>
          <p:cNvPr id="372" name="Text 12"/>
          <p:cNvSpPr/>
          <p:nvPr/>
        </p:nvSpPr>
        <p:spPr>
          <a:xfrm>
            <a:off x="1828800" y="2788920"/>
            <a:ext cx="64004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0000"/>
              </a:lnSpc>
              <a:tabLst>
                <a:tab pos="0" algn="l"/>
              </a:tabLst>
            </a:pPr>
            <a:r>
              <a:rPr lang="en-US" sz="1500" b="0" strike="noStrike" spc="-1">
                <a:solidFill>
                  <a:srgbClr val="CECBF6"/>
                </a:solidFill>
                <a:latin typeface="Calibri"/>
                <a:ea typeface="Calibri"/>
              </a:rPr>
              <a:t>Zooming out before we zoom in: the full stack this seminar's concepts live inside.</a:t>
            </a:r>
            <a:endParaRPr lang="en-US" sz="1500" b="0" strike="noStrike" spc="-1">
              <a:solidFill>
                <a:srgbClr val="FFFFFF"/>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3"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ARCHITECTURE OVERVIEW</a:t>
            </a:r>
            <a:endParaRPr lang="en-US" sz="1200" b="0" strike="noStrike" spc="-1">
              <a:solidFill>
                <a:srgbClr val="000000"/>
              </a:solidFill>
              <a:latin typeface="Arial"/>
            </a:endParaRPr>
          </a:p>
        </p:txBody>
      </p:sp>
      <p:sp>
        <p:nvSpPr>
          <p:cNvPr id="374"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The full stack, top to bottom</a:t>
            </a:r>
            <a:endParaRPr lang="en-US" sz="2800" b="0" strike="noStrike" spc="-1">
              <a:solidFill>
                <a:srgbClr val="000000"/>
              </a:solidFill>
              <a:latin typeface="Arial"/>
            </a:endParaRPr>
          </a:p>
        </p:txBody>
      </p:sp>
      <p:sp>
        <p:nvSpPr>
          <p:cNvPr id="375" name="Shape 2"/>
          <p:cNvSpPr/>
          <p:nvPr/>
        </p:nvSpPr>
        <p:spPr>
          <a:xfrm>
            <a:off x="457200" y="1325880"/>
            <a:ext cx="8229240" cy="475200"/>
          </a:xfrm>
          <a:prstGeom prst="roundRect">
            <a:avLst>
              <a:gd name="adj" fmla="val 13462"/>
            </a:avLst>
          </a:prstGeom>
          <a:solidFill>
            <a:srgbClr val="ECEBF4"/>
          </a:solidFill>
          <a:ln w="1270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76" name="Text 3"/>
          <p:cNvSpPr/>
          <p:nvPr/>
        </p:nvSpPr>
        <p:spPr>
          <a:xfrm>
            <a:off x="685800" y="1325880"/>
            <a:ext cx="23770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767290"/>
                </a:solidFill>
                <a:latin typeface="Calibri"/>
                <a:ea typeface="Calibri"/>
              </a:rPr>
              <a:t>Channel / interface</a:t>
            </a:r>
            <a:endParaRPr lang="en-US" sz="1250" b="0" strike="noStrike" spc="-1">
              <a:solidFill>
                <a:srgbClr val="000000"/>
              </a:solidFill>
              <a:latin typeface="Arial"/>
            </a:endParaRPr>
          </a:p>
        </p:txBody>
      </p:sp>
      <p:sp>
        <p:nvSpPr>
          <p:cNvPr id="377" name="Text 4"/>
          <p:cNvSpPr/>
          <p:nvPr/>
        </p:nvSpPr>
        <p:spPr>
          <a:xfrm>
            <a:off x="3154680" y="1325880"/>
            <a:ext cx="5303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000" b="0" strike="noStrike" spc="-1">
                <a:solidFill>
                  <a:srgbClr val="433F5C"/>
                </a:solidFill>
                <a:latin typeface="Calibri"/>
                <a:ea typeface="Calibri"/>
              </a:rPr>
              <a:t>Mobile, web, voice, messaging — renders a channel-agnostic payload natively</a:t>
            </a:r>
            <a:endParaRPr lang="en-US" sz="1000" b="0" strike="noStrike" spc="-1">
              <a:solidFill>
                <a:srgbClr val="000000"/>
              </a:solidFill>
              <a:latin typeface="Arial"/>
            </a:endParaRPr>
          </a:p>
        </p:txBody>
      </p:sp>
      <p:sp>
        <p:nvSpPr>
          <p:cNvPr id="378" name="Shape 5"/>
          <p:cNvSpPr/>
          <p:nvPr/>
        </p:nvSpPr>
        <p:spPr>
          <a:xfrm>
            <a:off x="457200" y="1874520"/>
            <a:ext cx="8229240" cy="475200"/>
          </a:xfrm>
          <a:prstGeom prst="roundRect">
            <a:avLst>
              <a:gd name="adj" fmla="val 13462"/>
            </a:avLst>
          </a:prstGeom>
          <a:solidFill>
            <a:srgbClr val="E1F5EE"/>
          </a:solidFill>
          <a:ln w="1270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79" name="Text 6"/>
          <p:cNvSpPr/>
          <p:nvPr/>
        </p:nvSpPr>
        <p:spPr>
          <a:xfrm>
            <a:off x="685800" y="1874520"/>
            <a:ext cx="23770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0F6E56"/>
                </a:solidFill>
                <a:latin typeface="Calibri"/>
                <a:ea typeface="Calibri"/>
              </a:rPr>
              <a:t>Session management</a:t>
            </a:r>
            <a:endParaRPr lang="en-US" sz="1250" b="0" strike="noStrike" spc="-1">
              <a:solidFill>
                <a:srgbClr val="000000"/>
              </a:solidFill>
              <a:latin typeface="Arial"/>
            </a:endParaRPr>
          </a:p>
        </p:txBody>
      </p:sp>
      <p:sp>
        <p:nvSpPr>
          <p:cNvPr id="380" name="Text 7"/>
          <p:cNvSpPr/>
          <p:nvPr/>
        </p:nvSpPr>
        <p:spPr>
          <a:xfrm>
            <a:off x="3154680" y="1874520"/>
            <a:ext cx="5303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000" b="0" strike="noStrike" spc="-1">
                <a:solidFill>
                  <a:srgbClr val="433F5C"/>
                </a:solidFill>
                <a:latin typeface="Calibri"/>
                <a:ea typeface="Calibri"/>
              </a:rPr>
              <a:t>Single source of truth for state &amp; history, across every channel and sub-agent</a:t>
            </a:r>
            <a:endParaRPr lang="en-US" sz="1000" b="0" strike="noStrike" spc="-1">
              <a:solidFill>
                <a:srgbClr val="000000"/>
              </a:solidFill>
              <a:latin typeface="Arial"/>
            </a:endParaRPr>
          </a:p>
        </p:txBody>
      </p:sp>
      <p:sp>
        <p:nvSpPr>
          <p:cNvPr id="381" name="Shape 8"/>
          <p:cNvSpPr/>
          <p:nvPr/>
        </p:nvSpPr>
        <p:spPr>
          <a:xfrm>
            <a:off x="457200" y="2423160"/>
            <a:ext cx="8229240" cy="475200"/>
          </a:xfrm>
          <a:prstGeom prst="roundRect">
            <a:avLst>
              <a:gd name="adj" fmla="val 13462"/>
            </a:avLst>
          </a:prstGeom>
          <a:solidFill>
            <a:srgbClr val="EEEDFE"/>
          </a:solidFill>
          <a:ln w="1270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82" name="Text 9"/>
          <p:cNvSpPr/>
          <p:nvPr/>
        </p:nvSpPr>
        <p:spPr>
          <a:xfrm>
            <a:off x="685800" y="2423160"/>
            <a:ext cx="23770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26215C"/>
                </a:solidFill>
                <a:latin typeface="Calibri"/>
                <a:ea typeface="Calibri"/>
              </a:rPr>
              <a:t>Orchestration</a:t>
            </a:r>
            <a:endParaRPr lang="en-US" sz="1250" b="0" strike="noStrike" spc="-1">
              <a:solidFill>
                <a:srgbClr val="000000"/>
              </a:solidFill>
              <a:latin typeface="Arial"/>
            </a:endParaRPr>
          </a:p>
        </p:txBody>
      </p:sp>
      <p:sp>
        <p:nvSpPr>
          <p:cNvPr id="383" name="Text 10"/>
          <p:cNvSpPr/>
          <p:nvPr/>
        </p:nvSpPr>
        <p:spPr>
          <a:xfrm>
            <a:off x="3154680" y="2423160"/>
            <a:ext cx="5303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000" b="0" strike="noStrike" spc="-1">
                <a:solidFill>
                  <a:srgbClr val="433F5C"/>
                </a:solidFill>
                <a:latin typeface="Calibri"/>
                <a:ea typeface="Calibri"/>
              </a:rPr>
              <a:t>Intent routing, context engineering, model-pairing decisions</a:t>
            </a:r>
            <a:endParaRPr lang="en-US" sz="1000" b="0" strike="noStrike" spc="-1">
              <a:solidFill>
                <a:srgbClr val="000000"/>
              </a:solidFill>
              <a:latin typeface="Arial"/>
            </a:endParaRPr>
          </a:p>
        </p:txBody>
      </p:sp>
      <p:sp>
        <p:nvSpPr>
          <p:cNvPr id="384" name="Shape 11"/>
          <p:cNvSpPr/>
          <p:nvPr/>
        </p:nvSpPr>
        <p:spPr>
          <a:xfrm>
            <a:off x="457200" y="2971800"/>
            <a:ext cx="8229240" cy="475200"/>
          </a:xfrm>
          <a:prstGeom prst="roundRect">
            <a:avLst>
              <a:gd name="adj" fmla="val 13462"/>
            </a:avLst>
          </a:prstGeom>
          <a:solidFill>
            <a:srgbClr val="EEEDFE"/>
          </a:solidFill>
          <a:ln w="1270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85" name="Text 12"/>
          <p:cNvSpPr/>
          <p:nvPr/>
        </p:nvSpPr>
        <p:spPr>
          <a:xfrm>
            <a:off x="685800" y="2971800"/>
            <a:ext cx="23770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26215C"/>
                </a:solidFill>
                <a:latin typeface="Calibri"/>
                <a:ea typeface="Calibri"/>
              </a:rPr>
              <a:t>Domain sub-agents</a:t>
            </a:r>
            <a:endParaRPr lang="en-US" sz="1250" b="0" strike="noStrike" spc="-1">
              <a:solidFill>
                <a:srgbClr val="000000"/>
              </a:solidFill>
              <a:latin typeface="Arial"/>
            </a:endParaRPr>
          </a:p>
        </p:txBody>
      </p:sp>
      <p:sp>
        <p:nvSpPr>
          <p:cNvPr id="386" name="Text 13"/>
          <p:cNvSpPr/>
          <p:nvPr/>
        </p:nvSpPr>
        <p:spPr>
          <a:xfrm>
            <a:off x="3154680" y="2971800"/>
            <a:ext cx="5303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000" b="0" strike="noStrike" spc="-1">
                <a:solidFill>
                  <a:srgbClr val="433F5C"/>
                </a:solidFill>
                <a:latin typeface="Calibri"/>
                <a:ea typeface="Calibri"/>
              </a:rPr>
              <a:t>Business logic and tools — built by enterprise teams, hosted by the platform</a:t>
            </a:r>
            <a:endParaRPr lang="en-US" sz="1000" b="0" strike="noStrike" spc="-1">
              <a:solidFill>
                <a:srgbClr val="000000"/>
              </a:solidFill>
              <a:latin typeface="Arial"/>
            </a:endParaRPr>
          </a:p>
        </p:txBody>
      </p:sp>
      <p:sp>
        <p:nvSpPr>
          <p:cNvPr id="387" name="Shape 14"/>
          <p:cNvSpPr/>
          <p:nvPr/>
        </p:nvSpPr>
        <p:spPr>
          <a:xfrm>
            <a:off x="457200" y="3520440"/>
            <a:ext cx="8229240" cy="475200"/>
          </a:xfrm>
          <a:prstGeom prst="roundRect">
            <a:avLst>
              <a:gd name="adj" fmla="val 13462"/>
            </a:avLst>
          </a:prstGeom>
          <a:solidFill>
            <a:srgbClr val="FAEEDA"/>
          </a:solidFill>
          <a:ln w="12700">
            <a:solidFill>
              <a:srgbClr val="FAEED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88" name="Text 15"/>
          <p:cNvSpPr/>
          <p:nvPr/>
        </p:nvSpPr>
        <p:spPr>
          <a:xfrm>
            <a:off x="685800" y="3520440"/>
            <a:ext cx="23770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854F0B"/>
                </a:solidFill>
                <a:latin typeface="Calibri"/>
                <a:ea typeface="Calibri"/>
              </a:rPr>
              <a:t>Sidecar services</a:t>
            </a:r>
            <a:endParaRPr lang="en-US" sz="1250" b="0" strike="noStrike" spc="-1">
              <a:solidFill>
                <a:srgbClr val="000000"/>
              </a:solidFill>
              <a:latin typeface="Arial"/>
            </a:endParaRPr>
          </a:p>
        </p:txBody>
      </p:sp>
      <p:sp>
        <p:nvSpPr>
          <p:cNvPr id="389" name="Text 16"/>
          <p:cNvSpPr/>
          <p:nvPr/>
        </p:nvSpPr>
        <p:spPr>
          <a:xfrm>
            <a:off x="3154680" y="3520440"/>
            <a:ext cx="5303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000" b="0" strike="noStrike" spc="-1">
                <a:solidFill>
                  <a:srgbClr val="433F5C"/>
                </a:solidFill>
                <a:latin typeface="Calibri"/>
                <a:ea typeface="Calibri"/>
              </a:rPr>
              <a:t>Evals, guardrails, traceability, observability — shared by every sub-agent</a:t>
            </a:r>
            <a:endParaRPr lang="en-US" sz="1000" b="0" strike="noStrike" spc="-1">
              <a:solidFill>
                <a:srgbClr val="000000"/>
              </a:solidFill>
              <a:latin typeface="Arial"/>
            </a:endParaRPr>
          </a:p>
        </p:txBody>
      </p:sp>
      <p:sp>
        <p:nvSpPr>
          <p:cNvPr id="390" name="Shape 17"/>
          <p:cNvSpPr/>
          <p:nvPr/>
        </p:nvSpPr>
        <p:spPr>
          <a:xfrm>
            <a:off x="457200" y="4069080"/>
            <a:ext cx="8229240" cy="475200"/>
          </a:xfrm>
          <a:prstGeom prst="roundRect">
            <a:avLst>
              <a:gd name="adj" fmla="val 13462"/>
            </a:avLst>
          </a:prstGeom>
          <a:solidFill>
            <a:srgbClr val="E1F5EE"/>
          </a:solidFill>
          <a:ln w="1270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1" name="Text 18"/>
          <p:cNvSpPr/>
          <p:nvPr/>
        </p:nvSpPr>
        <p:spPr>
          <a:xfrm>
            <a:off x="685800" y="4069080"/>
            <a:ext cx="23770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0F6E56"/>
                </a:solidFill>
                <a:latin typeface="Calibri"/>
                <a:ea typeface="Calibri"/>
              </a:rPr>
              <a:t>Model layer</a:t>
            </a:r>
            <a:endParaRPr lang="en-US" sz="1250" b="0" strike="noStrike" spc="-1">
              <a:solidFill>
                <a:srgbClr val="000000"/>
              </a:solidFill>
              <a:latin typeface="Arial"/>
            </a:endParaRPr>
          </a:p>
        </p:txBody>
      </p:sp>
      <p:sp>
        <p:nvSpPr>
          <p:cNvPr id="392" name="Text 19"/>
          <p:cNvSpPr/>
          <p:nvPr/>
        </p:nvSpPr>
        <p:spPr>
          <a:xfrm>
            <a:off x="3154680" y="4069080"/>
            <a:ext cx="5303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000" b="0" strike="noStrike" spc="-1">
                <a:solidFill>
                  <a:srgbClr val="433F5C"/>
                </a:solidFill>
                <a:latin typeface="Calibri"/>
                <a:ea typeface="Calibri"/>
              </a:rPr>
              <a:t>Multiple LLMs/SLMs, abstracted behind a routing interface</a:t>
            </a:r>
            <a:endParaRPr lang="en-US" sz="1000" b="0" strike="noStrike" spc="-1">
              <a:solidFill>
                <a:srgbClr val="000000"/>
              </a:solidFill>
              <a:latin typeface="Arial"/>
            </a:endParaRPr>
          </a:p>
        </p:txBody>
      </p:sp>
      <p:sp>
        <p:nvSpPr>
          <p:cNvPr id="393" name="Text 20"/>
          <p:cNvSpPr/>
          <p:nvPr/>
        </p:nvSpPr>
        <p:spPr>
          <a:xfrm>
            <a:off x="457200" y="4672440"/>
            <a:ext cx="8229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i="1" strike="noStrike" spc="-1">
                <a:solidFill>
                  <a:srgbClr val="767290"/>
                </a:solidFill>
                <a:latin typeface="Calibri"/>
                <a:ea typeface="Calibri"/>
              </a:rPr>
              <a:t>This seminar lives mostly in the middle three layers — session, orchestration, and sub-agents — with sidecar services covered as their own section.</a:t>
            </a:r>
            <a:endParaRPr lang="en-US" sz="1000" b="0" strike="noStrike" spc="-1">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6215C"/>
        </a:solidFill>
        <a:effectLst/>
      </p:bgPr>
    </p:bg>
    <p:spTree>
      <p:nvGrpSpPr>
        <p:cNvPr id="1" name=""/>
        <p:cNvGrpSpPr/>
        <p:nvPr/>
      </p:nvGrpSpPr>
      <p:grpSpPr>
        <a:xfrm>
          <a:off x="0" y="0"/>
          <a:ext cx="0" cy="0"/>
          <a:chOff x="0" y="0"/>
          <a:chExt cx="0" cy="0"/>
        </a:xfrm>
      </p:grpSpPr>
      <p:sp>
        <p:nvSpPr>
          <p:cNvPr id="394" name="Shape 0"/>
          <p:cNvSpPr/>
          <p:nvPr/>
        </p:nvSpPr>
        <p:spPr>
          <a:xfrm>
            <a:off x="7150320" y="658080"/>
            <a:ext cx="914400" cy="54864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395" name="Shape 1"/>
          <p:cNvSpPr/>
          <p:nvPr/>
        </p:nvSpPr>
        <p:spPr>
          <a:xfrm flipH="1">
            <a:off x="7369920" y="1206720"/>
            <a:ext cx="694800" cy="4024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396" name="Shape 2"/>
          <p:cNvSpPr/>
          <p:nvPr/>
        </p:nvSpPr>
        <p:spPr>
          <a:xfrm flipV="1">
            <a:off x="8064720" y="676440"/>
            <a:ext cx="384120" cy="5302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397" name="Shape 3"/>
          <p:cNvSpPr/>
          <p:nvPr/>
        </p:nvSpPr>
        <p:spPr>
          <a:xfrm>
            <a:off x="8064720" y="1206720"/>
            <a:ext cx="567000" cy="38412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398" name="Shape 4"/>
          <p:cNvSpPr/>
          <p:nvPr/>
        </p:nvSpPr>
        <p:spPr>
          <a:xfrm>
            <a:off x="6949440" y="457200"/>
            <a:ext cx="402120" cy="40212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9" name="Shape 5"/>
          <p:cNvSpPr/>
          <p:nvPr/>
        </p:nvSpPr>
        <p:spPr>
          <a:xfrm>
            <a:off x="7772400" y="914400"/>
            <a:ext cx="585000" cy="585000"/>
          </a:xfrm>
          <a:prstGeom prst="ellipse">
            <a:avLst/>
          </a:prstGeom>
          <a:solidFill>
            <a:srgbClr val="7F77DD">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00" name="Shape 6"/>
          <p:cNvSpPr/>
          <p:nvPr/>
        </p:nvSpPr>
        <p:spPr>
          <a:xfrm>
            <a:off x="7223760" y="1463040"/>
            <a:ext cx="292320" cy="29232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01" name="Shape 7"/>
          <p:cNvSpPr/>
          <p:nvPr/>
        </p:nvSpPr>
        <p:spPr>
          <a:xfrm>
            <a:off x="8321040" y="548640"/>
            <a:ext cx="255600" cy="25560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02" name="Shape 8"/>
          <p:cNvSpPr/>
          <p:nvPr/>
        </p:nvSpPr>
        <p:spPr>
          <a:xfrm>
            <a:off x="8412480" y="1371600"/>
            <a:ext cx="438480" cy="43848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03" name="Shape 9"/>
          <p:cNvSpPr/>
          <p:nvPr/>
        </p:nvSpPr>
        <p:spPr>
          <a:xfrm>
            <a:off x="640080" y="1417320"/>
            <a:ext cx="914040" cy="914040"/>
          </a:xfrm>
          <a:prstGeom prst="ellipse">
            <a:avLst/>
          </a:prstGeom>
          <a:solidFill>
            <a:srgbClr val="3C348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404" name="Image 0" descr="preencoded.png"/>
          <p:cNvPicPr/>
          <p:nvPr/>
        </p:nvPicPr>
        <p:blipFill>
          <a:blip r:embed="rId3"/>
          <a:stretch/>
        </p:blipFill>
        <p:spPr>
          <a:xfrm>
            <a:off x="859680" y="1636920"/>
            <a:ext cx="475200" cy="475200"/>
          </a:xfrm>
          <a:prstGeom prst="rect">
            <a:avLst/>
          </a:prstGeom>
          <a:ln w="0">
            <a:noFill/>
          </a:ln>
        </p:spPr>
      </p:pic>
      <p:sp>
        <p:nvSpPr>
          <p:cNvPr id="405" name="Text 10"/>
          <p:cNvSpPr/>
          <p:nvPr/>
        </p:nvSpPr>
        <p:spPr>
          <a:xfrm>
            <a:off x="1828800" y="1417320"/>
            <a:ext cx="6400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299">
                <a:solidFill>
                  <a:srgbClr val="F2A623"/>
                </a:solidFill>
                <a:latin typeface="Calibri"/>
                <a:ea typeface="Calibri"/>
              </a:rPr>
              <a:t>PART 3</a:t>
            </a:r>
            <a:endParaRPr lang="en-US" sz="1400" b="0" strike="noStrike" spc="-1">
              <a:solidFill>
                <a:srgbClr val="FFFFFF"/>
              </a:solidFill>
              <a:latin typeface="Arial"/>
            </a:endParaRPr>
          </a:p>
        </p:txBody>
      </p:sp>
      <p:sp>
        <p:nvSpPr>
          <p:cNvPr id="406" name="Text 11"/>
          <p:cNvSpPr/>
          <p:nvPr/>
        </p:nvSpPr>
        <p:spPr>
          <a:xfrm>
            <a:off x="1828800" y="1783080"/>
            <a:ext cx="66747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strike="noStrike" spc="-1">
                <a:solidFill>
                  <a:srgbClr val="FFFFFF"/>
                </a:solidFill>
                <a:latin typeface="Cambria"/>
                <a:ea typeface="Cambria"/>
              </a:rPr>
              <a:t>ADK building blocks, mapped to UX</a:t>
            </a:r>
            <a:endParaRPr lang="en-US" sz="3400" b="0" strike="noStrike" spc="-1">
              <a:solidFill>
                <a:srgbClr val="FFFFFF"/>
              </a:solidFill>
              <a:latin typeface="Arial"/>
            </a:endParaRPr>
          </a:p>
        </p:txBody>
      </p:sp>
      <p:sp>
        <p:nvSpPr>
          <p:cNvPr id="407" name="Text 12"/>
          <p:cNvSpPr/>
          <p:nvPr/>
        </p:nvSpPr>
        <p:spPr>
          <a:xfrm>
            <a:off x="1828800" y="2788920"/>
            <a:ext cx="64004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0000"/>
              </a:lnSpc>
              <a:tabLst>
                <a:tab pos="0" algn="l"/>
              </a:tabLst>
            </a:pPr>
            <a:r>
              <a:rPr lang="en-US" sz="1500" b="0" strike="noStrike" spc="-1">
                <a:solidFill>
                  <a:srgbClr val="CECBF6"/>
                </a:solidFill>
                <a:latin typeface="Calibri"/>
                <a:ea typeface="Calibri"/>
              </a:rPr>
              <a:t>Six ADK primitives — and the exact screen moment each one powers.</a:t>
            </a:r>
            <a:endParaRPr lang="en-US" sz="1500" b="0" strike="noStrike" spc="-1">
              <a:solidFill>
                <a:srgbClr val="FFFFFF"/>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8"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ADK OVERVIEW</a:t>
            </a:r>
            <a:endParaRPr lang="en-US" sz="1200" b="0" strike="noStrike" spc="-1">
              <a:solidFill>
                <a:srgbClr val="000000"/>
              </a:solidFill>
              <a:latin typeface="Arial"/>
            </a:endParaRPr>
          </a:p>
        </p:txBody>
      </p:sp>
      <p:sp>
        <p:nvSpPr>
          <p:cNvPr id="409"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One request, six moving parts</a:t>
            </a:r>
            <a:endParaRPr lang="en-US" sz="2800" b="0" strike="noStrike" spc="-1">
              <a:solidFill>
                <a:srgbClr val="000000"/>
              </a:solidFill>
              <a:latin typeface="Arial"/>
            </a:endParaRPr>
          </a:p>
        </p:txBody>
      </p:sp>
      <p:sp>
        <p:nvSpPr>
          <p:cNvPr id="410" name="Shape 2"/>
          <p:cNvSpPr/>
          <p:nvPr/>
        </p:nvSpPr>
        <p:spPr>
          <a:xfrm>
            <a:off x="457200" y="1874520"/>
            <a:ext cx="1215720" cy="1508400"/>
          </a:xfrm>
          <a:prstGeom prst="roundRect">
            <a:avLst>
              <a:gd name="adj" fmla="val 6015"/>
            </a:avLst>
          </a:prstGeom>
          <a:solidFill>
            <a:srgbClr val="ECEBF4"/>
          </a:solidFill>
          <a:ln w="1270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11" name="Text 3"/>
          <p:cNvSpPr/>
          <p:nvPr/>
        </p:nvSpPr>
        <p:spPr>
          <a:xfrm>
            <a:off x="511920" y="1984320"/>
            <a:ext cx="11059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95000"/>
              </a:lnSpc>
              <a:tabLst>
                <a:tab pos="0" algn="l"/>
              </a:tabLst>
            </a:pPr>
            <a:r>
              <a:rPr lang="en-US" sz="1100" b="1" strike="noStrike" spc="-1">
                <a:solidFill>
                  <a:srgbClr val="767290"/>
                </a:solidFill>
                <a:latin typeface="Calibri"/>
                <a:ea typeface="Calibri"/>
              </a:rPr>
              <a:t>Login</a:t>
            </a:r>
            <a:endParaRPr lang="en-US" sz="1100" b="0" strike="noStrike" spc="-1">
              <a:solidFill>
                <a:srgbClr val="000000"/>
              </a:solidFill>
              <a:latin typeface="Arial"/>
            </a:endParaRPr>
          </a:p>
        </p:txBody>
      </p:sp>
      <p:sp>
        <p:nvSpPr>
          <p:cNvPr id="412" name="Text 4"/>
          <p:cNvSpPr/>
          <p:nvPr/>
        </p:nvSpPr>
        <p:spPr>
          <a:xfrm>
            <a:off x="511920" y="2651760"/>
            <a:ext cx="11059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900" b="0" strike="noStrike" spc="-1">
                <a:solidFill>
                  <a:srgbClr val="433F5C"/>
                </a:solidFill>
                <a:latin typeface="Calibri"/>
                <a:ea typeface="Calibri"/>
              </a:rPr>
              <a:t>Opens the</a:t>
            </a:r>
            <a:endParaRPr lang="en-US" sz="900" b="0" strike="noStrike" spc="-1">
              <a:solidFill>
                <a:srgbClr val="000000"/>
              </a:solidFill>
              <a:latin typeface="Arial"/>
            </a:endParaRPr>
          </a:p>
          <a:p>
            <a:pPr algn="ctr" defTabSz="914400">
              <a:lnSpc>
                <a:spcPct val="100000"/>
              </a:lnSpc>
              <a:tabLst>
                <a:tab pos="0" algn="l"/>
              </a:tabLst>
            </a:pPr>
            <a:r>
              <a:rPr lang="en-US" sz="900" b="0" strike="noStrike" spc="-1">
                <a:solidFill>
                  <a:srgbClr val="433F5C"/>
                </a:solidFill>
                <a:latin typeface="Calibri"/>
                <a:ea typeface="Calibri"/>
              </a:rPr>
              <a:t>chat app</a:t>
            </a:r>
            <a:endParaRPr lang="en-US" sz="900" b="0" strike="noStrike" spc="-1">
              <a:solidFill>
                <a:srgbClr val="000000"/>
              </a:solidFill>
              <a:latin typeface="Arial"/>
            </a:endParaRPr>
          </a:p>
        </p:txBody>
      </p:sp>
      <p:sp>
        <p:nvSpPr>
          <p:cNvPr id="413" name="Text 5"/>
          <p:cNvSpPr/>
          <p:nvPr/>
        </p:nvSpPr>
        <p:spPr>
          <a:xfrm>
            <a:off x="1673280" y="1874520"/>
            <a:ext cx="182520" cy="1508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767290"/>
                </a:solidFill>
                <a:latin typeface="Calibri"/>
                <a:ea typeface="Calibri"/>
              </a:rPr>
              <a:t>&gt;</a:t>
            </a:r>
            <a:endParaRPr lang="en-US" sz="1300" b="0" strike="noStrike" spc="-1">
              <a:solidFill>
                <a:srgbClr val="000000"/>
              </a:solidFill>
              <a:latin typeface="Arial"/>
            </a:endParaRPr>
          </a:p>
        </p:txBody>
      </p:sp>
      <p:sp>
        <p:nvSpPr>
          <p:cNvPr id="414" name="Shape 6"/>
          <p:cNvSpPr/>
          <p:nvPr/>
        </p:nvSpPr>
        <p:spPr>
          <a:xfrm>
            <a:off x="1856160" y="1874520"/>
            <a:ext cx="1215720" cy="1508400"/>
          </a:xfrm>
          <a:prstGeom prst="roundRect">
            <a:avLst>
              <a:gd name="adj" fmla="val 6015"/>
            </a:avLst>
          </a:prstGeom>
          <a:solidFill>
            <a:srgbClr val="E1F5EE"/>
          </a:solidFill>
          <a:ln w="1270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15" name="Text 7"/>
          <p:cNvSpPr/>
          <p:nvPr/>
        </p:nvSpPr>
        <p:spPr>
          <a:xfrm>
            <a:off x="1911240" y="1984320"/>
            <a:ext cx="11059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95000"/>
              </a:lnSpc>
              <a:tabLst>
                <a:tab pos="0" algn="l"/>
              </a:tabLst>
            </a:pPr>
            <a:r>
              <a:rPr lang="en-US" sz="1100" b="1" strike="noStrike" spc="-1">
                <a:solidFill>
                  <a:srgbClr val="0F6E56"/>
                </a:solidFill>
                <a:latin typeface="Calibri"/>
                <a:ea typeface="Calibri"/>
              </a:rPr>
              <a:t>Session service</a:t>
            </a:r>
            <a:endParaRPr lang="en-US" sz="1100" b="0" strike="noStrike" spc="-1">
              <a:solidFill>
                <a:srgbClr val="000000"/>
              </a:solidFill>
              <a:latin typeface="Arial"/>
            </a:endParaRPr>
          </a:p>
        </p:txBody>
      </p:sp>
      <p:sp>
        <p:nvSpPr>
          <p:cNvPr id="416" name="Text 8"/>
          <p:cNvSpPr/>
          <p:nvPr/>
        </p:nvSpPr>
        <p:spPr>
          <a:xfrm>
            <a:off x="1911240" y="2651760"/>
            <a:ext cx="11059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900" b="0" strike="noStrike" spc="-1">
                <a:solidFill>
                  <a:srgbClr val="433F5C"/>
                </a:solidFill>
                <a:latin typeface="Calibri"/>
                <a:ea typeface="Calibri"/>
              </a:rPr>
              <a:t>Tracks this</a:t>
            </a:r>
            <a:endParaRPr lang="en-US" sz="900" b="0" strike="noStrike" spc="-1">
              <a:solidFill>
                <a:srgbClr val="000000"/>
              </a:solidFill>
              <a:latin typeface="Arial"/>
            </a:endParaRPr>
          </a:p>
          <a:p>
            <a:pPr algn="ctr" defTabSz="914400">
              <a:lnSpc>
                <a:spcPct val="100000"/>
              </a:lnSpc>
              <a:tabLst>
                <a:tab pos="0" algn="l"/>
              </a:tabLst>
            </a:pPr>
            <a:r>
              <a:rPr lang="en-US" sz="900" b="0" strike="noStrike" spc="-1">
                <a:solidFill>
                  <a:srgbClr val="433F5C"/>
                </a:solidFill>
                <a:latin typeface="Calibri"/>
                <a:ea typeface="Calibri"/>
              </a:rPr>
              <a:t>conversation</a:t>
            </a:r>
            <a:endParaRPr lang="en-US" sz="900" b="0" strike="noStrike" spc="-1">
              <a:solidFill>
                <a:srgbClr val="000000"/>
              </a:solidFill>
              <a:latin typeface="Arial"/>
            </a:endParaRPr>
          </a:p>
        </p:txBody>
      </p:sp>
      <p:sp>
        <p:nvSpPr>
          <p:cNvPr id="417" name="Text 9"/>
          <p:cNvSpPr/>
          <p:nvPr/>
        </p:nvSpPr>
        <p:spPr>
          <a:xfrm>
            <a:off x="3072240" y="1874520"/>
            <a:ext cx="182520" cy="1508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767290"/>
                </a:solidFill>
                <a:latin typeface="Calibri"/>
                <a:ea typeface="Calibri"/>
              </a:rPr>
              <a:t>&gt;</a:t>
            </a:r>
            <a:endParaRPr lang="en-US" sz="1300" b="0" strike="noStrike" spc="-1">
              <a:solidFill>
                <a:srgbClr val="000000"/>
              </a:solidFill>
              <a:latin typeface="Arial"/>
            </a:endParaRPr>
          </a:p>
        </p:txBody>
      </p:sp>
      <p:sp>
        <p:nvSpPr>
          <p:cNvPr id="418" name="Shape 10"/>
          <p:cNvSpPr/>
          <p:nvPr/>
        </p:nvSpPr>
        <p:spPr>
          <a:xfrm>
            <a:off x="3255120" y="1874520"/>
            <a:ext cx="1215720" cy="1508400"/>
          </a:xfrm>
          <a:prstGeom prst="roundRect">
            <a:avLst>
              <a:gd name="adj" fmla="val 6015"/>
            </a:avLst>
          </a:prstGeom>
          <a:solidFill>
            <a:srgbClr val="EEEDFE"/>
          </a:solidFill>
          <a:ln w="1270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19" name="Text 11"/>
          <p:cNvSpPr/>
          <p:nvPr/>
        </p:nvSpPr>
        <p:spPr>
          <a:xfrm>
            <a:off x="3310200" y="1984320"/>
            <a:ext cx="11059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95000"/>
              </a:lnSpc>
              <a:tabLst>
                <a:tab pos="0" algn="l"/>
              </a:tabLst>
            </a:pPr>
            <a:r>
              <a:rPr lang="en-US" sz="1100" b="1" strike="noStrike" spc="-1">
                <a:solidFill>
                  <a:srgbClr val="26215C"/>
                </a:solidFill>
                <a:latin typeface="Calibri"/>
                <a:ea typeface="Calibri"/>
              </a:rPr>
              <a:t>Context engineering</a:t>
            </a:r>
            <a:endParaRPr lang="en-US" sz="1100" b="0" strike="noStrike" spc="-1">
              <a:solidFill>
                <a:srgbClr val="000000"/>
              </a:solidFill>
              <a:latin typeface="Arial"/>
            </a:endParaRPr>
          </a:p>
        </p:txBody>
      </p:sp>
      <p:sp>
        <p:nvSpPr>
          <p:cNvPr id="420" name="Text 12"/>
          <p:cNvSpPr/>
          <p:nvPr/>
        </p:nvSpPr>
        <p:spPr>
          <a:xfrm>
            <a:off x="3310200" y="2651760"/>
            <a:ext cx="11059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900" b="0" strike="noStrike" spc="-1">
                <a:solidFill>
                  <a:srgbClr val="433F5C"/>
                </a:solidFill>
                <a:latin typeface="Calibri"/>
                <a:ea typeface="Calibri"/>
              </a:rPr>
              <a:t>Builds this</a:t>
            </a:r>
            <a:endParaRPr lang="en-US" sz="900" b="0" strike="noStrike" spc="-1">
              <a:solidFill>
                <a:srgbClr val="000000"/>
              </a:solidFill>
              <a:latin typeface="Arial"/>
            </a:endParaRPr>
          </a:p>
          <a:p>
            <a:pPr algn="ctr" defTabSz="914400">
              <a:lnSpc>
                <a:spcPct val="100000"/>
              </a:lnSpc>
              <a:tabLst>
                <a:tab pos="0" algn="l"/>
              </a:tabLst>
            </a:pPr>
            <a:r>
              <a:rPr lang="en-US" sz="900" b="0" strike="noStrike" spc="-1">
                <a:solidFill>
                  <a:srgbClr val="433F5C"/>
                </a:solidFill>
                <a:latin typeface="Calibri"/>
                <a:ea typeface="Calibri"/>
              </a:rPr>
              <a:t>turn's context</a:t>
            </a:r>
            <a:endParaRPr lang="en-US" sz="900" b="0" strike="noStrike" spc="-1">
              <a:solidFill>
                <a:srgbClr val="000000"/>
              </a:solidFill>
              <a:latin typeface="Arial"/>
            </a:endParaRPr>
          </a:p>
        </p:txBody>
      </p:sp>
      <p:sp>
        <p:nvSpPr>
          <p:cNvPr id="421" name="Text 13"/>
          <p:cNvSpPr/>
          <p:nvPr/>
        </p:nvSpPr>
        <p:spPr>
          <a:xfrm>
            <a:off x="4471560" y="1874520"/>
            <a:ext cx="182520" cy="1508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767290"/>
                </a:solidFill>
                <a:latin typeface="Calibri"/>
                <a:ea typeface="Calibri"/>
              </a:rPr>
              <a:t>&gt;</a:t>
            </a:r>
            <a:endParaRPr lang="en-US" sz="1300" b="0" strike="noStrike" spc="-1">
              <a:solidFill>
                <a:srgbClr val="000000"/>
              </a:solidFill>
              <a:latin typeface="Arial"/>
            </a:endParaRPr>
          </a:p>
        </p:txBody>
      </p:sp>
      <p:sp>
        <p:nvSpPr>
          <p:cNvPr id="422" name="Shape 14"/>
          <p:cNvSpPr/>
          <p:nvPr/>
        </p:nvSpPr>
        <p:spPr>
          <a:xfrm>
            <a:off x="4654440" y="1874520"/>
            <a:ext cx="1215720" cy="1508400"/>
          </a:xfrm>
          <a:prstGeom prst="roundRect">
            <a:avLst>
              <a:gd name="adj" fmla="val 6015"/>
            </a:avLst>
          </a:prstGeom>
          <a:solidFill>
            <a:srgbClr val="EEEDFE"/>
          </a:solidFill>
          <a:ln w="1270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23" name="Text 15"/>
          <p:cNvSpPr/>
          <p:nvPr/>
        </p:nvSpPr>
        <p:spPr>
          <a:xfrm>
            <a:off x="4709160" y="1984320"/>
            <a:ext cx="11059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95000"/>
              </a:lnSpc>
              <a:tabLst>
                <a:tab pos="0" algn="l"/>
              </a:tabLst>
            </a:pPr>
            <a:r>
              <a:rPr lang="en-US" sz="1100" b="1" strike="noStrike" spc="-1">
                <a:solidFill>
                  <a:srgbClr val="26215C"/>
                </a:solidFill>
                <a:latin typeface="Calibri"/>
                <a:ea typeface="Calibri"/>
              </a:rPr>
              <a:t>Orchestrator + agents</a:t>
            </a:r>
            <a:endParaRPr lang="en-US" sz="1100" b="0" strike="noStrike" spc="-1">
              <a:solidFill>
                <a:srgbClr val="000000"/>
              </a:solidFill>
              <a:latin typeface="Arial"/>
            </a:endParaRPr>
          </a:p>
        </p:txBody>
      </p:sp>
      <p:sp>
        <p:nvSpPr>
          <p:cNvPr id="424" name="Text 16"/>
          <p:cNvSpPr/>
          <p:nvPr/>
        </p:nvSpPr>
        <p:spPr>
          <a:xfrm>
            <a:off x="4709160" y="2651760"/>
            <a:ext cx="11059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900" b="0" strike="noStrike" spc="-1">
                <a:solidFill>
                  <a:srgbClr val="433F5C"/>
                </a:solidFill>
                <a:latin typeface="Calibri"/>
                <a:ea typeface="Calibri"/>
              </a:rPr>
              <a:t>Route intents</a:t>
            </a:r>
            <a:endParaRPr lang="en-US" sz="900" b="0" strike="noStrike" spc="-1">
              <a:solidFill>
                <a:srgbClr val="000000"/>
              </a:solidFill>
              <a:latin typeface="Arial"/>
            </a:endParaRPr>
          </a:p>
          <a:p>
            <a:pPr algn="ctr" defTabSz="914400">
              <a:lnSpc>
                <a:spcPct val="100000"/>
              </a:lnSpc>
              <a:tabLst>
                <a:tab pos="0" algn="l"/>
              </a:tabLst>
            </a:pPr>
            <a:r>
              <a:rPr lang="en-US" sz="900" b="0" strike="noStrike" spc="-1">
                <a:solidFill>
                  <a:srgbClr val="433F5C"/>
                </a:solidFill>
                <a:latin typeface="Calibri"/>
                <a:ea typeface="Calibri"/>
              </a:rPr>
              <a:t>to tools</a:t>
            </a:r>
            <a:endParaRPr lang="en-US" sz="900" b="0" strike="noStrike" spc="-1">
              <a:solidFill>
                <a:srgbClr val="000000"/>
              </a:solidFill>
              <a:latin typeface="Arial"/>
            </a:endParaRPr>
          </a:p>
        </p:txBody>
      </p:sp>
      <p:sp>
        <p:nvSpPr>
          <p:cNvPr id="425" name="Text 17"/>
          <p:cNvSpPr/>
          <p:nvPr/>
        </p:nvSpPr>
        <p:spPr>
          <a:xfrm>
            <a:off x="5870520" y="1874520"/>
            <a:ext cx="182520" cy="1508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767290"/>
                </a:solidFill>
                <a:latin typeface="Calibri"/>
                <a:ea typeface="Calibri"/>
              </a:rPr>
              <a:t>&gt;</a:t>
            </a:r>
            <a:endParaRPr lang="en-US" sz="1300" b="0" strike="noStrike" spc="-1">
              <a:solidFill>
                <a:srgbClr val="000000"/>
              </a:solidFill>
              <a:latin typeface="Arial"/>
            </a:endParaRPr>
          </a:p>
        </p:txBody>
      </p:sp>
      <p:sp>
        <p:nvSpPr>
          <p:cNvPr id="426" name="Shape 18"/>
          <p:cNvSpPr/>
          <p:nvPr/>
        </p:nvSpPr>
        <p:spPr>
          <a:xfrm>
            <a:off x="6053400" y="1874520"/>
            <a:ext cx="1215720" cy="1508400"/>
          </a:xfrm>
          <a:prstGeom prst="roundRect">
            <a:avLst>
              <a:gd name="adj" fmla="val 6015"/>
            </a:avLst>
          </a:prstGeom>
          <a:solidFill>
            <a:srgbClr val="ECEBF4"/>
          </a:solidFill>
          <a:ln w="1270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27" name="Text 19"/>
          <p:cNvSpPr/>
          <p:nvPr/>
        </p:nvSpPr>
        <p:spPr>
          <a:xfrm>
            <a:off x="6108120" y="1984320"/>
            <a:ext cx="11059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95000"/>
              </a:lnSpc>
              <a:tabLst>
                <a:tab pos="0" algn="l"/>
              </a:tabLst>
            </a:pPr>
            <a:r>
              <a:rPr lang="en-US" sz="1100" b="1" strike="noStrike" spc="-1">
                <a:solidFill>
                  <a:srgbClr val="767290"/>
                </a:solidFill>
                <a:latin typeface="Calibri"/>
                <a:ea typeface="Calibri"/>
              </a:rPr>
              <a:t>Chat UI</a:t>
            </a:r>
            <a:endParaRPr lang="en-US" sz="1100" b="0" strike="noStrike" spc="-1">
              <a:solidFill>
                <a:srgbClr val="000000"/>
              </a:solidFill>
              <a:latin typeface="Arial"/>
            </a:endParaRPr>
          </a:p>
        </p:txBody>
      </p:sp>
      <p:sp>
        <p:nvSpPr>
          <p:cNvPr id="428" name="Text 20"/>
          <p:cNvSpPr/>
          <p:nvPr/>
        </p:nvSpPr>
        <p:spPr>
          <a:xfrm>
            <a:off x="6108120" y="2651760"/>
            <a:ext cx="11059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900" b="0" strike="noStrike" spc="-1">
                <a:solidFill>
                  <a:srgbClr val="433F5C"/>
                </a:solidFill>
                <a:latin typeface="Calibri"/>
                <a:ea typeface="Calibri"/>
              </a:rPr>
              <a:t>Streams reply</a:t>
            </a:r>
            <a:endParaRPr lang="en-US" sz="900" b="0" strike="noStrike" spc="-1">
              <a:solidFill>
                <a:srgbClr val="000000"/>
              </a:solidFill>
              <a:latin typeface="Arial"/>
            </a:endParaRPr>
          </a:p>
          <a:p>
            <a:pPr algn="ctr" defTabSz="914400">
              <a:lnSpc>
                <a:spcPct val="100000"/>
              </a:lnSpc>
              <a:tabLst>
                <a:tab pos="0" algn="l"/>
              </a:tabLst>
            </a:pPr>
            <a:r>
              <a:rPr lang="en-US" sz="900" b="0" strike="noStrike" spc="-1">
                <a:solidFill>
                  <a:srgbClr val="433F5C"/>
                </a:solidFill>
                <a:latin typeface="Calibri"/>
                <a:ea typeface="Calibri"/>
              </a:rPr>
              <a:t>+ actions</a:t>
            </a:r>
            <a:endParaRPr lang="en-US" sz="900" b="0" strike="noStrike" spc="-1">
              <a:solidFill>
                <a:srgbClr val="000000"/>
              </a:solidFill>
              <a:latin typeface="Arial"/>
            </a:endParaRPr>
          </a:p>
        </p:txBody>
      </p:sp>
      <p:sp>
        <p:nvSpPr>
          <p:cNvPr id="429" name="Text 21"/>
          <p:cNvSpPr/>
          <p:nvPr/>
        </p:nvSpPr>
        <p:spPr>
          <a:xfrm>
            <a:off x="7269480" y="1874520"/>
            <a:ext cx="182520" cy="1508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767290"/>
                </a:solidFill>
                <a:latin typeface="Calibri"/>
                <a:ea typeface="Calibri"/>
              </a:rPr>
              <a:t>&gt;</a:t>
            </a:r>
            <a:endParaRPr lang="en-US" sz="1300" b="0" strike="noStrike" spc="-1">
              <a:solidFill>
                <a:srgbClr val="000000"/>
              </a:solidFill>
              <a:latin typeface="Arial"/>
            </a:endParaRPr>
          </a:p>
        </p:txBody>
      </p:sp>
      <p:sp>
        <p:nvSpPr>
          <p:cNvPr id="430" name="Shape 22"/>
          <p:cNvSpPr/>
          <p:nvPr/>
        </p:nvSpPr>
        <p:spPr>
          <a:xfrm>
            <a:off x="7452360" y="1874520"/>
            <a:ext cx="1215720" cy="1508400"/>
          </a:xfrm>
          <a:prstGeom prst="roundRect">
            <a:avLst>
              <a:gd name="adj" fmla="val 6015"/>
            </a:avLst>
          </a:prstGeom>
          <a:solidFill>
            <a:srgbClr val="E1F5EE"/>
          </a:solidFill>
          <a:ln w="1270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31" name="Text 23"/>
          <p:cNvSpPr/>
          <p:nvPr/>
        </p:nvSpPr>
        <p:spPr>
          <a:xfrm>
            <a:off x="7507080" y="1984320"/>
            <a:ext cx="11059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95000"/>
              </a:lnSpc>
              <a:tabLst>
                <a:tab pos="0" algn="l"/>
              </a:tabLst>
            </a:pPr>
            <a:r>
              <a:rPr lang="en-US" sz="1100" b="1" strike="noStrike" spc="-1">
                <a:solidFill>
                  <a:srgbClr val="0F6E56"/>
                </a:solidFill>
                <a:latin typeface="Calibri"/>
                <a:ea typeface="Calibri"/>
              </a:rPr>
              <a:t>Session store (Redis)</a:t>
            </a:r>
            <a:endParaRPr lang="en-US" sz="1100" b="0" strike="noStrike" spc="-1">
              <a:solidFill>
                <a:srgbClr val="000000"/>
              </a:solidFill>
              <a:latin typeface="Arial"/>
            </a:endParaRPr>
          </a:p>
        </p:txBody>
      </p:sp>
      <p:sp>
        <p:nvSpPr>
          <p:cNvPr id="432" name="Text 24"/>
          <p:cNvSpPr/>
          <p:nvPr/>
        </p:nvSpPr>
        <p:spPr>
          <a:xfrm>
            <a:off x="7507080" y="2651760"/>
            <a:ext cx="11059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900" b="0" strike="noStrike" spc="-1">
                <a:solidFill>
                  <a:srgbClr val="433F5C"/>
                </a:solidFill>
                <a:latin typeface="Calibri"/>
                <a:ea typeface="Calibri"/>
              </a:rPr>
              <a:t>Short-term state,</a:t>
            </a:r>
            <a:endParaRPr lang="en-US" sz="900" b="0" strike="noStrike" spc="-1">
              <a:solidFill>
                <a:srgbClr val="000000"/>
              </a:solidFill>
              <a:latin typeface="Arial"/>
            </a:endParaRPr>
          </a:p>
          <a:p>
            <a:pPr algn="ctr" defTabSz="914400">
              <a:lnSpc>
                <a:spcPct val="100000"/>
              </a:lnSpc>
              <a:tabLst>
                <a:tab pos="0" algn="l"/>
              </a:tabLst>
            </a:pPr>
            <a:r>
              <a:rPr lang="en-US" sz="900" b="0" strike="noStrike" spc="-1">
                <a:solidFill>
                  <a:srgbClr val="433F5C"/>
                </a:solidFill>
                <a:latin typeface="Calibri"/>
                <a:ea typeface="Calibri"/>
              </a:rPr>
              <a:t>across restarts</a:t>
            </a:r>
            <a:endParaRPr lang="en-US" sz="900" b="0" strike="noStrike" spc="-1">
              <a:solidFill>
                <a:srgbClr val="000000"/>
              </a:solidFill>
              <a:latin typeface="Arial"/>
            </a:endParaRPr>
          </a:p>
        </p:txBody>
      </p:sp>
      <p:sp>
        <p:nvSpPr>
          <p:cNvPr id="433" name="Text 25"/>
          <p:cNvSpPr/>
          <p:nvPr/>
        </p:nvSpPr>
        <p:spPr>
          <a:xfrm>
            <a:off x="457200" y="3611880"/>
            <a:ext cx="8229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25000"/>
              </a:lnSpc>
              <a:tabLst>
                <a:tab pos="0" algn="l"/>
              </a:tabLst>
            </a:pPr>
            <a:r>
              <a:rPr lang="en-US" sz="1250" b="0" i="1" strike="noStrike" spc="-1">
                <a:solidFill>
                  <a:srgbClr val="433F5C"/>
                </a:solidFill>
                <a:latin typeface="Calibri"/>
                <a:ea typeface="Calibri"/>
              </a:rPr>
              <a:t>State gives continuity within a conversation. A Redis-backed session store extends that across</a:t>
            </a:r>
            <a:endParaRPr lang="en-US" sz="1250" b="0" strike="noStrike" spc="-1">
              <a:solidFill>
                <a:srgbClr val="000000"/>
              </a:solidFill>
              <a:latin typeface="Arial"/>
            </a:endParaRPr>
          </a:p>
          <a:p>
            <a:pPr algn="ctr" defTabSz="914400">
              <a:lnSpc>
                <a:spcPct val="125000"/>
              </a:lnSpc>
              <a:tabLst>
                <a:tab pos="0" algn="l"/>
              </a:tabLst>
            </a:pPr>
            <a:r>
              <a:rPr lang="en-US" sz="1250" b="0" i="1" strike="noStrike" spc="-1">
                <a:solidFill>
                  <a:srgbClr val="433F5C"/>
                </a:solidFill>
                <a:latin typeface="Calibri"/>
                <a:ea typeface="Calibri"/>
              </a:rPr>
              <a:t>restarts and instances — it is still short-term, not the long-term Memory Bank, which isn't built yet.</a:t>
            </a:r>
            <a:endParaRPr lang="en-US" sz="1250" b="0" strike="noStrike" spc="-1">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4"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BUILDING BLOCK 1 OF 6 · CURRENT IMPLEMENTATION</a:t>
            </a:r>
            <a:endParaRPr lang="en-US" sz="1200" b="0" strike="noStrike" spc="-1">
              <a:solidFill>
                <a:srgbClr val="000000"/>
              </a:solidFill>
              <a:latin typeface="Arial"/>
            </a:endParaRPr>
          </a:p>
        </p:txBody>
      </p:sp>
      <p:sp>
        <p:nvSpPr>
          <p:cNvPr id="435"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Session service today: InMemorySessionService</a:t>
            </a:r>
            <a:endParaRPr lang="en-US" sz="2800" b="0" strike="noStrike" spc="-1">
              <a:solidFill>
                <a:srgbClr val="000000"/>
              </a:solidFill>
              <a:latin typeface="Arial"/>
            </a:endParaRPr>
          </a:p>
        </p:txBody>
      </p:sp>
      <p:sp>
        <p:nvSpPr>
          <p:cNvPr id="436" name="Shape 2"/>
          <p:cNvSpPr/>
          <p:nvPr/>
        </p:nvSpPr>
        <p:spPr>
          <a:xfrm>
            <a:off x="457200" y="1325880"/>
            <a:ext cx="8229240" cy="511560"/>
          </a:xfrm>
          <a:prstGeom prst="roundRect">
            <a:avLst>
              <a:gd name="adj" fmla="val 12500"/>
            </a:avLst>
          </a:prstGeom>
          <a:solidFill>
            <a:srgbClr val="FAEC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37" name="Shape 3"/>
          <p:cNvSpPr/>
          <p:nvPr/>
        </p:nvSpPr>
        <p:spPr>
          <a:xfrm>
            <a:off x="567000" y="1380600"/>
            <a:ext cx="402120" cy="402120"/>
          </a:xfrm>
          <a:prstGeom prst="ellipse">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438" name="Image 0" descr="preencoded.png"/>
          <p:cNvPicPr/>
          <p:nvPr/>
        </p:nvPicPr>
        <p:blipFill>
          <a:blip r:embed="rId3"/>
          <a:stretch/>
        </p:blipFill>
        <p:spPr>
          <a:xfrm>
            <a:off x="663480" y="1477440"/>
            <a:ext cx="208800" cy="208800"/>
          </a:xfrm>
          <a:prstGeom prst="rect">
            <a:avLst/>
          </a:prstGeom>
          <a:ln w="0">
            <a:noFill/>
          </a:ln>
        </p:spPr>
      </p:pic>
      <p:sp>
        <p:nvSpPr>
          <p:cNvPr id="439" name="Text 4"/>
          <p:cNvSpPr/>
          <p:nvPr/>
        </p:nvSpPr>
        <p:spPr>
          <a:xfrm>
            <a:off x="1097280" y="1325880"/>
            <a:ext cx="749772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D85A30"/>
                </a:solidFill>
                <a:latin typeface="Calibri"/>
                <a:ea typeface="Calibri"/>
              </a:rPr>
              <a:t>Not yet built: </a:t>
            </a:r>
            <a:r>
              <a:rPr lang="en-US" sz="1000" b="0" strike="noStrike" spc="-1">
                <a:solidFill>
                  <a:srgbClr val="433F5C"/>
                </a:solidFill>
                <a:latin typeface="Calibri"/>
                <a:ea typeface="Calibri"/>
              </a:rPr>
              <a:t>long-term memory, and list_sessions() can't surface past threads — state lives only as long as the process runs. Planned next step: a Redis-backed session store (still short-term, not Memory Bank).</a:t>
            </a:r>
            <a:endParaRPr lang="en-US" sz="1000" b="0" strike="noStrike" spc="-1">
              <a:solidFill>
                <a:srgbClr val="000000"/>
              </a:solidFill>
              <a:latin typeface="Arial"/>
            </a:endParaRPr>
          </a:p>
        </p:txBody>
      </p:sp>
      <p:sp>
        <p:nvSpPr>
          <p:cNvPr id="440" name="Shape 5"/>
          <p:cNvSpPr/>
          <p:nvPr/>
        </p:nvSpPr>
        <p:spPr>
          <a:xfrm>
            <a:off x="457200" y="1920240"/>
            <a:ext cx="2651400" cy="1298160"/>
          </a:xfrm>
          <a:prstGeom prst="roundRect">
            <a:avLst>
              <a:gd name="adj" fmla="val 6338"/>
            </a:avLst>
          </a:prstGeom>
          <a:solidFill>
            <a:srgbClr val="F8F7FC"/>
          </a:solidFill>
          <a:ln w="0">
            <a:noFill/>
          </a:ln>
          <a:effectLst>
            <a:outerShdw blurRad="50760" dist="2556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41" name="Shape 6"/>
          <p:cNvSpPr/>
          <p:nvPr/>
        </p:nvSpPr>
        <p:spPr>
          <a:xfrm>
            <a:off x="621720" y="2066400"/>
            <a:ext cx="365400" cy="36540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442" name="Image 1" descr="preencoded.png"/>
          <p:cNvPicPr/>
          <p:nvPr/>
        </p:nvPicPr>
        <p:blipFill>
          <a:blip r:embed="rId4"/>
          <a:stretch/>
        </p:blipFill>
        <p:spPr>
          <a:xfrm>
            <a:off x="709560" y="2154240"/>
            <a:ext cx="189720" cy="189720"/>
          </a:xfrm>
          <a:prstGeom prst="rect">
            <a:avLst/>
          </a:prstGeom>
          <a:ln w="0">
            <a:noFill/>
          </a:ln>
        </p:spPr>
      </p:pic>
      <p:sp>
        <p:nvSpPr>
          <p:cNvPr id="443" name="Text 7"/>
          <p:cNvSpPr/>
          <p:nvPr/>
        </p:nvSpPr>
        <p:spPr>
          <a:xfrm>
            <a:off x="1078920" y="2039040"/>
            <a:ext cx="1865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2000"/>
              </a:lnSpc>
              <a:tabLst>
                <a:tab pos="0" algn="l"/>
              </a:tabLst>
            </a:pPr>
            <a:r>
              <a:rPr lang="en-US" sz="1100" b="1" strike="noStrike" spc="-1">
                <a:solidFill>
                  <a:srgbClr val="26215C"/>
                </a:solidFill>
                <a:latin typeface="Calibri"/>
                <a:ea typeface="Calibri"/>
              </a:rPr>
              <a:t>Create on first message</a:t>
            </a:r>
            <a:endParaRPr lang="en-US" sz="1100" b="0" strike="noStrike" spc="-1">
              <a:solidFill>
                <a:srgbClr val="000000"/>
              </a:solidFill>
              <a:latin typeface="Arial"/>
            </a:endParaRPr>
          </a:p>
        </p:txBody>
      </p:sp>
      <p:sp>
        <p:nvSpPr>
          <p:cNvPr id="444" name="Text 8"/>
          <p:cNvSpPr/>
          <p:nvPr/>
        </p:nvSpPr>
        <p:spPr>
          <a:xfrm>
            <a:off x="621720" y="2487240"/>
            <a:ext cx="2322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2000"/>
              </a:lnSpc>
              <a:tabLst>
                <a:tab pos="0" algn="l"/>
              </a:tabLst>
            </a:pPr>
            <a:r>
              <a:rPr lang="en-US" sz="850" b="0" strike="noStrike" spc="-1">
                <a:solidFill>
                  <a:srgbClr val="433F5C"/>
                </a:solidFill>
                <a:latin typeface="Calibri"/>
                <a:ea typeface="Calibri"/>
              </a:rPr>
              <a:t>A Session (id, user_id, app_name) is created the moment the user submits their first message — not waiting for a full turn to complete.</a:t>
            </a:r>
            <a:endParaRPr lang="en-US" sz="850" b="0" strike="noStrike" spc="-1">
              <a:solidFill>
                <a:srgbClr val="000000"/>
              </a:solidFill>
              <a:latin typeface="Arial"/>
            </a:endParaRPr>
          </a:p>
        </p:txBody>
      </p:sp>
      <p:sp>
        <p:nvSpPr>
          <p:cNvPr id="445" name="Shape 9"/>
          <p:cNvSpPr/>
          <p:nvPr/>
        </p:nvSpPr>
        <p:spPr>
          <a:xfrm>
            <a:off x="3246120" y="1920240"/>
            <a:ext cx="2651400" cy="1298160"/>
          </a:xfrm>
          <a:prstGeom prst="roundRect">
            <a:avLst>
              <a:gd name="adj" fmla="val 6338"/>
            </a:avLst>
          </a:prstGeom>
          <a:solidFill>
            <a:srgbClr val="F8F7FC"/>
          </a:solidFill>
          <a:ln w="0">
            <a:noFill/>
          </a:ln>
          <a:effectLst>
            <a:outerShdw blurRad="50760" dist="2556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46" name="Shape 10"/>
          <p:cNvSpPr/>
          <p:nvPr/>
        </p:nvSpPr>
        <p:spPr>
          <a:xfrm>
            <a:off x="3410640" y="2066400"/>
            <a:ext cx="365400" cy="36540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447" name="Image 2" descr="preencoded.png"/>
          <p:cNvPicPr/>
          <p:nvPr/>
        </p:nvPicPr>
        <p:blipFill>
          <a:blip r:embed="rId5"/>
          <a:stretch/>
        </p:blipFill>
        <p:spPr>
          <a:xfrm>
            <a:off x="3498480" y="2154240"/>
            <a:ext cx="189720" cy="189720"/>
          </a:xfrm>
          <a:prstGeom prst="rect">
            <a:avLst/>
          </a:prstGeom>
          <a:ln w="0">
            <a:noFill/>
          </a:ln>
        </p:spPr>
      </p:pic>
      <p:sp>
        <p:nvSpPr>
          <p:cNvPr id="448" name="Text 11"/>
          <p:cNvSpPr/>
          <p:nvPr/>
        </p:nvSpPr>
        <p:spPr>
          <a:xfrm>
            <a:off x="3867840" y="2039040"/>
            <a:ext cx="1865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2000"/>
              </a:lnSpc>
              <a:tabLst>
                <a:tab pos="0" algn="l"/>
              </a:tabLst>
            </a:pPr>
            <a:r>
              <a:rPr lang="en-US" sz="1100" b="1" strike="noStrike" spc="-1">
                <a:solidFill>
                  <a:srgbClr val="26215C"/>
                </a:solidFill>
                <a:latin typeface="Calibri"/>
                <a:ea typeface="Calibri"/>
              </a:rPr>
              <a:t>Turn-to-turn continuity</a:t>
            </a:r>
            <a:endParaRPr lang="en-US" sz="1100" b="0" strike="noStrike" spc="-1">
              <a:solidFill>
                <a:srgbClr val="000000"/>
              </a:solidFill>
              <a:latin typeface="Arial"/>
            </a:endParaRPr>
          </a:p>
        </p:txBody>
      </p:sp>
      <p:sp>
        <p:nvSpPr>
          <p:cNvPr id="449" name="Text 12"/>
          <p:cNvSpPr/>
          <p:nvPr/>
        </p:nvSpPr>
        <p:spPr>
          <a:xfrm>
            <a:off x="3410640" y="2487240"/>
            <a:ext cx="2322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2000"/>
              </a:lnSpc>
              <a:tabLst>
                <a:tab pos="0" algn="l"/>
              </a:tabLst>
            </a:pPr>
            <a:r>
              <a:rPr lang="en-US" sz="850" b="0" strike="noStrike" spc="-1">
                <a:solidFill>
                  <a:srgbClr val="433F5C"/>
                </a:solidFill>
                <a:latin typeface="Calibri"/>
                <a:ea typeface="Calibri"/>
              </a:rPr>
              <a:t>current_intent, active_transaction, and similar scratchpad keys persist for the lifetime of this conversation, so the agent doesn't re-ask what it just learned.</a:t>
            </a:r>
            <a:endParaRPr lang="en-US" sz="850" b="0" strike="noStrike" spc="-1">
              <a:solidFill>
                <a:srgbClr val="000000"/>
              </a:solidFill>
              <a:latin typeface="Arial"/>
            </a:endParaRPr>
          </a:p>
        </p:txBody>
      </p:sp>
      <p:sp>
        <p:nvSpPr>
          <p:cNvPr id="450" name="Shape 13"/>
          <p:cNvSpPr/>
          <p:nvPr/>
        </p:nvSpPr>
        <p:spPr>
          <a:xfrm>
            <a:off x="6035040" y="1920240"/>
            <a:ext cx="2651400" cy="1298160"/>
          </a:xfrm>
          <a:prstGeom prst="roundRect">
            <a:avLst>
              <a:gd name="adj" fmla="val 6338"/>
            </a:avLst>
          </a:prstGeom>
          <a:solidFill>
            <a:srgbClr val="F8F7FC"/>
          </a:solidFill>
          <a:ln w="0">
            <a:noFill/>
          </a:ln>
          <a:effectLst>
            <a:outerShdw blurRad="50760" dist="2556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51" name="Shape 14"/>
          <p:cNvSpPr/>
          <p:nvPr/>
        </p:nvSpPr>
        <p:spPr>
          <a:xfrm>
            <a:off x="6199560" y="2066400"/>
            <a:ext cx="365400" cy="36540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452" name="Image 3" descr="preencoded.png"/>
          <p:cNvPicPr/>
          <p:nvPr/>
        </p:nvPicPr>
        <p:blipFill>
          <a:blip r:embed="rId6"/>
          <a:stretch/>
        </p:blipFill>
        <p:spPr>
          <a:xfrm>
            <a:off x="6287400" y="2154240"/>
            <a:ext cx="189720" cy="189720"/>
          </a:xfrm>
          <a:prstGeom prst="rect">
            <a:avLst/>
          </a:prstGeom>
          <a:ln w="0">
            <a:noFill/>
          </a:ln>
        </p:spPr>
      </p:pic>
      <p:sp>
        <p:nvSpPr>
          <p:cNvPr id="453" name="Text 15"/>
          <p:cNvSpPr/>
          <p:nvPr/>
        </p:nvSpPr>
        <p:spPr>
          <a:xfrm>
            <a:off x="6656760" y="2039040"/>
            <a:ext cx="1865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2000"/>
              </a:lnSpc>
              <a:tabLst>
                <a:tab pos="0" algn="l"/>
              </a:tabLst>
            </a:pPr>
            <a:r>
              <a:rPr lang="en-US" sz="1100" b="1" strike="noStrike" spc="-1">
                <a:solidFill>
                  <a:srgbClr val="26215C"/>
                </a:solidFill>
                <a:latin typeface="Calibri"/>
                <a:ea typeface="Calibri"/>
              </a:rPr>
              <a:t>Per-user scoping in-process</a:t>
            </a:r>
            <a:endParaRPr lang="en-US" sz="1100" b="0" strike="noStrike" spc="-1">
              <a:solidFill>
                <a:srgbClr val="000000"/>
              </a:solidFill>
              <a:latin typeface="Arial"/>
            </a:endParaRPr>
          </a:p>
        </p:txBody>
      </p:sp>
      <p:sp>
        <p:nvSpPr>
          <p:cNvPr id="454" name="Text 16"/>
          <p:cNvSpPr/>
          <p:nvPr/>
        </p:nvSpPr>
        <p:spPr>
          <a:xfrm>
            <a:off x="6199560" y="2487240"/>
            <a:ext cx="2322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2000"/>
              </a:lnSpc>
              <a:tabLst>
                <a:tab pos="0" algn="l"/>
              </a:tabLst>
            </a:pPr>
            <a:r>
              <a:rPr lang="en-US" sz="850" b="0" strike="noStrike" spc="-1">
                <a:solidFill>
                  <a:srgbClr val="433F5C"/>
                </a:solidFill>
                <a:latin typeface="Calibri"/>
                <a:ea typeface="Calibri"/>
              </a:rPr>
              <a:t>user_id keeps concurrent customers' sessions fully isolated, even though all of it lives in the same process memory today.</a:t>
            </a:r>
            <a:endParaRPr lang="en-US" sz="850" b="0" strike="noStrike" spc="-1">
              <a:solidFill>
                <a:srgbClr val="000000"/>
              </a:solidFill>
              <a:latin typeface="Arial"/>
            </a:endParaRPr>
          </a:p>
        </p:txBody>
      </p:sp>
      <p:sp>
        <p:nvSpPr>
          <p:cNvPr id="455" name="Shape 17"/>
          <p:cNvSpPr/>
          <p:nvPr/>
        </p:nvSpPr>
        <p:spPr>
          <a:xfrm>
            <a:off x="457200" y="3310200"/>
            <a:ext cx="2651400" cy="1298160"/>
          </a:xfrm>
          <a:prstGeom prst="roundRect">
            <a:avLst>
              <a:gd name="adj" fmla="val 6338"/>
            </a:avLst>
          </a:prstGeom>
          <a:solidFill>
            <a:srgbClr val="F8F7FC"/>
          </a:solidFill>
          <a:ln w="0">
            <a:noFill/>
          </a:ln>
          <a:effectLst>
            <a:outerShdw blurRad="50760" dist="2556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56" name="Shape 18"/>
          <p:cNvSpPr/>
          <p:nvPr/>
        </p:nvSpPr>
        <p:spPr>
          <a:xfrm>
            <a:off x="621720" y="3456360"/>
            <a:ext cx="365400" cy="36540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457" name="Image 4" descr="preencoded.png"/>
          <p:cNvPicPr/>
          <p:nvPr/>
        </p:nvPicPr>
        <p:blipFill>
          <a:blip r:embed="rId7"/>
          <a:stretch/>
        </p:blipFill>
        <p:spPr>
          <a:xfrm>
            <a:off x="709560" y="3544200"/>
            <a:ext cx="189720" cy="189720"/>
          </a:xfrm>
          <a:prstGeom prst="rect">
            <a:avLst/>
          </a:prstGeom>
          <a:ln w="0">
            <a:noFill/>
          </a:ln>
        </p:spPr>
      </p:pic>
      <p:sp>
        <p:nvSpPr>
          <p:cNvPr id="458" name="Text 19"/>
          <p:cNvSpPr/>
          <p:nvPr/>
        </p:nvSpPr>
        <p:spPr>
          <a:xfrm>
            <a:off x="1078920" y="3429000"/>
            <a:ext cx="1865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2000"/>
              </a:lnSpc>
              <a:tabLst>
                <a:tab pos="0" algn="l"/>
              </a:tabLst>
            </a:pPr>
            <a:r>
              <a:rPr lang="en-US" sz="1100" b="1" strike="noStrike" spc="-1">
                <a:solidFill>
                  <a:srgbClr val="26215C"/>
                </a:solidFill>
                <a:latin typeface="Calibri"/>
                <a:ea typeface="Calibri"/>
              </a:rPr>
              <a:t>Recency via lastUpdateTime</a:t>
            </a:r>
            <a:endParaRPr lang="en-US" sz="1100" b="0" strike="noStrike" spc="-1">
              <a:solidFill>
                <a:srgbClr val="000000"/>
              </a:solidFill>
              <a:latin typeface="Arial"/>
            </a:endParaRPr>
          </a:p>
        </p:txBody>
      </p:sp>
      <p:sp>
        <p:nvSpPr>
          <p:cNvPr id="459" name="Text 20"/>
          <p:cNvSpPr/>
          <p:nvPr/>
        </p:nvSpPr>
        <p:spPr>
          <a:xfrm>
            <a:off x="621720" y="3877200"/>
            <a:ext cx="2322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2000"/>
              </a:lnSpc>
              <a:tabLst>
                <a:tab pos="0" algn="l"/>
              </a:tabLst>
            </a:pPr>
            <a:r>
              <a:rPr lang="en-US" sz="850" b="0" strike="noStrike" spc="-1">
                <a:solidFill>
                  <a:srgbClr val="433F5C"/>
                </a:solidFill>
                <a:latin typeface="Calibri"/>
                <a:ea typeface="Calibri"/>
              </a:rPr>
              <a:t>Every session carries a timestamp — usable today to detect “still mid-conversation” within the same process run.</a:t>
            </a:r>
            <a:endParaRPr lang="en-US" sz="850" b="0" strike="noStrike" spc="-1">
              <a:solidFill>
                <a:srgbClr val="000000"/>
              </a:solidFill>
              <a:latin typeface="Arial"/>
            </a:endParaRPr>
          </a:p>
        </p:txBody>
      </p:sp>
      <p:sp>
        <p:nvSpPr>
          <p:cNvPr id="460" name="Shape 21"/>
          <p:cNvSpPr/>
          <p:nvPr/>
        </p:nvSpPr>
        <p:spPr>
          <a:xfrm>
            <a:off x="3246120" y="3310200"/>
            <a:ext cx="2651400" cy="1298160"/>
          </a:xfrm>
          <a:prstGeom prst="roundRect">
            <a:avLst>
              <a:gd name="adj" fmla="val 6338"/>
            </a:avLst>
          </a:prstGeom>
          <a:solidFill>
            <a:srgbClr val="F8F7FC"/>
          </a:solidFill>
          <a:ln w="0">
            <a:noFill/>
          </a:ln>
          <a:effectLst>
            <a:outerShdw blurRad="50760" dist="2556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61" name="Shape 22"/>
          <p:cNvSpPr/>
          <p:nvPr/>
        </p:nvSpPr>
        <p:spPr>
          <a:xfrm>
            <a:off x="3410640" y="3456360"/>
            <a:ext cx="365400" cy="365400"/>
          </a:xfrm>
          <a:prstGeom prst="ellipse">
            <a:avLst/>
          </a:prstGeom>
          <a:solidFill>
            <a:srgbClr val="FAEC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462" name="Image 5" descr="preencoded.png"/>
          <p:cNvPicPr/>
          <p:nvPr/>
        </p:nvPicPr>
        <p:blipFill>
          <a:blip r:embed="rId8"/>
          <a:stretch/>
        </p:blipFill>
        <p:spPr>
          <a:xfrm>
            <a:off x="3498480" y="3544200"/>
            <a:ext cx="189720" cy="189720"/>
          </a:xfrm>
          <a:prstGeom prst="rect">
            <a:avLst/>
          </a:prstGeom>
          <a:ln w="0">
            <a:noFill/>
          </a:ln>
        </p:spPr>
      </p:pic>
      <p:sp>
        <p:nvSpPr>
          <p:cNvPr id="463" name="Text 23"/>
          <p:cNvSpPr/>
          <p:nvPr/>
        </p:nvSpPr>
        <p:spPr>
          <a:xfrm>
            <a:off x="3867840" y="3429000"/>
            <a:ext cx="1865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2000"/>
              </a:lnSpc>
              <a:tabLst>
                <a:tab pos="0" algn="l"/>
              </a:tabLst>
            </a:pPr>
            <a:r>
              <a:rPr lang="en-US" sz="1100" b="1" strike="noStrike" spc="-1">
                <a:solidFill>
                  <a:srgbClr val="26215C"/>
                </a:solidFill>
                <a:latin typeface="Calibri"/>
                <a:ea typeface="Calibri"/>
              </a:rPr>
              <a:t>Routing trail in events</a:t>
            </a:r>
            <a:endParaRPr lang="en-US" sz="1100" b="0" strike="noStrike" spc="-1">
              <a:solidFill>
                <a:srgbClr val="000000"/>
              </a:solidFill>
              <a:latin typeface="Arial"/>
            </a:endParaRPr>
          </a:p>
        </p:txBody>
      </p:sp>
      <p:sp>
        <p:nvSpPr>
          <p:cNvPr id="464" name="Text 24"/>
          <p:cNvSpPr/>
          <p:nvPr/>
        </p:nvSpPr>
        <p:spPr>
          <a:xfrm>
            <a:off x="3410640" y="3877200"/>
            <a:ext cx="2322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2000"/>
              </a:lnSpc>
              <a:tabLst>
                <a:tab pos="0" algn="l"/>
              </a:tabLst>
            </a:pPr>
            <a:r>
              <a:rPr lang="en-US" sz="850" b="0" strike="noStrike" spc="-1">
                <a:solidFill>
                  <a:srgbClr val="433F5C"/>
                </a:solidFill>
                <a:latin typeface="Calibri"/>
                <a:ea typeface="Calibri"/>
              </a:rPr>
              <a:t>Each hand-off between sub-agents (e.g. Transactions → Card Application) is logged as an event in the session — a real, inspectable trace of how the request was handled.</a:t>
            </a:r>
            <a:endParaRPr lang="en-US" sz="850" b="0" strike="noStrike" spc="-1">
              <a:solidFill>
                <a:srgbClr val="000000"/>
              </a:solidFill>
              <a:latin typeface="Arial"/>
            </a:endParaRPr>
          </a:p>
        </p:txBody>
      </p:sp>
      <p:sp>
        <p:nvSpPr>
          <p:cNvPr id="465" name="Shape 25"/>
          <p:cNvSpPr/>
          <p:nvPr/>
        </p:nvSpPr>
        <p:spPr>
          <a:xfrm>
            <a:off x="6035040" y="3310200"/>
            <a:ext cx="2651400" cy="1298160"/>
          </a:xfrm>
          <a:prstGeom prst="roundRect">
            <a:avLst>
              <a:gd name="adj" fmla="val 6338"/>
            </a:avLst>
          </a:prstGeom>
          <a:solidFill>
            <a:srgbClr val="F8F7FC"/>
          </a:solidFill>
          <a:ln w="0">
            <a:noFill/>
          </a:ln>
          <a:effectLst>
            <a:outerShdw blurRad="50760" dist="2556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66" name="Shape 26"/>
          <p:cNvSpPr/>
          <p:nvPr/>
        </p:nvSpPr>
        <p:spPr>
          <a:xfrm>
            <a:off x="6199560" y="3456360"/>
            <a:ext cx="365400" cy="36540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467" name="Image 6" descr="preencoded.png"/>
          <p:cNvPicPr/>
          <p:nvPr/>
        </p:nvPicPr>
        <p:blipFill>
          <a:blip r:embed="rId9"/>
          <a:stretch/>
        </p:blipFill>
        <p:spPr>
          <a:xfrm>
            <a:off x="6287400" y="3544200"/>
            <a:ext cx="189720" cy="189720"/>
          </a:xfrm>
          <a:prstGeom prst="rect">
            <a:avLst/>
          </a:prstGeom>
          <a:ln w="0">
            <a:noFill/>
          </a:ln>
        </p:spPr>
      </p:pic>
      <p:sp>
        <p:nvSpPr>
          <p:cNvPr id="468" name="Text 27"/>
          <p:cNvSpPr/>
          <p:nvPr/>
        </p:nvSpPr>
        <p:spPr>
          <a:xfrm>
            <a:off x="6656760" y="3429000"/>
            <a:ext cx="1865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2000"/>
              </a:lnSpc>
              <a:tabLst>
                <a:tab pos="0" algn="l"/>
              </a:tabLst>
            </a:pPr>
            <a:r>
              <a:rPr lang="en-US" sz="1100" b="1" strike="noStrike" spc="-1">
                <a:solidFill>
                  <a:srgbClr val="26215C"/>
                </a:solidFill>
                <a:latin typeface="Calibri"/>
                <a:ea typeface="Calibri"/>
              </a:rPr>
              <a:t>Event-sourced state writes</a:t>
            </a:r>
            <a:endParaRPr lang="en-US" sz="1100" b="0" strike="noStrike" spc="-1">
              <a:solidFill>
                <a:srgbClr val="000000"/>
              </a:solidFill>
              <a:latin typeface="Arial"/>
            </a:endParaRPr>
          </a:p>
        </p:txBody>
      </p:sp>
      <p:sp>
        <p:nvSpPr>
          <p:cNvPr id="469" name="Text 28"/>
          <p:cNvSpPr/>
          <p:nvPr/>
        </p:nvSpPr>
        <p:spPr>
          <a:xfrm>
            <a:off x="6199560" y="3877200"/>
            <a:ext cx="2322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2000"/>
              </a:lnSpc>
              <a:tabLst>
                <a:tab pos="0" algn="l"/>
              </a:tabLst>
            </a:pPr>
            <a:r>
              <a:rPr lang="en-US" sz="850" b="0" strike="noStrike" spc="-1">
                <a:solidFill>
                  <a:srgbClr val="433F5C"/>
                </a:solidFill>
                <a:latin typeface="Calibri"/>
                <a:ea typeface="Calibri"/>
              </a:rPr>
              <a:t>Tools already write state_delta the right way — so when persistence lands, no tool code has to change.</a:t>
            </a:r>
            <a:endParaRPr lang="en-US" sz="850" b="0" strike="noStrike" spc="-1">
              <a:solidFill>
                <a:srgbClr val="000000"/>
              </a:solidFill>
              <a:latin typeface="Arial"/>
            </a:endParaRPr>
          </a:p>
        </p:txBody>
      </p:sp>
      <p:sp>
        <p:nvSpPr>
          <p:cNvPr id="470" name="Shape 29"/>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71" name="Text 30"/>
          <p:cNvSpPr/>
          <p:nvPr/>
        </p:nvSpPr>
        <p:spPr>
          <a:xfrm>
            <a:off x="4572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767290"/>
                </a:solidFill>
                <a:latin typeface="Calibri"/>
                <a:ea typeface="Calibri"/>
              </a:rPr>
              <a:t>Login</a:t>
            </a:r>
            <a:endParaRPr lang="en-US" sz="900" b="0" strike="noStrike" spc="-1">
              <a:solidFill>
                <a:srgbClr val="000000"/>
              </a:solidFill>
              <a:latin typeface="Arial"/>
            </a:endParaRPr>
          </a:p>
        </p:txBody>
      </p:sp>
      <p:sp>
        <p:nvSpPr>
          <p:cNvPr id="472" name="Shape 31"/>
          <p:cNvSpPr/>
          <p:nvPr/>
        </p:nvSpPr>
        <p:spPr>
          <a:xfrm>
            <a:off x="1865520" y="4681800"/>
            <a:ext cx="1298160" cy="328680"/>
          </a:xfrm>
          <a:prstGeom prst="roundRect">
            <a:avLst>
              <a:gd name="adj" fmla="val 13889"/>
            </a:avLst>
          </a:prstGeom>
          <a:solidFill>
            <a:srgbClr val="F2A623"/>
          </a:solidFill>
          <a:ln w="6350">
            <a:solidFill>
              <a:srgbClr val="F2A62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73" name="Text 32"/>
          <p:cNvSpPr/>
          <p:nvPr/>
        </p:nvSpPr>
        <p:spPr>
          <a:xfrm>
            <a:off x="186552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854F0B"/>
                </a:solidFill>
                <a:latin typeface="Calibri"/>
                <a:ea typeface="Calibri"/>
              </a:rPr>
              <a:t>History</a:t>
            </a:r>
            <a:endParaRPr lang="en-US" sz="900" b="0" strike="noStrike" spc="-1">
              <a:solidFill>
                <a:srgbClr val="000000"/>
              </a:solidFill>
              <a:latin typeface="Arial"/>
            </a:endParaRPr>
          </a:p>
        </p:txBody>
      </p:sp>
      <p:sp>
        <p:nvSpPr>
          <p:cNvPr id="474" name="Shape 33"/>
          <p:cNvSpPr/>
          <p:nvPr/>
        </p:nvSpPr>
        <p:spPr>
          <a:xfrm>
            <a:off x="3273480" y="4681800"/>
            <a:ext cx="1298160" cy="328680"/>
          </a:xfrm>
          <a:prstGeom prst="roundRect">
            <a:avLst>
              <a:gd name="adj" fmla="val 13889"/>
            </a:avLst>
          </a:prstGeom>
          <a:solidFill>
            <a:srgbClr val="EEEDFE"/>
          </a:solidFill>
          <a:ln w="635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75" name="Text 34"/>
          <p:cNvSpPr/>
          <p:nvPr/>
        </p:nvSpPr>
        <p:spPr>
          <a:xfrm>
            <a:off x="32734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26215C"/>
                </a:solidFill>
                <a:latin typeface="Calibri"/>
                <a:ea typeface="Calibri"/>
              </a:rPr>
              <a:t>Context</a:t>
            </a:r>
            <a:endParaRPr lang="en-US" sz="900" b="0" strike="noStrike" spc="-1">
              <a:solidFill>
                <a:srgbClr val="000000"/>
              </a:solidFill>
              <a:latin typeface="Arial"/>
            </a:endParaRPr>
          </a:p>
        </p:txBody>
      </p:sp>
      <p:sp>
        <p:nvSpPr>
          <p:cNvPr id="476" name="Shape 35"/>
          <p:cNvSpPr/>
          <p:nvPr/>
        </p:nvSpPr>
        <p:spPr>
          <a:xfrm>
            <a:off x="4681800" y="4681800"/>
            <a:ext cx="1298160" cy="328680"/>
          </a:xfrm>
          <a:prstGeom prst="roundRect">
            <a:avLst>
              <a:gd name="adj" fmla="val 13889"/>
            </a:avLst>
          </a:prstGeom>
          <a:solidFill>
            <a:srgbClr val="EEEDFE"/>
          </a:solidFill>
          <a:ln w="635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77" name="Text 36"/>
          <p:cNvSpPr/>
          <p:nvPr/>
        </p:nvSpPr>
        <p:spPr>
          <a:xfrm>
            <a:off x="46818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26215C"/>
                </a:solidFill>
                <a:latin typeface="Calibri"/>
                <a:ea typeface="Calibri"/>
              </a:rPr>
              <a:t>Agents</a:t>
            </a:r>
            <a:endParaRPr lang="en-US" sz="900" b="0" strike="noStrike" spc="-1">
              <a:solidFill>
                <a:srgbClr val="000000"/>
              </a:solidFill>
              <a:latin typeface="Arial"/>
            </a:endParaRPr>
          </a:p>
        </p:txBody>
      </p:sp>
      <p:sp>
        <p:nvSpPr>
          <p:cNvPr id="478" name="Shape 37"/>
          <p:cNvSpPr/>
          <p:nvPr/>
        </p:nvSpPr>
        <p:spPr>
          <a:xfrm>
            <a:off x="6089760" y="4681800"/>
            <a:ext cx="1298160" cy="328680"/>
          </a:xfrm>
          <a:prstGeom prst="roundRect">
            <a:avLst>
              <a:gd name="adj" fmla="val 13889"/>
            </a:avLst>
          </a:prstGeom>
          <a:solidFill>
            <a:srgbClr val="ECEBF4"/>
          </a:solidFill>
          <a:ln w="635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79" name="Text 38"/>
          <p:cNvSpPr/>
          <p:nvPr/>
        </p:nvSpPr>
        <p:spPr>
          <a:xfrm>
            <a:off x="608976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767290"/>
                </a:solidFill>
                <a:latin typeface="Calibri"/>
                <a:ea typeface="Calibri"/>
              </a:rPr>
              <a:t>Chat UI</a:t>
            </a:r>
            <a:endParaRPr lang="en-US" sz="900" b="0" strike="noStrike" spc="-1">
              <a:solidFill>
                <a:srgbClr val="000000"/>
              </a:solidFill>
              <a:latin typeface="Arial"/>
            </a:endParaRPr>
          </a:p>
        </p:txBody>
      </p:sp>
      <p:sp>
        <p:nvSpPr>
          <p:cNvPr id="480" name="Shape 39"/>
          <p:cNvSpPr/>
          <p:nvPr/>
        </p:nvSpPr>
        <p:spPr>
          <a:xfrm>
            <a:off x="7498080" y="4681800"/>
            <a:ext cx="1298160" cy="328680"/>
          </a:xfrm>
          <a:prstGeom prst="roundRect">
            <a:avLst>
              <a:gd name="adj" fmla="val 13889"/>
            </a:avLst>
          </a:prstGeom>
          <a:solidFill>
            <a:srgbClr val="E1F5EE"/>
          </a:solidFill>
          <a:ln w="635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81" name="Text 40"/>
          <p:cNvSpPr/>
          <p:nvPr/>
        </p:nvSpPr>
        <p:spPr>
          <a:xfrm>
            <a:off x="74980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F6E56"/>
                </a:solidFill>
                <a:latin typeface="Calibri"/>
                <a:ea typeface="Calibri"/>
              </a:rPr>
              <a:t>Session Store</a:t>
            </a:r>
            <a:endParaRPr lang="en-US" sz="900" b="0" strike="noStrike" spc="-1">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2"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BUILDING BLOCK 2 OF 6</a:t>
            </a:r>
            <a:endParaRPr lang="en-US" sz="1200" b="0" strike="noStrike" spc="-1">
              <a:solidFill>
                <a:srgbClr val="000000"/>
              </a:solidFill>
              <a:latin typeface="Arial"/>
            </a:endParaRPr>
          </a:p>
        </p:txBody>
      </p:sp>
      <p:sp>
        <p:nvSpPr>
          <p:cNvPr id="483"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State vs. memory — the key distinction</a:t>
            </a:r>
            <a:endParaRPr lang="en-US" sz="2800" b="0" strike="noStrike" spc="-1">
              <a:solidFill>
                <a:srgbClr val="000000"/>
              </a:solidFill>
              <a:latin typeface="Arial"/>
            </a:endParaRPr>
          </a:p>
        </p:txBody>
      </p:sp>
      <p:sp>
        <p:nvSpPr>
          <p:cNvPr id="484" name="Shape 2"/>
          <p:cNvSpPr/>
          <p:nvPr/>
        </p:nvSpPr>
        <p:spPr>
          <a:xfrm>
            <a:off x="457200" y="1508760"/>
            <a:ext cx="4023000" cy="2514240"/>
          </a:xfrm>
          <a:prstGeom prst="roundRect">
            <a:avLst>
              <a:gd name="adj" fmla="val 3636"/>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85" name="Shape 3"/>
          <p:cNvSpPr/>
          <p:nvPr/>
        </p:nvSpPr>
        <p:spPr>
          <a:xfrm>
            <a:off x="731520" y="1737360"/>
            <a:ext cx="548280" cy="54828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486" name="Image 0" descr="preencoded.png"/>
          <p:cNvPicPr/>
          <p:nvPr/>
        </p:nvPicPr>
        <p:blipFill>
          <a:blip r:embed="rId3"/>
          <a:stretch/>
        </p:blipFill>
        <p:spPr>
          <a:xfrm>
            <a:off x="863280" y="1869120"/>
            <a:ext cx="284760" cy="284760"/>
          </a:xfrm>
          <a:prstGeom prst="rect">
            <a:avLst/>
          </a:prstGeom>
          <a:ln w="0">
            <a:noFill/>
          </a:ln>
        </p:spPr>
      </p:pic>
      <p:sp>
        <p:nvSpPr>
          <p:cNvPr id="487" name="Text 4"/>
          <p:cNvSpPr/>
          <p:nvPr/>
        </p:nvSpPr>
        <p:spPr>
          <a:xfrm>
            <a:off x="1417320" y="1737360"/>
            <a:ext cx="2194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strike="noStrike" spc="-1">
                <a:solidFill>
                  <a:srgbClr val="26215C"/>
                </a:solidFill>
                <a:latin typeface="Cambria"/>
                <a:ea typeface="Cambria"/>
              </a:rPr>
              <a:t>Session state</a:t>
            </a:r>
            <a:endParaRPr lang="en-US" sz="1700" b="0" strike="noStrike" spc="-1">
              <a:solidFill>
                <a:srgbClr val="000000"/>
              </a:solidFill>
              <a:latin typeface="Arial"/>
            </a:endParaRPr>
          </a:p>
        </p:txBody>
      </p:sp>
      <p:sp>
        <p:nvSpPr>
          <p:cNvPr id="488" name="Text 5"/>
          <p:cNvSpPr/>
          <p:nvPr/>
        </p:nvSpPr>
        <p:spPr>
          <a:xfrm>
            <a:off x="731520" y="2423160"/>
            <a:ext cx="347436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5000"/>
              </a:lnSpc>
              <a:buClr>
                <a:srgbClr val="433F5C"/>
              </a:buClr>
              <a:buFont typeface="Symbol" charset="2"/>
              <a:buChar char=""/>
            </a:pPr>
            <a:r>
              <a:rPr lang="en-US" sz="1200" b="0" strike="noStrike" spc="-1">
                <a:solidFill>
                  <a:srgbClr val="433F5C"/>
                </a:solidFill>
                <a:latin typeface="Calibri"/>
                <a:ea typeface="Calibri"/>
              </a:rPr>
              <a:t>Lives only for this conversation</a:t>
            </a:r>
            <a:endParaRPr lang="en-US" sz="1200" b="0" strike="noStrike" spc="-1">
              <a:solidFill>
                <a:srgbClr val="000000"/>
              </a:solidFill>
              <a:latin typeface="Arial"/>
            </a:endParaRPr>
          </a:p>
        </p:txBody>
      </p:sp>
      <p:sp>
        <p:nvSpPr>
          <p:cNvPr id="489" name="Text 6"/>
          <p:cNvSpPr/>
          <p:nvPr/>
        </p:nvSpPr>
        <p:spPr>
          <a:xfrm>
            <a:off x="731520" y="3017520"/>
            <a:ext cx="347436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5000"/>
              </a:lnSpc>
              <a:buClr>
                <a:srgbClr val="433F5C"/>
              </a:buClr>
              <a:buFont typeface="Symbol" charset="2"/>
              <a:buChar char=""/>
            </a:pPr>
            <a:r>
              <a:rPr lang="en-US" sz="1200" b="0" strike="noStrike" spc="-1">
                <a:solidFill>
                  <a:srgbClr val="433F5C"/>
                </a:solidFill>
                <a:latin typeface="Calibri"/>
                <a:ea typeface="Calibri"/>
              </a:rPr>
              <a:t>A scratchpad: partially filled forms, confirmed details, in-progress steps</a:t>
            </a:r>
            <a:endParaRPr lang="en-US" sz="1200" b="0" strike="noStrike" spc="-1">
              <a:solidFill>
                <a:srgbClr val="000000"/>
              </a:solidFill>
              <a:latin typeface="Arial"/>
            </a:endParaRPr>
          </a:p>
        </p:txBody>
      </p:sp>
      <p:sp>
        <p:nvSpPr>
          <p:cNvPr id="490" name="Text 7"/>
          <p:cNvSpPr/>
          <p:nvPr/>
        </p:nvSpPr>
        <p:spPr>
          <a:xfrm>
            <a:off x="731520" y="3611880"/>
            <a:ext cx="347436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5000"/>
              </a:lnSpc>
              <a:buClr>
                <a:srgbClr val="433F5C"/>
              </a:buClr>
              <a:buFont typeface="Symbol" charset="2"/>
              <a:buChar char=""/>
            </a:pPr>
            <a:r>
              <a:rPr lang="en-US" sz="1200" b="0" strike="noStrike" spc="-1">
                <a:solidFill>
                  <a:srgbClr val="433F5C"/>
                </a:solidFill>
                <a:latin typeface="Calibri"/>
                <a:ea typeface="Calibri"/>
              </a:rPr>
              <a:t>Why the bot doesn't make you repeat yourself mid-chat</a:t>
            </a:r>
            <a:endParaRPr lang="en-US" sz="1200" b="0" strike="noStrike" spc="-1">
              <a:solidFill>
                <a:srgbClr val="000000"/>
              </a:solidFill>
              <a:latin typeface="Arial"/>
            </a:endParaRPr>
          </a:p>
        </p:txBody>
      </p:sp>
      <p:sp>
        <p:nvSpPr>
          <p:cNvPr id="491" name="Shape 8"/>
          <p:cNvSpPr/>
          <p:nvPr/>
        </p:nvSpPr>
        <p:spPr>
          <a:xfrm>
            <a:off x="4663440" y="1508760"/>
            <a:ext cx="4023000" cy="2514240"/>
          </a:xfrm>
          <a:prstGeom prst="roundRect">
            <a:avLst>
              <a:gd name="adj" fmla="val 3636"/>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92" name="Shape 9"/>
          <p:cNvSpPr/>
          <p:nvPr/>
        </p:nvSpPr>
        <p:spPr>
          <a:xfrm>
            <a:off x="4937760" y="1737360"/>
            <a:ext cx="548280" cy="54828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493" name="Image 1" descr="preencoded.png"/>
          <p:cNvPicPr/>
          <p:nvPr/>
        </p:nvPicPr>
        <p:blipFill>
          <a:blip r:embed="rId4"/>
          <a:stretch/>
        </p:blipFill>
        <p:spPr>
          <a:xfrm>
            <a:off x="5069520" y="1869120"/>
            <a:ext cx="284760" cy="284760"/>
          </a:xfrm>
          <a:prstGeom prst="rect">
            <a:avLst/>
          </a:prstGeom>
          <a:ln w="0">
            <a:noFill/>
          </a:ln>
        </p:spPr>
      </p:pic>
      <p:sp>
        <p:nvSpPr>
          <p:cNvPr id="494" name="Text 10"/>
          <p:cNvSpPr/>
          <p:nvPr/>
        </p:nvSpPr>
        <p:spPr>
          <a:xfrm>
            <a:off x="5623560" y="1737360"/>
            <a:ext cx="2194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strike="noStrike" spc="-1">
                <a:solidFill>
                  <a:srgbClr val="26215C"/>
                </a:solidFill>
                <a:latin typeface="Cambria"/>
                <a:ea typeface="Cambria"/>
              </a:rPr>
              <a:t>Long-term memory</a:t>
            </a:r>
            <a:endParaRPr lang="en-US" sz="1700" b="0" strike="noStrike" spc="-1">
              <a:solidFill>
                <a:srgbClr val="000000"/>
              </a:solidFill>
              <a:latin typeface="Arial"/>
            </a:endParaRPr>
          </a:p>
        </p:txBody>
      </p:sp>
      <p:sp>
        <p:nvSpPr>
          <p:cNvPr id="495" name="Shape 11"/>
          <p:cNvSpPr/>
          <p:nvPr/>
        </p:nvSpPr>
        <p:spPr>
          <a:xfrm>
            <a:off x="7726680" y="1874520"/>
            <a:ext cx="868320" cy="292320"/>
          </a:xfrm>
          <a:prstGeom prst="roundRect">
            <a:avLst>
              <a:gd name="adj" fmla="val 50000"/>
            </a:avLst>
          </a:prstGeom>
          <a:solidFill>
            <a:srgbClr val="FAEC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96" name="Text 12"/>
          <p:cNvSpPr/>
          <p:nvPr/>
        </p:nvSpPr>
        <p:spPr>
          <a:xfrm>
            <a:off x="7726680" y="1874520"/>
            <a:ext cx="8683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D85A30"/>
                </a:solidFill>
                <a:latin typeface="Calibri"/>
                <a:ea typeface="Calibri"/>
              </a:rPr>
              <a:t>Not built yet</a:t>
            </a:r>
            <a:endParaRPr lang="en-US" sz="800" b="0" strike="noStrike" spc="-1">
              <a:solidFill>
                <a:srgbClr val="000000"/>
              </a:solidFill>
              <a:latin typeface="Arial"/>
            </a:endParaRPr>
          </a:p>
        </p:txBody>
      </p:sp>
      <p:sp>
        <p:nvSpPr>
          <p:cNvPr id="497" name="Text 13"/>
          <p:cNvSpPr/>
          <p:nvPr/>
        </p:nvSpPr>
        <p:spPr>
          <a:xfrm>
            <a:off x="4937760" y="2423160"/>
            <a:ext cx="347436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5000"/>
              </a:lnSpc>
              <a:buClr>
                <a:srgbClr val="433F5C"/>
              </a:buClr>
              <a:buFont typeface="Symbol" charset="2"/>
              <a:buChar char=""/>
            </a:pPr>
            <a:r>
              <a:rPr lang="en-US" sz="1200" b="0" strike="noStrike" spc="-1">
                <a:solidFill>
                  <a:srgbClr val="433F5C"/>
                </a:solidFill>
                <a:latin typeface="Calibri"/>
                <a:ea typeface="Calibri"/>
              </a:rPr>
              <a:t>Persists across sessions, via a Memory Bank / MemoryService</a:t>
            </a:r>
            <a:endParaRPr lang="en-US" sz="1200" b="0" strike="noStrike" spc="-1">
              <a:solidFill>
                <a:srgbClr val="000000"/>
              </a:solidFill>
              <a:latin typeface="Arial"/>
            </a:endParaRPr>
          </a:p>
        </p:txBody>
      </p:sp>
      <p:sp>
        <p:nvSpPr>
          <p:cNvPr id="498" name="Text 14"/>
          <p:cNvSpPr/>
          <p:nvPr/>
        </p:nvSpPr>
        <p:spPr>
          <a:xfrm>
            <a:off x="4937760" y="3017520"/>
            <a:ext cx="347436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5000"/>
              </a:lnSpc>
              <a:buClr>
                <a:srgbClr val="433F5C"/>
              </a:buClr>
              <a:buFont typeface="Symbol" charset="2"/>
              <a:buChar char=""/>
            </a:pPr>
            <a:r>
              <a:rPr lang="en-US" sz="1200" b="0" strike="noStrike" spc="-1">
                <a:solidFill>
                  <a:srgbClr val="433F5C"/>
                </a:solidFill>
                <a:latin typeface="Calibri"/>
                <a:ea typeface="Calibri"/>
              </a:rPr>
              <a:t>A searchable store of facts and preferences ingested from past sessions</a:t>
            </a:r>
            <a:endParaRPr lang="en-US" sz="1200" b="0" strike="noStrike" spc="-1">
              <a:solidFill>
                <a:srgbClr val="000000"/>
              </a:solidFill>
              <a:latin typeface="Arial"/>
            </a:endParaRPr>
          </a:p>
        </p:txBody>
      </p:sp>
      <p:sp>
        <p:nvSpPr>
          <p:cNvPr id="499" name="Text 15"/>
          <p:cNvSpPr/>
          <p:nvPr/>
        </p:nvSpPr>
        <p:spPr>
          <a:xfrm>
            <a:off x="4937760" y="3611880"/>
            <a:ext cx="347436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5000"/>
              </a:lnSpc>
              <a:buClr>
                <a:srgbClr val="433F5C"/>
              </a:buClr>
              <a:buFont typeface="Symbol" charset="2"/>
              <a:buChar char=""/>
            </a:pPr>
            <a:r>
              <a:rPr lang="en-US" sz="1200" b="0" strike="noStrike" spc="-1">
                <a:solidFill>
                  <a:srgbClr val="433F5C"/>
                </a:solidFill>
                <a:latin typeface="Calibri"/>
                <a:ea typeface="Calibri"/>
              </a:rPr>
              <a:t>Personalizes a brand-new conversation</a:t>
            </a:r>
            <a:endParaRPr lang="en-US" sz="1200" b="0" strike="noStrike" spc="-1">
              <a:solidFill>
                <a:srgbClr val="000000"/>
              </a:solidFill>
              <a:latin typeface="Arial"/>
            </a:endParaRPr>
          </a:p>
        </p:txBody>
      </p:sp>
      <p:sp>
        <p:nvSpPr>
          <p:cNvPr id="500" name="Text 16"/>
          <p:cNvSpPr/>
          <p:nvPr/>
        </p:nvSpPr>
        <p:spPr>
          <a:xfrm>
            <a:off x="457200" y="416052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26215C"/>
                </a:solidFill>
                <a:latin typeface="Calibri"/>
                <a:ea typeface="Calibri"/>
              </a:rPr>
              <a:t>State = continuity within a conversation.   Memory = continuity across conversations.</a:t>
            </a:r>
            <a:endParaRPr lang="en-US" sz="1400" b="0" strike="noStrike" spc="-1">
              <a:solidFill>
                <a:srgbClr val="000000"/>
              </a:solidFill>
              <a:latin typeface="Arial"/>
            </a:endParaRPr>
          </a:p>
        </p:txBody>
      </p:sp>
      <p:sp>
        <p:nvSpPr>
          <p:cNvPr id="501" name="Shape 17"/>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02" name="Text 18"/>
          <p:cNvSpPr/>
          <p:nvPr/>
        </p:nvSpPr>
        <p:spPr>
          <a:xfrm>
            <a:off x="4572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767290"/>
                </a:solidFill>
                <a:latin typeface="Calibri"/>
                <a:ea typeface="Calibri"/>
              </a:rPr>
              <a:t>Login</a:t>
            </a:r>
            <a:endParaRPr lang="en-US" sz="900" b="0" strike="noStrike" spc="-1">
              <a:solidFill>
                <a:srgbClr val="000000"/>
              </a:solidFill>
              <a:latin typeface="Arial"/>
            </a:endParaRPr>
          </a:p>
        </p:txBody>
      </p:sp>
      <p:sp>
        <p:nvSpPr>
          <p:cNvPr id="503" name="Shape 19"/>
          <p:cNvSpPr/>
          <p:nvPr/>
        </p:nvSpPr>
        <p:spPr>
          <a:xfrm>
            <a:off x="1865520" y="4681800"/>
            <a:ext cx="1298160" cy="328680"/>
          </a:xfrm>
          <a:prstGeom prst="roundRect">
            <a:avLst>
              <a:gd name="adj" fmla="val 13889"/>
            </a:avLst>
          </a:prstGeom>
          <a:solidFill>
            <a:srgbClr val="F2A623"/>
          </a:solidFill>
          <a:ln w="6350">
            <a:solidFill>
              <a:srgbClr val="F2A62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04" name="Text 20"/>
          <p:cNvSpPr/>
          <p:nvPr/>
        </p:nvSpPr>
        <p:spPr>
          <a:xfrm>
            <a:off x="186552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854F0B"/>
                </a:solidFill>
                <a:latin typeface="Calibri"/>
                <a:ea typeface="Calibri"/>
              </a:rPr>
              <a:t>History</a:t>
            </a:r>
            <a:endParaRPr lang="en-US" sz="900" b="0" strike="noStrike" spc="-1">
              <a:solidFill>
                <a:srgbClr val="000000"/>
              </a:solidFill>
              <a:latin typeface="Arial"/>
            </a:endParaRPr>
          </a:p>
        </p:txBody>
      </p:sp>
      <p:sp>
        <p:nvSpPr>
          <p:cNvPr id="505" name="Shape 21"/>
          <p:cNvSpPr/>
          <p:nvPr/>
        </p:nvSpPr>
        <p:spPr>
          <a:xfrm>
            <a:off x="3273480" y="4681800"/>
            <a:ext cx="1298160" cy="328680"/>
          </a:xfrm>
          <a:prstGeom prst="roundRect">
            <a:avLst>
              <a:gd name="adj" fmla="val 13889"/>
            </a:avLst>
          </a:prstGeom>
          <a:solidFill>
            <a:srgbClr val="EEEDFE"/>
          </a:solidFill>
          <a:ln w="635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06" name="Text 22"/>
          <p:cNvSpPr/>
          <p:nvPr/>
        </p:nvSpPr>
        <p:spPr>
          <a:xfrm>
            <a:off x="32734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26215C"/>
                </a:solidFill>
                <a:latin typeface="Calibri"/>
                <a:ea typeface="Calibri"/>
              </a:rPr>
              <a:t>Context</a:t>
            </a:r>
            <a:endParaRPr lang="en-US" sz="900" b="0" strike="noStrike" spc="-1">
              <a:solidFill>
                <a:srgbClr val="000000"/>
              </a:solidFill>
              <a:latin typeface="Arial"/>
            </a:endParaRPr>
          </a:p>
        </p:txBody>
      </p:sp>
      <p:sp>
        <p:nvSpPr>
          <p:cNvPr id="507" name="Shape 23"/>
          <p:cNvSpPr/>
          <p:nvPr/>
        </p:nvSpPr>
        <p:spPr>
          <a:xfrm>
            <a:off x="4681800" y="4681800"/>
            <a:ext cx="1298160" cy="328680"/>
          </a:xfrm>
          <a:prstGeom prst="roundRect">
            <a:avLst>
              <a:gd name="adj" fmla="val 13889"/>
            </a:avLst>
          </a:prstGeom>
          <a:solidFill>
            <a:srgbClr val="EEEDFE"/>
          </a:solidFill>
          <a:ln w="635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08" name="Text 24"/>
          <p:cNvSpPr/>
          <p:nvPr/>
        </p:nvSpPr>
        <p:spPr>
          <a:xfrm>
            <a:off x="46818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26215C"/>
                </a:solidFill>
                <a:latin typeface="Calibri"/>
                <a:ea typeface="Calibri"/>
              </a:rPr>
              <a:t>Agents</a:t>
            </a:r>
            <a:endParaRPr lang="en-US" sz="900" b="0" strike="noStrike" spc="-1">
              <a:solidFill>
                <a:srgbClr val="000000"/>
              </a:solidFill>
              <a:latin typeface="Arial"/>
            </a:endParaRPr>
          </a:p>
        </p:txBody>
      </p:sp>
      <p:sp>
        <p:nvSpPr>
          <p:cNvPr id="509" name="Shape 25"/>
          <p:cNvSpPr/>
          <p:nvPr/>
        </p:nvSpPr>
        <p:spPr>
          <a:xfrm>
            <a:off x="6089760" y="4681800"/>
            <a:ext cx="1298160" cy="328680"/>
          </a:xfrm>
          <a:prstGeom prst="roundRect">
            <a:avLst>
              <a:gd name="adj" fmla="val 13889"/>
            </a:avLst>
          </a:prstGeom>
          <a:solidFill>
            <a:srgbClr val="ECEBF4"/>
          </a:solidFill>
          <a:ln w="635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10" name="Text 26"/>
          <p:cNvSpPr/>
          <p:nvPr/>
        </p:nvSpPr>
        <p:spPr>
          <a:xfrm>
            <a:off x="608976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767290"/>
                </a:solidFill>
                <a:latin typeface="Calibri"/>
                <a:ea typeface="Calibri"/>
              </a:rPr>
              <a:t>Chat UI</a:t>
            </a:r>
            <a:endParaRPr lang="en-US" sz="900" b="0" strike="noStrike" spc="-1">
              <a:solidFill>
                <a:srgbClr val="000000"/>
              </a:solidFill>
              <a:latin typeface="Arial"/>
            </a:endParaRPr>
          </a:p>
        </p:txBody>
      </p:sp>
      <p:sp>
        <p:nvSpPr>
          <p:cNvPr id="511" name="Shape 27"/>
          <p:cNvSpPr/>
          <p:nvPr/>
        </p:nvSpPr>
        <p:spPr>
          <a:xfrm>
            <a:off x="7498080" y="4681800"/>
            <a:ext cx="1298160" cy="328680"/>
          </a:xfrm>
          <a:prstGeom prst="roundRect">
            <a:avLst>
              <a:gd name="adj" fmla="val 13889"/>
            </a:avLst>
          </a:prstGeom>
          <a:solidFill>
            <a:srgbClr val="F2A623"/>
          </a:solidFill>
          <a:ln w="6350">
            <a:solidFill>
              <a:srgbClr val="F2A62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12" name="Text 28"/>
          <p:cNvSpPr/>
          <p:nvPr/>
        </p:nvSpPr>
        <p:spPr>
          <a:xfrm>
            <a:off x="74980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854F0B"/>
                </a:solidFill>
                <a:latin typeface="Calibri"/>
                <a:ea typeface="Calibri"/>
              </a:rPr>
              <a:t>Session Store</a:t>
            </a:r>
            <a:endParaRPr lang="en-US" sz="900" b="0" strike="noStrike" spc="-1">
              <a:solidFill>
                <a:srgbClr val="00000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3"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BUILDING BLOCK 3 OF 6</a:t>
            </a:r>
            <a:endParaRPr lang="en-US" sz="1200" b="0" strike="noStrike" spc="-1">
              <a:solidFill>
                <a:srgbClr val="000000"/>
              </a:solidFill>
              <a:latin typeface="Arial"/>
            </a:endParaRPr>
          </a:p>
        </p:txBody>
      </p:sp>
      <p:sp>
        <p:nvSpPr>
          <p:cNvPr id="514"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Context engineering → intent &amp; sub-intent routing</a:t>
            </a:r>
            <a:endParaRPr lang="en-US" sz="2800" b="0" strike="noStrike" spc="-1">
              <a:solidFill>
                <a:srgbClr val="000000"/>
              </a:solidFill>
              <a:latin typeface="Arial"/>
            </a:endParaRPr>
          </a:p>
        </p:txBody>
      </p:sp>
      <p:sp>
        <p:nvSpPr>
          <p:cNvPr id="515" name="Text 2"/>
          <p:cNvSpPr/>
          <p:nvPr/>
        </p:nvSpPr>
        <p:spPr>
          <a:xfrm>
            <a:off x="457200" y="1508760"/>
            <a:ext cx="411444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5000"/>
              </a:lnSpc>
              <a:buClr>
                <a:srgbClr val="433F5C"/>
              </a:buClr>
              <a:buFont typeface="Symbol" charset="2"/>
              <a:buChar char=""/>
            </a:pPr>
            <a:r>
              <a:rPr lang="en-US" sz="1300" b="0" strike="noStrike" spc="-1">
                <a:solidFill>
                  <a:srgbClr val="433F5C"/>
                </a:solidFill>
                <a:latin typeface="Calibri"/>
                <a:ea typeface="Calibri"/>
              </a:rPr>
              <a:t>“Working context” = instructions + relevant state + retrieved memory + tool/agent definitions, compiled fresh for this turn.</a:t>
            </a:r>
            <a:endParaRPr lang="en-US" sz="1300" b="0" strike="noStrike" spc="-1">
              <a:solidFill>
                <a:srgbClr val="000000"/>
              </a:solidFill>
              <a:latin typeface="Arial"/>
            </a:endParaRPr>
          </a:p>
        </p:txBody>
      </p:sp>
      <p:sp>
        <p:nvSpPr>
          <p:cNvPr id="516" name="Text 3"/>
          <p:cNvSpPr/>
          <p:nvPr/>
        </p:nvSpPr>
        <p:spPr>
          <a:xfrm>
            <a:off x="457200" y="2286000"/>
            <a:ext cx="411444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5000"/>
              </a:lnSpc>
              <a:buClr>
                <a:srgbClr val="433F5C"/>
              </a:buClr>
              <a:buFont typeface="Symbol" charset="2"/>
              <a:buChar char=""/>
            </a:pPr>
            <a:r>
              <a:rPr lang="en-US" sz="1300" b="0" strike="noStrike" spc="-1">
                <a:solidFill>
                  <a:srgbClr val="433F5C"/>
                </a:solidFill>
                <a:latin typeface="Calibri"/>
                <a:ea typeface="Calibri"/>
              </a:rPr>
              <a:t>The orchestrator's context includes descriptions of its sub-agents, so it can decide “I can't do this, but my Order agent can.”</a:t>
            </a:r>
            <a:endParaRPr lang="en-US" sz="1300" b="0" strike="noStrike" spc="-1">
              <a:solidFill>
                <a:srgbClr val="000000"/>
              </a:solidFill>
              <a:latin typeface="Arial"/>
            </a:endParaRPr>
          </a:p>
        </p:txBody>
      </p:sp>
      <p:sp>
        <p:nvSpPr>
          <p:cNvPr id="517" name="Text 4"/>
          <p:cNvSpPr/>
          <p:nvPr/>
        </p:nvSpPr>
        <p:spPr>
          <a:xfrm>
            <a:off x="457200" y="3063240"/>
            <a:ext cx="411444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5000"/>
              </a:lnSpc>
              <a:buClr>
                <a:srgbClr val="433F5C"/>
              </a:buClr>
              <a:buFont typeface="Symbol" charset="2"/>
              <a:buChar char=""/>
            </a:pPr>
            <a:r>
              <a:rPr lang="en-US" sz="1300" b="0" strike="noStrike" spc="-1">
                <a:solidFill>
                  <a:srgbClr val="433F5C"/>
                </a:solidFill>
                <a:latin typeface="Calibri"/>
                <a:ea typeface="Calibri"/>
              </a:rPr>
              <a:t>Each sub-agent gets its own tailored context — not everything the orchestrator sees.</a:t>
            </a:r>
            <a:endParaRPr lang="en-US" sz="1300" b="0" strike="noStrike" spc="-1">
              <a:solidFill>
                <a:srgbClr val="000000"/>
              </a:solidFill>
              <a:latin typeface="Arial"/>
            </a:endParaRPr>
          </a:p>
        </p:txBody>
      </p:sp>
      <p:sp>
        <p:nvSpPr>
          <p:cNvPr id="518" name="Shape 5"/>
          <p:cNvSpPr/>
          <p:nvPr/>
        </p:nvSpPr>
        <p:spPr>
          <a:xfrm>
            <a:off x="4937760" y="1463040"/>
            <a:ext cx="3657240" cy="548280"/>
          </a:xfrm>
          <a:prstGeom prst="roundRect">
            <a:avLst>
              <a:gd name="adj" fmla="val 13333"/>
            </a:avLst>
          </a:prstGeom>
          <a:solidFill>
            <a:srgbClr val="ECEB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19" name="Text 6"/>
          <p:cNvSpPr/>
          <p:nvPr/>
        </p:nvSpPr>
        <p:spPr>
          <a:xfrm>
            <a:off x="5029200" y="1463040"/>
            <a:ext cx="3474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i="1" strike="noStrike" spc="-1">
                <a:solidFill>
                  <a:srgbClr val="433F5C"/>
                </a:solidFill>
                <a:latin typeface="Calibri"/>
                <a:ea typeface="Calibri"/>
              </a:rPr>
              <a:t>“Check my order status and update my address”</a:t>
            </a:r>
            <a:endParaRPr lang="en-US" sz="1050" b="0" strike="noStrike" spc="-1">
              <a:solidFill>
                <a:srgbClr val="000000"/>
              </a:solidFill>
              <a:latin typeface="Arial"/>
            </a:endParaRPr>
          </a:p>
        </p:txBody>
      </p:sp>
      <p:sp>
        <p:nvSpPr>
          <p:cNvPr id="520" name="Shape 7"/>
          <p:cNvSpPr/>
          <p:nvPr/>
        </p:nvSpPr>
        <p:spPr>
          <a:xfrm>
            <a:off x="6766560" y="2011680"/>
            <a:ext cx="360" cy="411480"/>
          </a:xfrm>
          <a:prstGeom prst="line">
            <a:avLst/>
          </a:prstGeom>
          <a:ln w="12700">
            <a:solidFill>
              <a:srgbClr val="76729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521" name="Shape 8"/>
          <p:cNvSpPr/>
          <p:nvPr/>
        </p:nvSpPr>
        <p:spPr>
          <a:xfrm>
            <a:off x="5852160" y="2423160"/>
            <a:ext cx="1828440" cy="502560"/>
          </a:xfrm>
          <a:prstGeom prst="roundRect">
            <a:avLst>
              <a:gd name="adj" fmla="val 14545"/>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22" name="Text 9"/>
          <p:cNvSpPr/>
          <p:nvPr/>
        </p:nvSpPr>
        <p:spPr>
          <a:xfrm>
            <a:off x="5852160" y="2423160"/>
            <a:ext cx="1828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strike="noStrike" spc="-1">
                <a:solidFill>
                  <a:srgbClr val="FFFFFF"/>
                </a:solidFill>
                <a:latin typeface="Calibri"/>
                <a:ea typeface="Calibri"/>
              </a:rPr>
              <a:t>Orchestrator: decompose + route</a:t>
            </a:r>
            <a:endParaRPr lang="en-US" sz="950" b="0" strike="noStrike" spc="-1">
              <a:solidFill>
                <a:srgbClr val="000000"/>
              </a:solidFill>
              <a:latin typeface="Arial"/>
            </a:endParaRPr>
          </a:p>
        </p:txBody>
      </p:sp>
      <p:sp>
        <p:nvSpPr>
          <p:cNvPr id="523" name="Shape 10"/>
          <p:cNvSpPr/>
          <p:nvPr/>
        </p:nvSpPr>
        <p:spPr>
          <a:xfrm flipH="1">
            <a:off x="5212080" y="2926080"/>
            <a:ext cx="1005840" cy="457200"/>
          </a:xfrm>
          <a:prstGeom prst="line">
            <a:avLst/>
          </a:prstGeom>
          <a:ln w="12700">
            <a:solidFill>
              <a:srgbClr val="76729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524" name="Shape 11"/>
          <p:cNvSpPr/>
          <p:nvPr/>
        </p:nvSpPr>
        <p:spPr>
          <a:xfrm>
            <a:off x="7315200" y="2926080"/>
            <a:ext cx="1005840" cy="457200"/>
          </a:xfrm>
          <a:prstGeom prst="line">
            <a:avLst/>
          </a:prstGeom>
          <a:ln w="12700">
            <a:solidFill>
              <a:srgbClr val="76729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525" name="Shape 12"/>
          <p:cNvSpPr/>
          <p:nvPr/>
        </p:nvSpPr>
        <p:spPr>
          <a:xfrm>
            <a:off x="4937760" y="3383280"/>
            <a:ext cx="1737000" cy="548280"/>
          </a:xfrm>
          <a:prstGeom prst="roundRect">
            <a:avLst>
              <a:gd name="adj" fmla="val 13333"/>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26" name="Text 13"/>
          <p:cNvSpPr/>
          <p:nvPr/>
        </p:nvSpPr>
        <p:spPr>
          <a:xfrm>
            <a:off x="4937760" y="3383280"/>
            <a:ext cx="17370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000" b="1" strike="noStrike" spc="-1">
                <a:solidFill>
                  <a:srgbClr val="0F6E56"/>
                </a:solidFill>
                <a:latin typeface="Calibri"/>
                <a:ea typeface="Calibri"/>
              </a:rPr>
              <a:t>Order agent</a:t>
            </a:r>
            <a:endParaRPr lang="en-US" sz="1000" b="0" strike="noStrike" spc="-1">
              <a:solidFill>
                <a:srgbClr val="000000"/>
              </a:solidFill>
              <a:latin typeface="Arial"/>
            </a:endParaRPr>
          </a:p>
          <a:p>
            <a:pPr algn="ctr" defTabSz="914400">
              <a:lnSpc>
                <a:spcPct val="95000"/>
              </a:lnSpc>
              <a:tabLst>
                <a:tab pos="0" algn="l"/>
              </a:tabLst>
            </a:pPr>
            <a:r>
              <a:rPr lang="en-US" sz="1000" b="1" strike="noStrike" spc="-1">
                <a:solidFill>
                  <a:srgbClr val="0F6E56"/>
                </a:solidFill>
                <a:latin typeface="Calibri"/>
                <a:ea typeface="Calibri"/>
              </a:rPr>
              <a:t>(sub-intent 1)</a:t>
            </a:r>
            <a:endParaRPr lang="en-US" sz="1000" b="0" strike="noStrike" spc="-1">
              <a:solidFill>
                <a:srgbClr val="000000"/>
              </a:solidFill>
              <a:latin typeface="Arial"/>
            </a:endParaRPr>
          </a:p>
        </p:txBody>
      </p:sp>
      <p:sp>
        <p:nvSpPr>
          <p:cNvPr id="527" name="Shape 14"/>
          <p:cNvSpPr/>
          <p:nvPr/>
        </p:nvSpPr>
        <p:spPr>
          <a:xfrm>
            <a:off x="6858000" y="3383280"/>
            <a:ext cx="1737000" cy="548280"/>
          </a:xfrm>
          <a:prstGeom prst="roundRect">
            <a:avLst>
              <a:gd name="adj" fmla="val 13333"/>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28" name="Text 15"/>
          <p:cNvSpPr/>
          <p:nvPr/>
        </p:nvSpPr>
        <p:spPr>
          <a:xfrm>
            <a:off x="6858000" y="3383280"/>
            <a:ext cx="17370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000" b="1" strike="noStrike" spc="-1">
                <a:solidFill>
                  <a:srgbClr val="0F6E56"/>
                </a:solidFill>
                <a:latin typeface="Calibri"/>
                <a:ea typeface="Calibri"/>
              </a:rPr>
              <a:t>Profile agent</a:t>
            </a:r>
            <a:endParaRPr lang="en-US" sz="1000" b="0" strike="noStrike" spc="-1">
              <a:solidFill>
                <a:srgbClr val="000000"/>
              </a:solidFill>
              <a:latin typeface="Arial"/>
            </a:endParaRPr>
          </a:p>
          <a:p>
            <a:pPr algn="ctr" defTabSz="914400">
              <a:lnSpc>
                <a:spcPct val="95000"/>
              </a:lnSpc>
              <a:tabLst>
                <a:tab pos="0" algn="l"/>
              </a:tabLst>
            </a:pPr>
            <a:r>
              <a:rPr lang="en-US" sz="1000" b="1" strike="noStrike" spc="-1">
                <a:solidFill>
                  <a:srgbClr val="0F6E56"/>
                </a:solidFill>
                <a:latin typeface="Calibri"/>
                <a:ea typeface="Calibri"/>
              </a:rPr>
              <a:t>(sub-intent 2)</a:t>
            </a:r>
            <a:endParaRPr lang="en-US" sz="1000" b="0" strike="noStrike" spc="-1">
              <a:solidFill>
                <a:srgbClr val="000000"/>
              </a:solidFill>
              <a:latin typeface="Arial"/>
            </a:endParaRPr>
          </a:p>
        </p:txBody>
      </p:sp>
      <p:sp>
        <p:nvSpPr>
          <p:cNvPr id="529" name="Shape 16"/>
          <p:cNvSpPr/>
          <p:nvPr/>
        </p:nvSpPr>
        <p:spPr>
          <a:xfrm>
            <a:off x="5806440" y="3931920"/>
            <a:ext cx="914400" cy="320040"/>
          </a:xfrm>
          <a:prstGeom prst="line">
            <a:avLst/>
          </a:prstGeom>
          <a:ln w="12700">
            <a:solidFill>
              <a:srgbClr val="76729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530" name="Shape 17"/>
          <p:cNvSpPr/>
          <p:nvPr/>
        </p:nvSpPr>
        <p:spPr>
          <a:xfrm flipH="1">
            <a:off x="6812280" y="3931920"/>
            <a:ext cx="914400" cy="320040"/>
          </a:xfrm>
          <a:prstGeom prst="line">
            <a:avLst/>
          </a:prstGeom>
          <a:ln w="12700">
            <a:solidFill>
              <a:srgbClr val="76729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531" name="Shape 18"/>
          <p:cNvSpPr/>
          <p:nvPr/>
        </p:nvSpPr>
        <p:spPr>
          <a:xfrm>
            <a:off x="5486400" y="4251960"/>
            <a:ext cx="2559960" cy="502560"/>
          </a:xfrm>
          <a:prstGeom prst="roundRect">
            <a:avLst>
              <a:gd name="adj" fmla="val 14545"/>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32" name="Text 19"/>
          <p:cNvSpPr/>
          <p:nvPr/>
        </p:nvSpPr>
        <p:spPr>
          <a:xfrm>
            <a:off x="5486400" y="4251960"/>
            <a:ext cx="25599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854F0B"/>
                </a:solidFill>
                <a:latin typeface="Calibri"/>
                <a:ea typeface="Calibri"/>
              </a:rPr>
              <a:t>One merged response to the user</a:t>
            </a:r>
            <a:endParaRPr lang="en-US" sz="1000" b="0" strike="noStrike" spc="-1">
              <a:solidFill>
                <a:srgbClr val="000000"/>
              </a:solidFill>
              <a:latin typeface="Arial"/>
            </a:endParaRPr>
          </a:p>
        </p:txBody>
      </p:sp>
      <p:sp>
        <p:nvSpPr>
          <p:cNvPr id="533" name="Shape 20"/>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34" name="Text 21"/>
          <p:cNvSpPr/>
          <p:nvPr/>
        </p:nvSpPr>
        <p:spPr>
          <a:xfrm>
            <a:off x="4572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767290"/>
                </a:solidFill>
                <a:latin typeface="Calibri"/>
                <a:ea typeface="Calibri"/>
              </a:rPr>
              <a:t>Login</a:t>
            </a:r>
            <a:endParaRPr lang="en-US" sz="900" b="0" strike="noStrike" spc="-1">
              <a:solidFill>
                <a:srgbClr val="000000"/>
              </a:solidFill>
              <a:latin typeface="Arial"/>
            </a:endParaRPr>
          </a:p>
        </p:txBody>
      </p:sp>
      <p:sp>
        <p:nvSpPr>
          <p:cNvPr id="535" name="Shape 22"/>
          <p:cNvSpPr/>
          <p:nvPr/>
        </p:nvSpPr>
        <p:spPr>
          <a:xfrm>
            <a:off x="1865520" y="4681800"/>
            <a:ext cx="1298160" cy="328680"/>
          </a:xfrm>
          <a:prstGeom prst="roundRect">
            <a:avLst>
              <a:gd name="adj" fmla="val 13889"/>
            </a:avLst>
          </a:prstGeom>
          <a:solidFill>
            <a:srgbClr val="E1F5EE"/>
          </a:solidFill>
          <a:ln w="635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36" name="Text 23"/>
          <p:cNvSpPr/>
          <p:nvPr/>
        </p:nvSpPr>
        <p:spPr>
          <a:xfrm>
            <a:off x="186552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F6E56"/>
                </a:solidFill>
                <a:latin typeface="Calibri"/>
                <a:ea typeface="Calibri"/>
              </a:rPr>
              <a:t>History</a:t>
            </a:r>
            <a:endParaRPr lang="en-US" sz="900" b="0" strike="noStrike" spc="-1">
              <a:solidFill>
                <a:srgbClr val="000000"/>
              </a:solidFill>
              <a:latin typeface="Arial"/>
            </a:endParaRPr>
          </a:p>
        </p:txBody>
      </p:sp>
      <p:sp>
        <p:nvSpPr>
          <p:cNvPr id="537" name="Shape 24"/>
          <p:cNvSpPr/>
          <p:nvPr/>
        </p:nvSpPr>
        <p:spPr>
          <a:xfrm>
            <a:off x="3273480" y="4681800"/>
            <a:ext cx="1298160" cy="328680"/>
          </a:xfrm>
          <a:prstGeom prst="roundRect">
            <a:avLst>
              <a:gd name="adj" fmla="val 13889"/>
            </a:avLst>
          </a:prstGeom>
          <a:solidFill>
            <a:srgbClr val="F2A623"/>
          </a:solidFill>
          <a:ln w="6350">
            <a:solidFill>
              <a:srgbClr val="F2A62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38" name="Text 25"/>
          <p:cNvSpPr/>
          <p:nvPr/>
        </p:nvSpPr>
        <p:spPr>
          <a:xfrm>
            <a:off x="32734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854F0B"/>
                </a:solidFill>
                <a:latin typeface="Calibri"/>
                <a:ea typeface="Calibri"/>
              </a:rPr>
              <a:t>Context</a:t>
            </a:r>
            <a:endParaRPr lang="en-US" sz="900" b="0" strike="noStrike" spc="-1">
              <a:solidFill>
                <a:srgbClr val="000000"/>
              </a:solidFill>
              <a:latin typeface="Arial"/>
            </a:endParaRPr>
          </a:p>
        </p:txBody>
      </p:sp>
      <p:sp>
        <p:nvSpPr>
          <p:cNvPr id="539" name="Shape 26"/>
          <p:cNvSpPr/>
          <p:nvPr/>
        </p:nvSpPr>
        <p:spPr>
          <a:xfrm>
            <a:off x="4681800" y="4681800"/>
            <a:ext cx="1298160" cy="328680"/>
          </a:xfrm>
          <a:prstGeom prst="roundRect">
            <a:avLst>
              <a:gd name="adj" fmla="val 13889"/>
            </a:avLst>
          </a:prstGeom>
          <a:solidFill>
            <a:srgbClr val="EEEDFE"/>
          </a:solidFill>
          <a:ln w="635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40" name="Text 27"/>
          <p:cNvSpPr/>
          <p:nvPr/>
        </p:nvSpPr>
        <p:spPr>
          <a:xfrm>
            <a:off x="46818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26215C"/>
                </a:solidFill>
                <a:latin typeface="Calibri"/>
                <a:ea typeface="Calibri"/>
              </a:rPr>
              <a:t>Agents</a:t>
            </a:r>
            <a:endParaRPr lang="en-US" sz="900" b="0" strike="noStrike" spc="-1">
              <a:solidFill>
                <a:srgbClr val="000000"/>
              </a:solidFill>
              <a:latin typeface="Arial"/>
            </a:endParaRPr>
          </a:p>
        </p:txBody>
      </p:sp>
      <p:sp>
        <p:nvSpPr>
          <p:cNvPr id="541" name="Shape 28"/>
          <p:cNvSpPr/>
          <p:nvPr/>
        </p:nvSpPr>
        <p:spPr>
          <a:xfrm>
            <a:off x="6089760" y="4681800"/>
            <a:ext cx="1298160" cy="328680"/>
          </a:xfrm>
          <a:prstGeom prst="roundRect">
            <a:avLst>
              <a:gd name="adj" fmla="val 13889"/>
            </a:avLst>
          </a:prstGeom>
          <a:solidFill>
            <a:srgbClr val="ECEBF4"/>
          </a:solidFill>
          <a:ln w="635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42" name="Text 29"/>
          <p:cNvSpPr/>
          <p:nvPr/>
        </p:nvSpPr>
        <p:spPr>
          <a:xfrm>
            <a:off x="608976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767290"/>
                </a:solidFill>
                <a:latin typeface="Calibri"/>
                <a:ea typeface="Calibri"/>
              </a:rPr>
              <a:t>Chat UI</a:t>
            </a:r>
            <a:endParaRPr lang="en-US" sz="900" b="0" strike="noStrike" spc="-1">
              <a:solidFill>
                <a:srgbClr val="000000"/>
              </a:solidFill>
              <a:latin typeface="Arial"/>
            </a:endParaRPr>
          </a:p>
        </p:txBody>
      </p:sp>
      <p:sp>
        <p:nvSpPr>
          <p:cNvPr id="543" name="Shape 30"/>
          <p:cNvSpPr/>
          <p:nvPr/>
        </p:nvSpPr>
        <p:spPr>
          <a:xfrm>
            <a:off x="7498080" y="4681800"/>
            <a:ext cx="1298160" cy="328680"/>
          </a:xfrm>
          <a:prstGeom prst="roundRect">
            <a:avLst>
              <a:gd name="adj" fmla="val 13889"/>
            </a:avLst>
          </a:prstGeom>
          <a:solidFill>
            <a:srgbClr val="E1F5EE"/>
          </a:solidFill>
          <a:ln w="635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44" name="Text 31"/>
          <p:cNvSpPr/>
          <p:nvPr/>
        </p:nvSpPr>
        <p:spPr>
          <a:xfrm>
            <a:off x="74980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F6E56"/>
                </a:solidFill>
                <a:latin typeface="Calibri"/>
                <a:ea typeface="Calibri"/>
              </a:rPr>
              <a:t>Session Store</a:t>
            </a:r>
            <a:endParaRPr lang="en-US" sz="900" b="0" strike="noStrike" spc="-1">
              <a:solidFill>
                <a:srgbClr val="000000"/>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5"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BUILDING BLOCK 4 OF 6</a:t>
            </a:r>
            <a:endParaRPr lang="en-US" sz="1200" b="0" strike="noStrike" spc="-1">
              <a:solidFill>
                <a:srgbClr val="000000"/>
              </a:solidFill>
              <a:latin typeface="Arial"/>
            </a:endParaRPr>
          </a:p>
        </p:txBody>
      </p:sp>
      <p:sp>
        <p:nvSpPr>
          <p:cNvPr id="546"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Multi-agent orchestration → one assistant, many specialists</a:t>
            </a:r>
            <a:endParaRPr lang="en-US" sz="2800" b="0" strike="noStrike" spc="-1">
              <a:solidFill>
                <a:srgbClr val="000000"/>
              </a:solidFill>
              <a:latin typeface="Arial"/>
            </a:endParaRPr>
          </a:p>
        </p:txBody>
      </p:sp>
      <p:sp>
        <p:nvSpPr>
          <p:cNvPr id="547" name="Shape 2"/>
          <p:cNvSpPr/>
          <p:nvPr/>
        </p:nvSpPr>
        <p:spPr>
          <a:xfrm flipH="1">
            <a:off x="2560320" y="2674440"/>
            <a:ext cx="1188720" cy="360"/>
          </a:xfrm>
          <a:prstGeom prst="line">
            <a:avLst/>
          </a:prstGeom>
          <a:ln w="25400">
            <a:solidFill>
              <a:srgbClr val="EEEDFE"/>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548" name="Shape 3"/>
          <p:cNvSpPr/>
          <p:nvPr/>
        </p:nvSpPr>
        <p:spPr>
          <a:xfrm>
            <a:off x="5394960" y="2674440"/>
            <a:ext cx="1188720" cy="360"/>
          </a:xfrm>
          <a:prstGeom prst="line">
            <a:avLst/>
          </a:prstGeom>
          <a:ln w="25400">
            <a:solidFill>
              <a:srgbClr val="EEEDFE"/>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549" name="Shape 4"/>
          <p:cNvSpPr/>
          <p:nvPr/>
        </p:nvSpPr>
        <p:spPr>
          <a:xfrm>
            <a:off x="4572000" y="3063240"/>
            <a:ext cx="360" cy="457200"/>
          </a:xfrm>
          <a:prstGeom prst="line">
            <a:avLst/>
          </a:prstGeom>
          <a:ln w="2540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550" name="Shape 5"/>
          <p:cNvSpPr/>
          <p:nvPr/>
        </p:nvSpPr>
        <p:spPr>
          <a:xfrm>
            <a:off x="548640" y="1417320"/>
            <a:ext cx="2011320" cy="731160"/>
          </a:xfrm>
          <a:prstGeom prst="roundRect">
            <a:avLst>
              <a:gd name="adj" fmla="val 10000"/>
            </a:avLst>
          </a:prstGeom>
          <a:solidFill>
            <a:srgbClr val="E1F5EE"/>
          </a:solidFill>
          <a:ln w="0">
            <a:noFill/>
          </a:ln>
          <a:effectLst>
            <a:outerShdw blurRad="50760" dist="1260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51" name="Text 6"/>
          <p:cNvSpPr/>
          <p:nvPr/>
        </p:nvSpPr>
        <p:spPr>
          <a:xfrm>
            <a:off x="548640" y="1508760"/>
            <a:ext cx="2011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0F6E56"/>
                </a:solidFill>
                <a:latin typeface="Calibri"/>
                <a:ea typeface="Calibri"/>
              </a:rPr>
              <a:t>Billing agent</a:t>
            </a:r>
            <a:endParaRPr lang="en-US" sz="1250" b="0" strike="noStrike" spc="-1">
              <a:solidFill>
                <a:srgbClr val="000000"/>
              </a:solidFill>
              <a:latin typeface="Arial"/>
            </a:endParaRPr>
          </a:p>
        </p:txBody>
      </p:sp>
      <p:sp>
        <p:nvSpPr>
          <p:cNvPr id="552" name="Text 7"/>
          <p:cNvSpPr/>
          <p:nvPr/>
        </p:nvSpPr>
        <p:spPr>
          <a:xfrm>
            <a:off x="548640" y="1828800"/>
            <a:ext cx="2011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767290"/>
                </a:solidFill>
                <a:latin typeface="Calibri"/>
                <a:ea typeface="Calibri"/>
              </a:rPr>
              <a:t>Refunds, invoices</a:t>
            </a:r>
            <a:endParaRPr lang="en-US" sz="1000" b="0" strike="noStrike" spc="-1">
              <a:solidFill>
                <a:srgbClr val="000000"/>
              </a:solidFill>
              <a:latin typeface="Arial"/>
            </a:endParaRPr>
          </a:p>
        </p:txBody>
      </p:sp>
      <p:sp>
        <p:nvSpPr>
          <p:cNvPr id="553" name="Shape 8"/>
          <p:cNvSpPr/>
          <p:nvPr/>
        </p:nvSpPr>
        <p:spPr>
          <a:xfrm>
            <a:off x="6583680" y="1417320"/>
            <a:ext cx="2011320" cy="731160"/>
          </a:xfrm>
          <a:prstGeom prst="roundRect">
            <a:avLst>
              <a:gd name="adj" fmla="val 10000"/>
            </a:avLst>
          </a:prstGeom>
          <a:solidFill>
            <a:srgbClr val="E1F5EE"/>
          </a:solidFill>
          <a:ln w="0">
            <a:noFill/>
          </a:ln>
          <a:effectLst>
            <a:outerShdw blurRad="50760" dist="1260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54" name="Text 9"/>
          <p:cNvSpPr/>
          <p:nvPr/>
        </p:nvSpPr>
        <p:spPr>
          <a:xfrm>
            <a:off x="6583680" y="1508760"/>
            <a:ext cx="2011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0F6E56"/>
                </a:solidFill>
                <a:latin typeface="Calibri"/>
                <a:ea typeface="Calibri"/>
              </a:rPr>
              <a:t>Order tracking agent</a:t>
            </a:r>
            <a:endParaRPr lang="en-US" sz="1250" b="0" strike="noStrike" spc="-1">
              <a:solidFill>
                <a:srgbClr val="000000"/>
              </a:solidFill>
              <a:latin typeface="Arial"/>
            </a:endParaRPr>
          </a:p>
        </p:txBody>
      </p:sp>
      <p:sp>
        <p:nvSpPr>
          <p:cNvPr id="555" name="Text 10"/>
          <p:cNvSpPr/>
          <p:nvPr/>
        </p:nvSpPr>
        <p:spPr>
          <a:xfrm>
            <a:off x="6583680" y="1828800"/>
            <a:ext cx="2011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767290"/>
                </a:solidFill>
                <a:latin typeface="Calibri"/>
                <a:ea typeface="Calibri"/>
              </a:rPr>
              <a:t>Shipping status</a:t>
            </a:r>
            <a:endParaRPr lang="en-US" sz="1000" b="0" strike="noStrike" spc="-1">
              <a:solidFill>
                <a:srgbClr val="000000"/>
              </a:solidFill>
              <a:latin typeface="Arial"/>
            </a:endParaRPr>
          </a:p>
        </p:txBody>
      </p:sp>
      <p:sp>
        <p:nvSpPr>
          <p:cNvPr id="556" name="Shape 11"/>
          <p:cNvSpPr/>
          <p:nvPr/>
        </p:nvSpPr>
        <p:spPr>
          <a:xfrm>
            <a:off x="3611880" y="3520440"/>
            <a:ext cx="1919880" cy="731160"/>
          </a:xfrm>
          <a:prstGeom prst="roundRect">
            <a:avLst>
              <a:gd name="adj" fmla="val 10000"/>
            </a:avLst>
          </a:prstGeom>
          <a:solidFill>
            <a:srgbClr val="E1F5EE"/>
          </a:solidFill>
          <a:ln w="0">
            <a:noFill/>
          </a:ln>
          <a:effectLst>
            <a:outerShdw blurRad="50760" dist="1260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57" name="Text 12"/>
          <p:cNvSpPr/>
          <p:nvPr/>
        </p:nvSpPr>
        <p:spPr>
          <a:xfrm>
            <a:off x="3611880" y="3611880"/>
            <a:ext cx="19198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0F6E56"/>
                </a:solidFill>
                <a:latin typeface="Calibri"/>
                <a:ea typeface="Calibri"/>
              </a:rPr>
              <a:t>FAQ agent</a:t>
            </a:r>
            <a:endParaRPr lang="en-US" sz="1250" b="0" strike="noStrike" spc="-1">
              <a:solidFill>
                <a:srgbClr val="000000"/>
              </a:solidFill>
              <a:latin typeface="Arial"/>
            </a:endParaRPr>
          </a:p>
        </p:txBody>
      </p:sp>
      <p:sp>
        <p:nvSpPr>
          <p:cNvPr id="558" name="Text 13"/>
          <p:cNvSpPr/>
          <p:nvPr/>
        </p:nvSpPr>
        <p:spPr>
          <a:xfrm>
            <a:off x="3611880" y="3931920"/>
            <a:ext cx="19198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767290"/>
                </a:solidFill>
                <a:latin typeface="Calibri"/>
                <a:ea typeface="Calibri"/>
              </a:rPr>
              <a:t>General questions</a:t>
            </a:r>
            <a:endParaRPr lang="en-US" sz="1000" b="0" strike="noStrike" spc="-1">
              <a:solidFill>
                <a:srgbClr val="000000"/>
              </a:solidFill>
              <a:latin typeface="Arial"/>
            </a:endParaRPr>
          </a:p>
        </p:txBody>
      </p:sp>
      <p:sp>
        <p:nvSpPr>
          <p:cNvPr id="559" name="Shape 14"/>
          <p:cNvSpPr/>
          <p:nvPr/>
        </p:nvSpPr>
        <p:spPr>
          <a:xfrm>
            <a:off x="3749040" y="2286000"/>
            <a:ext cx="1645560" cy="776880"/>
          </a:xfrm>
          <a:prstGeom prst="roundRect">
            <a:avLst>
              <a:gd name="adj" fmla="val 9412"/>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60" name="Text 15"/>
          <p:cNvSpPr/>
          <p:nvPr/>
        </p:nvSpPr>
        <p:spPr>
          <a:xfrm>
            <a:off x="3749040" y="2340720"/>
            <a:ext cx="16455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300" b="1" strike="noStrike" spc="-1">
                <a:solidFill>
                  <a:srgbClr val="FFFFFF"/>
                </a:solidFill>
                <a:latin typeface="Calibri"/>
                <a:ea typeface="Calibri"/>
              </a:rPr>
              <a:t>Orchestrator</a:t>
            </a:r>
            <a:endParaRPr lang="en-US" sz="1300" b="0" strike="noStrike" spc="-1">
              <a:solidFill>
                <a:srgbClr val="000000"/>
              </a:solidFill>
              <a:latin typeface="Arial"/>
            </a:endParaRPr>
          </a:p>
          <a:p>
            <a:pPr algn="ctr" defTabSz="914400">
              <a:lnSpc>
                <a:spcPct val="95000"/>
              </a:lnSpc>
              <a:tabLst>
                <a:tab pos="0" algn="l"/>
              </a:tabLst>
            </a:pPr>
            <a:r>
              <a:rPr lang="en-US" sz="1300" b="1" strike="noStrike" spc="-1">
                <a:solidFill>
                  <a:srgbClr val="FFFFFF"/>
                </a:solidFill>
                <a:latin typeface="Calibri"/>
                <a:ea typeface="Calibri"/>
              </a:rPr>
              <a:t>agent</a:t>
            </a:r>
            <a:endParaRPr lang="en-US" sz="1300" b="0" strike="noStrike" spc="-1">
              <a:solidFill>
                <a:srgbClr val="000000"/>
              </a:solidFill>
              <a:latin typeface="Arial"/>
            </a:endParaRPr>
          </a:p>
        </p:txBody>
      </p:sp>
      <p:sp>
        <p:nvSpPr>
          <p:cNvPr id="561" name="Text 16"/>
          <p:cNvSpPr/>
          <p:nvPr/>
        </p:nvSpPr>
        <p:spPr>
          <a:xfrm>
            <a:off x="3749040" y="2697480"/>
            <a:ext cx="16455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950" b="0" strike="noStrike" spc="-1">
                <a:solidFill>
                  <a:srgbClr val="CADCFC"/>
                </a:solidFill>
                <a:latin typeface="Calibri"/>
                <a:ea typeface="Calibri"/>
              </a:rPr>
              <a:t>Classifies intent</a:t>
            </a:r>
            <a:endParaRPr lang="en-US" sz="950" b="0" strike="noStrike" spc="-1">
              <a:solidFill>
                <a:srgbClr val="000000"/>
              </a:solidFill>
              <a:latin typeface="Arial"/>
            </a:endParaRPr>
          </a:p>
          <a:p>
            <a:pPr algn="ctr" defTabSz="914400">
              <a:lnSpc>
                <a:spcPct val="95000"/>
              </a:lnSpc>
              <a:tabLst>
                <a:tab pos="0" algn="l"/>
              </a:tabLst>
            </a:pPr>
            <a:r>
              <a:rPr lang="en-US" sz="950" b="0" strike="noStrike" spc="-1">
                <a:solidFill>
                  <a:srgbClr val="CADCFC"/>
                </a:solidFill>
                <a:latin typeface="Calibri"/>
                <a:ea typeface="Calibri"/>
              </a:rPr>
              <a:t>&amp; routes</a:t>
            </a:r>
            <a:endParaRPr lang="en-US" sz="950" b="0" strike="noStrike" spc="-1">
              <a:solidFill>
                <a:srgbClr val="000000"/>
              </a:solidFill>
              <a:latin typeface="Arial"/>
            </a:endParaRPr>
          </a:p>
        </p:txBody>
      </p:sp>
      <p:sp>
        <p:nvSpPr>
          <p:cNvPr id="562" name="Text 17"/>
          <p:cNvSpPr/>
          <p:nvPr/>
        </p:nvSpPr>
        <p:spPr>
          <a:xfrm>
            <a:off x="548640" y="4434840"/>
            <a:ext cx="8046360" cy="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343080" indent="-343080" defTabSz="914400">
              <a:lnSpc>
                <a:spcPct val="100000"/>
              </a:lnSpc>
              <a:buClr>
                <a:srgbClr val="000000"/>
              </a:buClr>
              <a:buFont typeface="Symbol" charset="2"/>
              <a:buChar char=""/>
            </a:pPr>
            <a:r>
              <a:rPr lang="en-US" sz="1800" b="0" strike="noStrike" spc="-1">
                <a:solidFill>
                  <a:srgbClr val="000000"/>
                </a:solidFill>
                <a:latin typeface="Calibri"/>
              </a:rPr>
              <a:t>The root agent's only job is intent classification and routing — it doesn't need to know how to process a refund.</a:t>
            </a:r>
            <a:endParaRPr lang="en-US" sz="1800" b="0" strike="noStrike" spc="-1">
              <a:solidFill>
                <a:srgbClr val="000000"/>
              </a:solidFill>
              <a:latin typeface="Arial"/>
            </a:endParaRPr>
          </a:p>
          <a:p>
            <a:pPr marL="343080" indent="-343080" defTabSz="914400">
              <a:lnSpc>
                <a:spcPct val="100000"/>
              </a:lnSpc>
              <a:buClr>
                <a:srgbClr val="000000"/>
              </a:buClr>
              <a:buFont typeface="Symbol" charset="2"/>
              <a:buChar char=""/>
            </a:pPr>
            <a:r>
              <a:rPr lang="en-US" sz="1800" b="0" strike="noStrike" spc="-1">
                <a:solidFill>
                  <a:srgbClr val="000000"/>
                </a:solidFill>
                <a:latin typeface="Calibri"/>
              </a:rPr>
              <a:t>Each specialist owns its own tools, prompt, and slice of state.</a:t>
            </a:r>
            <a:endParaRPr lang="en-US" sz="1800" b="0" strike="noStrike" spc="-1">
              <a:solidFill>
                <a:srgbClr val="000000"/>
              </a:solidFill>
              <a:latin typeface="Arial"/>
            </a:endParaRPr>
          </a:p>
          <a:p>
            <a:pPr marL="343080" indent="-343080" defTabSz="914400">
              <a:lnSpc>
                <a:spcPct val="100000"/>
              </a:lnSpc>
              <a:buClr>
                <a:srgbClr val="000000"/>
              </a:buClr>
              <a:buFont typeface="Symbol" charset="2"/>
              <a:buChar char=""/>
            </a:pPr>
            <a:r>
              <a:rPr lang="en-US" sz="1800" b="0" strike="noStrike" spc="-1">
                <a:solidFill>
                  <a:srgbClr val="000000"/>
                </a:solidFill>
                <a:latin typeface="Calibri"/>
              </a:rPr>
              <a:t>To the user, it's still one chat window and one coherent assistant.</a:t>
            </a:r>
            <a:endParaRPr lang="en-US" sz="1800" b="0" strike="noStrike" spc="-1">
              <a:solidFill>
                <a:srgbClr val="000000"/>
              </a:solidFill>
              <a:latin typeface="Arial"/>
            </a:endParaRPr>
          </a:p>
        </p:txBody>
      </p:sp>
      <p:sp>
        <p:nvSpPr>
          <p:cNvPr id="563" name="Text 18"/>
          <p:cNvSpPr/>
          <p:nvPr/>
        </p:nvSpPr>
        <p:spPr>
          <a:xfrm>
            <a:off x="548640" y="4370760"/>
            <a:ext cx="81378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5000"/>
              </a:lnSpc>
              <a:buClr>
                <a:srgbClr val="433F5C"/>
              </a:buClr>
              <a:buFont typeface="Symbol" charset="2"/>
              <a:buChar char=""/>
            </a:pPr>
            <a:r>
              <a:rPr lang="en-US" sz="1150" b="0" strike="noStrike" spc="-1">
                <a:solidFill>
                  <a:srgbClr val="433F5C"/>
                </a:solidFill>
                <a:latin typeface="Calibri"/>
                <a:ea typeface="Calibri"/>
              </a:rPr>
              <a:t>The root agent's only job is intent classification and routing — it doesn't need to know how to process a refund.</a:t>
            </a:r>
            <a:endParaRPr lang="en-US" sz="1150" b="0" strike="noStrike" spc="-1">
              <a:solidFill>
                <a:srgbClr val="000000"/>
              </a:solidFill>
              <a:latin typeface="Arial"/>
            </a:endParaRPr>
          </a:p>
          <a:p>
            <a:pPr marL="343080" indent="-343080" defTabSz="914400">
              <a:lnSpc>
                <a:spcPct val="105000"/>
              </a:lnSpc>
              <a:buClr>
                <a:srgbClr val="433F5C"/>
              </a:buClr>
              <a:buFont typeface="Symbol" charset="2"/>
              <a:buChar char=""/>
            </a:pPr>
            <a:r>
              <a:rPr lang="en-US" sz="1150" b="0" strike="noStrike" spc="-1">
                <a:solidFill>
                  <a:srgbClr val="433F5C"/>
                </a:solidFill>
                <a:latin typeface="Calibri"/>
                <a:ea typeface="Calibri"/>
              </a:rPr>
              <a:t>Each specialist owns its own tools, prompt, and slice of state.</a:t>
            </a:r>
            <a:endParaRPr lang="en-US" sz="1150" b="0" strike="noStrike" spc="-1">
              <a:solidFill>
                <a:srgbClr val="000000"/>
              </a:solidFill>
              <a:latin typeface="Arial"/>
            </a:endParaRPr>
          </a:p>
          <a:p>
            <a:pPr marL="343080" indent="-343080" defTabSz="914400">
              <a:lnSpc>
                <a:spcPct val="105000"/>
              </a:lnSpc>
              <a:buClr>
                <a:srgbClr val="433F5C"/>
              </a:buClr>
              <a:buFont typeface="Symbol" charset="2"/>
              <a:buChar char=""/>
            </a:pPr>
            <a:r>
              <a:rPr lang="en-US" sz="1150" b="0" strike="noStrike" spc="-1">
                <a:solidFill>
                  <a:srgbClr val="433F5C"/>
                </a:solidFill>
                <a:latin typeface="Calibri"/>
                <a:ea typeface="Calibri"/>
              </a:rPr>
              <a:t>To the user, it's still one chat window and one coherent assistant.</a:t>
            </a:r>
            <a:endParaRPr lang="en-US" sz="1150" b="0" strike="noStrike" spc="-1">
              <a:solidFill>
                <a:srgbClr val="000000"/>
              </a:solidFill>
              <a:latin typeface="Arial"/>
            </a:endParaRPr>
          </a:p>
        </p:txBody>
      </p:sp>
      <p:sp>
        <p:nvSpPr>
          <p:cNvPr id="564" name="Shape 19"/>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65" name="Text 20"/>
          <p:cNvSpPr/>
          <p:nvPr/>
        </p:nvSpPr>
        <p:spPr>
          <a:xfrm>
            <a:off x="4572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767290"/>
                </a:solidFill>
                <a:latin typeface="Calibri"/>
                <a:ea typeface="Calibri"/>
              </a:rPr>
              <a:t>Login</a:t>
            </a:r>
            <a:endParaRPr lang="en-US" sz="900" b="0" strike="noStrike" spc="-1">
              <a:solidFill>
                <a:srgbClr val="000000"/>
              </a:solidFill>
              <a:latin typeface="Arial"/>
            </a:endParaRPr>
          </a:p>
        </p:txBody>
      </p:sp>
      <p:sp>
        <p:nvSpPr>
          <p:cNvPr id="566" name="Shape 21"/>
          <p:cNvSpPr/>
          <p:nvPr/>
        </p:nvSpPr>
        <p:spPr>
          <a:xfrm>
            <a:off x="1865520" y="4681800"/>
            <a:ext cx="1298160" cy="328680"/>
          </a:xfrm>
          <a:prstGeom prst="roundRect">
            <a:avLst>
              <a:gd name="adj" fmla="val 13889"/>
            </a:avLst>
          </a:prstGeom>
          <a:solidFill>
            <a:srgbClr val="E1F5EE"/>
          </a:solidFill>
          <a:ln w="635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67" name="Text 22"/>
          <p:cNvSpPr/>
          <p:nvPr/>
        </p:nvSpPr>
        <p:spPr>
          <a:xfrm>
            <a:off x="186552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F6E56"/>
                </a:solidFill>
                <a:latin typeface="Calibri"/>
                <a:ea typeface="Calibri"/>
              </a:rPr>
              <a:t>History</a:t>
            </a:r>
            <a:endParaRPr lang="en-US" sz="900" b="0" strike="noStrike" spc="-1">
              <a:solidFill>
                <a:srgbClr val="000000"/>
              </a:solidFill>
              <a:latin typeface="Arial"/>
            </a:endParaRPr>
          </a:p>
        </p:txBody>
      </p:sp>
      <p:sp>
        <p:nvSpPr>
          <p:cNvPr id="568" name="Shape 23"/>
          <p:cNvSpPr/>
          <p:nvPr/>
        </p:nvSpPr>
        <p:spPr>
          <a:xfrm>
            <a:off x="3273480" y="4681800"/>
            <a:ext cx="1298160" cy="328680"/>
          </a:xfrm>
          <a:prstGeom prst="roundRect">
            <a:avLst>
              <a:gd name="adj" fmla="val 13889"/>
            </a:avLst>
          </a:prstGeom>
          <a:solidFill>
            <a:srgbClr val="EEEDFE"/>
          </a:solidFill>
          <a:ln w="635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69" name="Text 24"/>
          <p:cNvSpPr/>
          <p:nvPr/>
        </p:nvSpPr>
        <p:spPr>
          <a:xfrm>
            <a:off x="32734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26215C"/>
                </a:solidFill>
                <a:latin typeface="Calibri"/>
                <a:ea typeface="Calibri"/>
              </a:rPr>
              <a:t>Context</a:t>
            </a:r>
            <a:endParaRPr lang="en-US" sz="900" b="0" strike="noStrike" spc="-1">
              <a:solidFill>
                <a:srgbClr val="000000"/>
              </a:solidFill>
              <a:latin typeface="Arial"/>
            </a:endParaRPr>
          </a:p>
        </p:txBody>
      </p:sp>
      <p:sp>
        <p:nvSpPr>
          <p:cNvPr id="570" name="Shape 25"/>
          <p:cNvSpPr/>
          <p:nvPr/>
        </p:nvSpPr>
        <p:spPr>
          <a:xfrm>
            <a:off x="4681800" y="4681800"/>
            <a:ext cx="1298160" cy="328680"/>
          </a:xfrm>
          <a:prstGeom prst="roundRect">
            <a:avLst>
              <a:gd name="adj" fmla="val 13889"/>
            </a:avLst>
          </a:prstGeom>
          <a:solidFill>
            <a:srgbClr val="F2A623"/>
          </a:solidFill>
          <a:ln w="6350">
            <a:solidFill>
              <a:srgbClr val="F2A62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71" name="Text 26"/>
          <p:cNvSpPr/>
          <p:nvPr/>
        </p:nvSpPr>
        <p:spPr>
          <a:xfrm>
            <a:off x="46818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854F0B"/>
                </a:solidFill>
                <a:latin typeface="Calibri"/>
                <a:ea typeface="Calibri"/>
              </a:rPr>
              <a:t>Agents</a:t>
            </a:r>
            <a:endParaRPr lang="en-US" sz="900" b="0" strike="noStrike" spc="-1">
              <a:solidFill>
                <a:srgbClr val="000000"/>
              </a:solidFill>
              <a:latin typeface="Arial"/>
            </a:endParaRPr>
          </a:p>
        </p:txBody>
      </p:sp>
      <p:sp>
        <p:nvSpPr>
          <p:cNvPr id="572" name="Shape 27"/>
          <p:cNvSpPr/>
          <p:nvPr/>
        </p:nvSpPr>
        <p:spPr>
          <a:xfrm>
            <a:off x="6089760" y="4681800"/>
            <a:ext cx="1298160" cy="328680"/>
          </a:xfrm>
          <a:prstGeom prst="roundRect">
            <a:avLst>
              <a:gd name="adj" fmla="val 13889"/>
            </a:avLst>
          </a:prstGeom>
          <a:solidFill>
            <a:srgbClr val="ECEBF4"/>
          </a:solidFill>
          <a:ln w="635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73" name="Text 28"/>
          <p:cNvSpPr/>
          <p:nvPr/>
        </p:nvSpPr>
        <p:spPr>
          <a:xfrm>
            <a:off x="608976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767290"/>
                </a:solidFill>
                <a:latin typeface="Calibri"/>
                <a:ea typeface="Calibri"/>
              </a:rPr>
              <a:t>Chat UI</a:t>
            </a:r>
            <a:endParaRPr lang="en-US" sz="900" b="0" strike="noStrike" spc="-1">
              <a:solidFill>
                <a:srgbClr val="000000"/>
              </a:solidFill>
              <a:latin typeface="Arial"/>
            </a:endParaRPr>
          </a:p>
        </p:txBody>
      </p:sp>
      <p:sp>
        <p:nvSpPr>
          <p:cNvPr id="574" name="Shape 29"/>
          <p:cNvSpPr/>
          <p:nvPr/>
        </p:nvSpPr>
        <p:spPr>
          <a:xfrm>
            <a:off x="7498080" y="4681800"/>
            <a:ext cx="1298160" cy="328680"/>
          </a:xfrm>
          <a:prstGeom prst="roundRect">
            <a:avLst>
              <a:gd name="adj" fmla="val 13889"/>
            </a:avLst>
          </a:prstGeom>
          <a:solidFill>
            <a:srgbClr val="E1F5EE"/>
          </a:solidFill>
          <a:ln w="635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75" name="Text 30"/>
          <p:cNvSpPr/>
          <p:nvPr/>
        </p:nvSpPr>
        <p:spPr>
          <a:xfrm>
            <a:off x="74980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F6E56"/>
                </a:solidFill>
                <a:latin typeface="Calibri"/>
                <a:ea typeface="Calibri"/>
              </a:rPr>
              <a:t>Session Store</a:t>
            </a:r>
            <a:endParaRPr lang="en-US" sz="900" b="0" strike="noStrike" spc="-1">
              <a:solidFill>
                <a:srgbClr val="000000"/>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6"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BUILDING BLOCK 5 OF 6</a:t>
            </a:r>
            <a:endParaRPr lang="en-US" sz="1200" b="0" strike="noStrike" spc="-1">
              <a:solidFill>
                <a:srgbClr val="000000"/>
              </a:solidFill>
              <a:latin typeface="Arial"/>
            </a:endParaRPr>
          </a:p>
        </p:txBody>
      </p:sp>
      <p:sp>
        <p:nvSpPr>
          <p:cNvPr id="577"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Tools &amp; function calling → actions inside the chat</a:t>
            </a:r>
            <a:endParaRPr lang="en-US" sz="2800" b="0" strike="noStrike" spc="-1">
              <a:solidFill>
                <a:srgbClr val="000000"/>
              </a:solidFill>
              <a:latin typeface="Arial"/>
            </a:endParaRPr>
          </a:p>
        </p:txBody>
      </p:sp>
      <p:sp>
        <p:nvSpPr>
          <p:cNvPr id="578" name="Text 2"/>
          <p:cNvSpPr/>
          <p:nvPr/>
        </p:nvSpPr>
        <p:spPr>
          <a:xfrm>
            <a:off x="457200" y="1417320"/>
            <a:ext cx="42973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5000"/>
              </a:lnSpc>
              <a:buClr>
                <a:srgbClr val="433F5C"/>
              </a:buClr>
              <a:buFont typeface="Symbol" charset="2"/>
              <a:buChar char=""/>
            </a:pPr>
            <a:r>
              <a:rPr lang="en-US" sz="1300" b="0" strike="noStrike" spc="-1">
                <a:solidFill>
                  <a:srgbClr val="433F5C"/>
                </a:solidFill>
                <a:latin typeface="Calibri"/>
                <a:ea typeface="Calibri"/>
              </a:rPr>
              <a:t>A tool call is a real function or API invocation — not just generated text.</a:t>
            </a:r>
            <a:endParaRPr lang="en-US" sz="1300" b="0" strike="noStrike" spc="-1">
              <a:solidFill>
                <a:srgbClr val="000000"/>
              </a:solidFill>
              <a:latin typeface="Arial"/>
            </a:endParaRPr>
          </a:p>
        </p:txBody>
      </p:sp>
      <p:sp>
        <p:nvSpPr>
          <p:cNvPr id="579" name="Text 3"/>
          <p:cNvSpPr/>
          <p:nvPr/>
        </p:nvSpPr>
        <p:spPr>
          <a:xfrm>
            <a:off x="457200" y="2148840"/>
            <a:ext cx="42973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5000"/>
              </a:lnSpc>
              <a:buClr>
                <a:srgbClr val="433F5C"/>
              </a:buClr>
              <a:buFont typeface="Symbol" charset="2"/>
              <a:buChar char=""/>
            </a:pPr>
            <a:r>
              <a:rPr lang="en-US" sz="1300" b="0" strike="noStrike" spc="-1">
                <a:solidFill>
                  <a:srgbClr val="433F5C"/>
                </a:solidFill>
                <a:latin typeface="Calibri"/>
                <a:ea typeface="Calibri"/>
              </a:rPr>
              <a:t>Results can render as inline UI: status cards, forms, buttons — not just paragraphs.</a:t>
            </a:r>
            <a:endParaRPr lang="en-US" sz="1300" b="0" strike="noStrike" spc="-1">
              <a:solidFill>
                <a:srgbClr val="000000"/>
              </a:solidFill>
              <a:latin typeface="Arial"/>
            </a:endParaRPr>
          </a:p>
        </p:txBody>
      </p:sp>
      <p:sp>
        <p:nvSpPr>
          <p:cNvPr id="580" name="Text 4"/>
          <p:cNvSpPr/>
          <p:nvPr/>
        </p:nvSpPr>
        <p:spPr>
          <a:xfrm>
            <a:off x="457200" y="2880360"/>
            <a:ext cx="42973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5000"/>
              </a:lnSpc>
              <a:buClr>
                <a:srgbClr val="433F5C"/>
              </a:buClr>
              <a:buFont typeface="Symbol" charset="2"/>
              <a:buChar char=""/>
            </a:pPr>
            <a:r>
              <a:rPr lang="en-US" sz="1300" b="0" strike="noStrike" spc="-1">
                <a:solidFill>
                  <a:srgbClr val="433F5C"/>
                </a:solidFill>
                <a:latin typeface="Calibri"/>
                <a:ea typeface="Calibri"/>
              </a:rPr>
              <a:t>This is what makes an assistant feel like it can do things, not just talk about them.</a:t>
            </a:r>
            <a:endParaRPr lang="en-US" sz="1300" b="0" strike="noStrike" spc="-1">
              <a:solidFill>
                <a:srgbClr val="000000"/>
              </a:solidFill>
              <a:latin typeface="Arial"/>
            </a:endParaRPr>
          </a:p>
        </p:txBody>
      </p:sp>
      <p:sp>
        <p:nvSpPr>
          <p:cNvPr id="581" name="Shape 5"/>
          <p:cNvSpPr/>
          <p:nvPr/>
        </p:nvSpPr>
        <p:spPr>
          <a:xfrm>
            <a:off x="457200" y="3703320"/>
            <a:ext cx="4297320" cy="868320"/>
          </a:xfrm>
          <a:prstGeom prst="roundRect">
            <a:avLst>
              <a:gd name="adj" fmla="val 8421"/>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82" name="Shape 6"/>
          <p:cNvSpPr/>
          <p:nvPr/>
        </p:nvSpPr>
        <p:spPr>
          <a:xfrm>
            <a:off x="594360" y="3803760"/>
            <a:ext cx="365400" cy="365400"/>
          </a:xfrm>
          <a:prstGeom prst="ellipse">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583" name="Image 0" descr="preencoded.png"/>
          <p:cNvPicPr/>
          <p:nvPr/>
        </p:nvPicPr>
        <p:blipFill>
          <a:blip r:embed="rId3"/>
          <a:stretch/>
        </p:blipFill>
        <p:spPr>
          <a:xfrm>
            <a:off x="682200" y="3891600"/>
            <a:ext cx="189720" cy="189720"/>
          </a:xfrm>
          <a:prstGeom prst="rect">
            <a:avLst/>
          </a:prstGeom>
          <a:ln w="0">
            <a:noFill/>
          </a:ln>
        </p:spPr>
      </p:pic>
      <p:sp>
        <p:nvSpPr>
          <p:cNvPr id="584" name="Text 7"/>
          <p:cNvSpPr/>
          <p:nvPr/>
        </p:nvSpPr>
        <p:spPr>
          <a:xfrm>
            <a:off x="1097280" y="3749040"/>
            <a:ext cx="3565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1" strike="noStrike" spc="-1">
                <a:solidFill>
                  <a:srgbClr val="0F6E56"/>
                </a:solidFill>
                <a:latin typeface="Calibri"/>
                <a:ea typeface="Calibri"/>
              </a:rPr>
              <a:t>Today: </a:t>
            </a:r>
            <a:r>
              <a:rPr lang="en-US" sz="950" b="0" strike="noStrike" spc="-1">
                <a:solidFill>
                  <a:srgbClr val="433F5C"/>
                </a:solidFill>
                <a:latin typeface="Calibri"/>
                <a:ea typeface="Calibri"/>
              </a:rPr>
              <a:t>an MCP server provisions our tools, and sub-agents call it directly to use them.</a:t>
            </a:r>
            <a:endParaRPr lang="en-US" sz="950" b="0" strike="noStrike" spc="-1">
              <a:solidFill>
                <a:srgbClr val="000000"/>
              </a:solidFill>
              <a:latin typeface="Arial"/>
            </a:endParaRPr>
          </a:p>
        </p:txBody>
      </p:sp>
      <p:sp>
        <p:nvSpPr>
          <p:cNvPr id="585" name="Text 8"/>
          <p:cNvSpPr/>
          <p:nvPr/>
        </p:nvSpPr>
        <p:spPr>
          <a:xfrm>
            <a:off x="1097280" y="4114800"/>
            <a:ext cx="3565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1" strike="noStrike" spc="-1">
                <a:solidFill>
                  <a:srgbClr val="D85A30"/>
                </a:solidFill>
                <a:latin typeface="Calibri"/>
                <a:ea typeface="Calibri"/>
              </a:rPr>
              <a:t>Not yet built: </a:t>
            </a:r>
            <a:r>
              <a:rPr lang="en-US" sz="950" b="0" strike="noStrike" spc="-1">
                <a:solidFill>
                  <a:srgbClr val="433F5C"/>
                </a:solidFill>
                <a:latin typeface="Calibri"/>
                <a:ea typeface="Calibri"/>
              </a:rPr>
              <a:t>an MCP Gateway for central auth, access policy, and audit across sub-agents.</a:t>
            </a:r>
            <a:endParaRPr lang="en-US" sz="950" b="0" strike="noStrike" spc="-1">
              <a:solidFill>
                <a:srgbClr val="000000"/>
              </a:solidFill>
              <a:latin typeface="Arial"/>
            </a:endParaRPr>
          </a:p>
        </p:txBody>
      </p:sp>
      <p:sp>
        <p:nvSpPr>
          <p:cNvPr id="586" name="Shape 9"/>
          <p:cNvSpPr/>
          <p:nvPr/>
        </p:nvSpPr>
        <p:spPr>
          <a:xfrm>
            <a:off x="5029200" y="1325880"/>
            <a:ext cx="3657240" cy="502560"/>
          </a:xfrm>
          <a:prstGeom prst="roundRect">
            <a:avLst>
              <a:gd name="adj" fmla="val 21818"/>
            </a:avLst>
          </a:prstGeom>
          <a:solidFill>
            <a:srgbClr val="ECEB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87" name="Text 10"/>
          <p:cNvSpPr/>
          <p:nvPr/>
        </p:nvSpPr>
        <p:spPr>
          <a:xfrm>
            <a:off x="5212080" y="1325880"/>
            <a:ext cx="32914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433F5C"/>
                </a:solidFill>
                <a:latin typeface="Calibri"/>
                <a:ea typeface="Calibri"/>
              </a:rPr>
              <a:t>Can you check order #48213?</a:t>
            </a:r>
            <a:endParaRPr lang="en-US" sz="1100" b="0" strike="noStrike" spc="-1">
              <a:solidFill>
                <a:srgbClr val="000000"/>
              </a:solidFill>
              <a:latin typeface="Arial"/>
            </a:endParaRPr>
          </a:p>
        </p:txBody>
      </p:sp>
      <p:sp>
        <p:nvSpPr>
          <p:cNvPr id="588" name="Shape 11"/>
          <p:cNvSpPr/>
          <p:nvPr/>
        </p:nvSpPr>
        <p:spPr>
          <a:xfrm>
            <a:off x="5029200" y="2011680"/>
            <a:ext cx="3657240" cy="1508400"/>
          </a:xfrm>
          <a:prstGeom prst="roundRect">
            <a:avLst>
              <a:gd name="adj" fmla="val 7273"/>
            </a:avLst>
          </a:prstGeom>
          <a:solidFill>
            <a:srgbClr val="F8F7FC"/>
          </a:solidFill>
          <a:ln w="0">
            <a:noFill/>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89" name="Shape 12"/>
          <p:cNvSpPr/>
          <p:nvPr/>
        </p:nvSpPr>
        <p:spPr>
          <a:xfrm>
            <a:off x="5257800" y="2221920"/>
            <a:ext cx="420120" cy="42012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590" name="Image 1" descr="preencoded.png"/>
          <p:cNvPicPr/>
          <p:nvPr/>
        </p:nvPicPr>
        <p:blipFill>
          <a:blip r:embed="rId4"/>
          <a:stretch/>
        </p:blipFill>
        <p:spPr>
          <a:xfrm>
            <a:off x="5358600" y="2323080"/>
            <a:ext cx="218520" cy="218520"/>
          </a:xfrm>
          <a:prstGeom prst="rect">
            <a:avLst/>
          </a:prstGeom>
          <a:ln w="0">
            <a:noFill/>
          </a:ln>
        </p:spPr>
      </p:pic>
      <p:sp>
        <p:nvSpPr>
          <p:cNvPr id="591" name="Text 13"/>
          <p:cNvSpPr/>
          <p:nvPr/>
        </p:nvSpPr>
        <p:spPr>
          <a:xfrm>
            <a:off x="5870520" y="2203560"/>
            <a:ext cx="23770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26215C"/>
                </a:solidFill>
                <a:latin typeface="Calibri"/>
                <a:ea typeface="Calibri"/>
              </a:rPr>
              <a:t>Order #48213</a:t>
            </a:r>
            <a:endParaRPr lang="en-US" sz="1250" b="0" strike="noStrike" spc="-1">
              <a:solidFill>
                <a:srgbClr val="000000"/>
              </a:solidFill>
              <a:latin typeface="Arial"/>
            </a:endParaRPr>
          </a:p>
        </p:txBody>
      </p:sp>
      <p:sp>
        <p:nvSpPr>
          <p:cNvPr id="592" name="Shape 14"/>
          <p:cNvSpPr/>
          <p:nvPr/>
        </p:nvSpPr>
        <p:spPr>
          <a:xfrm>
            <a:off x="7498080" y="2221920"/>
            <a:ext cx="959760" cy="273960"/>
          </a:xfrm>
          <a:prstGeom prst="roundRect">
            <a:avLst>
              <a:gd name="adj" fmla="val 50000"/>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93" name="Text 15"/>
          <p:cNvSpPr/>
          <p:nvPr/>
        </p:nvSpPr>
        <p:spPr>
          <a:xfrm>
            <a:off x="7498080" y="2221920"/>
            <a:ext cx="959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strike="noStrike" spc="-1">
                <a:solidFill>
                  <a:srgbClr val="0F6E56"/>
                </a:solidFill>
                <a:latin typeface="Calibri"/>
                <a:ea typeface="Calibri"/>
              </a:rPr>
              <a:t>Shipped</a:t>
            </a:r>
            <a:endParaRPr lang="en-US" sz="950" b="0" strike="noStrike" spc="-1">
              <a:solidFill>
                <a:srgbClr val="000000"/>
              </a:solidFill>
              <a:latin typeface="Arial"/>
            </a:endParaRPr>
          </a:p>
        </p:txBody>
      </p:sp>
      <p:sp>
        <p:nvSpPr>
          <p:cNvPr id="594" name="Text 16"/>
          <p:cNvSpPr/>
          <p:nvPr/>
        </p:nvSpPr>
        <p:spPr>
          <a:xfrm>
            <a:off x="5257800" y="2606040"/>
            <a:ext cx="3200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433F5C"/>
                </a:solidFill>
                <a:latin typeface="Calibri"/>
                <a:ea typeface="Calibri"/>
              </a:rPr>
              <a:t>Estimated delivery: Tue, Jun 17</a:t>
            </a:r>
            <a:endParaRPr lang="en-US" sz="1050" b="0" strike="noStrike" spc="-1">
              <a:solidFill>
                <a:srgbClr val="000000"/>
              </a:solidFill>
              <a:latin typeface="Arial"/>
            </a:endParaRPr>
          </a:p>
        </p:txBody>
      </p:sp>
      <p:sp>
        <p:nvSpPr>
          <p:cNvPr id="595" name="Shape 17"/>
          <p:cNvSpPr/>
          <p:nvPr/>
        </p:nvSpPr>
        <p:spPr>
          <a:xfrm>
            <a:off x="5257800" y="2971800"/>
            <a:ext cx="1554120" cy="365400"/>
          </a:xfrm>
          <a:prstGeom prst="roundRect">
            <a:avLst>
              <a:gd name="adj" fmla="val 20000"/>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96" name="Text 18"/>
          <p:cNvSpPr/>
          <p:nvPr/>
        </p:nvSpPr>
        <p:spPr>
          <a:xfrm>
            <a:off x="5257800" y="297180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Calibri"/>
                <a:ea typeface="Calibri"/>
              </a:rPr>
              <a:t>Track shipment</a:t>
            </a:r>
            <a:endParaRPr lang="en-US" sz="1000" b="0" strike="noStrike" spc="-1">
              <a:solidFill>
                <a:srgbClr val="000000"/>
              </a:solidFill>
              <a:latin typeface="Arial"/>
            </a:endParaRPr>
          </a:p>
        </p:txBody>
      </p:sp>
      <p:sp>
        <p:nvSpPr>
          <p:cNvPr id="597" name="Text 19"/>
          <p:cNvSpPr/>
          <p:nvPr/>
        </p:nvSpPr>
        <p:spPr>
          <a:xfrm>
            <a:off x="5029200" y="3657600"/>
            <a:ext cx="3657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strike="noStrike" spc="-1">
                <a:solidFill>
                  <a:srgbClr val="767290"/>
                </a:solidFill>
                <a:latin typeface="Calibri"/>
                <a:ea typeface="Calibri"/>
              </a:rPr>
              <a:t>tool_call: get_order_status(order_id="48213")  →  rendered as a card, not a paragraph</a:t>
            </a:r>
            <a:endParaRPr lang="en-US" sz="900" b="0" strike="noStrike" spc="-1">
              <a:solidFill>
                <a:srgbClr val="000000"/>
              </a:solidFill>
              <a:latin typeface="Arial"/>
            </a:endParaRPr>
          </a:p>
        </p:txBody>
      </p:sp>
      <p:sp>
        <p:nvSpPr>
          <p:cNvPr id="598" name="Text 20"/>
          <p:cNvSpPr/>
          <p:nvPr/>
        </p:nvSpPr>
        <p:spPr>
          <a:xfrm>
            <a:off x="5029200" y="3931920"/>
            <a:ext cx="3657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strike="noStrike" spc="-1">
                <a:solidFill>
                  <a:srgbClr val="767290"/>
                </a:solidFill>
                <a:latin typeface="Calibri"/>
                <a:ea typeface="Calibri"/>
              </a:rPr>
              <a:t>This tool call is provisioned through our MCP server today — no central gateway sits in front of it yet.</a:t>
            </a:r>
            <a:endParaRPr lang="en-US" sz="900" b="0" strike="noStrike" spc="-1">
              <a:solidFill>
                <a:srgbClr val="000000"/>
              </a:solidFill>
              <a:latin typeface="Arial"/>
            </a:endParaRPr>
          </a:p>
        </p:txBody>
      </p:sp>
      <p:sp>
        <p:nvSpPr>
          <p:cNvPr id="599" name="Shape 21"/>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00" name="Text 22"/>
          <p:cNvSpPr/>
          <p:nvPr/>
        </p:nvSpPr>
        <p:spPr>
          <a:xfrm>
            <a:off x="4572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767290"/>
                </a:solidFill>
                <a:latin typeface="Calibri"/>
                <a:ea typeface="Calibri"/>
              </a:rPr>
              <a:t>Login</a:t>
            </a:r>
            <a:endParaRPr lang="en-US" sz="900" b="0" strike="noStrike" spc="-1">
              <a:solidFill>
                <a:srgbClr val="000000"/>
              </a:solidFill>
              <a:latin typeface="Arial"/>
            </a:endParaRPr>
          </a:p>
        </p:txBody>
      </p:sp>
      <p:sp>
        <p:nvSpPr>
          <p:cNvPr id="601" name="Shape 23"/>
          <p:cNvSpPr/>
          <p:nvPr/>
        </p:nvSpPr>
        <p:spPr>
          <a:xfrm>
            <a:off x="1865520" y="4681800"/>
            <a:ext cx="1298160" cy="328680"/>
          </a:xfrm>
          <a:prstGeom prst="roundRect">
            <a:avLst>
              <a:gd name="adj" fmla="val 13889"/>
            </a:avLst>
          </a:prstGeom>
          <a:solidFill>
            <a:srgbClr val="E1F5EE"/>
          </a:solidFill>
          <a:ln w="635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02" name="Text 24"/>
          <p:cNvSpPr/>
          <p:nvPr/>
        </p:nvSpPr>
        <p:spPr>
          <a:xfrm>
            <a:off x="186552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F6E56"/>
                </a:solidFill>
                <a:latin typeface="Calibri"/>
                <a:ea typeface="Calibri"/>
              </a:rPr>
              <a:t>History</a:t>
            </a:r>
            <a:endParaRPr lang="en-US" sz="900" b="0" strike="noStrike" spc="-1">
              <a:solidFill>
                <a:srgbClr val="000000"/>
              </a:solidFill>
              <a:latin typeface="Arial"/>
            </a:endParaRPr>
          </a:p>
        </p:txBody>
      </p:sp>
      <p:sp>
        <p:nvSpPr>
          <p:cNvPr id="603" name="Shape 25"/>
          <p:cNvSpPr/>
          <p:nvPr/>
        </p:nvSpPr>
        <p:spPr>
          <a:xfrm>
            <a:off x="3273480" y="4681800"/>
            <a:ext cx="1298160" cy="328680"/>
          </a:xfrm>
          <a:prstGeom prst="roundRect">
            <a:avLst>
              <a:gd name="adj" fmla="val 13889"/>
            </a:avLst>
          </a:prstGeom>
          <a:solidFill>
            <a:srgbClr val="EEEDFE"/>
          </a:solidFill>
          <a:ln w="635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04" name="Text 26"/>
          <p:cNvSpPr/>
          <p:nvPr/>
        </p:nvSpPr>
        <p:spPr>
          <a:xfrm>
            <a:off x="32734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26215C"/>
                </a:solidFill>
                <a:latin typeface="Calibri"/>
                <a:ea typeface="Calibri"/>
              </a:rPr>
              <a:t>Context</a:t>
            </a:r>
            <a:endParaRPr lang="en-US" sz="900" b="0" strike="noStrike" spc="-1">
              <a:solidFill>
                <a:srgbClr val="000000"/>
              </a:solidFill>
              <a:latin typeface="Arial"/>
            </a:endParaRPr>
          </a:p>
        </p:txBody>
      </p:sp>
      <p:sp>
        <p:nvSpPr>
          <p:cNvPr id="605" name="Shape 27"/>
          <p:cNvSpPr/>
          <p:nvPr/>
        </p:nvSpPr>
        <p:spPr>
          <a:xfrm>
            <a:off x="4681800" y="4681800"/>
            <a:ext cx="1298160" cy="328680"/>
          </a:xfrm>
          <a:prstGeom prst="roundRect">
            <a:avLst>
              <a:gd name="adj" fmla="val 13889"/>
            </a:avLst>
          </a:prstGeom>
          <a:solidFill>
            <a:srgbClr val="F2A623"/>
          </a:solidFill>
          <a:ln w="6350">
            <a:solidFill>
              <a:srgbClr val="F2A62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06" name="Text 28"/>
          <p:cNvSpPr/>
          <p:nvPr/>
        </p:nvSpPr>
        <p:spPr>
          <a:xfrm>
            <a:off x="46818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854F0B"/>
                </a:solidFill>
                <a:latin typeface="Calibri"/>
                <a:ea typeface="Calibri"/>
              </a:rPr>
              <a:t>Agents</a:t>
            </a:r>
            <a:endParaRPr lang="en-US" sz="900" b="0" strike="noStrike" spc="-1">
              <a:solidFill>
                <a:srgbClr val="000000"/>
              </a:solidFill>
              <a:latin typeface="Arial"/>
            </a:endParaRPr>
          </a:p>
        </p:txBody>
      </p:sp>
      <p:sp>
        <p:nvSpPr>
          <p:cNvPr id="607" name="Shape 29"/>
          <p:cNvSpPr/>
          <p:nvPr/>
        </p:nvSpPr>
        <p:spPr>
          <a:xfrm>
            <a:off x="6089760" y="4681800"/>
            <a:ext cx="1298160" cy="328680"/>
          </a:xfrm>
          <a:prstGeom prst="roundRect">
            <a:avLst>
              <a:gd name="adj" fmla="val 13889"/>
            </a:avLst>
          </a:prstGeom>
          <a:solidFill>
            <a:srgbClr val="F2A623"/>
          </a:solidFill>
          <a:ln w="6350">
            <a:solidFill>
              <a:srgbClr val="F2A62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08" name="Text 30"/>
          <p:cNvSpPr/>
          <p:nvPr/>
        </p:nvSpPr>
        <p:spPr>
          <a:xfrm>
            <a:off x="608976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854F0B"/>
                </a:solidFill>
                <a:latin typeface="Calibri"/>
                <a:ea typeface="Calibri"/>
              </a:rPr>
              <a:t>Chat UI</a:t>
            </a:r>
            <a:endParaRPr lang="en-US" sz="900" b="0" strike="noStrike" spc="-1">
              <a:solidFill>
                <a:srgbClr val="000000"/>
              </a:solidFill>
              <a:latin typeface="Arial"/>
            </a:endParaRPr>
          </a:p>
        </p:txBody>
      </p:sp>
      <p:sp>
        <p:nvSpPr>
          <p:cNvPr id="609" name="Shape 31"/>
          <p:cNvSpPr/>
          <p:nvPr/>
        </p:nvSpPr>
        <p:spPr>
          <a:xfrm>
            <a:off x="7498080" y="4681800"/>
            <a:ext cx="1298160" cy="328680"/>
          </a:xfrm>
          <a:prstGeom prst="roundRect">
            <a:avLst>
              <a:gd name="adj" fmla="val 13889"/>
            </a:avLst>
          </a:prstGeom>
          <a:solidFill>
            <a:srgbClr val="E1F5EE"/>
          </a:solidFill>
          <a:ln w="635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10" name="Text 32"/>
          <p:cNvSpPr/>
          <p:nvPr/>
        </p:nvSpPr>
        <p:spPr>
          <a:xfrm>
            <a:off x="74980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F6E56"/>
                </a:solidFill>
                <a:latin typeface="Calibri"/>
                <a:ea typeface="Calibri"/>
              </a:rPr>
              <a:t>Session Store</a:t>
            </a:r>
            <a:endParaRPr lang="en-US" sz="900" b="0" strike="noStrike" spc="-1">
              <a:solidFill>
                <a:srgbClr val="00000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1"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BUILDING BLOCK 5 OF 6 · CURRENT IMPLEMENTATION</a:t>
            </a:r>
            <a:endParaRPr lang="en-US" sz="1200" b="0" strike="noStrike" spc="-1">
              <a:solidFill>
                <a:srgbClr val="000000"/>
              </a:solidFill>
              <a:latin typeface="Arial"/>
            </a:endParaRPr>
          </a:p>
        </p:txBody>
      </p:sp>
      <p:sp>
        <p:nvSpPr>
          <p:cNvPr id="612"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Tools our MCP server provisions today</a:t>
            </a:r>
            <a:endParaRPr lang="en-US" sz="2800" b="0" strike="noStrike" spc="-1">
              <a:solidFill>
                <a:srgbClr val="000000"/>
              </a:solidFill>
              <a:latin typeface="Arial"/>
            </a:endParaRPr>
          </a:p>
        </p:txBody>
      </p:sp>
      <p:sp>
        <p:nvSpPr>
          <p:cNvPr id="613" name="Shape 2"/>
          <p:cNvSpPr/>
          <p:nvPr/>
        </p:nvSpPr>
        <p:spPr>
          <a:xfrm>
            <a:off x="457200" y="1417320"/>
            <a:ext cx="2651400" cy="2788560"/>
          </a:xfrm>
          <a:prstGeom prst="roundRect">
            <a:avLst>
              <a:gd name="adj" fmla="val 3103"/>
            </a:avLst>
          </a:prstGeom>
          <a:solidFill>
            <a:srgbClr val="F8F7FC"/>
          </a:solidFill>
          <a:ln w="0">
            <a:noFill/>
          </a:ln>
          <a:effectLst>
            <a:outerShdw blurRad="50760" dist="2556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14" name="Shape 3"/>
          <p:cNvSpPr/>
          <p:nvPr/>
        </p:nvSpPr>
        <p:spPr>
          <a:xfrm>
            <a:off x="685800" y="1600200"/>
            <a:ext cx="502560" cy="50256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615" name="Image 0" descr="preencoded.png"/>
          <p:cNvPicPr/>
          <p:nvPr/>
        </p:nvPicPr>
        <p:blipFill>
          <a:blip r:embed="rId3"/>
          <a:stretch/>
        </p:blipFill>
        <p:spPr>
          <a:xfrm>
            <a:off x="806400" y="1720800"/>
            <a:ext cx="261000" cy="261000"/>
          </a:xfrm>
          <a:prstGeom prst="rect">
            <a:avLst/>
          </a:prstGeom>
          <a:ln w="0">
            <a:noFill/>
          </a:ln>
        </p:spPr>
      </p:pic>
      <p:sp>
        <p:nvSpPr>
          <p:cNvPr id="616" name="Text 4"/>
          <p:cNvSpPr/>
          <p:nvPr/>
        </p:nvSpPr>
        <p:spPr>
          <a:xfrm>
            <a:off x="1298520" y="158184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26215C"/>
                </a:solidFill>
                <a:latin typeface="Calibri"/>
                <a:ea typeface="Calibri"/>
              </a:rPr>
              <a:t>FAQAnswers</a:t>
            </a:r>
            <a:endParaRPr lang="en-US" sz="1350" b="0" strike="noStrike" spc="-1">
              <a:solidFill>
                <a:srgbClr val="000000"/>
              </a:solidFill>
              <a:latin typeface="Arial"/>
            </a:endParaRPr>
          </a:p>
        </p:txBody>
      </p:sp>
      <p:sp>
        <p:nvSpPr>
          <p:cNvPr id="617" name="Text 5"/>
          <p:cNvSpPr/>
          <p:nvPr/>
        </p:nvSpPr>
        <p:spPr>
          <a:xfrm>
            <a:off x="1298520" y="1856160"/>
            <a:ext cx="16455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i="1" strike="noStrike" spc="-1">
                <a:solidFill>
                  <a:srgbClr val="767290"/>
                </a:solidFill>
                <a:latin typeface="Calibri"/>
                <a:ea typeface="Calibri"/>
              </a:rPr>
              <a:t>used by FAQ agent</a:t>
            </a:r>
            <a:endParaRPr lang="en-US" sz="850" b="0" strike="noStrike" spc="-1">
              <a:solidFill>
                <a:srgbClr val="000000"/>
              </a:solidFill>
              <a:latin typeface="Arial"/>
            </a:endParaRPr>
          </a:p>
        </p:txBody>
      </p:sp>
      <p:sp>
        <p:nvSpPr>
          <p:cNvPr id="618" name="Text 6"/>
          <p:cNvSpPr/>
          <p:nvPr/>
        </p:nvSpPr>
        <p:spPr>
          <a:xfrm>
            <a:off x="685800" y="2221920"/>
            <a:ext cx="21942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950" b="0" strike="noStrike" spc="-1">
                <a:solidFill>
                  <a:srgbClr val="433F5C"/>
                </a:solidFill>
                <a:latin typeface="Calibri"/>
                <a:ea typeface="Calibri"/>
              </a:rPr>
              <a:t>Answers general policy and product questions from a curated knowledge base — no account context required.</a:t>
            </a:r>
            <a:endParaRPr lang="en-US" sz="950" b="0" strike="noStrike" spc="-1">
              <a:solidFill>
                <a:srgbClr val="000000"/>
              </a:solidFill>
              <a:latin typeface="Arial"/>
            </a:endParaRPr>
          </a:p>
        </p:txBody>
      </p:sp>
      <p:sp>
        <p:nvSpPr>
          <p:cNvPr id="619" name="Shape 7"/>
          <p:cNvSpPr/>
          <p:nvPr/>
        </p:nvSpPr>
        <p:spPr>
          <a:xfrm>
            <a:off x="685800" y="3200400"/>
            <a:ext cx="2194560" cy="360"/>
          </a:xfrm>
          <a:prstGeom prst="line">
            <a:avLst/>
          </a:prstGeom>
          <a:ln w="12700">
            <a:solidFill>
              <a:srgbClr val="ECEBF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620" name="Text 8"/>
          <p:cNvSpPr/>
          <p:nvPr/>
        </p:nvSpPr>
        <p:spPr>
          <a:xfrm>
            <a:off x="685800" y="3291840"/>
            <a:ext cx="2194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strike="noStrike" spc="-1">
                <a:solidFill>
                  <a:srgbClr val="767290"/>
                </a:solidFill>
                <a:latin typeface="Consolas"/>
                <a:ea typeface="Consolas"/>
              </a:rPr>
              <a:t>in:  </a:t>
            </a:r>
            <a:r>
              <a:rPr lang="en-US" sz="850" b="0" strike="noStrike" spc="-1">
                <a:solidFill>
                  <a:srgbClr val="433F5C"/>
                </a:solidFill>
                <a:latin typeface="Consolas"/>
                <a:ea typeface="Consolas"/>
              </a:rPr>
              <a:t>query: string</a:t>
            </a:r>
            <a:endParaRPr lang="en-US" sz="850" b="0" strike="noStrike" spc="-1">
              <a:solidFill>
                <a:srgbClr val="000000"/>
              </a:solidFill>
              <a:latin typeface="Arial"/>
            </a:endParaRPr>
          </a:p>
        </p:txBody>
      </p:sp>
      <p:sp>
        <p:nvSpPr>
          <p:cNvPr id="621" name="Text 9"/>
          <p:cNvSpPr/>
          <p:nvPr/>
        </p:nvSpPr>
        <p:spPr>
          <a:xfrm>
            <a:off x="685800" y="3566160"/>
            <a:ext cx="2194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850" b="1" strike="noStrike" spc="-1">
                <a:solidFill>
                  <a:srgbClr val="767290"/>
                </a:solidFill>
                <a:latin typeface="Consolas"/>
                <a:ea typeface="Consolas"/>
              </a:rPr>
              <a:t>out: </a:t>
            </a:r>
            <a:r>
              <a:rPr lang="en-US" sz="850" b="0" strike="noStrike" spc="-1">
                <a:solidFill>
                  <a:srgbClr val="433F5C"/>
                </a:solidFill>
                <a:latin typeface="Consolas"/>
                <a:ea typeface="Consolas"/>
              </a:rPr>
              <a:t>answer, source_doc_id</a:t>
            </a:r>
            <a:endParaRPr lang="en-US" sz="850" b="0" strike="noStrike" spc="-1">
              <a:solidFill>
                <a:srgbClr val="000000"/>
              </a:solidFill>
              <a:latin typeface="Arial"/>
            </a:endParaRPr>
          </a:p>
        </p:txBody>
      </p:sp>
      <p:sp>
        <p:nvSpPr>
          <p:cNvPr id="622" name="Shape 10"/>
          <p:cNvSpPr/>
          <p:nvPr/>
        </p:nvSpPr>
        <p:spPr>
          <a:xfrm>
            <a:off x="3246120" y="1417320"/>
            <a:ext cx="2651400" cy="2788560"/>
          </a:xfrm>
          <a:prstGeom prst="roundRect">
            <a:avLst>
              <a:gd name="adj" fmla="val 3103"/>
            </a:avLst>
          </a:prstGeom>
          <a:solidFill>
            <a:srgbClr val="F8F7FC"/>
          </a:solidFill>
          <a:ln w="0">
            <a:noFill/>
          </a:ln>
          <a:effectLst>
            <a:outerShdw blurRad="50760" dist="2556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23" name="Shape 11"/>
          <p:cNvSpPr/>
          <p:nvPr/>
        </p:nvSpPr>
        <p:spPr>
          <a:xfrm>
            <a:off x="3474720" y="1600200"/>
            <a:ext cx="502560" cy="50256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624" name="Image 1" descr="preencoded.png"/>
          <p:cNvPicPr/>
          <p:nvPr/>
        </p:nvPicPr>
        <p:blipFill>
          <a:blip r:embed="rId4"/>
          <a:stretch/>
        </p:blipFill>
        <p:spPr>
          <a:xfrm>
            <a:off x="3595320" y="1720800"/>
            <a:ext cx="261000" cy="261000"/>
          </a:xfrm>
          <a:prstGeom prst="rect">
            <a:avLst/>
          </a:prstGeom>
          <a:ln w="0">
            <a:noFill/>
          </a:ln>
        </p:spPr>
      </p:pic>
      <p:sp>
        <p:nvSpPr>
          <p:cNvPr id="625" name="Text 12"/>
          <p:cNvSpPr/>
          <p:nvPr/>
        </p:nvSpPr>
        <p:spPr>
          <a:xfrm>
            <a:off x="4087440" y="158184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26215C"/>
                </a:solidFill>
                <a:latin typeface="Calibri"/>
                <a:ea typeface="Calibri"/>
              </a:rPr>
              <a:t>AccountHelper</a:t>
            </a:r>
            <a:endParaRPr lang="en-US" sz="1350" b="0" strike="noStrike" spc="-1">
              <a:solidFill>
                <a:srgbClr val="000000"/>
              </a:solidFill>
              <a:latin typeface="Arial"/>
            </a:endParaRPr>
          </a:p>
        </p:txBody>
      </p:sp>
      <p:sp>
        <p:nvSpPr>
          <p:cNvPr id="626" name="Text 13"/>
          <p:cNvSpPr/>
          <p:nvPr/>
        </p:nvSpPr>
        <p:spPr>
          <a:xfrm>
            <a:off x="4087440" y="1856160"/>
            <a:ext cx="16455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i="1" strike="noStrike" spc="-1">
                <a:solidFill>
                  <a:srgbClr val="767290"/>
                </a:solidFill>
                <a:latin typeface="Calibri"/>
                <a:ea typeface="Calibri"/>
              </a:rPr>
              <a:t>used by Transactions agent</a:t>
            </a:r>
            <a:endParaRPr lang="en-US" sz="850" b="0" strike="noStrike" spc="-1">
              <a:solidFill>
                <a:srgbClr val="000000"/>
              </a:solidFill>
              <a:latin typeface="Arial"/>
            </a:endParaRPr>
          </a:p>
        </p:txBody>
      </p:sp>
      <p:sp>
        <p:nvSpPr>
          <p:cNvPr id="627" name="Text 14"/>
          <p:cNvSpPr/>
          <p:nvPr/>
        </p:nvSpPr>
        <p:spPr>
          <a:xfrm>
            <a:off x="3474720" y="2221920"/>
            <a:ext cx="21942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950" b="0" strike="noStrike" spc="-1">
                <a:solidFill>
                  <a:srgbClr val="433F5C"/>
                </a:solidFill>
                <a:latin typeface="Calibri"/>
                <a:ea typeface="Calibri"/>
              </a:rPr>
              <a:t>Looks up account profile details and recent activity needed to ground a request in this customer's real data.</a:t>
            </a:r>
            <a:endParaRPr lang="en-US" sz="950" b="0" strike="noStrike" spc="-1">
              <a:solidFill>
                <a:srgbClr val="000000"/>
              </a:solidFill>
              <a:latin typeface="Arial"/>
            </a:endParaRPr>
          </a:p>
        </p:txBody>
      </p:sp>
      <p:sp>
        <p:nvSpPr>
          <p:cNvPr id="628" name="Shape 15"/>
          <p:cNvSpPr/>
          <p:nvPr/>
        </p:nvSpPr>
        <p:spPr>
          <a:xfrm>
            <a:off x="3474720" y="3200400"/>
            <a:ext cx="2194560" cy="360"/>
          </a:xfrm>
          <a:prstGeom prst="line">
            <a:avLst/>
          </a:prstGeom>
          <a:ln w="12700">
            <a:solidFill>
              <a:srgbClr val="ECEBF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629" name="Text 16"/>
          <p:cNvSpPr/>
          <p:nvPr/>
        </p:nvSpPr>
        <p:spPr>
          <a:xfrm>
            <a:off x="3474720" y="3291840"/>
            <a:ext cx="2194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strike="noStrike" spc="-1">
                <a:solidFill>
                  <a:srgbClr val="767290"/>
                </a:solidFill>
                <a:latin typeface="Consolas"/>
                <a:ea typeface="Consolas"/>
              </a:rPr>
              <a:t>in:  </a:t>
            </a:r>
            <a:r>
              <a:rPr lang="en-US" sz="850" b="0" strike="noStrike" spc="-1">
                <a:solidFill>
                  <a:srgbClr val="433F5C"/>
                </a:solidFill>
                <a:latin typeface="Consolas"/>
                <a:ea typeface="Consolas"/>
              </a:rPr>
              <a:t>account_id</a:t>
            </a:r>
            <a:endParaRPr lang="en-US" sz="850" b="0" strike="noStrike" spc="-1">
              <a:solidFill>
                <a:srgbClr val="000000"/>
              </a:solidFill>
              <a:latin typeface="Arial"/>
            </a:endParaRPr>
          </a:p>
        </p:txBody>
      </p:sp>
      <p:sp>
        <p:nvSpPr>
          <p:cNvPr id="630" name="Text 17"/>
          <p:cNvSpPr/>
          <p:nvPr/>
        </p:nvSpPr>
        <p:spPr>
          <a:xfrm>
            <a:off x="3474720" y="3566160"/>
            <a:ext cx="2194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850" b="1" strike="noStrike" spc="-1">
                <a:solidFill>
                  <a:srgbClr val="767290"/>
                </a:solidFill>
                <a:latin typeface="Consolas"/>
                <a:ea typeface="Consolas"/>
              </a:rPr>
              <a:t>out: </a:t>
            </a:r>
            <a:r>
              <a:rPr lang="en-US" sz="850" b="0" strike="noStrike" spc="-1">
                <a:solidFill>
                  <a:srgbClr val="433F5C"/>
                </a:solidFill>
                <a:latin typeface="Consolas"/>
                <a:ea typeface="Consolas"/>
              </a:rPr>
              <a:t>profile, recent_activity</a:t>
            </a:r>
            <a:endParaRPr lang="en-US" sz="850" b="0" strike="noStrike" spc="-1">
              <a:solidFill>
                <a:srgbClr val="000000"/>
              </a:solidFill>
              <a:latin typeface="Arial"/>
            </a:endParaRPr>
          </a:p>
        </p:txBody>
      </p:sp>
      <p:sp>
        <p:nvSpPr>
          <p:cNvPr id="631" name="Shape 18"/>
          <p:cNvSpPr/>
          <p:nvPr/>
        </p:nvSpPr>
        <p:spPr>
          <a:xfrm>
            <a:off x="6035040" y="1417320"/>
            <a:ext cx="2651400" cy="2788560"/>
          </a:xfrm>
          <a:prstGeom prst="roundRect">
            <a:avLst>
              <a:gd name="adj" fmla="val 3103"/>
            </a:avLst>
          </a:prstGeom>
          <a:solidFill>
            <a:srgbClr val="F8F7FC"/>
          </a:solidFill>
          <a:ln w="0">
            <a:noFill/>
          </a:ln>
          <a:effectLst>
            <a:outerShdw blurRad="50760" dist="25560" dir="54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32" name="Shape 19"/>
          <p:cNvSpPr/>
          <p:nvPr/>
        </p:nvSpPr>
        <p:spPr>
          <a:xfrm>
            <a:off x="6263640" y="1600200"/>
            <a:ext cx="502560" cy="50256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633" name="Image 2" descr="preencoded.png"/>
          <p:cNvPicPr/>
          <p:nvPr/>
        </p:nvPicPr>
        <p:blipFill>
          <a:blip r:embed="rId5"/>
          <a:stretch/>
        </p:blipFill>
        <p:spPr>
          <a:xfrm>
            <a:off x="6384240" y="1720800"/>
            <a:ext cx="261000" cy="261000"/>
          </a:xfrm>
          <a:prstGeom prst="rect">
            <a:avLst/>
          </a:prstGeom>
          <a:ln w="0">
            <a:noFill/>
          </a:ln>
        </p:spPr>
      </p:pic>
      <p:sp>
        <p:nvSpPr>
          <p:cNvPr id="634" name="Text 20"/>
          <p:cNvSpPr/>
          <p:nvPr/>
        </p:nvSpPr>
        <p:spPr>
          <a:xfrm>
            <a:off x="6876360" y="158184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26215C"/>
                </a:solidFill>
                <a:latin typeface="Calibri"/>
                <a:ea typeface="Calibri"/>
              </a:rPr>
              <a:t>BalanceChecker</a:t>
            </a:r>
            <a:endParaRPr lang="en-US" sz="1350" b="0" strike="noStrike" spc="-1">
              <a:solidFill>
                <a:srgbClr val="000000"/>
              </a:solidFill>
              <a:latin typeface="Arial"/>
            </a:endParaRPr>
          </a:p>
        </p:txBody>
      </p:sp>
      <p:sp>
        <p:nvSpPr>
          <p:cNvPr id="635" name="Text 21"/>
          <p:cNvSpPr/>
          <p:nvPr/>
        </p:nvSpPr>
        <p:spPr>
          <a:xfrm>
            <a:off x="6876360" y="1856160"/>
            <a:ext cx="16455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i="1" strike="noStrike" spc="-1">
                <a:solidFill>
                  <a:srgbClr val="767290"/>
                </a:solidFill>
                <a:latin typeface="Calibri"/>
                <a:ea typeface="Calibri"/>
              </a:rPr>
              <a:t>used by Transactions agent</a:t>
            </a:r>
            <a:endParaRPr lang="en-US" sz="850" b="0" strike="noStrike" spc="-1">
              <a:solidFill>
                <a:srgbClr val="000000"/>
              </a:solidFill>
              <a:latin typeface="Arial"/>
            </a:endParaRPr>
          </a:p>
        </p:txBody>
      </p:sp>
      <p:sp>
        <p:nvSpPr>
          <p:cNvPr id="636" name="Text 22"/>
          <p:cNvSpPr/>
          <p:nvPr/>
        </p:nvSpPr>
        <p:spPr>
          <a:xfrm>
            <a:off x="6263640" y="2221920"/>
            <a:ext cx="21942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950" b="0" strike="noStrike" spc="-1">
                <a:solidFill>
                  <a:srgbClr val="433F5C"/>
                </a:solidFill>
                <a:latin typeface="Calibri"/>
                <a:ea typeface="Calibri"/>
              </a:rPr>
              <a:t>Returns the current balance and pending holds for a specific account — the most frequently called tool in this flow.</a:t>
            </a:r>
            <a:endParaRPr lang="en-US" sz="950" b="0" strike="noStrike" spc="-1">
              <a:solidFill>
                <a:srgbClr val="000000"/>
              </a:solidFill>
              <a:latin typeface="Arial"/>
            </a:endParaRPr>
          </a:p>
        </p:txBody>
      </p:sp>
      <p:sp>
        <p:nvSpPr>
          <p:cNvPr id="637" name="Shape 23"/>
          <p:cNvSpPr/>
          <p:nvPr/>
        </p:nvSpPr>
        <p:spPr>
          <a:xfrm>
            <a:off x="6263640" y="3200400"/>
            <a:ext cx="2194560" cy="360"/>
          </a:xfrm>
          <a:prstGeom prst="line">
            <a:avLst/>
          </a:prstGeom>
          <a:ln w="12700">
            <a:solidFill>
              <a:srgbClr val="ECEBF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638" name="Text 24"/>
          <p:cNvSpPr/>
          <p:nvPr/>
        </p:nvSpPr>
        <p:spPr>
          <a:xfrm>
            <a:off x="6263640" y="3291840"/>
            <a:ext cx="2194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strike="noStrike" spc="-1">
                <a:solidFill>
                  <a:srgbClr val="767290"/>
                </a:solidFill>
                <a:latin typeface="Consolas"/>
                <a:ea typeface="Consolas"/>
              </a:rPr>
              <a:t>in:  </a:t>
            </a:r>
            <a:r>
              <a:rPr lang="en-US" sz="850" b="0" strike="noStrike" spc="-1">
                <a:solidFill>
                  <a:srgbClr val="433F5C"/>
                </a:solidFill>
                <a:latin typeface="Consolas"/>
                <a:ea typeface="Consolas"/>
              </a:rPr>
              <a:t>account_id</a:t>
            </a:r>
            <a:endParaRPr lang="en-US" sz="850" b="0" strike="noStrike" spc="-1">
              <a:solidFill>
                <a:srgbClr val="000000"/>
              </a:solidFill>
              <a:latin typeface="Arial"/>
            </a:endParaRPr>
          </a:p>
        </p:txBody>
      </p:sp>
      <p:sp>
        <p:nvSpPr>
          <p:cNvPr id="639" name="Text 25"/>
          <p:cNvSpPr/>
          <p:nvPr/>
        </p:nvSpPr>
        <p:spPr>
          <a:xfrm>
            <a:off x="6263640" y="3566160"/>
            <a:ext cx="2194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850" b="1" strike="noStrike" spc="-1">
                <a:solidFill>
                  <a:srgbClr val="767290"/>
                </a:solidFill>
                <a:latin typeface="Consolas"/>
                <a:ea typeface="Consolas"/>
              </a:rPr>
              <a:t>out: </a:t>
            </a:r>
            <a:r>
              <a:rPr lang="en-US" sz="850" b="0" strike="noStrike" spc="-1">
                <a:solidFill>
                  <a:srgbClr val="433F5C"/>
                </a:solidFill>
                <a:latin typeface="Consolas"/>
                <a:ea typeface="Consolas"/>
              </a:rPr>
              <a:t>available_balance, pending_holds</a:t>
            </a:r>
            <a:endParaRPr lang="en-US" sz="850" b="0" strike="noStrike" spc="-1">
              <a:solidFill>
                <a:srgbClr val="000000"/>
              </a:solidFill>
              <a:latin typeface="Arial"/>
            </a:endParaRPr>
          </a:p>
        </p:txBody>
      </p:sp>
      <p:sp>
        <p:nvSpPr>
          <p:cNvPr id="640" name="Text 26"/>
          <p:cNvSpPr/>
          <p:nvPr/>
        </p:nvSpPr>
        <p:spPr>
          <a:xfrm>
            <a:off x="457200" y="4297680"/>
            <a:ext cx="82292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tabLst>
                <a:tab pos="0" algn="l"/>
              </a:tabLst>
            </a:pPr>
            <a:r>
              <a:rPr lang="en-US" sz="950" b="0" i="1" strike="noStrike" spc="-1">
                <a:solidFill>
                  <a:srgbClr val="767290"/>
                </a:solidFill>
                <a:latin typeface="Calibri"/>
                <a:ea typeface="Calibri"/>
              </a:rPr>
              <a:t>All three are registered on the same MCP server and called directly by their owning sub-agent — this is the concrete inventory behind the orchestration example used throughout today's session.</a:t>
            </a:r>
            <a:endParaRPr lang="en-US" sz="950" b="0" strike="noStrike" spc="-1">
              <a:solidFill>
                <a:srgbClr val="000000"/>
              </a:solidFill>
              <a:latin typeface="Arial"/>
            </a:endParaRPr>
          </a:p>
        </p:txBody>
      </p:sp>
      <p:sp>
        <p:nvSpPr>
          <p:cNvPr id="641" name="Shape 27"/>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42" name="Text 28"/>
          <p:cNvSpPr/>
          <p:nvPr/>
        </p:nvSpPr>
        <p:spPr>
          <a:xfrm>
            <a:off x="4572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767290"/>
                </a:solidFill>
                <a:latin typeface="Calibri"/>
                <a:ea typeface="Calibri"/>
              </a:rPr>
              <a:t>Login</a:t>
            </a:r>
            <a:endParaRPr lang="en-US" sz="900" b="0" strike="noStrike" spc="-1">
              <a:solidFill>
                <a:srgbClr val="000000"/>
              </a:solidFill>
              <a:latin typeface="Arial"/>
            </a:endParaRPr>
          </a:p>
        </p:txBody>
      </p:sp>
      <p:sp>
        <p:nvSpPr>
          <p:cNvPr id="643" name="Shape 29"/>
          <p:cNvSpPr/>
          <p:nvPr/>
        </p:nvSpPr>
        <p:spPr>
          <a:xfrm>
            <a:off x="1865520" y="4681800"/>
            <a:ext cx="1298160" cy="328680"/>
          </a:xfrm>
          <a:prstGeom prst="roundRect">
            <a:avLst>
              <a:gd name="adj" fmla="val 13889"/>
            </a:avLst>
          </a:prstGeom>
          <a:solidFill>
            <a:srgbClr val="E1F5EE"/>
          </a:solidFill>
          <a:ln w="635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44" name="Text 30"/>
          <p:cNvSpPr/>
          <p:nvPr/>
        </p:nvSpPr>
        <p:spPr>
          <a:xfrm>
            <a:off x="186552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F6E56"/>
                </a:solidFill>
                <a:latin typeface="Calibri"/>
                <a:ea typeface="Calibri"/>
              </a:rPr>
              <a:t>History</a:t>
            </a:r>
            <a:endParaRPr lang="en-US" sz="900" b="0" strike="noStrike" spc="-1">
              <a:solidFill>
                <a:srgbClr val="000000"/>
              </a:solidFill>
              <a:latin typeface="Arial"/>
            </a:endParaRPr>
          </a:p>
        </p:txBody>
      </p:sp>
      <p:sp>
        <p:nvSpPr>
          <p:cNvPr id="645" name="Shape 31"/>
          <p:cNvSpPr/>
          <p:nvPr/>
        </p:nvSpPr>
        <p:spPr>
          <a:xfrm>
            <a:off x="3273480" y="4681800"/>
            <a:ext cx="1298160" cy="328680"/>
          </a:xfrm>
          <a:prstGeom prst="roundRect">
            <a:avLst>
              <a:gd name="adj" fmla="val 13889"/>
            </a:avLst>
          </a:prstGeom>
          <a:solidFill>
            <a:srgbClr val="EEEDFE"/>
          </a:solidFill>
          <a:ln w="635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46" name="Text 32"/>
          <p:cNvSpPr/>
          <p:nvPr/>
        </p:nvSpPr>
        <p:spPr>
          <a:xfrm>
            <a:off x="32734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26215C"/>
                </a:solidFill>
                <a:latin typeface="Calibri"/>
                <a:ea typeface="Calibri"/>
              </a:rPr>
              <a:t>Context</a:t>
            </a:r>
            <a:endParaRPr lang="en-US" sz="900" b="0" strike="noStrike" spc="-1">
              <a:solidFill>
                <a:srgbClr val="000000"/>
              </a:solidFill>
              <a:latin typeface="Arial"/>
            </a:endParaRPr>
          </a:p>
        </p:txBody>
      </p:sp>
      <p:sp>
        <p:nvSpPr>
          <p:cNvPr id="647" name="Shape 33"/>
          <p:cNvSpPr/>
          <p:nvPr/>
        </p:nvSpPr>
        <p:spPr>
          <a:xfrm>
            <a:off x="4681800" y="4681800"/>
            <a:ext cx="1298160" cy="328680"/>
          </a:xfrm>
          <a:prstGeom prst="roundRect">
            <a:avLst>
              <a:gd name="adj" fmla="val 13889"/>
            </a:avLst>
          </a:prstGeom>
          <a:solidFill>
            <a:srgbClr val="F2A623"/>
          </a:solidFill>
          <a:ln w="6350">
            <a:solidFill>
              <a:srgbClr val="F2A62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48" name="Text 34"/>
          <p:cNvSpPr/>
          <p:nvPr/>
        </p:nvSpPr>
        <p:spPr>
          <a:xfrm>
            <a:off x="46818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854F0B"/>
                </a:solidFill>
                <a:latin typeface="Calibri"/>
                <a:ea typeface="Calibri"/>
              </a:rPr>
              <a:t>Agents</a:t>
            </a:r>
            <a:endParaRPr lang="en-US" sz="900" b="0" strike="noStrike" spc="-1">
              <a:solidFill>
                <a:srgbClr val="000000"/>
              </a:solidFill>
              <a:latin typeface="Arial"/>
            </a:endParaRPr>
          </a:p>
        </p:txBody>
      </p:sp>
      <p:sp>
        <p:nvSpPr>
          <p:cNvPr id="649" name="Shape 35"/>
          <p:cNvSpPr/>
          <p:nvPr/>
        </p:nvSpPr>
        <p:spPr>
          <a:xfrm>
            <a:off x="6089760" y="4681800"/>
            <a:ext cx="1298160" cy="328680"/>
          </a:xfrm>
          <a:prstGeom prst="roundRect">
            <a:avLst>
              <a:gd name="adj" fmla="val 13889"/>
            </a:avLst>
          </a:prstGeom>
          <a:solidFill>
            <a:srgbClr val="F2A623"/>
          </a:solidFill>
          <a:ln w="6350">
            <a:solidFill>
              <a:srgbClr val="F2A62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50" name="Text 36"/>
          <p:cNvSpPr/>
          <p:nvPr/>
        </p:nvSpPr>
        <p:spPr>
          <a:xfrm>
            <a:off x="608976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854F0B"/>
                </a:solidFill>
                <a:latin typeface="Calibri"/>
                <a:ea typeface="Calibri"/>
              </a:rPr>
              <a:t>Chat UI</a:t>
            </a:r>
            <a:endParaRPr lang="en-US" sz="900" b="0" strike="noStrike" spc="-1">
              <a:solidFill>
                <a:srgbClr val="000000"/>
              </a:solidFill>
              <a:latin typeface="Arial"/>
            </a:endParaRPr>
          </a:p>
        </p:txBody>
      </p:sp>
      <p:sp>
        <p:nvSpPr>
          <p:cNvPr id="651" name="Shape 37"/>
          <p:cNvSpPr/>
          <p:nvPr/>
        </p:nvSpPr>
        <p:spPr>
          <a:xfrm>
            <a:off x="7498080" y="4681800"/>
            <a:ext cx="1298160" cy="328680"/>
          </a:xfrm>
          <a:prstGeom prst="roundRect">
            <a:avLst>
              <a:gd name="adj" fmla="val 13889"/>
            </a:avLst>
          </a:prstGeom>
          <a:solidFill>
            <a:srgbClr val="E1F5EE"/>
          </a:solidFill>
          <a:ln w="635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52" name="Text 38"/>
          <p:cNvSpPr/>
          <p:nvPr/>
        </p:nvSpPr>
        <p:spPr>
          <a:xfrm>
            <a:off x="74980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F6E56"/>
                </a:solidFill>
                <a:latin typeface="Calibri"/>
                <a:ea typeface="Calibri"/>
              </a:rPr>
              <a:t>Session Store</a:t>
            </a:r>
            <a:endParaRPr lang="en-US" sz="900" b="0" strike="noStrike" spc="-1">
              <a:solidFill>
                <a:srgbClr val="000000"/>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3"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BUILDING BLOCK 6 OF 6</a:t>
            </a:r>
            <a:endParaRPr lang="en-US" sz="1200" b="0" strike="noStrike" spc="-1">
              <a:solidFill>
                <a:srgbClr val="000000"/>
              </a:solidFill>
              <a:latin typeface="Arial"/>
            </a:endParaRPr>
          </a:p>
        </p:txBody>
      </p:sp>
      <p:sp>
        <p:nvSpPr>
          <p:cNvPr id="654"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Runner &amp; events → visible “thinking” steps</a:t>
            </a:r>
            <a:endParaRPr lang="en-US" sz="2800" b="0" strike="noStrike" spc="-1">
              <a:solidFill>
                <a:srgbClr val="000000"/>
              </a:solidFill>
              <a:latin typeface="Arial"/>
            </a:endParaRPr>
          </a:p>
        </p:txBody>
      </p:sp>
      <p:sp>
        <p:nvSpPr>
          <p:cNvPr id="655" name="Text 2"/>
          <p:cNvSpPr/>
          <p:nvPr/>
        </p:nvSpPr>
        <p:spPr>
          <a:xfrm>
            <a:off x="457200" y="1554480"/>
            <a:ext cx="42973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20000"/>
              </a:lnSpc>
              <a:buClr>
                <a:srgbClr val="433F5C"/>
              </a:buClr>
              <a:buFont typeface="Symbol" charset="2"/>
              <a:buChar char=""/>
            </a:pPr>
            <a:r>
              <a:rPr lang="en-US" sz="1400" b="0" strike="noStrike" spc="-1">
                <a:solidFill>
                  <a:srgbClr val="433F5C"/>
                </a:solidFill>
                <a:latin typeface="Calibri"/>
                <a:ea typeface="Calibri"/>
              </a:rPr>
              <a:t>ADK's execution is event-driven — every message, tool call, and agent transfer is an Event.</a:t>
            </a:r>
            <a:endParaRPr lang="en-US" sz="1400" b="0" strike="noStrike" spc="-1">
              <a:solidFill>
                <a:srgbClr val="000000"/>
              </a:solidFill>
              <a:latin typeface="Arial"/>
            </a:endParaRPr>
          </a:p>
        </p:txBody>
      </p:sp>
      <p:sp>
        <p:nvSpPr>
          <p:cNvPr id="656" name="Text 3"/>
          <p:cNvSpPr/>
          <p:nvPr/>
        </p:nvSpPr>
        <p:spPr>
          <a:xfrm>
            <a:off x="457200" y="2423160"/>
            <a:ext cx="42973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20000"/>
              </a:lnSpc>
              <a:buClr>
                <a:srgbClr val="433F5C"/>
              </a:buClr>
              <a:buFont typeface="Symbol" charset="2"/>
              <a:buChar char=""/>
            </a:pPr>
            <a:r>
              <a:rPr lang="en-US" sz="1400" b="0" strike="noStrike" spc="-1">
                <a:solidFill>
                  <a:srgbClr val="433F5C"/>
                </a:solidFill>
                <a:latin typeface="Calibri"/>
                <a:ea typeface="Calibri"/>
              </a:rPr>
              <a:t>Surface these events as progress indicators in the UI as they happen.</a:t>
            </a:r>
            <a:endParaRPr lang="en-US" sz="1400" b="0" strike="noStrike" spc="-1">
              <a:solidFill>
                <a:srgbClr val="000000"/>
              </a:solidFill>
              <a:latin typeface="Arial"/>
            </a:endParaRPr>
          </a:p>
        </p:txBody>
      </p:sp>
      <p:sp>
        <p:nvSpPr>
          <p:cNvPr id="657" name="Text 4"/>
          <p:cNvSpPr/>
          <p:nvPr/>
        </p:nvSpPr>
        <p:spPr>
          <a:xfrm>
            <a:off x="457200" y="3291840"/>
            <a:ext cx="42973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20000"/>
              </a:lnSpc>
              <a:buClr>
                <a:srgbClr val="433F5C"/>
              </a:buClr>
              <a:buFont typeface="Symbol" charset="2"/>
              <a:buChar char=""/>
            </a:pPr>
            <a:r>
              <a:rPr lang="en-US" sz="1400" b="0" strike="noStrike" spc="-1">
                <a:solidFill>
                  <a:srgbClr val="433F5C"/>
                </a:solidFill>
                <a:latin typeface="Calibri"/>
                <a:ea typeface="Calibri"/>
              </a:rPr>
              <a:t>Builds trust: the user sees the agent's reasoning steps, not just a spinner.</a:t>
            </a:r>
            <a:endParaRPr lang="en-US" sz="1400" b="0" strike="noStrike" spc="-1">
              <a:solidFill>
                <a:srgbClr val="000000"/>
              </a:solidFill>
              <a:latin typeface="Arial"/>
            </a:endParaRPr>
          </a:p>
        </p:txBody>
      </p:sp>
      <p:sp>
        <p:nvSpPr>
          <p:cNvPr id="658" name="Shape 5"/>
          <p:cNvSpPr/>
          <p:nvPr/>
        </p:nvSpPr>
        <p:spPr>
          <a:xfrm>
            <a:off x="5029200" y="1463040"/>
            <a:ext cx="3657240" cy="2742840"/>
          </a:xfrm>
          <a:prstGeom prst="roundRect">
            <a:avLst>
              <a:gd name="adj" fmla="val 4000"/>
            </a:avLst>
          </a:prstGeom>
          <a:solidFill>
            <a:srgbClr val="F8F7FC"/>
          </a:solidFill>
          <a:ln w="0">
            <a:noFill/>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59" name="Shape 6"/>
          <p:cNvSpPr/>
          <p:nvPr/>
        </p:nvSpPr>
        <p:spPr>
          <a:xfrm>
            <a:off x="5257800" y="1691640"/>
            <a:ext cx="383760" cy="383760"/>
          </a:xfrm>
          <a:prstGeom prst="ellipse">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660" name="Image 0" descr="preencoded.png"/>
          <p:cNvPicPr/>
          <p:nvPr/>
        </p:nvPicPr>
        <p:blipFill>
          <a:blip r:embed="rId3"/>
          <a:stretch/>
        </p:blipFill>
        <p:spPr>
          <a:xfrm>
            <a:off x="5349960" y="1783800"/>
            <a:ext cx="199440" cy="199440"/>
          </a:xfrm>
          <a:prstGeom prst="rect">
            <a:avLst/>
          </a:prstGeom>
          <a:ln w="0">
            <a:noFill/>
          </a:ln>
        </p:spPr>
      </p:pic>
      <p:sp>
        <p:nvSpPr>
          <p:cNvPr id="661" name="Text 7"/>
          <p:cNvSpPr/>
          <p:nvPr/>
        </p:nvSpPr>
        <p:spPr>
          <a:xfrm>
            <a:off x="5806440" y="1691640"/>
            <a:ext cx="26514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strike="noStrike" spc="-1">
                <a:solidFill>
                  <a:srgbClr val="767290"/>
                </a:solidFill>
                <a:latin typeface="Calibri"/>
                <a:ea typeface="Calibri"/>
              </a:rPr>
              <a:t>Searching knowledge base…</a:t>
            </a:r>
            <a:endParaRPr lang="en-US" sz="1200" b="0" strike="noStrike" spc="-1">
              <a:solidFill>
                <a:srgbClr val="000000"/>
              </a:solidFill>
              <a:latin typeface="Arial"/>
            </a:endParaRPr>
          </a:p>
        </p:txBody>
      </p:sp>
      <p:sp>
        <p:nvSpPr>
          <p:cNvPr id="662" name="Shape 8"/>
          <p:cNvSpPr/>
          <p:nvPr/>
        </p:nvSpPr>
        <p:spPr>
          <a:xfrm>
            <a:off x="5257800" y="2286000"/>
            <a:ext cx="383760" cy="383760"/>
          </a:xfrm>
          <a:prstGeom prst="ellipse">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663" name="Image 1" descr="preencoded.png"/>
          <p:cNvPicPr/>
          <p:nvPr/>
        </p:nvPicPr>
        <p:blipFill>
          <a:blip r:embed="rId4"/>
          <a:stretch/>
        </p:blipFill>
        <p:spPr>
          <a:xfrm>
            <a:off x="5349960" y="2378160"/>
            <a:ext cx="199440" cy="199440"/>
          </a:xfrm>
          <a:prstGeom prst="rect">
            <a:avLst/>
          </a:prstGeom>
          <a:ln w="0">
            <a:noFill/>
          </a:ln>
        </p:spPr>
      </p:pic>
      <p:sp>
        <p:nvSpPr>
          <p:cNvPr id="664" name="Text 9"/>
          <p:cNvSpPr/>
          <p:nvPr/>
        </p:nvSpPr>
        <p:spPr>
          <a:xfrm>
            <a:off x="5806440" y="2286000"/>
            <a:ext cx="26514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strike="noStrike" spc="-1">
                <a:solidFill>
                  <a:srgbClr val="767290"/>
                </a:solidFill>
                <a:latin typeface="Calibri"/>
                <a:ea typeface="Calibri"/>
              </a:rPr>
              <a:t>Transferred to Order agent</a:t>
            </a:r>
            <a:endParaRPr lang="en-US" sz="1200" b="0" strike="noStrike" spc="-1">
              <a:solidFill>
                <a:srgbClr val="000000"/>
              </a:solidFill>
              <a:latin typeface="Arial"/>
            </a:endParaRPr>
          </a:p>
        </p:txBody>
      </p:sp>
      <p:sp>
        <p:nvSpPr>
          <p:cNvPr id="665" name="Shape 10"/>
          <p:cNvSpPr/>
          <p:nvPr/>
        </p:nvSpPr>
        <p:spPr>
          <a:xfrm>
            <a:off x="5257800" y="2880360"/>
            <a:ext cx="383760" cy="383760"/>
          </a:xfrm>
          <a:prstGeom prst="ellipse">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666" name="Image 2" descr="preencoded.png"/>
          <p:cNvPicPr/>
          <p:nvPr/>
        </p:nvPicPr>
        <p:blipFill>
          <a:blip r:embed="rId5"/>
          <a:stretch/>
        </p:blipFill>
        <p:spPr>
          <a:xfrm>
            <a:off x="5349960" y="2972520"/>
            <a:ext cx="199440" cy="199440"/>
          </a:xfrm>
          <a:prstGeom prst="rect">
            <a:avLst/>
          </a:prstGeom>
          <a:ln w="0">
            <a:noFill/>
          </a:ln>
        </p:spPr>
      </p:pic>
      <p:sp>
        <p:nvSpPr>
          <p:cNvPr id="667" name="Text 11"/>
          <p:cNvSpPr/>
          <p:nvPr/>
        </p:nvSpPr>
        <p:spPr>
          <a:xfrm>
            <a:off x="5806440" y="2880360"/>
            <a:ext cx="26514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strike="noStrike" spc="-1">
                <a:solidFill>
                  <a:srgbClr val="767290"/>
                </a:solidFill>
                <a:latin typeface="Calibri"/>
                <a:ea typeface="Calibri"/>
              </a:rPr>
              <a:t>Checking order system…</a:t>
            </a:r>
            <a:endParaRPr lang="en-US" sz="1200" b="0" strike="noStrike" spc="-1">
              <a:solidFill>
                <a:srgbClr val="000000"/>
              </a:solidFill>
              <a:latin typeface="Arial"/>
            </a:endParaRPr>
          </a:p>
        </p:txBody>
      </p:sp>
      <p:sp>
        <p:nvSpPr>
          <p:cNvPr id="668" name="Shape 12"/>
          <p:cNvSpPr/>
          <p:nvPr/>
        </p:nvSpPr>
        <p:spPr>
          <a:xfrm>
            <a:off x="5257800" y="3474720"/>
            <a:ext cx="383760" cy="383760"/>
          </a:xfrm>
          <a:prstGeom prst="ellipse">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669" name="Image 3" descr="preencoded.png"/>
          <p:cNvPicPr/>
          <p:nvPr/>
        </p:nvPicPr>
        <p:blipFill>
          <a:blip r:embed="rId6"/>
          <a:stretch/>
        </p:blipFill>
        <p:spPr>
          <a:xfrm>
            <a:off x="5349960" y="3566880"/>
            <a:ext cx="199440" cy="199440"/>
          </a:xfrm>
          <a:prstGeom prst="rect">
            <a:avLst/>
          </a:prstGeom>
          <a:ln w="0">
            <a:noFill/>
          </a:ln>
        </p:spPr>
      </p:pic>
      <p:sp>
        <p:nvSpPr>
          <p:cNvPr id="670" name="Text 13"/>
          <p:cNvSpPr/>
          <p:nvPr/>
        </p:nvSpPr>
        <p:spPr>
          <a:xfrm>
            <a:off x="5806440" y="3474720"/>
            <a:ext cx="26514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26215C"/>
                </a:solidFill>
                <a:latin typeface="Calibri"/>
                <a:ea typeface="Calibri"/>
              </a:rPr>
              <a:t>Here's your order status —</a:t>
            </a:r>
            <a:endParaRPr lang="en-US" sz="1200" b="0" strike="noStrike" spc="-1">
              <a:solidFill>
                <a:srgbClr val="000000"/>
              </a:solidFill>
              <a:latin typeface="Arial"/>
            </a:endParaRPr>
          </a:p>
        </p:txBody>
      </p:sp>
      <p:sp>
        <p:nvSpPr>
          <p:cNvPr id="671" name="Shape 14"/>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72" name="Text 15"/>
          <p:cNvSpPr/>
          <p:nvPr/>
        </p:nvSpPr>
        <p:spPr>
          <a:xfrm>
            <a:off x="4572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767290"/>
                </a:solidFill>
                <a:latin typeface="Calibri"/>
                <a:ea typeface="Calibri"/>
              </a:rPr>
              <a:t>Login</a:t>
            </a:r>
            <a:endParaRPr lang="en-US" sz="900" b="0" strike="noStrike" spc="-1">
              <a:solidFill>
                <a:srgbClr val="000000"/>
              </a:solidFill>
              <a:latin typeface="Arial"/>
            </a:endParaRPr>
          </a:p>
        </p:txBody>
      </p:sp>
      <p:sp>
        <p:nvSpPr>
          <p:cNvPr id="673" name="Shape 16"/>
          <p:cNvSpPr/>
          <p:nvPr/>
        </p:nvSpPr>
        <p:spPr>
          <a:xfrm>
            <a:off x="1865520" y="4681800"/>
            <a:ext cx="1298160" cy="328680"/>
          </a:xfrm>
          <a:prstGeom prst="roundRect">
            <a:avLst>
              <a:gd name="adj" fmla="val 13889"/>
            </a:avLst>
          </a:prstGeom>
          <a:solidFill>
            <a:srgbClr val="E1F5EE"/>
          </a:solidFill>
          <a:ln w="635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74" name="Text 17"/>
          <p:cNvSpPr/>
          <p:nvPr/>
        </p:nvSpPr>
        <p:spPr>
          <a:xfrm>
            <a:off x="186552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F6E56"/>
                </a:solidFill>
                <a:latin typeface="Calibri"/>
                <a:ea typeface="Calibri"/>
              </a:rPr>
              <a:t>History</a:t>
            </a:r>
            <a:endParaRPr lang="en-US" sz="900" b="0" strike="noStrike" spc="-1">
              <a:solidFill>
                <a:srgbClr val="000000"/>
              </a:solidFill>
              <a:latin typeface="Arial"/>
            </a:endParaRPr>
          </a:p>
        </p:txBody>
      </p:sp>
      <p:sp>
        <p:nvSpPr>
          <p:cNvPr id="675" name="Shape 18"/>
          <p:cNvSpPr/>
          <p:nvPr/>
        </p:nvSpPr>
        <p:spPr>
          <a:xfrm>
            <a:off x="3273480" y="4681800"/>
            <a:ext cx="1298160" cy="328680"/>
          </a:xfrm>
          <a:prstGeom prst="roundRect">
            <a:avLst>
              <a:gd name="adj" fmla="val 13889"/>
            </a:avLst>
          </a:prstGeom>
          <a:solidFill>
            <a:srgbClr val="EEEDFE"/>
          </a:solidFill>
          <a:ln w="635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76" name="Text 19"/>
          <p:cNvSpPr/>
          <p:nvPr/>
        </p:nvSpPr>
        <p:spPr>
          <a:xfrm>
            <a:off x="32734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26215C"/>
                </a:solidFill>
                <a:latin typeface="Calibri"/>
                <a:ea typeface="Calibri"/>
              </a:rPr>
              <a:t>Context</a:t>
            </a:r>
            <a:endParaRPr lang="en-US" sz="900" b="0" strike="noStrike" spc="-1">
              <a:solidFill>
                <a:srgbClr val="000000"/>
              </a:solidFill>
              <a:latin typeface="Arial"/>
            </a:endParaRPr>
          </a:p>
        </p:txBody>
      </p:sp>
      <p:sp>
        <p:nvSpPr>
          <p:cNvPr id="677" name="Shape 20"/>
          <p:cNvSpPr/>
          <p:nvPr/>
        </p:nvSpPr>
        <p:spPr>
          <a:xfrm>
            <a:off x="4681800" y="4681800"/>
            <a:ext cx="1298160" cy="328680"/>
          </a:xfrm>
          <a:prstGeom prst="roundRect">
            <a:avLst>
              <a:gd name="adj" fmla="val 13889"/>
            </a:avLst>
          </a:prstGeom>
          <a:solidFill>
            <a:srgbClr val="EEEDFE"/>
          </a:solidFill>
          <a:ln w="635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78" name="Text 21"/>
          <p:cNvSpPr/>
          <p:nvPr/>
        </p:nvSpPr>
        <p:spPr>
          <a:xfrm>
            <a:off x="468180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26215C"/>
                </a:solidFill>
                <a:latin typeface="Calibri"/>
                <a:ea typeface="Calibri"/>
              </a:rPr>
              <a:t>Agents</a:t>
            </a:r>
            <a:endParaRPr lang="en-US" sz="900" b="0" strike="noStrike" spc="-1">
              <a:solidFill>
                <a:srgbClr val="000000"/>
              </a:solidFill>
              <a:latin typeface="Arial"/>
            </a:endParaRPr>
          </a:p>
        </p:txBody>
      </p:sp>
      <p:sp>
        <p:nvSpPr>
          <p:cNvPr id="679" name="Shape 22"/>
          <p:cNvSpPr/>
          <p:nvPr/>
        </p:nvSpPr>
        <p:spPr>
          <a:xfrm>
            <a:off x="6089760" y="4681800"/>
            <a:ext cx="1298160" cy="328680"/>
          </a:xfrm>
          <a:prstGeom prst="roundRect">
            <a:avLst>
              <a:gd name="adj" fmla="val 13889"/>
            </a:avLst>
          </a:prstGeom>
          <a:solidFill>
            <a:srgbClr val="F2A623"/>
          </a:solidFill>
          <a:ln w="6350">
            <a:solidFill>
              <a:srgbClr val="F2A62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80" name="Text 23"/>
          <p:cNvSpPr/>
          <p:nvPr/>
        </p:nvSpPr>
        <p:spPr>
          <a:xfrm>
            <a:off x="608976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854F0B"/>
                </a:solidFill>
                <a:latin typeface="Calibri"/>
                <a:ea typeface="Calibri"/>
              </a:rPr>
              <a:t>Chat UI</a:t>
            </a:r>
            <a:endParaRPr lang="en-US" sz="900" b="0" strike="noStrike" spc="-1">
              <a:solidFill>
                <a:srgbClr val="000000"/>
              </a:solidFill>
              <a:latin typeface="Arial"/>
            </a:endParaRPr>
          </a:p>
        </p:txBody>
      </p:sp>
      <p:sp>
        <p:nvSpPr>
          <p:cNvPr id="681" name="Shape 24"/>
          <p:cNvSpPr/>
          <p:nvPr/>
        </p:nvSpPr>
        <p:spPr>
          <a:xfrm>
            <a:off x="7498080" y="4681800"/>
            <a:ext cx="1298160" cy="328680"/>
          </a:xfrm>
          <a:prstGeom prst="roundRect">
            <a:avLst>
              <a:gd name="adj" fmla="val 13889"/>
            </a:avLst>
          </a:prstGeom>
          <a:solidFill>
            <a:srgbClr val="E1F5EE"/>
          </a:solidFill>
          <a:ln w="6350">
            <a:solidFill>
              <a:srgbClr val="E1F5E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82" name="Text 25"/>
          <p:cNvSpPr/>
          <p:nvPr/>
        </p:nvSpPr>
        <p:spPr>
          <a:xfrm>
            <a:off x="7498080" y="4681800"/>
            <a:ext cx="12981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F6E56"/>
                </a:solidFill>
                <a:latin typeface="Calibri"/>
                <a:ea typeface="Calibri"/>
              </a:rPr>
              <a:t>Session Store</a:t>
            </a:r>
            <a:endParaRPr lang="en-US" sz="900" b="0" strike="noStrike" spc="-1">
              <a:solidFill>
                <a:srgbClr val="000000"/>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6215C"/>
        </a:solidFill>
        <a:effectLst/>
      </p:bgPr>
    </p:bg>
    <p:spTree>
      <p:nvGrpSpPr>
        <p:cNvPr id="1" name=""/>
        <p:cNvGrpSpPr/>
        <p:nvPr/>
      </p:nvGrpSpPr>
      <p:grpSpPr>
        <a:xfrm>
          <a:off x="0" y="0"/>
          <a:ext cx="0" cy="0"/>
          <a:chOff x="0" y="0"/>
          <a:chExt cx="0" cy="0"/>
        </a:xfrm>
      </p:grpSpPr>
      <p:sp>
        <p:nvSpPr>
          <p:cNvPr id="683" name="Shape 0"/>
          <p:cNvSpPr/>
          <p:nvPr/>
        </p:nvSpPr>
        <p:spPr>
          <a:xfrm>
            <a:off x="7150320" y="658080"/>
            <a:ext cx="914400" cy="54864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684" name="Shape 1"/>
          <p:cNvSpPr/>
          <p:nvPr/>
        </p:nvSpPr>
        <p:spPr>
          <a:xfrm flipH="1">
            <a:off x="7369920" y="1206720"/>
            <a:ext cx="694800" cy="4024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685" name="Shape 2"/>
          <p:cNvSpPr/>
          <p:nvPr/>
        </p:nvSpPr>
        <p:spPr>
          <a:xfrm flipV="1">
            <a:off x="8064720" y="676440"/>
            <a:ext cx="384120" cy="5302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686" name="Shape 3"/>
          <p:cNvSpPr/>
          <p:nvPr/>
        </p:nvSpPr>
        <p:spPr>
          <a:xfrm>
            <a:off x="8064720" y="1206720"/>
            <a:ext cx="567000" cy="38412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687" name="Shape 4"/>
          <p:cNvSpPr/>
          <p:nvPr/>
        </p:nvSpPr>
        <p:spPr>
          <a:xfrm>
            <a:off x="6949440" y="457200"/>
            <a:ext cx="402120" cy="40212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88" name="Shape 5"/>
          <p:cNvSpPr/>
          <p:nvPr/>
        </p:nvSpPr>
        <p:spPr>
          <a:xfrm>
            <a:off x="7772400" y="914400"/>
            <a:ext cx="585000" cy="585000"/>
          </a:xfrm>
          <a:prstGeom prst="ellipse">
            <a:avLst/>
          </a:prstGeom>
          <a:solidFill>
            <a:srgbClr val="7F77DD">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89" name="Shape 6"/>
          <p:cNvSpPr/>
          <p:nvPr/>
        </p:nvSpPr>
        <p:spPr>
          <a:xfrm>
            <a:off x="7223760" y="1463040"/>
            <a:ext cx="292320" cy="29232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90" name="Shape 7"/>
          <p:cNvSpPr/>
          <p:nvPr/>
        </p:nvSpPr>
        <p:spPr>
          <a:xfrm>
            <a:off x="8321040" y="548640"/>
            <a:ext cx="255600" cy="25560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91" name="Shape 8"/>
          <p:cNvSpPr/>
          <p:nvPr/>
        </p:nvSpPr>
        <p:spPr>
          <a:xfrm>
            <a:off x="8412480" y="1371600"/>
            <a:ext cx="438480" cy="43848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92" name="Shape 9"/>
          <p:cNvSpPr/>
          <p:nvPr/>
        </p:nvSpPr>
        <p:spPr>
          <a:xfrm>
            <a:off x="640080" y="1417320"/>
            <a:ext cx="914040" cy="914040"/>
          </a:xfrm>
          <a:prstGeom prst="ellipse">
            <a:avLst/>
          </a:prstGeom>
          <a:solidFill>
            <a:srgbClr val="3C348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693" name="Image 0" descr="preencoded.png"/>
          <p:cNvPicPr/>
          <p:nvPr/>
        </p:nvPicPr>
        <p:blipFill>
          <a:blip r:embed="rId3"/>
          <a:stretch/>
        </p:blipFill>
        <p:spPr>
          <a:xfrm>
            <a:off x="859680" y="1636920"/>
            <a:ext cx="475200" cy="475200"/>
          </a:xfrm>
          <a:prstGeom prst="rect">
            <a:avLst/>
          </a:prstGeom>
          <a:ln w="0">
            <a:noFill/>
          </a:ln>
        </p:spPr>
      </p:pic>
      <p:sp>
        <p:nvSpPr>
          <p:cNvPr id="694" name="Text 10"/>
          <p:cNvSpPr/>
          <p:nvPr/>
        </p:nvSpPr>
        <p:spPr>
          <a:xfrm>
            <a:off x="1828800" y="1417320"/>
            <a:ext cx="6400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299">
                <a:solidFill>
                  <a:srgbClr val="F2A623"/>
                </a:solidFill>
                <a:latin typeface="Calibri"/>
                <a:ea typeface="Calibri"/>
              </a:rPr>
              <a:t>PLATFORM DEEP DIVE</a:t>
            </a:r>
            <a:endParaRPr lang="en-US" sz="1400" b="0" strike="noStrike" spc="-1">
              <a:solidFill>
                <a:srgbClr val="FFFFFF"/>
              </a:solidFill>
              <a:latin typeface="Arial"/>
            </a:endParaRPr>
          </a:p>
        </p:txBody>
      </p:sp>
      <p:sp>
        <p:nvSpPr>
          <p:cNvPr id="695" name="Text 11"/>
          <p:cNvSpPr/>
          <p:nvPr/>
        </p:nvSpPr>
        <p:spPr>
          <a:xfrm>
            <a:off x="1828800" y="1783080"/>
            <a:ext cx="66747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strike="noStrike" spc="-1">
                <a:solidFill>
                  <a:srgbClr val="FFFFFF"/>
                </a:solidFill>
                <a:latin typeface="Cambria"/>
                <a:ea typeface="Cambria"/>
              </a:rPr>
              <a:t>From seminar concepts to a production platform</a:t>
            </a:r>
            <a:endParaRPr lang="en-US" sz="3400" b="0" strike="noStrike" spc="-1">
              <a:solidFill>
                <a:srgbClr val="FFFFFF"/>
              </a:solidFill>
              <a:latin typeface="Arial"/>
            </a:endParaRPr>
          </a:p>
        </p:txBody>
      </p:sp>
      <p:sp>
        <p:nvSpPr>
          <p:cNvPr id="696" name="Text 12"/>
          <p:cNvSpPr/>
          <p:nvPr/>
        </p:nvSpPr>
        <p:spPr>
          <a:xfrm>
            <a:off x="1828800" y="2788920"/>
            <a:ext cx="64004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0000"/>
              </a:lnSpc>
              <a:tabLst>
                <a:tab pos="0" algn="l"/>
              </a:tabLst>
            </a:pPr>
            <a:r>
              <a:rPr lang="en-US" sz="1500" b="0" strike="noStrike" spc="-1">
                <a:solidFill>
                  <a:srgbClr val="CECBF6"/>
                </a:solidFill>
                <a:latin typeface="Calibri"/>
                <a:ea typeface="Calibri"/>
              </a:rPr>
              <a:t>How session, context, orchestration, and model selection scale into a horizontal, multi-tenant agent platform.</a:t>
            </a:r>
            <a:endParaRPr lang="en-US" sz="1500" b="0" strike="noStrike" spc="-1">
              <a:solidFill>
                <a:srgbClr val="FFFFFF"/>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7"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PLATFORM ARCHITECTURE</a:t>
            </a:r>
            <a:endParaRPr lang="en-US" sz="1200" b="0" strike="noStrike" spc="-1">
              <a:solidFill>
                <a:srgbClr val="000000"/>
              </a:solidFill>
              <a:latin typeface="Arial"/>
            </a:endParaRPr>
          </a:p>
        </p:txBody>
      </p:sp>
      <p:sp>
        <p:nvSpPr>
          <p:cNvPr id="698"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One platform, many teams, every channel</a:t>
            </a:r>
            <a:endParaRPr lang="en-US" sz="2800" b="0" strike="noStrike" spc="-1">
              <a:solidFill>
                <a:srgbClr val="000000"/>
              </a:solidFill>
              <a:latin typeface="Arial"/>
            </a:endParaRPr>
          </a:p>
        </p:txBody>
      </p:sp>
      <p:sp>
        <p:nvSpPr>
          <p:cNvPr id="699" name="Shape 2"/>
          <p:cNvSpPr/>
          <p:nvPr/>
        </p:nvSpPr>
        <p:spPr>
          <a:xfrm>
            <a:off x="457200" y="1600200"/>
            <a:ext cx="2651400" cy="2651400"/>
          </a:xfrm>
          <a:prstGeom prst="roundRect">
            <a:avLst>
              <a:gd name="adj" fmla="val 3448"/>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00" name="Shape 3"/>
          <p:cNvSpPr/>
          <p:nvPr/>
        </p:nvSpPr>
        <p:spPr>
          <a:xfrm>
            <a:off x="731520" y="1856160"/>
            <a:ext cx="548280" cy="54828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01" name="Image 0" descr="preencoded.png"/>
          <p:cNvPicPr/>
          <p:nvPr/>
        </p:nvPicPr>
        <p:blipFill>
          <a:blip r:embed="rId3"/>
          <a:stretch/>
        </p:blipFill>
        <p:spPr>
          <a:xfrm>
            <a:off x="863280" y="1987920"/>
            <a:ext cx="284760" cy="284760"/>
          </a:xfrm>
          <a:prstGeom prst="rect">
            <a:avLst/>
          </a:prstGeom>
          <a:ln w="0">
            <a:noFill/>
          </a:ln>
        </p:spPr>
      </p:pic>
      <p:sp>
        <p:nvSpPr>
          <p:cNvPr id="702" name="Text 4"/>
          <p:cNvSpPr/>
          <p:nvPr/>
        </p:nvSpPr>
        <p:spPr>
          <a:xfrm>
            <a:off x="685800" y="2514600"/>
            <a:ext cx="21942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450" b="1" strike="noStrike" spc="-1">
                <a:solidFill>
                  <a:srgbClr val="26215C"/>
                </a:solidFill>
                <a:latin typeface="Cambria"/>
                <a:ea typeface="Cambria"/>
              </a:rPr>
              <a:t>Reusable sub-agent hosting</a:t>
            </a:r>
            <a:endParaRPr lang="en-US" sz="1450" b="0" strike="noStrike" spc="-1">
              <a:solidFill>
                <a:srgbClr val="000000"/>
              </a:solidFill>
              <a:latin typeface="Arial"/>
            </a:endParaRPr>
          </a:p>
        </p:txBody>
      </p:sp>
      <p:sp>
        <p:nvSpPr>
          <p:cNvPr id="703" name="Text 5"/>
          <p:cNvSpPr/>
          <p:nvPr/>
        </p:nvSpPr>
        <p:spPr>
          <a:xfrm>
            <a:off x="685800" y="3017520"/>
            <a:ext cx="21942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100" b="0" strike="noStrike" spc="-1">
                <a:solidFill>
                  <a:srgbClr val="433F5C"/>
                </a:solidFill>
                <a:latin typeface="Calibri"/>
                <a:ea typeface="Calibri"/>
              </a:rPr>
              <a:t>Domain teams build sub-agents against a published contract; the platform owns the runtime, registry, security, and observability.</a:t>
            </a:r>
            <a:endParaRPr lang="en-US" sz="1100" b="0" strike="noStrike" spc="-1">
              <a:solidFill>
                <a:srgbClr val="000000"/>
              </a:solidFill>
              <a:latin typeface="Arial"/>
            </a:endParaRPr>
          </a:p>
        </p:txBody>
      </p:sp>
      <p:sp>
        <p:nvSpPr>
          <p:cNvPr id="704" name="Shape 6"/>
          <p:cNvSpPr/>
          <p:nvPr/>
        </p:nvSpPr>
        <p:spPr>
          <a:xfrm>
            <a:off x="3291840" y="1600200"/>
            <a:ext cx="2651400" cy="2651400"/>
          </a:xfrm>
          <a:prstGeom prst="roundRect">
            <a:avLst>
              <a:gd name="adj" fmla="val 3448"/>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05" name="Shape 7"/>
          <p:cNvSpPr/>
          <p:nvPr/>
        </p:nvSpPr>
        <p:spPr>
          <a:xfrm>
            <a:off x="3566160" y="1856160"/>
            <a:ext cx="548280" cy="54828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06" name="Image 1" descr="preencoded.png"/>
          <p:cNvPicPr/>
          <p:nvPr/>
        </p:nvPicPr>
        <p:blipFill>
          <a:blip r:embed="rId4"/>
          <a:stretch/>
        </p:blipFill>
        <p:spPr>
          <a:xfrm>
            <a:off x="3697920" y="1987920"/>
            <a:ext cx="284760" cy="284760"/>
          </a:xfrm>
          <a:prstGeom prst="rect">
            <a:avLst/>
          </a:prstGeom>
          <a:ln w="0">
            <a:noFill/>
          </a:ln>
        </p:spPr>
      </p:pic>
      <p:sp>
        <p:nvSpPr>
          <p:cNvPr id="707" name="Text 8"/>
          <p:cNvSpPr/>
          <p:nvPr/>
        </p:nvSpPr>
        <p:spPr>
          <a:xfrm>
            <a:off x="3520440" y="2514600"/>
            <a:ext cx="21942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450" b="1" strike="noStrike" spc="-1">
                <a:solidFill>
                  <a:srgbClr val="26215C"/>
                </a:solidFill>
                <a:latin typeface="Cambria"/>
                <a:ea typeface="Cambria"/>
              </a:rPr>
              <a:t>Single session system of record</a:t>
            </a:r>
            <a:endParaRPr lang="en-US" sz="1450" b="0" strike="noStrike" spc="-1">
              <a:solidFill>
                <a:srgbClr val="000000"/>
              </a:solidFill>
              <a:latin typeface="Arial"/>
            </a:endParaRPr>
          </a:p>
        </p:txBody>
      </p:sp>
      <p:sp>
        <p:nvSpPr>
          <p:cNvPr id="708" name="Text 9"/>
          <p:cNvSpPr/>
          <p:nvPr/>
        </p:nvSpPr>
        <p:spPr>
          <a:xfrm>
            <a:off x="3520440" y="3017520"/>
            <a:ext cx="21942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100" b="0" strike="noStrike" spc="-1">
                <a:solidFill>
                  <a:srgbClr val="433F5C"/>
                </a:solidFill>
                <a:latin typeface="Calibri"/>
                <a:ea typeface="Calibri"/>
              </a:rPr>
              <a:t>Every customer conversation — across every sub-agent and channel — is owned by one central session-management layer.</a:t>
            </a:r>
            <a:endParaRPr lang="en-US" sz="1100" b="0" strike="noStrike" spc="-1">
              <a:solidFill>
                <a:srgbClr val="000000"/>
              </a:solidFill>
              <a:latin typeface="Arial"/>
            </a:endParaRPr>
          </a:p>
        </p:txBody>
      </p:sp>
      <p:sp>
        <p:nvSpPr>
          <p:cNvPr id="709" name="Shape 10"/>
          <p:cNvSpPr/>
          <p:nvPr/>
        </p:nvSpPr>
        <p:spPr>
          <a:xfrm>
            <a:off x="6126480" y="1600200"/>
            <a:ext cx="2651400" cy="2651400"/>
          </a:xfrm>
          <a:prstGeom prst="roundRect">
            <a:avLst>
              <a:gd name="adj" fmla="val 3448"/>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10" name="Shape 11"/>
          <p:cNvSpPr/>
          <p:nvPr/>
        </p:nvSpPr>
        <p:spPr>
          <a:xfrm>
            <a:off x="6400800" y="1856160"/>
            <a:ext cx="548280" cy="54828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11" name="Image 2" descr="preencoded.png"/>
          <p:cNvPicPr/>
          <p:nvPr/>
        </p:nvPicPr>
        <p:blipFill>
          <a:blip r:embed="rId5"/>
          <a:stretch/>
        </p:blipFill>
        <p:spPr>
          <a:xfrm>
            <a:off x="6532560" y="1987920"/>
            <a:ext cx="284760" cy="284760"/>
          </a:xfrm>
          <a:prstGeom prst="rect">
            <a:avLst/>
          </a:prstGeom>
          <a:ln w="0">
            <a:noFill/>
          </a:ln>
        </p:spPr>
      </p:pic>
      <p:sp>
        <p:nvSpPr>
          <p:cNvPr id="712" name="Text 12"/>
          <p:cNvSpPr/>
          <p:nvPr/>
        </p:nvSpPr>
        <p:spPr>
          <a:xfrm>
            <a:off x="6355080" y="2514600"/>
            <a:ext cx="21942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450" b="1" strike="noStrike" spc="-1">
                <a:solidFill>
                  <a:srgbClr val="26215C"/>
                </a:solidFill>
                <a:latin typeface="Cambria"/>
                <a:ea typeface="Cambria"/>
              </a:rPr>
              <a:t>Cross-channel delivery</a:t>
            </a:r>
            <a:endParaRPr lang="en-US" sz="1450" b="0" strike="noStrike" spc="-1">
              <a:solidFill>
                <a:srgbClr val="000000"/>
              </a:solidFill>
              <a:latin typeface="Arial"/>
            </a:endParaRPr>
          </a:p>
        </p:txBody>
      </p:sp>
      <p:sp>
        <p:nvSpPr>
          <p:cNvPr id="713" name="Text 13"/>
          <p:cNvSpPr/>
          <p:nvPr/>
        </p:nvSpPr>
        <p:spPr>
          <a:xfrm>
            <a:off x="6355080" y="3017520"/>
            <a:ext cx="21942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100" b="0" strike="noStrike" spc="-1">
                <a:solidFill>
                  <a:srgbClr val="433F5C"/>
                </a:solidFill>
                <a:latin typeface="Calibri"/>
                <a:ea typeface="Calibri"/>
              </a:rPr>
              <a:t>One channel-agnostic agent core; a rendering boundary translates output into mobile, web, voice, and messaging payloads.</a:t>
            </a:r>
            <a:endParaRPr lang="en-US" sz="1100" b="0" strike="noStrike" spc="-1">
              <a:solidFill>
                <a:srgbClr val="000000"/>
              </a:solidFill>
              <a:latin typeface="Arial"/>
            </a:endParaRPr>
          </a:p>
        </p:txBody>
      </p:sp>
      <p:sp>
        <p:nvSpPr>
          <p:cNvPr id="714" name="Text 14"/>
          <p:cNvSpPr/>
          <p:nvPr/>
        </p:nvSpPr>
        <p:spPr>
          <a:xfrm>
            <a:off x="457200" y="4434840"/>
            <a:ext cx="82292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5000"/>
              </a:lnSpc>
              <a:tabLst>
                <a:tab pos="0" algn="l"/>
              </a:tabLst>
            </a:pPr>
            <a:r>
              <a:rPr lang="en-US" sz="1150" b="0" i="1" strike="noStrike" spc="-1">
                <a:solidFill>
                  <a:srgbClr val="767290"/>
                </a:solidFill>
                <a:latin typeface="Calibri"/>
                <a:ea typeface="Calibri"/>
              </a:rPr>
              <a:t>Why a platform, not a project: without shared infrastructure, every domain team re-solves session storage, routing, safety, and audit logging independently — slower, inconsistent, and harder to govern.</a:t>
            </a:r>
            <a:endParaRPr lang="en-US" sz="1150" b="0" strike="noStrike" spc="-1">
              <a:solidFill>
                <a:srgbClr val="000000"/>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5"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PLATFORM ARCHITECTURE</a:t>
            </a:r>
            <a:endParaRPr lang="en-US" sz="1200" b="0" strike="noStrike" spc="-1">
              <a:solidFill>
                <a:srgbClr val="000000"/>
              </a:solidFill>
              <a:latin typeface="Arial"/>
            </a:endParaRPr>
          </a:p>
        </p:txBody>
      </p:sp>
      <p:sp>
        <p:nvSpPr>
          <p:cNvPr id="716"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One agent core, four channel renderers</a:t>
            </a:r>
            <a:endParaRPr lang="en-US" sz="2800" b="0" strike="noStrike" spc="-1">
              <a:solidFill>
                <a:srgbClr val="000000"/>
              </a:solidFill>
              <a:latin typeface="Arial"/>
            </a:endParaRPr>
          </a:p>
        </p:txBody>
      </p:sp>
      <p:sp>
        <p:nvSpPr>
          <p:cNvPr id="717" name="Shape 2"/>
          <p:cNvSpPr/>
          <p:nvPr/>
        </p:nvSpPr>
        <p:spPr>
          <a:xfrm>
            <a:off x="1051560" y="1691640"/>
            <a:ext cx="3520440" cy="845640"/>
          </a:xfrm>
          <a:prstGeom prst="line">
            <a:avLst/>
          </a:prstGeom>
          <a:ln w="2540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718" name="Shape 3"/>
          <p:cNvSpPr/>
          <p:nvPr/>
        </p:nvSpPr>
        <p:spPr>
          <a:xfrm flipH="1">
            <a:off x="4572000" y="1691640"/>
            <a:ext cx="2697480" cy="845640"/>
          </a:xfrm>
          <a:prstGeom prst="line">
            <a:avLst/>
          </a:prstGeom>
          <a:ln w="2540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719" name="Shape 4"/>
          <p:cNvSpPr/>
          <p:nvPr/>
        </p:nvSpPr>
        <p:spPr>
          <a:xfrm flipV="1">
            <a:off x="1051560" y="2537280"/>
            <a:ext cx="3520440" cy="1028880"/>
          </a:xfrm>
          <a:prstGeom prst="line">
            <a:avLst/>
          </a:prstGeom>
          <a:ln w="2540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720" name="Shape 5"/>
          <p:cNvSpPr/>
          <p:nvPr/>
        </p:nvSpPr>
        <p:spPr>
          <a:xfrm flipH="1" flipV="1">
            <a:off x="4572000" y="2537280"/>
            <a:ext cx="2697480" cy="1028880"/>
          </a:xfrm>
          <a:prstGeom prst="line">
            <a:avLst/>
          </a:prstGeom>
          <a:ln w="25400">
            <a:solidFill>
              <a:srgbClr val="EEEDF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721" name="Shape 6"/>
          <p:cNvSpPr/>
          <p:nvPr/>
        </p:nvSpPr>
        <p:spPr>
          <a:xfrm>
            <a:off x="548640" y="1188720"/>
            <a:ext cx="1005480" cy="100548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22" name="Image 0" descr="preencoded.png"/>
          <p:cNvPicPr/>
          <p:nvPr/>
        </p:nvPicPr>
        <p:blipFill>
          <a:blip r:embed="rId3"/>
          <a:stretch/>
        </p:blipFill>
        <p:spPr>
          <a:xfrm>
            <a:off x="790200" y="1430280"/>
            <a:ext cx="522720" cy="522720"/>
          </a:xfrm>
          <a:prstGeom prst="rect">
            <a:avLst/>
          </a:prstGeom>
          <a:ln w="0">
            <a:noFill/>
          </a:ln>
        </p:spPr>
      </p:pic>
      <p:sp>
        <p:nvSpPr>
          <p:cNvPr id="723" name="Text 7"/>
          <p:cNvSpPr/>
          <p:nvPr/>
        </p:nvSpPr>
        <p:spPr>
          <a:xfrm>
            <a:off x="182880" y="2240280"/>
            <a:ext cx="1737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050" b="1" strike="noStrike" spc="-1">
                <a:solidFill>
                  <a:srgbClr val="0F6E56"/>
                </a:solidFill>
                <a:latin typeface="Calibri"/>
                <a:ea typeface="Calibri"/>
              </a:rPr>
              <a:t>Mobile</a:t>
            </a:r>
            <a:endParaRPr lang="en-US" sz="1050" b="0" strike="noStrike" spc="-1">
              <a:solidFill>
                <a:srgbClr val="000000"/>
              </a:solidFill>
              <a:latin typeface="Arial"/>
            </a:endParaRPr>
          </a:p>
        </p:txBody>
      </p:sp>
      <p:sp>
        <p:nvSpPr>
          <p:cNvPr id="724" name="Shape 8"/>
          <p:cNvSpPr/>
          <p:nvPr/>
        </p:nvSpPr>
        <p:spPr>
          <a:xfrm>
            <a:off x="6766560" y="1188720"/>
            <a:ext cx="1005480" cy="100548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25" name="Image 1" descr="preencoded.png"/>
          <p:cNvPicPr/>
          <p:nvPr/>
        </p:nvPicPr>
        <p:blipFill>
          <a:blip r:embed="rId4"/>
          <a:stretch/>
        </p:blipFill>
        <p:spPr>
          <a:xfrm>
            <a:off x="7008120" y="1430280"/>
            <a:ext cx="522720" cy="522720"/>
          </a:xfrm>
          <a:prstGeom prst="rect">
            <a:avLst/>
          </a:prstGeom>
          <a:ln w="0">
            <a:noFill/>
          </a:ln>
        </p:spPr>
      </p:pic>
      <p:sp>
        <p:nvSpPr>
          <p:cNvPr id="726" name="Text 9"/>
          <p:cNvSpPr/>
          <p:nvPr/>
        </p:nvSpPr>
        <p:spPr>
          <a:xfrm>
            <a:off x="6400800" y="2240280"/>
            <a:ext cx="1737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050" b="1" strike="noStrike" spc="-1">
                <a:solidFill>
                  <a:srgbClr val="0F6E56"/>
                </a:solidFill>
                <a:latin typeface="Calibri"/>
                <a:ea typeface="Calibri"/>
              </a:rPr>
              <a:t>Web</a:t>
            </a:r>
            <a:endParaRPr lang="en-US" sz="1050" b="0" strike="noStrike" spc="-1">
              <a:solidFill>
                <a:srgbClr val="000000"/>
              </a:solidFill>
              <a:latin typeface="Arial"/>
            </a:endParaRPr>
          </a:p>
        </p:txBody>
      </p:sp>
      <p:sp>
        <p:nvSpPr>
          <p:cNvPr id="727" name="Shape 10"/>
          <p:cNvSpPr/>
          <p:nvPr/>
        </p:nvSpPr>
        <p:spPr>
          <a:xfrm>
            <a:off x="548640" y="3063240"/>
            <a:ext cx="1005480" cy="100548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28" name="Image 2" descr="preencoded.png"/>
          <p:cNvPicPr/>
          <p:nvPr/>
        </p:nvPicPr>
        <p:blipFill>
          <a:blip r:embed="rId5"/>
          <a:stretch/>
        </p:blipFill>
        <p:spPr>
          <a:xfrm>
            <a:off x="790200" y="3304800"/>
            <a:ext cx="522720" cy="522720"/>
          </a:xfrm>
          <a:prstGeom prst="rect">
            <a:avLst/>
          </a:prstGeom>
          <a:ln w="0">
            <a:noFill/>
          </a:ln>
        </p:spPr>
      </p:pic>
      <p:sp>
        <p:nvSpPr>
          <p:cNvPr id="729" name="Text 11"/>
          <p:cNvSpPr/>
          <p:nvPr/>
        </p:nvSpPr>
        <p:spPr>
          <a:xfrm>
            <a:off x="182880" y="4114800"/>
            <a:ext cx="1737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050" b="1" strike="noStrike" spc="-1">
                <a:solidFill>
                  <a:srgbClr val="0F6E56"/>
                </a:solidFill>
                <a:latin typeface="Calibri"/>
                <a:ea typeface="Calibri"/>
              </a:rPr>
              <a:t>Voice / IVR</a:t>
            </a:r>
            <a:endParaRPr lang="en-US" sz="1050" b="0" strike="noStrike" spc="-1">
              <a:solidFill>
                <a:srgbClr val="000000"/>
              </a:solidFill>
              <a:latin typeface="Arial"/>
            </a:endParaRPr>
          </a:p>
        </p:txBody>
      </p:sp>
      <p:sp>
        <p:nvSpPr>
          <p:cNvPr id="730" name="Shape 12"/>
          <p:cNvSpPr/>
          <p:nvPr/>
        </p:nvSpPr>
        <p:spPr>
          <a:xfrm>
            <a:off x="6766560" y="3063240"/>
            <a:ext cx="1005480" cy="100548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31" name="Image 3" descr="preencoded.png"/>
          <p:cNvPicPr/>
          <p:nvPr/>
        </p:nvPicPr>
        <p:blipFill>
          <a:blip r:embed="rId6"/>
          <a:stretch/>
        </p:blipFill>
        <p:spPr>
          <a:xfrm>
            <a:off x="7008120" y="3304800"/>
            <a:ext cx="522720" cy="522720"/>
          </a:xfrm>
          <a:prstGeom prst="rect">
            <a:avLst/>
          </a:prstGeom>
          <a:ln w="0">
            <a:noFill/>
          </a:ln>
        </p:spPr>
      </p:pic>
      <p:sp>
        <p:nvSpPr>
          <p:cNvPr id="732" name="Text 13"/>
          <p:cNvSpPr/>
          <p:nvPr/>
        </p:nvSpPr>
        <p:spPr>
          <a:xfrm>
            <a:off x="6400800" y="4114800"/>
            <a:ext cx="1737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050" b="1" strike="noStrike" spc="-1">
                <a:solidFill>
                  <a:srgbClr val="0F6E56"/>
                </a:solidFill>
                <a:latin typeface="Calibri"/>
                <a:ea typeface="Calibri"/>
              </a:rPr>
              <a:t>Messaging (SMS/WhatsApp)</a:t>
            </a:r>
            <a:endParaRPr lang="en-US" sz="1050" b="0" strike="noStrike" spc="-1">
              <a:solidFill>
                <a:srgbClr val="000000"/>
              </a:solidFill>
              <a:latin typeface="Arial"/>
            </a:endParaRPr>
          </a:p>
        </p:txBody>
      </p:sp>
      <p:sp>
        <p:nvSpPr>
          <p:cNvPr id="733" name="Shape 14"/>
          <p:cNvSpPr/>
          <p:nvPr/>
        </p:nvSpPr>
        <p:spPr>
          <a:xfrm>
            <a:off x="3886200" y="2148840"/>
            <a:ext cx="1371240" cy="776880"/>
          </a:xfrm>
          <a:prstGeom prst="roundRect">
            <a:avLst>
              <a:gd name="adj" fmla="val 9412"/>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34" name="Text 15"/>
          <p:cNvSpPr/>
          <p:nvPr/>
        </p:nvSpPr>
        <p:spPr>
          <a:xfrm>
            <a:off x="3886200" y="2240280"/>
            <a:ext cx="137124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Calibri"/>
                <a:ea typeface="Calibri"/>
              </a:rPr>
              <a:t>Channel-agnostic</a:t>
            </a:r>
            <a:endParaRPr lang="en-US" sz="1100" b="0" strike="noStrike" spc="-1">
              <a:solidFill>
                <a:srgbClr val="000000"/>
              </a:solidFill>
              <a:latin typeface="Arial"/>
            </a:endParaRPr>
          </a:p>
          <a:p>
            <a:pPr algn="ctr" defTabSz="914400">
              <a:lnSpc>
                <a:spcPct val="100000"/>
              </a:lnSpc>
              <a:tabLst>
                <a:tab pos="0" algn="l"/>
              </a:tabLst>
            </a:pPr>
            <a:r>
              <a:rPr lang="en-US" sz="1100" b="1" strike="noStrike" spc="-1">
                <a:solidFill>
                  <a:srgbClr val="FFFFFF"/>
                </a:solidFill>
                <a:latin typeface="Calibri"/>
                <a:ea typeface="Calibri"/>
              </a:rPr>
              <a:t>agent core</a:t>
            </a:r>
            <a:endParaRPr lang="en-US" sz="1100" b="0" strike="noStrike" spc="-1">
              <a:solidFill>
                <a:srgbClr val="000000"/>
              </a:solidFill>
              <a:latin typeface="Arial"/>
            </a:endParaRPr>
          </a:p>
        </p:txBody>
      </p:sp>
      <p:sp>
        <p:nvSpPr>
          <p:cNvPr id="735" name="Text 16"/>
          <p:cNvSpPr/>
          <p:nvPr/>
        </p:nvSpPr>
        <p:spPr>
          <a:xfrm>
            <a:off x="457200" y="470916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tabLst>
                <a:tab pos="0" algn="l"/>
              </a:tabLst>
            </a:pPr>
            <a:r>
              <a:rPr lang="en-US" sz="1050" b="0" i="1" strike="noStrike" spc="-1">
                <a:solidFill>
                  <a:srgbClr val="767290"/>
                </a:solidFill>
                <a:latin typeface="Calibri"/>
                <a:ea typeface="Calibri"/>
              </a:rPr>
              <a:t>A shared rendering sidecar converts one internal response schema into the JSON/SSML/text payload each channel expects — domain teams never implement channel-specific logic.</a:t>
            </a:r>
            <a:endParaRPr lang="en-US" sz="1050" b="0" strike="noStrike" spc="-1">
              <a:solidFill>
                <a:srgbClr val="000000"/>
              </a:solid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6"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MODEL STRATEGY</a:t>
            </a:r>
            <a:endParaRPr lang="en-US" sz="1200" b="0" strike="noStrike" spc="-1">
              <a:solidFill>
                <a:srgbClr val="000000"/>
              </a:solidFill>
              <a:latin typeface="Arial"/>
            </a:endParaRPr>
          </a:p>
        </p:txBody>
      </p:sp>
      <p:sp>
        <p:nvSpPr>
          <p:cNvPr id="737"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Model pairing: the right model for each step</a:t>
            </a:r>
            <a:endParaRPr lang="en-US" sz="2800" b="0" strike="noStrike" spc="-1">
              <a:solidFill>
                <a:srgbClr val="000000"/>
              </a:solidFill>
              <a:latin typeface="Arial"/>
            </a:endParaRPr>
          </a:p>
        </p:txBody>
      </p:sp>
      <p:sp>
        <p:nvSpPr>
          <p:cNvPr id="738" name="Shape 2"/>
          <p:cNvSpPr/>
          <p:nvPr/>
        </p:nvSpPr>
        <p:spPr>
          <a:xfrm>
            <a:off x="548640" y="1508760"/>
            <a:ext cx="566640" cy="56664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39" name="Image 0" descr="preencoded.png"/>
          <p:cNvPicPr/>
          <p:nvPr/>
        </p:nvPicPr>
        <p:blipFill>
          <a:blip r:embed="rId3"/>
          <a:stretch/>
        </p:blipFill>
        <p:spPr>
          <a:xfrm>
            <a:off x="684720" y="1644840"/>
            <a:ext cx="294480" cy="294480"/>
          </a:xfrm>
          <a:prstGeom prst="rect">
            <a:avLst/>
          </a:prstGeom>
          <a:ln w="0">
            <a:noFill/>
          </a:ln>
        </p:spPr>
      </p:pic>
      <p:sp>
        <p:nvSpPr>
          <p:cNvPr id="740" name="Text 3"/>
          <p:cNvSpPr/>
          <p:nvPr/>
        </p:nvSpPr>
        <p:spPr>
          <a:xfrm>
            <a:off x="1371600" y="1472040"/>
            <a:ext cx="7314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26215C"/>
                </a:solidFill>
                <a:latin typeface="Calibri"/>
                <a:ea typeface="Calibri"/>
              </a:rPr>
              <a:t>Tiered classification → escalation</a:t>
            </a:r>
            <a:endParaRPr lang="en-US" sz="1450" b="0" strike="noStrike" spc="-1">
              <a:solidFill>
                <a:srgbClr val="000000"/>
              </a:solidFill>
              <a:latin typeface="Arial"/>
            </a:endParaRPr>
          </a:p>
        </p:txBody>
      </p:sp>
      <p:sp>
        <p:nvSpPr>
          <p:cNvPr id="741" name="Text 4"/>
          <p:cNvSpPr/>
          <p:nvPr/>
        </p:nvSpPr>
        <p:spPr>
          <a:xfrm>
            <a:off x="1371600" y="1801440"/>
            <a:ext cx="7314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2000"/>
              </a:lnSpc>
              <a:tabLst>
                <a:tab pos="0" algn="l"/>
              </a:tabLst>
            </a:pPr>
            <a:r>
              <a:rPr lang="en-US" sz="1150" b="0" strike="noStrike" spc="-1">
                <a:solidFill>
                  <a:srgbClr val="433F5C"/>
                </a:solidFill>
                <a:latin typeface="Calibri"/>
                <a:ea typeface="Calibri"/>
              </a:rPr>
              <a:t>Cheap model classifies &amp; answers simple turns; complex or judgment-heavy steps escalate to a stronger model.</a:t>
            </a:r>
            <a:endParaRPr lang="en-US" sz="1150" b="0" strike="noStrike" spc="-1">
              <a:solidFill>
                <a:srgbClr val="000000"/>
              </a:solidFill>
              <a:latin typeface="Arial"/>
            </a:endParaRPr>
          </a:p>
        </p:txBody>
      </p:sp>
      <p:sp>
        <p:nvSpPr>
          <p:cNvPr id="742" name="Shape 5"/>
          <p:cNvSpPr/>
          <p:nvPr/>
        </p:nvSpPr>
        <p:spPr>
          <a:xfrm>
            <a:off x="548640" y="2377440"/>
            <a:ext cx="566640" cy="56664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43" name="Image 1" descr="preencoded.png"/>
          <p:cNvPicPr/>
          <p:nvPr/>
        </p:nvPicPr>
        <p:blipFill>
          <a:blip r:embed="rId4"/>
          <a:stretch/>
        </p:blipFill>
        <p:spPr>
          <a:xfrm>
            <a:off x="684720" y="2513520"/>
            <a:ext cx="294480" cy="294480"/>
          </a:xfrm>
          <a:prstGeom prst="rect">
            <a:avLst/>
          </a:prstGeom>
          <a:ln w="0">
            <a:noFill/>
          </a:ln>
        </p:spPr>
      </p:pic>
      <p:sp>
        <p:nvSpPr>
          <p:cNvPr id="744" name="Text 6"/>
          <p:cNvSpPr/>
          <p:nvPr/>
        </p:nvSpPr>
        <p:spPr>
          <a:xfrm>
            <a:off x="1371600" y="2340720"/>
            <a:ext cx="7314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26215C"/>
                </a:solidFill>
                <a:latin typeface="Calibri"/>
                <a:ea typeface="Calibri"/>
              </a:rPr>
              <a:t>Cascade with verification</a:t>
            </a:r>
            <a:endParaRPr lang="en-US" sz="1450" b="0" strike="noStrike" spc="-1">
              <a:solidFill>
                <a:srgbClr val="000000"/>
              </a:solidFill>
              <a:latin typeface="Arial"/>
            </a:endParaRPr>
          </a:p>
        </p:txBody>
      </p:sp>
      <p:sp>
        <p:nvSpPr>
          <p:cNvPr id="745" name="Text 7"/>
          <p:cNvSpPr/>
          <p:nvPr/>
        </p:nvSpPr>
        <p:spPr>
          <a:xfrm>
            <a:off x="1371600" y="2670120"/>
            <a:ext cx="7314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2000"/>
              </a:lnSpc>
              <a:tabLst>
                <a:tab pos="0" algn="l"/>
              </a:tabLst>
            </a:pPr>
            <a:r>
              <a:rPr lang="en-US" sz="1150" b="0" strike="noStrike" spc="-1">
                <a:solidFill>
                  <a:srgbClr val="433F5C"/>
                </a:solidFill>
                <a:latin typeface="Calibri"/>
                <a:ea typeface="Calibri"/>
              </a:rPr>
              <a:t>Small model answers first; a verifier escalates only uncertain cases to a costlier model — cuts large-model usage substantially.</a:t>
            </a:r>
            <a:endParaRPr lang="en-US" sz="1150" b="0" strike="noStrike" spc="-1">
              <a:solidFill>
                <a:srgbClr val="000000"/>
              </a:solidFill>
              <a:latin typeface="Arial"/>
            </a:endParaRPr>
          </a:p>
        </p:txBody>
      </p:sp>
      <p:sp>
        <p:nvSpPr>
          <p:cNvPr id="746" name="Shape 8"/>
          <p:cNvSpPr/>
          <p:nvPr/>
        </p:nvSpPr>
        <p:spPr>
          <a:xfrm>
            <a:off x="548640" y="3246120"/>
            <a:ext cx="566640" cy="56664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47" name="Image 2" descr="preencoded.png"/>
          <p:cNvPicPr/>
          <p:nvPr/>
        </p:nvPicPr>
        <p:blipFill>
          <a:blip r:embed="rId5"/>
          <a:stretch/>
        </p:blipFill>
        <p:spPr>
          <a:xfrm>
            <a:off x="684720" y="3382200"/>
            <a:ext cx="294480" cy="294480"/>
          </a:xfrm>
          <a:prstGeom prst="rect">
            <a:avLst/>
          </a:prstGeom>
          <a:ln w="0">
            <a:noFill/>
          </a:ln>
        </p:spPr>
      </p:pic>
      <p:sp>
        <p:nvSpPr>
          <p:cNvPr id="748" name="Text 9"/>
          <p:cNvSpPr/>
          <p:nvPr/>
        </p:nvSpPr>
        <p:spPr>
          <a:xfrm>
            <a:off x="1371600" y="3209400"/>
            <a:ext cx="7314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26215C"/>
                </a:solidFill>
                <a:latin typeface="Calibri"/>
                <a:ea typeface="Calibri"/>
              </a:rPr>
              <a:t>Compliance-driven routing</a:t>
            </a:r>
            <a:endParaRPr lang="en-US" sz="1450" b="0" strike="noStrike" spc="-1">
              <a:solidFill>
                <a:srgbClr val="000000"/>
              </a:solidFill>
              <a:latin typeface="Arial"/>
            </a:endParaRPr>
          </a:p>
        </p:txBody>
      </p:sp>
      <p:sp>
        <p:nvSpPr>
          <p:cNvPr id="749" name="Text 10"/>
          <p:cNvSpPr/>
          <p:nvPr/>
        </p:nvSpPr>
        <p:spPr>
          <a:xfrm>
            <a:off x="1371600" y="3538800"/>
            <a:ext cx="7314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2000"/>
              </a:lnSpc>
              <a:tabLst>
                <a:tab pos="0" algn="l"/>
              </a:tabLst>
            </a:pPr>
            <a:r>
              <a:rPr lang="en-US" sz="1150" b="0" strike="noStrike" spc="-1">
                <a:solidFill>
                  <a:srgbClr val="433F5C"/>
                </a:solidFill>
                <a:latin typeface="Calibri"/>
                <a:ea typeface="Calibri"/>
              </a:rPr>
              <a:t>PII or regulated-data signals force routing to an approved private model, independent of task complexity.</a:t>
            </a:r>
            <a:endParaRPr lang="en-US" sz="1150" b="0" strike="noStrike" spc="-1">
              <a:solidFill>
                <a:srgbClr val="000000"/>
              </a:solidFill>
              <a:latin typeface="Arial"/>
            </a:endParaRPr>
          </a:p>
        </p:txBody>
      </p:sp>
      <p:sp>
        <p:nvSpPr>
          <p:cNvPr id="750" name="Shape 11"/>
          <p:cNvSpPr/>
          <p:nvPr/>
        </p:nvSpPr>
        <p:spPr>
          <a:xfrm>
            <a:off x="457200" y="4160520"/>
            <a:ext cx="8229240" cy="594000"/>
          </a:xfrm>
          <a:prstGeom prst="roundRect">
            <a:avLst>
              <a:gd name="adj" fmla="val 12308"/>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51" name="Text 12"/>
          <p:cNvSpPr/>
          <p:nvPr/>
        </p:nvSpPr>
        <p:spPr>
          <a:xfrm>
            <a:off x="640080" y="4160520"/>
            <a:ext cx="786348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strike="noStrike" spc="-1">
                <a:solidFill>
                  <a:srgbClr val="26215C"/>
                </a:solidFill>
                <a:latin typeface="Calibri"/>
                <a:ea typeface="Calibri"/>
              </a:rPr>
              <a:t>Industry data point: tiered routing has reduced LLM usage by 37–46% and improved latency by 32–38% on simpler queries in production deployments.</a:t>
            </a:r>
            <a:endParaRPr lang="en-US" sz="1150" b="0" strike="noStrike" spc="-1">
              <a:solidFill>
                <a:srgbClr val="000000"/>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2"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SIDECAR SERVICES</a:t>
            </a:r>
            <a:endParaRPr lang="en-US" sz="1200" b="0" strike="noStrike" spc="-1">
              <a:solidFill>
                <a:srgbClr val="000000"/>
              </a:solidFill>
              <a:latin typeface="Arial"/>
            </a:endParaRPr>
          </a:p>
        </p:txBody>
      </p:sp>
      <p:sp>
        <p:nvSpPr>
          <p:cNvPr id="753"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Five horizontal services every sub-agent inherits</a:t>
            </a:r>
            <a:endParaRPr lang="en-US" sz="2800" b="0" strike="noStrike" spc="-1">
              <a:solidFill>
                <a:srgbClr val="000000"/>
              </a:solidFill>
              <a:latin typeface="Arial"/>
            </a:endParaRPr>
          </a:p>
        </p:txBody>
      </p:sp>
      <p:sp>
        <p:nvSpPr>
          <p:cNvPr id="754" name="Shape 2"/>
          <p:cNvSpPr/>
          <p:nvPr/>
        </p:nvSpPr>
        <p:spPr>
          <a:xfrm>
            <a:off x="457200" y="1554480"/>
            <a:ext cx="1590840" cy="3017160"/>
          </a:xfrm>
          <a:prstGeom prst="roundRect">
            <a:avLst>
              <a:gd name="adj" fmla="val 4598"/>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55" name="Shape 3"/>
          <p:cNvSpPr/>
          <p:nvPr/>
        </p:nvSpPr>
        <p:spPr>
          <a:xfrm>
            <a:off x="1024200" y="1755720"/>
            <a:ext cx="456840" cy="45684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56" name="Image 0" descr="preencoded.png"/>
          <p:cNvPicPr/>
          <p:nvPr/>
        </p:nvPicPr>
        <p:blipFill>
          <a:blip r:embed="rId3"/>
          <a:stretch/>
        </p:blipFill>
        <p:spPr>
          <a:xfrm>
            <a:off x="1134000" y="1865520"/>
            <a:ext cx="237240" cy="237240"/>
          </a:xfrm>
          <a:prstGeom prst="rect">
            <a:avLst/>
          </a:prstGeom>
          <a:ln w="0">
            <a:noFill/>
          </a:ln>
        </p:spPr>
      </p:pic>
      <p:sp>
        <p:nvSpPr>
          <p:cNvPr id="757" name="Text 4"/>
          <p:cNvSpPr/>
          <p:nvPr/>
        </p:nvSpPr>
        <p:spPr>
          <a:xfrm>
            <a:off x="530280" y="2331720"/>
            <a:ext cx="14443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1" strike="noStrike" spc="-1">
                <a:solidFill>
                  <a:srgbClr val="26215C"/>
                </a:solidFill>
                <a:latin typeface="Calibri"/>
                <a:ea typeface="Calibri"/>
              </a:rPr>
              <a:t>Evals + prompt eng</a:t>
            </a:r>
            <a:endParaRPr lang="en-US" sz="1100" b="0" strike="noStrike" spc="-1">
              <a:solidFill>
                <a:srgbClr val="000000"/>
              </a:solidFill>
              <a:latin typeface="Arial"/>
            </a:endParaRPr>
          </a:p>
        </p:txBody>
      </p:sp>
      <p:sp>
        <p:nvSpPr>
          <p:cNvPr id="758" name="Text 5"/>
          <p:cNvSpPr/>
          <p:nvPr/>
        </p:nvSpPr>
        <p:spPr>
          <a:xfrm>
            <a:off x="548640" y="2880360"/>
            <a:ext cx="140796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00" b="0" strike="noStrike" spc="-1">
                <a:solidFill>
                  <a:srgbClr val="433F5C"/>
                </a:solidFill>
                <a:latin typeface="Calibri"/>
                <a:ea typeface="Calibri"/>
              </a:rPr>
              <a:t>Golden-set offline evals in CI, plus online evals against live traffic.</a:t>
            </a:r>
            <a:endParaRPr lang="en-US" sz="900" b="0" strike="noStrike" spc="-1">
              <a:solidFill>
                <a:srgbClr val="000000"/>
              </a:solidFill>
              <a:latin typeface="Arial"/>
            </a:endParaRPr>
          </a:p>
        </p:txBody>
      </p:sp>
      <p:sp>
        <p:nvSpPr>
          <p:cNvPr id="759" name="Shape 6"/>
          <p:cNvSpPr/>
          <p:nvPr/>
        </p:nvSpPr>
        <p:spPr>
          <a:xfrm>
            <a:off x="2167200" y="1554480"/>
            <a:ext cx="1590840" cy="3017160"/>
          </a:xfrm>
          <a:prstGeom prst="roundRect">
            <a:avLst>
              <a:gd name="adj" fmla="val 4598"/>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60" name="Shape 7"/>
          <p:cNvSpPr/>
          <p:nvPr/>
        </p:nvSpPr>
        <p:spPr>
          <a:xfrm>
            <a:off x="2734200" y="1755720"/>
            <a:ext cx="456840" cy="456840"/>
          </a:xfrm>
          <a:prstGeom prst="ellipse">
            <a:avLst/>
          </a:prstGeom>
          <a:solidFill>
            <a:srgbClr val="FAEC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61" name="Image 1" descr="preencoded.png"/>
          <p:cNvPicPr/>
          <p:nvPr/>
        </p:nvPicPr>
        <p:blipFill>
          <a:blip r:embed="rId4"/>
          <a:stretch/>
        </p:blipFill>
        <p:spPr>
          <a:xfrm>
            <a:off x="2843640" y="1865520"/>
            <a:ext cx="237240" cy="237240"/>
          </a:xfrm>
          <a:prstGeom prst="rect">
            <a:avLst/>
          </a:prstGeom>
          <a:ln w="0">
            <a:noFill/>
          </a:ln>
        </p:spPr>
      </p:pic>
      <p:sp>
        <p:nvSpPr>
          <p:cNvPr id="762" name="Text 8"/>
          <p:cNvSpPr/>
          <p:nvPr/>
        </p:nvSpPr>
        <p:spPr>
          <a:xfrm>
            <a:off x="2240280" y="2331720"/>
            <a:ext cx="14443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1" strike="noStrike" spc="-1">
                <a:solidFill>
                  <a:srgbClr val="26215C"/>
                </a:solidFill>
                <a:latin typeface="Calibri"/>
                <a:ea typeface="Calibri"/>
              </a:rPr>
              <a:t>Agent guardrails</a:t>
            </a:r>
            <a:endParaRPr lang="en-US" sz="1100" b="0" strike="noStrike" spc="-1">
              <a:solidFill>
                <a:srgbClr val="000000"/>
              </a:solidFill>
              <a:latin typeface="Arial"/>
            </a:endParaRPr>
          </a:p>
        </p:txBody>
      </p:sp>
      <p:sp>
        <p:nvSpPr>
          <p:cNvPr id="763" name="Text 9"/>
          <p:cNvSpPr/>
          <p:nvPr/>
        </p:nvSpPr>
        <p:spPr>
          <a:xfrm>
            <a:off x="2258640" y="2880360"/>
            <a:ext cx="140796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00" b="0" strike="noStrike" spc="-1">
                <a:solidFill>
                  <a:srgbClr val="433F5C"/>
                </a:solidFill>
                <a:latin typeface="Calibri"/>
                <a:ea typeface="Calibri"/>
              </a:rPr>
              <a:t>Real-time input/output policy enforcement, ~200–300ms budget.</a:t>
            </a:r>
            <a:endParaRPr lang="en-US" sz="900" b="0" strike="noStrike" spc="-1">
              <a:solidFill>
                <a:srgbClr val="000000"/>
              </a:solidFill>
              <a:latin typeface="Arial"/>
            </a:endParaRPr>
          </a:p>
        </p:txBody>
      </p:sp>
      <p:sp>
        <p:nvSpPr>
          <p:cNvPr id="764" name="Shape 10"/>
          <p:cNvSpPr/>
          <p:nvPr/>
        </p:nvSpPr>
        <p:spPr>
          <a:xfrm>
            <a:off x="3877200" y="1554480"/>
            <a:ext cx="1590840" cy="3017160"/>
          </a:xfrm>
          <a:prstGeom prst="roundRect">
            <a:avLst>
              <a:gd name="adj" fmla="val 4598"/>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65" name="Shape 11"/>
          <p:cNvSpPr/>
          <p:nvPr/>
        </p:nvSpPr>
        <p:spPr>
          <a:xfrm>
            <a:off x="4443840" y="1755720"/>
            <a:ext cx="456840" cy="45684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66" name="Image 2" descr="preencoded.png"/>
          <p:cNvPicPr/>
          <p:nvPr/>
        </p:nvPicPr>
        <p:blipFill>
          <a:blip r:embed="rId5"/>
          <a:stretch/>
        </p:blipFill>
        <p:spPr>
          <a:xfrm>
            <a:off x="4553640" y="1865520"/>
            <a:ext cx="237240" cy="237240"/>
          </a:xfrm>
          <a:prstGeom prst="rect">
            <a:avLst/>
          </a:prstGeom>
          <a:ln w="0">
            <a:noFill/>
          </a:ln>
        </p:spPr>
      </p:pic>
      <p:sp>
        <p:nvSpPr>
          <p:cNvPr id="767" name="Text 12"/>
          <p:cNvSpPr/>
          <p:nvPr/>
        </p:nvSpPr>
        <p:spPr>
          <a:xfrm>
            <a:off x="3950280" y="2331720"/>
            <a:ext cx="14443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1" strike="noStrike" spc="-1">
                <a:solidFill>
                  <a:srgbClr val="26215C"/>
                </a:solidFill>
                <a:latin typeface="Calibri"/>
                <a:ea typeface="Calibri"/>
              </a:rPr>
              <a:t>Traceability</a:t>
            </a:r>
            <a:endParaRPr lang="en-US" sz="1100" b="0" strike="noStrike" spc="-1">
              <a:solidFill>
                <a:srgbClr val="000000"/>
              </a:solidFill>
              <a:latin typeface="Arial"/>
            </a:endParaRPr>
          </a:p>
        </p:txBody>
      </p:sp>
      <p:sp>
        <p:nvSpPr>
          <p:cNvPr id="768" name="Text 13"/>
          <p:cNvSpPr/>
          <p:nvPr/>
        </p:nvSpPr>
        <p:spPr>
          <a:xfrm>
            <a:off x="3968640" y="2880360"/>
            <a:ext cx="140796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00" b="0" strike="noStrike" spc="-1">
                <a:solidFill>
                  <a:srgbClr val="433F5C"/>
                </a:solidFill>
                <a:latin typeface="Calibri"/>
                <a:ea typeface="Calibri"/>
              </a:rPr>
              <a:t>Every event — tool call, hand-off, state change — logged as an audit record.</a:t>
            </a:r>
            <a:endParaRPr lang="en-US" sz="900" b="0" strike="noStrike" spc="-1">
              <a:solidFill>
                <a:srgbClr val="000000"/>
              </a:solidFill>
              <a:latin typeface="Arial"/>
            </a:endParaRPr>
          </a:p>
        </p:txBody>
      </p:sp>
      <p:sp>
        <p:nvSpPr>
          <p:cNvPr id="769" name="Shape 14"/>
          <p:cNvSpPr/>
          <p:nvPr/>
        </p:nvSpPr>
        <p:spPr>
          <a:xfrm>
            <a:off x="5586840" y="1554480"/>
            <a:ext cx="1590840" cy="3017160"/>
          </a:xfrm>
          <a:prstGeom prst="roundRect">
            <a:avLst>
              <a:gd name="adj" fmla="val 4598"/>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70" name="Shape 15"/>
          <p:cNvSpPr/>
          <p:nvPr/>
        </p:nvSpPr>
        <p:spPr>
          <a:xfrm>
            <a:off x="6153840" y="1755720"/>
            <a:ext cx="456840" cy="45684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71" name="Image 3" descr="preencoded.png"/>
          <p:cNvPicPr/>
          <p:nvPr/>
        </p:nvPicPr>
        <p:blipFill>
          <a:blip r:embed="rId6"/>
          <a:stretch/>
        </p:blipFill>
        <p:spPr>
          <a:xfrm>
            <a:off x="6263640" y="1865520"/>
            <a:ext cx="237240" cy="237240"/>
          </a:xfrm>
          <a:prstGeom prst="rect">
            <a:avLst/>
          </a:prstGeom>
          <a:ln w="0">
            <a:noFill/>
          </a:ln>
        </p:spPr>
      </p:pic>
      <p:sp>
        <p:nvSpPr>
          <p:cNvPr id="772" name="Text 16"/>
          <p:cNvSpPr/>
          <p:nvPr/>
        </p:nvSpPr>
        <p:spPr>
          <a:xfrm>
            <a:off x="5660280" y="2331720"/>
            <a:ext cx="14443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1" strike="noStrike" spc="-1">
                <a:solidFill>
                  <a:srgbClr val="26215C"/>
                </a:solidFill>
                <a:latin typeface="Calibri"/>
                <a:ea typeface="Calibri"/>
              </a:rPr>
              <a:t>Channel JSON rendering</a:t>
            </a:r>
            <a:endParaRPr lang="en-US" sz="1100" b="0" strike="noStrike" spc="-1">
              <a:solidFill>
                <a:srgbClr val="000000"/>
              </a:solidFill>
              <a:latin typeface="Arial"/>
            </a:endParaRPr>
          </a:p>
        </p:txBody>
      </p:sp>
      <p:sp>
        <p:nvSpPr>
          <p:cNvPr id="773" name="Text 17"/>
          <p:cNvSpPr/>
          <p:nvPr/>
        </p:nvSpPr>
        <p:spPr>
          <a:xfrm>
            <a:off x="5678280" y="2880360"/>
            <a:ext cx="140796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00" b="0" strike="noStrike" spc="-1">
                <a:solidFill>
                  <a:srgbClr val="433F5C"/>
                </a:solidFill>
                <a:latin typeface="Calibri"/>
                <a:ea typeface="Calibri"/>
              </a:rPr>
              <a:t>One response schema → mobile / web / voice / messaging payloads.</a:t>
            </a:r>
            <a:endParaRPr lang="en-US" sz="900" b="0" strike="noStrike" spc="-1">
              <a:solidFill>
                <a:srgbClr val="000000"/>
              </a:solidFill>
              <a:latin typeface="Arial"/>
            </a:endParaRPr>
          </a:p>
        </p:txBody>
      </p:sp>
      <p:sp>
        <p:nvSpPr>
          <p:cNvPr id="774" name="Shape 18"/>
          <p:cNvSpPr/>
          <p:nvPr/>
        </p:nvSpPr>
        <p:spPr>
          <a:xfrm>
            <a:off x="7296840" y="1554480"/>
            <a:ext cx="1590840" cy="3017160"/>
          </a:xfrm>
          <a:prstGeom prst="roundRect">
            <a:avLst>
              <a:gd name="adj" fmla="val 4598"/>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75" name="Shape 19"/>
          <p:cNvSpPr/>
          <p:nvPr/>
        </p:nvSpPr>
        <p:spPr>
          <a:xfrm>
            <a:off x="7863840" y="1755720"/>
            <a:ext cx="456840" cy="456840"/>
          </a:xfrm>
          <a:prstGeom prst="ellipse">
            <a:avLst/>
          </a:prstGeom>
          <a:solidFill>
            <a:srgbClr val="FAEC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76" name="Image 4" descr="preencoded.png"/>
          <p:cNvPicPr/>
          <p:nvPr/>
        </p:nvPicPr>
        <p:blipFill>
          <a:blip r:embed="rId7"/>
          <a:stretch/>
        </p:blipFill>
        <p:spPr>
          <a:xfrm>
            <a:off x="7973640" y="1865520"/>
            <a:ext cx="237240" cy="237240"/>
          </a:xfrm>
          <a:prstGeom prst="rect">
            <a:avLst/>
          </a:prstGeom>
          <a:ln w="0">
            <a:noFill/>
          </a:ln>
        </p:spPr>
      </p:pic>
      <p:sp>
        <p:nvSpPr>
          <p:cNvPr id="777" name="Text 20"/>
          <p:cNvSpPr/>
          <p:nvPr/>
        </p:nvSpPr>
        <p:spPr>
          <a:xfrm>
            <a:off x="7369920" y="2331720"/>
            <a:ext cx="14443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1" strike="noStrike" spc="-1">
                <a:solidFill>
                  <a:srgbClr val="26215C"/>
                </a:solidFill>
                <a:latin typeface="Calibri"/>
                <a:ea typeface="Calibri"/>
              </a:rPr>
              <a:t>Analytics &amp; observability</a:t>
            </a:r>
            <a:endParaRPr lang="en-US" sz="1100" b="0" strike="noStrike" spc="-1">
              <a:solidFill>
                <a:srgbClr val="000000"/>
              </a:solidFill>
              <a:latin typeface="Arial"/>
            </a:endParaRPr>
          </a:p>
        </p:txBody>
      </p:sp>
      <p:sp>
        <p:nvSpPr>
          <p:cNvPr id="778" name="Text 21"/>
          <p:cNvSpPr/>
          <p:nvPr/>
        </p:nvSpPr>
        <p:spPr>
          <a:xfrm>
            <a:off x="7388280" y="2880360"/>
            <a:ext cx="140796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900" b="0" strike="noStrike" spc="-1">
                <a:solidFill>
                  <a:srgbClr val="433F5C"/>
                </a:solidFill>
                <a:latin typeface="Calibri"/>
                <a:ea typeface="Calibri"/>
              </a:rPr>
              <a:t>Cross-portfolio dashboards: cost, latency, quality, by sub-agent and model.</a:t>
            </a:r>
            <a:endParaRPr lang="en-US" sz="900" b="0" strike="noStrike" spc="-1">
              <a:solidFill>
                <a:srgbClr val="000000"/>
              </a:solidFill>
              <a:latin typeface="Arial"/>
            </a:endParaRPr>
          </a:p>
        </p:txBody>
      </p:sp>
      <p:sp>
        <p:nvSpPr>
          <p:cNvPr id="779" name="Text 22"/>
          <p:cNvSpPr/>
          <p:nvPr/>
        </p:nvSpPr>
        <p:spPr>
          <a:xfrm>
            <a:off x="457200" y="4709160"/>
            <a:ext cx="8229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i="1" strike="noStrike" spc="-1">
                <a:solidFill>
                  <a:srgbClr val="767290"/>
                </a:solidFill>
                <a:latin typeface="Calibri"/>
                <a:ea typeface="Calibri"/>
              </a:rPr>
              <a:t>Necessity: if each domain team builds its own version of these, the enterprise ends up with as many safety bars and audit formats as it has teams — unauditable at scale.</a:t>
            </a:r>
            <a:endParaRPr lang="en-US" sz="1050" b="0" strike="noStrike" spc="-1">
              <a:solidFill>
                <a:srgbClr val="000000"/>
              </a:solidFill>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0"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SIDECAR SERVICES · DEEP DIVE</a:t>
            </a:r>
            <a:endParaRPr lang="en-US" sz="1200" b="0" strike="noStrike" spc="-1">
              <a:solidFill>
                <a:srgbClr val="000000"/>
              </a:solidFill>
              <a:latin typeface="Arial"/>
            </a:endParaRPr>
          </a:p>
        </p:txBody>
      </p:sp>
      <p:sp>
        <p:nvSpPr>
          <p:cNvPr id="781"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Evals &amp; observability: three layers of metrics</a:t>
            </a:r>
            <a:endParaRPr lang="en-US" sz="2800" b="0" strike="noStrike" spc="-1">
              <a:solidFill>
                <a:srgbClr val="000000"/>
              </a:solidFill>
              <a:latin typeface="Arial"/>
            </a:endParaRPr>
          </a:p>
        </p:txBody>
      </p:sp>
      <p:sp>
        <p:nvSpPr>
          <p:cNvPr id="782" name="Shape 2"/>
          <p:cNvSpPr/>
          <p:nvPr/>
        </p:nvSpPr>
        <p:spPr>
          <a:xfrm>
            <a:off x="457200" y="1371600"/>
            <a:ext cx="2697120" cy="365400"/>
          </a:xfrm>
          <a:prstGeom prst="roundRect">
            <a:avLst>
              <a:gd name="adj" fmla="val 17500"/>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83" name="Text 3"/>
          <p:cNvSpPr/>
          <p:nvPr/>
        </p:nvSpPr>
        <p:spPr>
          <a:xfrm>
            <a:off x="457200" y="1371600"/>
            <a:ext cx="2697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26215C"/>
                </a:solidFill>
                <a:latin typeface="Calibri"/>
                <a:ea typeface="Calibri"/>
              </a:rPr>
              <a:t>Tool-call layer</a:t>
            </a:r>
            <a:endParaRPr lang="en-US" sz="1200" b="0" strike="noStrike" spc="-1">
              <a:solidFill>
                <a:srgbClr val="000000"/>
              </a:solidFill>
              <a:latin typeface="Arial"/>
            </a:endParaRPr>
          </a:p>
        </p:txBody>
      </p:sp>
      <p:sp>
        <p:nvSpPr>
          <p:cNvPr id="784" name="Shape 4"/>
          <p:cNvSpPr/>
          <p:nvPr/>
        </p:nvSpPr>
        <p:spPr>
          <a:xfrm>
            <a:off x="457200" y="1828800"/>
            <a:ext cx="2697120" cy="712800"/>
          </a:xfrm>
          <a:prstGeom prst="roundRect">
            <a:avLst>
              <a:gd name="adj" fmla="val 8974"/>
            </a:avLst>
          </a:prstGeom>
          <a:solidFill>
            <a:srgbClr val="F8F7F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85" name="Shape 5"/>
          <p:cNvSpPr/>
          <p:nvPr/>
        </p:nvSpPr>
        <p:spPr>
          <a:xfrm>
            <a:off x="567000" y="1947600"/>
            <a:ext cx="328680" cy="32868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86" name="Image 0" descr="preencoded.png"/>
          <p:cNvPicPr/>
          <p:nvPr/>
        </p:nvPicPr>
        <p:blipFill>
          <a:blip r:embed="rId3"/>
          <a:stretch/>
        </p:blipFill>
        <p:spPr>
          <a:xfrm>
            <a:off x="645840" y="2026800"/>
            <a:ext cx="170640" cy="170640"/>
          </a:xfrm>
          <a:prstGeom prst="rect">
            <a:avLst/>
          </a:prstGeom>
          <a:ln w="0">
            <a:noFill/>
          </a:ln>
        </p:spPr>
      </p:pic>
      <p:sp>
        <p:nvSpPr>
          <p:cNvPr id="787" name="Text 6"/>
          <p:cNvSpPr/>
          <p:nvPr/>
        </p:nvSpPr>
        <p:spPr>
          <a:xfrm>
            <a:off x="969120" y="1901880"/>
            <a:ext cx="20754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950" b="1" strike="noStrike" spc="-1">
                <a:solidFill>
                  <a:srgbClr val="26215C"/>
                </a:solidFill>
                <a:latin typeface="Calibri"/>
                <a:ea typeface="Calibri"/>
              </a:rPr>
              <a:t>Tool selection accuracy</a:t>
            </a:r>
            <a:endParaRPr lang="en-US" sz="950" b="0" strike="noStrike" spc="-1">
              <a:solidFill>
                <a:srgbClr val="000000"/>
              </a:solidFill>
              <a:latin typeface="Arial"/>
            </a:endParaRPr>
          </a:p>
        </p:txBody>
      </p:sp>
      <p:sp>
        <p:nvSpPr>
          <p:cNvPr id="788" name="Text 7"/>
          <p:cNvSpPr/>
          <p:nvPr/>
        </p:nvSpPr>
        <p:spPr>
          <a:xfrm>
            <a:off x="567000" y="2194560"/>
            <a:ext cx="2477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80" b="0" strike="noStrike" spc="-1">
                <a:solidFill>
                  <a:srgbClr val="433F5C"/>
                </a:solidFill>
                <a:latin typeface="Calibri"/>
                <a:ea typeface="Calibri"/>
              </a:rPr>
              <a:t>Did the agent call FAQAnswers, AccountHelper, or BalanceChecker correctly for the intent?</a:t>
            </a:r>
            <a:endParaRPr lang="en-US" sz="780" b="0" strike="noStrike" spc="-1">
              <a:solidFill>
                <a:srgbClr val="000000"/>
              </a:solidFill>
              <a:latin typeface="Arial"/>
            </a:endParaRPr>
          </a:p>
        </p:txBody>
      </p:sp>
      <p:sp>
        <p:nvSpPr>
          <p:cNvPr id="789" name="Shape 8"/>
          <p:cNvSpPr/>
          <p:nvPr/>
        </p:nvSpPr>
        <p:spPr>
          <a:xfrm>
            <a:off x="457200" y="2615040"/>
            <a:ext cx="2697120" cy="712800"/>
          </a:xfrm>
          <a:prstGeom prst="roundRect">
            <a:avLst>
              <a:gd name="adj" fmla="val 8974"/>
            </a:avLst>
          </a:prstGeom>
          <a:solidFill>
            <a:srgbClr val="F8F7F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90" name="Shape 9"/>
          <p:cNvSpPr/>
          <p:nvPr/>
        </p:nvSpPr>
        <p:spPr>
          <a:xfrm>
            <a:off x="567000" y="2734200"/>
            <a:ext cx="328680" cy="32868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91" name="Image 1" descr="preencoded.png"/>
          <p:cNvPicPr/>
          <p:nvPr/>
        </p:nvPicPr>
        <p:blipFill>
          <a:blip r:embed="rId4"/>
          <a:stretch/>
        </p:blipFill>
        <p:spPr>
          <a:xfrm>
            <a:off x="645840" y="2813040"/>
            <a:ext cx="170640" cy="170640"/>
          </a:xfrm>
          <a:prstGeom prst="rect">
            <a:avLst/>
          </a:prstGeom>
          <a:ln w="0">
            <a:noFill/>
          </a:ln>
        </p:spPr>
      </p:pic>
      <p:sp>
        <p:nvSpPr>
          <p:cNvPr id="792" name="Text 10"/>
          <p:cNvSpPr/>
          <p:nvPr/>
        </p:nvSpPr>
        <p:spPr>
          <a:xfrm>
            <a:off x="969120" y="2688480"/>
            <a:ext cx="20754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950" b="1" strike="noStrike" spc="-1">
                <a:solidFill>
                  <a:srgbClr val="26215C"/>
                </a:solidFill>
                <a:latin typeface="Calibri"/>
                <a:ea typeface="Calibri"/>
              </a:rPr>
              <a:t>Parameter correctness</a:t>
            </a:r>
            <a:endParaRPr lang="en-US" sz="950" b="0" strike="noStrike" spc="-1">
              <a:solidFill>
                <a:srgbClr val="000000"/>
              </a:solidFill>
              <a:latin typeface="Arial"/>
            </a:endParaRPr>
          </a:p>
        </p:txBody>
      </p:sp>
      <p:sp>
        <p:nvSpPr>
          <p:cNvPr id="793" name="Text 11"/>
          <p:cNvSpPr/>
          <p:nvPr/>
        </p:nvSpPr>
        <p:spPr>
          <a:xfrm>
            <a:off x="567000" y="2980800"/>
            <a:ext cx="2477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80" b="0" strike="noStrike" spc="-1">
                <a:solidFill>
                  <a:srgbClr val="433F5C"/>
                </a:solidFill>
                <a:latin typeface="Calibri"/>
                <a:ea typeface="Calibri"/>
              </a:rPr>
              <a:t>Were inputs (e.g. account_id) valid and complete before the call fired?</a:t>
            </a:r>
            <a:endParaRPr lang="en-US" sz="780" b="0" strike="noStrike" spc="-1">
              <a:solidFill>
                <a:srgbClr val="000000"/>
              </a:solidFill>
              <a:latin typeface="Arial"/>
            </a:endParaRPr>
          </a:p>
        </p:txBody>
      </p:sp>
      <p:sp>
        <p:nvSpPr>
          <p:cNvPr id="794" name="Shape 12"/>
          <p:cNvSpPr/>
          <p:nvPr/>
        </p:nvSpPr>
        <p:spPr>
          <a:xfrm>
            <a:off x="457200" y="3401640"/>
            <a:ext cx="2697120" cy="712800"/>
          </a:xfrm>
          <a:prstGeom prst="roundRect">
            <a:avLst>
              <a:gd name="adj" fmla="val 8974"/>
            </a:avLst>
          </a:prstGeom>
          <a:solidFill>
            <a:srgbClr val="F8F7F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95" name="Shape 13"/>
          <p:cNvSpPr/>
          <p:nvPr/>
        </p:nvSpPr>
        <p:spPr>
          <a:xfrm>
            <a:off x="567000" y="3520440"/>
            <a:ext cx="328680" cy="32868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796" name="Image 2" descr="preencoded.png"/>
          <p:cNvPicPr/>
          <p:nvPr/>
        </p:nvPicPr>
        <p:blipFill>
          <a:blip r:embed="rId5"/>
          <a:stretch/>
        </p:blipFill>
        <p:spPr>
          <a:xfrm>
            <a:off x="645840" y="3599280"/>
            <a:ext cx="170640" cy="170640"/>
          </a:xfrm>
          <a:prstGeom prst="rect">
            <a:avLst/>
          </a:prstGeom>
          <a:ln w="0">
            <a:noFill/>
          </a:ln>
        </p:spPr>
      </p:pic>
      <p:sp>
        <p:nvSpPr>
          <p:cNvPr id="797" name="Text 14"/>
          <p:cNvSpPr/>
          <p:nvPr/>
        </p:nvSpPr>
        <p:spPr>
          <a:xfrm>
            <a:off x="969120" y="3474720"/>
            <a:ext cx="20754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950" b="1" strike="noStrike" spc="-1">
                <a:solidFill>
                  <a:srgbClr val="26215C"/>
                </a:solidFill>
                <a:latin typeface="Calibri"/>
                <a:ea typeface="Calibri"/>
              </a:rPr>
              <a:t>Tool latency &amp; error rate</a:t>
            </a:r>
            <a:endParaRPr lang="en-US" sz="950" b="0" strike="noStrike" spc="-1">
              <a:solidFill>
                <a:srgbClr val="000000"/>
              </a:solidFill>
              <a:latin typeface="Arial"/>
            </a:endParaRPr>
          </a:p>
        </p:txBody>
      </p:sp>
      <p:sp>
        <p:nvSpPr>
          <p:cNvPr id="798" name="Text 15"/>
          <p:cNvSpPr/>
          <p:nvPr/>
        </p:nvSpPr>
        <p:spPr>
          <a:xfrm>
            <a:off x="567000" y="3767400"/>
            <a:ext cx="2477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80" b="0" strike="noStrike" spc="-1">
                <a:solidFill>
                  <a:srgbClr val="433F5C"/>
                </a:solidFill>
                <a:latin typeface="Calibri"/>
                <a:ea typeface="Calibri"/>
              </a:rPr>
              <a:t>Per-tool p50/p95 latency and failure rate — BalanceChecker is our highest-volume tool today.</a:t>
            </a:r>
            <a:endParaRPr lang="en-US" sz="780" b="0" strike="noStrike" spc="-1">
              <a:solidFill>
                <a:srgbClr val="000000"/>
              </a:solidFill>
              <a:latin typeface="Arial"/>
            </a:endParaRPr>
          </a:p>
        </p:txBody>
      </p:sp>
      <p:sp>
        <p:nvSpPr>
          <p:cNvPr id="799" name="Shape 16"/>
          <p:cNvSpPr/>
          <p:nvPr/>
        </p:nvSpPr>
        <p:spPr>
          <a:xfrm>
            <a:off x="3264480" y="1371600"/>
            <a:ext cx="2697120" cy="365400"/>
          </a:xfrm>
          <a:prstGeom prst="roundRect">
            <a:avLst>
              <a:gd name="adj" fmla="val 17500"/>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00" name="Text 17"/>
          <p:cNvSpPr/>
          <p:nvPr/>
        </p:nvSpPr>
        <p:spPr>
          <a:xfrm>
            <a:off x="3264480" y="1371600"/>
            <a:ext cx="2697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0F6E56"/>
                </a:solidFill>
                <a:latin typeface="Calibri"/>
                <a:ea typeface="Calibri"/>
              </a:rPr>
              <a:t>Trajectory layer</a:t>
            </a:r>
            <a:endParaRPr lang="en-US" sz="1200" b="0" strike="noStrike" spc="-1">
              <a:solidFill>
                <a:srgbClr val="000000"/>
              </a:solidFill>
              <a:latin typeface="Arial"/>
            </a:endParaRPr>
          </a:p>
        </p:txBody>
      </p:sp>
      <p:sp>
        <p:nvSpPr>
          <p:cNvPr id="801" name="Shape 18"/>
          <p:cNvSpPr/>
          <p:nvPr/>
        </p:nvSpPr>
        <p:spPr>
          <a:xfrm>
            <a:off x="3264480" y="1828800"/>
            <a:ext cx="2697120" cy="712800"/>
          </a:xfrm>
          <a:prstGeom prst="roundRect">
            <a:avLst>
              <a:gd name="adj" fmla="val 8974"/>
            </a:avLst>
          </a:prstGeom>
          <a:solidFill>
            <a:srgbClr val="F8F7F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02" name="Shape 19"/>
          <p:cNvSpPr/>
          <p:nvPr/>
        </p:nvSpPr>
        <p:spPr>
          <a:xfrm>
            <a:off x="3374280" y="1947600"/>
            <a:ext cx="328680" cy="32868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03" name="Image 3" descr="preencoded.png"/>
          <p:cNvPicPr/>
          <p:nvPr/>
        </p:nvPicPr>
        <p:blipFill>
          <a:blip r:embed="rId6"/>
          <a:stretch/>
        </p:blipFill>
        <p:spPr>
          <a:xfrm>
            <a:off x="3453120" y="2026800"/>
            <a:ext cx="170640" cy="170640"/>
          </a:xfrm>
          <a:prstGeom prst="rect">
            <a:avLst/>
          </a:prstGeom>
          <a:ln w="0">
            <a:noFill/>
          </a:ln>
        </p:spPr>
      </p:pic>
      <p:sp>
        <p:nvSpPr>
          <p:cNvPr id="804" name="Text 20"/>
          <p:cNvSpPr/>
          <p:nvPr/>
        </p:nvSpPr>
        <p:spPr>
          <a:xfrm>
            <a:off x="3776400" y="1901880"/>
            <a:ext cx="20754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950" b="1" strike="noStrike" spc="-1">
                <a:solidFill>
                  <a:srgbClr val="26215C"/>
                </a:solidFill>
                <a:latin typeface="Calibri"/>
                <a:ea typeface="Calibri"/>
              </a:rPr>
              <a:t>Plan quality</a:t>
            </a:r>
            <a:endParaRPr lang="en-US" sz="950" b="0" strike="noStrike" spc="-1">
              <a:solidFill>
                <a:srgbClr val="000000"/>
              </a:solidFill>
              <a:latin typeface="Arial"/>
            </a:endParaRPr>
          </a:p>
        </p:txBody>
      </p:sp>
      <p:sp>
        <p:nvSpPr>
          <p:cNvPr id="805" name="Text 21"/>
          <p:cNvSpPr/>
          <p:nvPr/>
        </p:nvSpPr>
        <p:spPr>
          <a:xfrm>
            <a:off x="3374280" y="2194560"/>
            <a:ext cx="2477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80" b="0" strike="noStrike" spc="-1">
                <a:solidFill>
                  <a:srgbClr val="433F5C"/>
                </a:solidFill>
                <a:latin typeface="Calibri"/>
                <a:ea typeface="Calibri"/>
              </a:rPr>
              <a:t>Was the route through orchestrator → sub-agent(s) sensible before any tool was called?</a:t>
            </a:r>
            <a:endParaRPr lang="en-US" sz="780" b="0" strike="noStrike" spc="-1">
              <a:solidFill>
                <a:srgbClr val="000000"/>
              </a:solidFill>
              <a:latin typeface="Arial"/>
            </a:endParaRPr>
          </a:p>
        </p:txBody>
      </p:sp>
      <p:sp>
        <p:nvSpPr>
          <p:cNvPr id="806" name="Shape 22"/>
          <p:cNvSpPr/>
          <p:nvPr/>
        </p:nvSpPr>
        <p:spPr>
          <a:xfrm>
            <a:off x="3264480" y="2615040"/>
            <a:ext cx="2697120" cy="712800"/>
          </a:xfrm>
          <a:prstGeom prst="roundRect">
            <a:avLst>
              <a:gd name="adj" fmla="val 8974"/>
            </a:avLst>
          </a:prstGeom>
          <a:solidFill>
            <a:srgbClr val="F8F7F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07" name="Shape 23"/>
          <p:cNvSpPr/>
          <p:nvPr/>
        </p:nvSpPr>
        <p:spPr>
          <a:xfrm>
            <a:off x="3374280" y="2734200"/>
            <a:ext cx="328680" cy="32868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08" name="Image 4" descr="preencoded.png"/>
          <p:cNvPicPr/>
          <p:nvPr/>
        </p:nvPicPr>
        <p:blipFill>
          <a:blip r:embed="rId7"/>
          <a:stretch/>
        </p:blipFill>
        <p:spPr>
          <a:xfrm>
            <a:off x="3453120" y="2813040"/>
            <a:ext cx="170640" cy="170640"/>
          </a:xfrm>
          <a:prstGeom prst="rect">
            <a:avLst/>
          </a:prstGeom>
          <a:ln w="0">
            <a:noFill/>
          </a:ln>
        </p:spPr>
      </p:pic>
      <p:sp>
        <p:nvSpPr>
          <p:cNvPr id="809" name="Text 24"/>
          <p:cNvSpPr/>
          <p:nvPr/>
        </p:nvSpPr>
        <p:spPr>
          <a:xfrm>
            <a:off x="3776400" y="2688480"/>
            <a:ext cx="20754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950" b="1" strike="noStrike" spc="-1">
                <a:solidFill>
                  <a:srgbClr val="26215C"/>
                </a:solidFill>
                <a:latin typeface="Calibri"/>
                <a:ea typeface="Calibri"/>
              </a:rPr>
              <a:t>Step efficiency / loop detection</a:t>
            </a:r>
            <a:endParaRPr lang="en-US" sz="950" b="0" strike="noStrike" spc="-1">
              <a:solidFill>
                <a:srgbClr val="000000"/>
              </a:solidFill>
              <a:latin typeface="Arial"/>
            </a:endParaRPr>
          </a:p>
        </p:txBody>
      </p:sp>
      <p:sp>
        <p:nvSpPr>
          <p:cNvPr id="810" name="Text 25"/>
          <p:cNvSpPr/>
          <p:nvPr/>
        </p:nvSpPr>
        <p:spPr>
          <a:xfrm>
            <a:off x="3374280" y="2980800"/>
            <a:ext cx="2477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80" b="0" strike="noStrike" spc="-1">
                <a:solidFill>
                  <a:srgbClr val="433F5C"/>
                </a:solidFill>
                <a:latin typeface="Calibri"/>
                <a:ea typeface="Calibri"/>
              </a:rPr>
              <a:t>Flags recursive hand-offs or redundant tool calls within one trajectory.</a:t>
            </a:r>
            <a:endParaRPr lang="en-US" sz="780" b="0" strike="noStrike" spc="-1">
              <a:solidFill>
                <a:srgbClr val="000000"/>
              </a:solidFill>
              <a:latin typeface="Arial"/>
            </a:endParaRPr>
          </a:p>
        </p:txBody>
      </p:sp>
      <p:sp>
        <p:nvSpPr>
          <p:cNvPr id="811" name="Shape 26"/>
          <p:cNvSpPr/>
          <p:nvPr/>
        </p:nvSpPr>
        <p:spPr>
          <a:xfrm>
            <a:off x="3264480" y="3401640"/>
            <a:ext cx="2697120" cy="712800"/>
          </a:xfrm>
          <a:prstGeom prst="roundRect">
            <a:avLst>
              <a:gd name="adj" fmla="val 8974"/>
            </a:avLst>
          </a:prstGeom>
          <a:solidFill>
            <a:srgbClr val="F8F7F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12" name="Shape 27"/>
          <p:cNvSpPr/>
          <p:nvPr/>
        </p:nvSpPr>
        <p:spPr>
          <a:xfrm>
            <a:off x="3374280" y="3520440"/>
            <a:ext cx="328680" cy="32868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13" name="Image 5" descr="preencoded.png"/>
          <p:cNvPicPr/>
          <p:nvPr/>
        </p:nvPicPr>
        <p:blipFill>
          <a:blip r:embed="rId8"/>
          <a:stretch/>
        </p:blipFill>
        <p:spPr>
          <a:xfrm>
            <a:off x="3453120" y="3599280"/>
            <a:ext cx="170640" cy="170640"/>
          </a:xfrm>
          <a:prstGeom prst="rect">
            <a:avLst/>
          </a:prstGeom>
          <a:ln w="0">
            <a:noFill/>
          </a:ln>
        </p:spPr>
      </p:pic>
      <p:sp>
        <p:nvSpPr>
          <p:cNvPr id="814" name="Text 28"/>
          <p:cNvSpPr/>
          <p:nvPr/>
        </p:nvSpPr>
        <p:spPr>
          <a:xfrm>
            <a:off x="3776400" y="3474720"/>
            <a:ext cx="20754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950" b="1" strike="noStrike" spc="-1">
                <a:solidFill>
                  <a:srgbClr val="26215C"/>
                </a:solidFill>
                <a:latin typeface="Calibri"/>
                <a:ea typeface="Calibri"/>
              </a:rPr>
              <a:t>Hand-off correctness</a:t>
            </a:r>
            <a:endParaRPr lang="en-US" sz="950" b="0" strike="noStrike" spc="-1">
              <a:solidFill>
                <a:srgbClr val="000000"/>
              </a:solidFill>
              <a:latin typeface="Arial"/>
            </a:endParaRPr>
          </a:p>
        </p:txBody>
      </p:sp>
      <p:sp>
        <p:nvSpPr>
          <p:cNvPr id="815" name="Text 29"/>
          <p:cNvSpPr/>
          <p:nvPr/>
        </p:nvSpPr>
        <p:spPr>
          <a:xfrm>
            <a:off x="3374280" y="3767400"/>
            <a:ext cx="2477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80" b="0" strike="noStrike" spc="-1">
                <a:solidFill>
                  <a:srgbClr val="433F5C"/>
                </a:solidFill>
                <a:latin typeface="Calibri"/>
                <a:ea typeface="Calibri"/>
              </a:rPr>
              <a:t>Did routing match the actual sub-intents (e.g. dispute → Transactions, application → Card)?</a:t>
            </a:r>
            <a:endParaRPr lang="en-US" sz="780" b="0" strike="noStrike" spc="-1">
              <a:solidFill>
                <a:srgbClr val="000000"/>
              </a:solidFill>
              <a:latin typeface="Arial"/>
            </a:endParaRPr>
          </a:p>
        </p:txBody>
      </p:sp>
      <p:sp>
        <p:nvSpPr>
          <p:cNvPr id="816" name="Shape 30"/>
          <p:cNvSpPr/>
          <p:nvPr/>
        </p:nvSpPr>
        <p:spPr>
          <a:xfrm>
            <a:off x="6071760" y="1371600"/>
            <a:ext cx="2697120" cy="365400"/>
          </a:xfrm>
          <a:prstGeom prst="roundRect">
            <a:avLst>
              <a:gd name="adj" fmla="val 17500"/>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17" name="Text 31"/>
          <p:cNvSpPr/>
          <p:nvPr/>
        </p:nvSpPr>
        <p:spPr>
          <a:xfrm>
            <a:off x="6071760" y="1371600"/>
            <a:ext cx="2697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854F0B"/>
                </a:solidFill>
                <a:latin typeface="Calibri"/>
                <a:ea typeface="Calibri"/>
              </a:rPr>
              <a:t>Outcome layer</a:t>
            </a:r>
            <a:endParaRPr lang="en-US" sz="1200" b="0" strike="noStrike" spc="-1">
              <a:solidFill>
                <a:srgbClr val="000000"/>
              </a:solidFill>
              <a:latin typeface="Arial"/>
            </a:endParaRPr>
          </a:p>
        </p:txBody>
      </p:sp>
      <p:sp>
        <p:nvSpPr>
          <p:cNvPr id="818" name="Shape 32"/>
          <p:cNvSpPr/>
          <p:nvPr/>
        </p:nvSpPr>
        <p:spPr>
          <a:xfrm>
            <a:off x="6071760" y="1828800"/>
            <a:ext cx="2697120" cy="712800"/>
          </a:xfrm>
          <a:prstGeom prst="roundRect">
            <a:avLst>
              <a:gd name="adj" fmla="val 8974"/>
            </a:avLst>
          </a:prstGeom>
          <a:solidFill>
            <a:srgbClr val="F8F7F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19" name="Shape 33"/>
          <p:cNvSpPr/>
          <p:nvPr/>
        </p:nvSpPr>
        <p:spPr>
          <a:xfrm>
            <a:off x="6181200" y="1947600"/>
            <a:ext cx="328680" cy="32868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20" name="Image 6" descr="preencoded.png"/>
          <p:cNvPicPr/>
          <p:nvPr/>
        </p:nvPicPr>
        <p:blipFill>
          <a:blip r:embed="rId9"/>
          <a:stretch/>
        </p:blipFill>
        <p:spPr>
          <a:xfrm>
            <a:off x="6260400" y="2026800"/>
            <a:ext cx="170640" cy="170640"/>
          </a:xfrm>
          <a:prstGeom prst="rect">
            <a:avLst/>
          </a:prstGeom>
          <a:ln w="0">
            <a:noFill/>
          </a:ln>
        </p:spPr>
      </p:pic>
      <p:sp>
        <p:nvSpPr>
          <p:cNvPr id="821" name="Text 34"/>
          <p:cNvSpPr/>
          <p:nvPr/>
        </p:nvSpPr>
        <p:spPr>
          <a:xfrm>
            <a:off x="6583680" y="1901880"/>
            <a:ext cx="20754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950" b="1" strike="noStrike" spc="-1">
                <a:solidFill>
                  <a:srgbClr val="26215C"/>
                </a:solidFill>
                <a:latin typeface="Calibri"/>
                <a:ea typeface="Calibri"/>
              </a:rPr>
              <a:t>Task completion rate</a:t>
            </a:r>
            <a:endParaRPr lang="en-US" sz="950" b="0" strike="noStrike" spc="-1">
              <a:solidFill>
                <a:srgbClr val="000000"/>
              </a:solidFill>
              <a:latin typeface="Arial"/>
            </a:endParaRPr>
          </a:p>
        </p:txBody>
      </p:sp>
      <p:sp>
        <p:nvSpPr>
          <p:cNvPr id="822" name="Text 35"/>
          <p:cNvSpPr/>
          <p:nvPr/>
        </p:nvSpPr>
        <p:spPr>
          <a:xfrm>
            <a:off x="6181200" y="2194560"/>
            <a:ext cx="2477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80" b="0" strike="noStrike" spc="-1">
                <a:solidFill>
                  <a:srgbClr val="433F5C"/>
                </a:solidFill>
                <a:latin typeface="Calibri"/>
                <a:ea typeface="Calibri"/>
              </a:rPr>
              <a:t>Did the full run actually resolve what the user asked, end to end?</a:t>
            </a:r>
            <a:endParaRPr lang="en-US" sz="780" b="0" strike="noStrike" spc="-1">
              <a:solidFill>
                <a:srgbClr val="000000"/>
              </a:solidFill>
              <a:latin typeface="Arial"/>
            </a:endParaRPr>
          </a:p>
        </p:txBody>
      </p:sp>
      <p:sp>
        <p:nvSpPr>
          <p:cNvPr id="823" name="Shape 36"/>
          <p:cNvSpPr/>
          <p:nvPr/>
        </p:nvSpPr>
        <p:spPr>
          <a:xfrm>
            <a:off x="6071760" y="2615040"/>
            <a:ext cx="2697120" cy="712800"/>
          </a:xfrm>
          <a:prstGeom prst="roundRect">
            <a:avLst>
              <a:gd name="adj" fmla="val 8974"/>
            </a:avLst>
          </a:prstGeom>
          <a:solidFill>
            <a:srgbClr val="F8F7F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24" name="Shape 37"/>
          <p:cNvSpPr/>
          <p:nvPr/>
        </p:nvSpPr>
        <p:spPr>
          <a:xfrm>
            <a:off x="6181200" y="2734200"/>
            <a:ext cx="328680" cy="32868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25" name="Image 7" descr="preencoded.png"/>
          <p:cNvPicPr/>
          <p:nvPr/>
        </p:nvPicPr>
        <p:blipFill>
          <a:blip r:embed="rId10"/>
          <a:stretch/>
        </p:blipFill>
        <p:spPr>
          <a:xfrm>
            <a:off x="6260400" y="2813040"/>
            <a:ext cx="170640" cy="170640"/>
          </a:xfrm>
          <a:prstGeom prst="rect">
            <a:avLst/>
          </a:prstGeom>
          <a:ln w="0">
            <a:noFill/>
          </a:ln>
        </p:spPr>
      </p:pic>
      <p:sp>
        <p:nvSpPr>
          <p:cNvPr id="826" name="Text 38"/>
          <p:cNvSpPr/>
          <p:nvPr/>
        </p:nvSpPr>
        <p:spPr>
          <a:xfrm>
            <a:off x="6583680" y="2688480"/>
            <a:ext cx="20754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950" b="1" strike="noStrike" spc="-1">
                <a:solidFill>
                  <a:srgbClr val="26215C"/>
                </a:solidFill>
                <a:latin typeface="Calibri"/>
                <a:ea typeface="Calibri"/>
              </a:rPr>
              <a:t>Intent resolution score</a:t>
            </a:r>
            <a:endParaRPr lang="en-US" sz="950" b="0" strike="noStrike" spc="-1">
              <a:solidFill>
                <a:srgbClr val="000000"/>
              </a:solidFill>
              <a:latin typeface="Arial"/>
            </a:endParaRPr>
          </a:p>
        </p:txBody>
      </p:sp>
      <p:sp>
        <p:nvSpPr>
          <p:cNvPr id="827" name="Text 39"/>
          <p:cNvSpPr/>
          <p:nvPr/>
        </p:nvSpPr>
        <p:spPr>
          <a:xfrm>
            <a:off x="6181200" y="2980800"/>
            <a:ext cx="2477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80" b="0" strike="noStrike" spc="-1">
                <a:solidFill>
                  <a:srgbClr val="433F5C"/>
                </a:solidFill>
                <a:latin typeface="Calibri"/>
                <a:ea typeface="Calibri"/>
              </a:rPr>
              <a:t>Was the user's true intent correctly resolved, not just a plausible-sounding reply?</a:t>
            </a:r>
            <a:endParaRPr lang="en-US" sz="780" b="0" strike="noStrike" spc="-1">
              <a:solidFill>
                <a:srgbClr val="000000"/>
              </a:solidFill>
              <a:latin typeface="Arial"/>
            </a:endParaRPr>
          </a:p>
        </p:txBody>
      </p:sp>
      <p:sp>
        <p:nvSpPr>
          <p:cNvPr id="828" name="Shape 40"/>
          <p:cNvSpPr/>
          <p:nvPr/>
        </p:nvSpPr>
        <p:spPr>
          <a:xfrm>
            <a:off x="6071760" y="3401640"/>
            <a:ext cx="2697120" cy="712800"/>
          </a:xfrm>
          <a:prstGeom prst="roundRect">
            <a:avLst>
              <a:gd name="adj" fmla="val 8974"/>
            </a:avLst>
          </a:prstGeom>
          <a:solidFill>
            <a:srgbClr val="F8F7F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29" name="Shape 41"/>
          <p:cNvSpPr/>
          <p:nvPr/>
        </p:nvSpPr>
        <p:spPr>
          <a:xfrm>
            <a:off x="6181200" y="3520440"/>
            <a:ext cx="328680" cy="32868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30" name="Image 8" descr="preencoded.png"/>
          <p:cNvPicPr/>
          <p:nvPr/>
        </p:nvPicPr>
        <p:blipFill>
          <a:blip r:embed="rId11"/>
          <a:stretch/>
        </p:blipFill>
        <p:spPr>
          <a:xfrm>
            <a:off x="6260400" y="3599280"/>
            <a:ext cx="170640" cy="170640"/>
          </a:xfrm>
          <a:prstGeom prst="rect">
            <a:avLst/>
          </a:prstGeom>
          <a:ln w="0">
            <a:noFill/>
          </a:ln>
        </p:spPr>
      </p:pic>
      <p:sp>
        <p:nvSpPr>
          <p:cNvPr id="831" name="Text 42"/>
          <p:cNvSpPr/>
          <p:nvPr/>
        </p:nvSpPr>
        <p:spPr>
          <a:xfrm>
            <a:off x="6583680" y="3474720"/>
            <a:ext cx="20754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950" b="1" strike="noStrike" spc="-1">
                <a:solidFill>
                  <a:srgbClr val="26215C"/>
                </a:solidFill>
                <a:latin typeface="Calibri"/>
                <a:ea typeface="Calibri"/>
              </a:rPr>
              <a:t>Hallucination / faithfulness</a:t>
            </a:r>
            <a:endParaRPr lang="en-US" sz="950" b="0" strike="noStrike" spc="-1">
              <a:solidFill>
                <a:srgbClr val="000000"/>
              </a:solidFill>
              <a:latin typeface="Arial"/>
            </a:endParaRPr>
          </a:p>
        </p:txBody>
      </p:sp>
      <p:sp>
        <p:nvSpPr>
          <p:cNvPr id="832" name="Text 43"/>
          <p:cNvSpPr/>
          <p:nvPr/>
        </p:nvSpPr>
        <p:spPr>
          <a:xfrm>
            <a:off x="6181200" y="3767400"/>
            <a:ext cx="2477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80" b="0" strike="noStrike" spc="-1">
                <a:solidFill>
                  <a:srgbClr val="433F5C"/>
                </a:solidFill>
                <a:latin typeface="Calibri"/>
                <a:ea typeface="Calibri"/>
              </a:rPr>
              <a:t>Does the final answer stay grounded in tool outputs and policy, not invented facts?</a:t>
            </a:r>
            <a:endParaRPr lang="en-US" sz="780" b="0" strike="noStrike" spc="-1">
              <a:solidFill>
                <a:srgbClr val="000000"/>
              </a:solidFill>
              <a:latin typeface="Arial"/>
            </a:endParaRPr>
          </a:p>
        </p:txBody>
      </p:sp>
      <p:sp>
        <p:nvSpPr>
          <p:cNvPr id="833" name="Text 44"/>
          <p:cNvSpPr/>
          <p:nvPr/>
        </p:nvSpPr>
        <p:spPr>
          <a:xfrm>
            <a:off x="457200" y="425196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5000"/>
              </a:lnSpc>
              <a:tabLst>
                <a:tab pos="0" algn="l"/>
              </a:tabLst>
            </a:pPr>
            <a:r>
              <a:rPr lang="en-US" sz="1000" b="0" i="1" strike="noStrike" spc="-1">
                <a:solidFill>
                  <a:srgbClr val="767290"/>
                </a:solidFill>
                <a:latin typeface="Calibri"/>
                <a:ea typeface="Calibri"/>
              </a:rPr>
              <a:t>Tool-level metrics alone miss the point: an agent can call every tool correctly and still fail the user's actual task — trajectory and outcome metrics catch that gap.</a:t>
            </a:r>
            <a:endParaRPr lang="en-US" sz="1000" b="0" strike="noStrike" spc="-1">
              <a:solidFill>
                <a:srgbClr val="000000"/>
              </a:solidFill>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4"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INDUSTRY BEST PRACTICES</a:t>
            </a:r>
            <a:endParaRPr lang="en-US" sz="1200" b="0" strike="noStrike" spc="-1">
              <a:solidFill>
                <a:srgbClr val="000000"/>
              </a:solidFill>
              <a:latin typeface="Arial"/>
            </a:endParaRPr>
          </a:p>
        </p:txBody>
      </p:sp>
      <p:sp>
        <p:nvSpPr>
          <p:cNvPr id="835"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What the platform holds itself to</a:t>
            </a:r>
            <a:endParaRPr lang="en-US" sz="2800" b="0" strike="noStrike" spc="-1">
              <a:solidFill>
                <a:srgbClr val="000000"/>
              </a:solidFill>
              <a:latin typeface="Arial"/>
            </a:endParaRPr>
          </a:p>
        </p:txBody>
      </p:sp>
      <p:sp>
        <p:nvSpPr>
          <p:cNvPr id="836" name="Shape 2"/>
          <p:cNvSpPr/>
          <p:nvPr/>
        </p:nvSpPr>
        <p:spPr>
          <a:xfrm>
            <a:off x="457200" y="1508760"/>
            <a:ext cx="4023000" cy="3108600"/>
          </a:xfrm>
          <a:prstGeom prst="roundRect">
            <a:avLst>
              <a:gd name="adj" fmla="val 2941"/>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37" name="Shape 3"/>
          <p:cNvSpPr/>
          <p:nvPr/>
        </p:nvSpPr>
        <p:spPr>
          <a:xfrm>
            <a:off x="731520" y="1737360"/>
            <a:ext cx="548280" cy="54828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38" name="Image 0" descr="preencoded.png"/>
          <p:cNvPicPr/>
          <p:nvPr/>
        </p:nvPicPr>
        <p:blipFill>
          <a:blip r:embed="rId3"/>
          <a:stretch/>
        </p:blipFill>
        <p:spPr>
          <a:xfrm>
            <a:off x="863280" y="1869120"/>
            <a:ext cx="284760" cy="284760"/>
          </a:xfrm>
          <a:prstGeom prst="rect">
            <a:avLst/>
          </a:prstGeom>
          <a:ln w="0">
            <a:noFill/>
          </a:ln>
        </p:spPr>
      </p:pic>
      <p:sp>
        <p:nvSpPr>
          <p:cNvPr id="839" name="Text 4"/>
          <p:cNvSpPr/>
          <p:nvPr/>
        </p:nvSpPr>
        <p:spPr>
          <a:xfrm>
            <a:off x="1417320" y="1737360"/>
            <a:ext cx="27428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26215C"/>
                </a:solidFill>
                <a:latin typeface="Cambria"/>
                <a:ea typeface="Cambria"/>
              </a:rPr>
              <a:t>Architecture</a:t>
            </a:r>
            <a:endParaRPr lang="en-US" sz="1600" b="0" strike="noStrike" spc="-1">
              <a:solidFill>
                <a:srgbClr val="000000"/>
              </a:solidFill>
              <a:latin typeface="Arial"/>
            </a:endParaRPr>
          </a:p>
        </p:txBody>
      </p:sp>
      <p:sp>
        <p:nvSpPr>
          <p:cNvPr id="840" name="Text 5"/>
          <p:cNvSpPr/>
          <p:nvPr/>
        </p:nvSpPr>
        <p:spPr>
          <a:xfrm>
            <a:off x="731520" y="2423160"/>
            <a:ext cx="347436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0000"/>
              </a:lnSpc>
              <a:buClr>
                <a:srgbClr val="433F5C"/>
              </a:buClr>
              <a:buFont typeface="Symbol" charset="2"/>
              <a:buChar char=""/>
            </a:pPr>
            <a:r>
              <a:rPr lang="en-US" sz="1150" b="0" strike="noStrike" spc="-1">
                <a:solidFill>
                  <a:srgbClr val="433F5C"/>
                </a:solidFill>
                <a:latin typeface="Calibri"/>
                <a:ea typeface="Calibri"/>
              </a:rPr>
              <a:t>Treat agents as distributed systems, not prompts</a:t>
            </a:r>
            <a:endParaRPr lang="en-US" sz="1150" b="0" strike="noStrike" spc="-1">
              <a:solidFill>
                <a:srgbClr val="000000"/>
              </a:solidFill>
              <a:latin typeface="Arial"/>
            </a:endParaRPr>
          </a:p>
        </p:txBody>
      </p:sp>
      <p:sp>
        <p:nvSpPr>
          <p:cNvPr id="841" name="Text 6"/>
          <p:cNvSpPr/>
          <p:nvPr/>
        </p:nvSpPr>
        <p:spPr>
          <a:xfrm>
            <a:off x="731520" y="3136320"/>
            <a:ext cx="347436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0000"/>
              </a:lnSpc>
              <a:buClr>
                <a:srgbClr val="433F5C"/>
              </a:buClr>
              <a:buFont typeface="Symbol" charset="2"/>
              <a:buChar char=""/>
            </a:pPr>
            <a:r>
              <a:rPr lang="en-US" sz="1150" b="0" strike="noStrike" spc="-1">
                <a:solidFill>
                  <a:srgbClr val="433F5C"/>
                </a:solidFill>
                <a:latin typeface="Calibri"/>
                <a:ea typeface="Calibri"/>
              </a:rPr>
              <a:t>Separate orchestration, tools, memory, policy, observability layers</a:t>
            </a:r>
            <a:endParaRPr lang="en-US" sz="1150" b="0" strike="noStrike" spc="-1">
              <a:solidFill>
                <a:srgbClr val="000000"/>
              </a:solidFill>
              <a:latin typeface="Arial"/>
            </a:endParaRPr>
          </a:p>
        </p:txBody>
      </p:sp>
      <p:sp>
        <p:nvSpPr>
          <p:cNvPr id="842" name="Text 7"/>
          <p:cNvSpPr/>
          <p:nvPr/>
        </p:nvSpPr>
        <p:spPr>
          <a:xfrm>
            <a:off x="731520" y="3849480"/>
            <a:ext cx="347436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0000"/>
              </a:lnSpc>
              <a:buClr>
                <a:srgbClr val="433F5C"/>
              </a:buClr>
              <a:buFont typeface="Symbol" charset="2"/>
              <a:buChar char=""/>
            </a:pPr>
            <a:r>
              <a:rPr lang="en-US" sz="1150" b="0" strike="noStrike" spc="-1">
                <a:solidFill>
                  <a:srgbClr val="433F5C"/>
                </a:solidFill>
                <a:latin typeface="Calibri"/>
                <a:ea typeface="Calibri"/>
              </a:rPr>
              <a:t>Default to least-privilege tool access</a:t>
            </a:r>
            <a:endParaRPr lang="en-US" sz="1150" b="0" strike="noStrike" spc="-1">
              <a:solidFill>
                <a:srgbClr val="000000"/>
              </a:solidFill>
              <a:latin typeface="Arial"/>
            </a:endParaRPr>
          </a:p>
        </p:txBody>
      </p:sp>
      <p:sp>
        <p:nvSpPr>
          <p:cNvPr id="843" name="Shape 8"/>
          <p:cNvSpPr/>
          <p:nvPr/>
        </p:nvSpPr>
        <p:spPr>
          <a:xfrm>
            <a:off x="4663440" y="1508760"/>
            <a:ext cx="4023000" cy="3108600"/>
          </a:xfrm>
          <a:prstGeom prst="roundRect">
            <a:avLst>
              <a:gd name="adj" fmla="val 2941"/>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44" name="Shape 9"/>
          <p:cNvSpPr/>
          <p:nvPr/>
        </p:nvSpPr>
        <p:spPr>
          <a:xfrm>
            <a:off x="4937760" y="1737360"/>
            <a:ext cx="548280" cy="54828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45" name="Image 1" descr="preencoded.png"/>
          <p:cNvPicPr/>
          <p:nvPr/>
        </p:nvPicPr>
        <p:blipFill>
          <a:blip r:embed="rId4"/>
          <a:stretch/>
        </p:blipFill>
        <p:spPr>
          <a:xfrm>
            <a:off x="5069520" y="1869120"/>
            <a:ext cx="284760" cy="284760"/>
          </a:xfrm>
          <a:prstGeom prst="rect">
            <a:avLst/>
          </a:prstGeom>
          <a:ln w="0">
            <a:noFill/>
          </a:ln>
        </p:spPr>
      </p:pic>
      <p:sp>
        <p:nvSpPr>
          <p:cNvPr id="846" name="Text 10"/>
          <p:cNvSpPr/>
          <p:nvPr/>
        </p:nvSpPr>
        <p:spPr>
          <a:xfrm>
            <a:off x="5623560" y="1737360"/>
            <a:ext cx="27428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26215C"/>
                </a:solidFill>
                <a:latin typeface="Cambria"/>
                <a:ea typeface="Cambria"/>
              </a:rPr>
              <a:t>Rollout &amp; governance</a:t>
            </a:r>
            <a:endParaRPr lang="en-US" sz="1600" b="0" strike="noStrike" spc="-1">
              <a:solidFill>
                <a:srgbClr val="000000"/>
              </a:solidFill>
              <a:latin typeface="Arial"/>
            </a:endParaRPr>
          </a:p>
        </p:txBody>
      </p:sp>
      <p:sp>
        <p:nvSpPr>
          <p:cNvPr id="847" name="Text 11"/>
          <p:cNvSpPr/>
          <p:nvPr/>
        </p:nvSpPr>
        <p:spPr>
          <a:xfrm>
            <a:off x="4937760" y="2423160"/>
            <a:ext cx="347436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0000"/>
              </a:lnSpc>
              <a:buClr>
                <a:srgbClr val="433F5C"/>
              </a:buClr>
              <a:buFont typeface="Symbol" charset="2"/>
              <a:buChar char=""/>
            </a:pPr>
            <a:r>
              <a:rPr lang="en-US" sz="1150" b="0" strike="noStrike" spc="-1">
                <a:solidFill>
                  <a:srgbClr val="433F5C"/>
                </a:solidFill>
                <a:latin typeface="Calibri"/>
                <a:ea typeface="Calibri"/>
              </a:rPr>
              <a:t>Scale incrementally; prove observability before expanding</a:t>
            </a:r>
            <a:endParaRPr lang="en-US" sz="1150" b="0" strike="noStrike" spc="-1">
              <a:solidFill>
                <a:srgbClr val="000000"/>
              </a:solidFill>
              <a:latin typeface="Arial"/>
            </a:endParaRPr>
          </a:p>
        </p:txBody>
      </p:sp>
      <p:sp>
        <p:nvSpPr>
          <p:cNvPr id="848" name="Text 12"/>
          <p:cNvSpPr/>
          <p:nvPr/>
        </p:nvSpPr>
        <p:spPr>
          <a:xfrm>
            <a:off x="4937760" y="3136320"/>
            <a:ext cx="347436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0000"/>
              </a:lnSpc>
              <a:buClr>
                <a:srgbClr val="433F5C"/>
              </a:buClr>
              <a:buFont typeface="Symbol" charset="2"/>
              <a:buChar char=""/>
            </a:pPr>
            <a:r>
              <a:rPr lang="en-US" sz="1150" b="0" strike="noStrike" spc="-1">
                <a:solidFill>
                  <a:srgbClr val="433F5C"/>
                </a:solidFill>
                <a:latin typeface="Calibri"/>
                <a:ea typeface="Calibri"/>
              </a:rPr>
              <a:t>Formal change control for prompts, tools, model versions</a:t>
            </a:r>
            <a:endParaRPr lang="en-US" sz="1150" b="0" strike="noStrike" spc="-1">
              <a:solidFill>
                <a:srgbClr val="000000"/>
              </a:solidFill>
              <a:latin typeface="Arial"/>
            </a:endParaRPr>
          </a:p>
        </p:txBody>
      </p:sp>
      <p:sp>
        <p:nvSpPr>
          <p:cNvPr id="849" name="Text 13"/>
          <p:cNvSpPr/>
          <p:nvPr/>
        </p:nvSpPr>
        <p:spPr>
          <a:xfrm>
            <a:off x="4937760" y="3849480"/>
            <a:ext cx="347436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0000"/>
              </a:lnSpc>
              <a:buClr>
                <a:srgbClr val="433F5C"/>
              </a:buClr>
              <a:buFont typeface="Symbol" charset="2"/>
              <a:buChar char=""/>
            </a:pPr>
            <a:r>
              <a:rPr lang="en-US" sz="1150" b="0" strike="noStrike" spc="-1">
                <a:solidFill>
                  <a:srgbClr val="433F5C"/>
                </a:solidFill>
                <a:latin typeface="Calibri"/>
                <a:ea typeface="Calibri"/>
              </a:rPr>
              <a:t>Register every agent with owner, purpose, risk classification</a:t>
            </a:r>
            <a:endParaRPr lang="en-US" sz="1150" b="0" strike="noStrike" spc="-1">
              <a:solidFill>
                <a:srgbClr val="000000"/>
              </a:solidFill>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6215C"/>
        </a:solidFill>
        <a:effectLst/>
      </p:bgPr>
    </p:bg>
    <p:spTree>
      <p:nvGrpSpPr>
        <p:cNvPr id="1" name=""/>
        <p:cNvGrpSpPr/>
        <p:nvPr/>
      </p:nvGrpSpPr>
      <p:grpSpPr>
        <a:xfrm>
          <a:off x="0" y="0"/>
          <a:ext cx="0" cy="0"/>
          <a:chOff x="0" y="0"/>
          <a:chExt cx="0" cy="0"/>
        </a:xfrm>
      </p:grpSpPr>
      <p:sp>
        <p:nvSpPr>
          <p:cNvPr id="850" name="Shape 0"/>
          <p:cNvSpPr/>
          <p:nvPr/>
        </p:nvSpPr>
        <p:spPr>
          <a:xfrm>
            <a:off x="7150320" y="658080"/>
            <a:ext cx="914400" cy="54864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851" name="Shape 1"/>
          <p:cNvSpPr/>
          <p:nvPr/>
        </p:nvSpPr>
        <p:spPr>
          <a:xfrm flipH="1">
            <a:off x="7369920" y="1206720"/>
            <a:ext cx="694800" cy="4024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852" name="Shape 2"/>
          <p:cNvSpPr/>
          <p:nvPr/>
        </p:nvSpPr>
        <p:spPr>
          <a:xfrm flipV="1">
            <a:off x="8064720" y="676440"/>
            <a:ext cx="384120" cy="5302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853" name="Shape 3"/>
          <p:cNvSpPr/>
          <p:nvPr/>
        </p:nvSpPr>
        <p:spPr>
          <a:xfrm>
            <a:off x="8064720" y="1206720"/>
            <a:ext cx="567000" cy="38412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854" name="Shape 4"/>
          <p:cNvSpPr/>
          <p:nvPr/>
        </p:nvSpPr>
        <p:spPr>
          <a:xfrm>
            <a:off x="6949440" y="457200"/>
            <a:ext cx="402120" cy="40212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55" name="Shape 5"/>
          <p:cNvSpPr/>
          <p:nvPr/>
        </p:nvSpPr>
        <p:spPr>
          <a:xfrm>
            <a:off x="7772400" y="914400"/>
            <a:ext cx="585000" cy="585000"/>
          </a:xfrm>
          <a:prstGeom prst="ellipse">
            <a:avLst/>
          </a:prstGeom>
          <a:solidFill>
            <a:srgbClr val="7F77DD">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56" name="Shape 6"/>
          <p:cNvSpPr/>
          <p:nvPr/>
        </p:nvSpPr>
        <p:spPr>
          <a:xfrm>
            <a:off x="7223760" y="1463040"/>
            <a:ext cx="292320" cy="29232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57" name="Shape 7"/>
          <p:cNvSpPr/>
          <p:nvPr/>
        </p:nvSpPr>
        <p:spPr>
          <a:xfrm>
            <a:off x="8321040" y="548640"/>
            <a:ext cx="255600" cy="25560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58" name="Shape 8"/>
          <p:cNvSpPr/>
          <p:nvPr/>
        </p:nvSpPr>
        <p:spPr>
          <a:xfrm>
            <a:off x="8412480" y="1371600"/>
            <a:ext cx="438480" cy="43848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59" name="Shape 9"/>
          <p:cNvSpPr/>
          <p:nvPr/>
        </p:nvSpPr>
        <p:spPr>
          <a:xfrm>
            <a:off x="640080" y="1417320"/>
            <a:ext cx="914040" cy="914040"/>
          </a:xfrm>
          <a:prstGeom prst="ellipse">
            <a:avLst/>
          </a:prstGeom>
          <a:solidFill>
            <a:srgbClr val="3C348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860" name="Image 0" descr="preencoded.png"/>
          <p:cNvPicPr/>
          <p:nvPr/>
        </p:nvPicPr>
        <p:blipFill>
          <a:blip r:embed="rId3"/>
          <a:stretch/>
        </p:blipFill>
        <p:spPr>
          <a:xfrm>
            <a:off x="859680" y="1636920"/>
            <a:ext cx="475200" cy="475200"/>
          </a:xfrm>
          <a:prstGeom prst="rect">
            <a:avLst/>
          </a:prstGeom>
          <a:ln w="0">
            <a:noFill/>
          </a:ln>
        </p:spPr>
      </p:pic>
      <p:sp>
        <p:nvSpPr>
          <p:cNvPr id="861" name="Text 10"/>
          <p:cNvSpPr/>
          <p:nvPr/>
        </p:nvSpPr>
        <p:spPr>
          <a:xfrm>
            <a:off x="1828800" y="1417320"/>
            <a:ext cx="6400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299">
                <a:solidFill>
                  <a:srgbClr val="F2A623"/>
                </a:solidFill>
                <a:latin typeface="Calibri"/>
                <a:ea typeface="Calibri"/>
              </a:rPr>
              <a:t>PART 4</a:t>
            </a:r>
            <a:endParaRPr lang="en-US" sz="1400" b="0" strike="noStrike" spc="-1">
              <a:solidFill>
                <a:srgbClr val="FFFFFF"/>
              </a:solidFill>
              <a:latin typeface="Arial"/>
            </a:endParaRPr>
          </a:p>
        </p:txBody>
      </p:sp>
      <p:sp>
        <p:nvSpPr>
          <p:cNvPr id="862" name="Text 11"/>
          <p:cNvSpPr/>
          <p:nvPr/>
        </p:nvSpPr>
        <p:spPr>
          <a:xfrm>
            <a:off x="1828800" y="1783080"/>
            <a:ext cx="66747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strike="noStrike" spc="-1">
                <a:solidFill>
                  <a:srgbClr val="FFFFFF"/>
                </a:solidFill>
                <a:latin typeface="Cambria"/>
                <a:ea typeface="Cambria"/>
              </a:rPr>
              <a:t>See it run</a:t>
            </a:r>
            <a:endParaRPr lang="en-US" sz="3400" b="0" strike="noStrike" spc="-1">
              <a:solidFill>
                <a:srgbClr val="FFFFFF"/>
              </a:solidFill>
              <a:latin typeface="Arial"/>
            </a:endParaRPr>
          </a:p>
        </p:txBody>
      </p:sp>
      <p:sp>
        <p:nvSpPr>
          <p:cNvPr id="863" name="Text 12"/>
          <p:cNvSpPr/>
          <p:nvPr/>
        </p:nvSpPr>
        <p:spPr>
          <a:xfrm>
            <a:off x="1828800" y="2788920"/>
            <a:ext cx="64004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0000"/>
              </a:lnSpc>
              <a:tabLst>
                <a:tab pos="0" algn="l"/>
              </a:tabLst>
            </a:pPr>
            <a:r>
              <a:rPr lang="en-US" sz="1500" b="0" strike="noStrike" spc="-1">
                <a:solidFill>
                  <a:srgbClr val="CECBF6"/>
                </a:solidFill>
                <a:latin typeface="Calibri"/>
                <a:ea typeface="Calibri"/>
              </a:rPr>
              <a:t>A live ADK trace, end to end, on the running banking example.</a:t>
            </a:r>
            <a:endParaRPr lang="en-US" sz="1500" b="0" strike="noStrike" spc="-1">
              <a:solidFill>
                <a:srgbClr val="FFFFFF"/>
              </a:solidFill>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4"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LIVE SHOWCASE · PART OF SME4'S SECTION</a:t>
            </a:r>
            <a:endParaRPr lang="en-US" sz="1200" b="0" strike="noStrike" spc="-1">
              <a:solidFill>
                <a:srgbClr val="000000"/>
              </a:solidFill>
              <a:latin typeface="Arial"/>
            </a:endParaRPr>
          </a:p>
        </p:txBody>
      </p:sp>
      <p:sp>
        <p:nvSpPr>
          <p:cNvPr id="865"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Three things to show live</a:t>
            </a:r>
            <a:endParaRPr lang="en-US" sz="2800" b="0" strike="noStrike" spc="-1">
              <a:solidFill>
                <a:srgbClr val="000000"/>
              </a:solidFill>
              <a:latin typeface="Arial"/>
            </a:endParaRPr>
          </a:p>
        </p:txBody>
      </p:sp>
      <p:sp>
        <p:nvSpPr>
          <p:cNvPr id="866" name="Shape 2"/>
          <p:cNvSpPr/>
          <p:nvPr/>
        </p:nvSpPr>
        <p:spPr>
          <a:xfrm>
            <a:off x="457200" y="1600200"/>
            <a:ext cx="2651400" cy="2742840"/>
          </a:xfrm>
          <a:prstGeom prst="roundRect">
            <a:avLst>
              <a:gd name="adj" fmla="val 3448"/>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67" name="Shape 3"/>
          <p:cNvSpPr/>
          <p:nvPr/>
        </p:nvSpPr>
        <p:spPr>
          <a:xfrm>
            <a:off x="731520" y="1874520"/>
            <a:ext cx="594000" cy="59400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68" name="Image 0" descr="preencoded.png"/>
          <p:cNvPicPr/>
          <p:nvPr/>
        </p:nvPicPr>
        <p:blipFill>
          <a:blip r:embed="rId3"/>
          <a:stretch/>
        </p:blipFill>
        <p:spPr>
          <a:xfrm>
            <a:off x="874080" y="2017080"/>
            <a:ext cx="308880" cy="308880"/>
          </a:xfrm>
          <a:prstGeom prst="rect">
            <a:avLst/>
          </a:prstGeom>
          <a:ln w="0">
            <a:noFill/>
          </a:ln>
        </p:spPr>
      </p:pic>
      <p:sp>
        <p:nvSpPr>
          <p:cNvPr id="869" name="Text 4"/>
          <p:cNvSpPr/>
          <p:nvPr/>
        </p:nvSpPr>
        <p:spPr>
          <a:xfrm>
            <a:off x="731520" y="2606040"/>
            <a:ext cx="2102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26215C"/>
                </a:solidFill>
                <a:latin typeface="Cambria"/>
                <a:ea typeface="Cambria"/>
              </a:rPr>
              <a:t>Routing trace</a:t>
            </a:r>
            <a:endParaRPr lang="en-US" sz="1600" b="0" strike="noStrike" spc="-1">
              <a:solidFill>
                <a:srgbClr val="000000"/>
              </a:solidFill>
              <a:latin typeface="Arial"/>
            </a:endParaRPr>
          </a:p>
        </p:txBody>
      </p:sp>
      <p:sp>
        <p:nvSpPr>
          <p:cNvPr id="870" name="Text 5"/>
          <p:cNvSpPr/>
          <p:nvPr/>
        </p:nvSpPr>
        <p:spPr>
          <a:xfrm>
            <a:off x="731520" y="3063240"/>
            <a:ext cx="210276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150" b="0" strike="noStrike" spc="-1">
                <a:solidFill>
                  <a:srgbClr val="433F5C"/>
                </a:solidFill>
                <a:latin typeface="Calibri"/>
                <a:ea typeface="Calibri"/>
              </a:rPr>
              <a:t>Send a multi-part question through adk web and open the trace view to show intent decomposition and the sub-agent transfer in real time.</a:t>
            </a:r>
            <a:endParaRPr lang="en-US" sz="1150" b="0" strike="noStrike" spc="-1">
              <a:solidFill>
                <a:srgbClr val="000000"/>
              </a:solidFill>
              <a:latin typeface="Arial"/>
            </a:endParaRPr>
          </a:p>
        </p:txBody>
      </p:sp>
      <p:sp>
        <p:nvSpPr>
          <p:cNvPr id="871" name="Shape 6"/>
          <p:cNvSpPr/>
          <p:nvPr/>
        </p:nvSpPr>
        <p:spPr>
          <a:xfrm>
            <a:off x="3291840" y="1600200"/>
            <a:ext cx="2651400" cy="2742840"/>
          </a:xfrm>
          <a:prstGeom prst="roundRect">
            <a:avLst>
              <a:gd name="adj" fmla="val 3448"/>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72" name="Shape 7"/>
          <p:cNvSpPr/>
          <p:nvPr/>
        </p:nvSpPr>
        <p:spPr>
          <a:xfrm>
            <a:off x="3566160" y="1874520"/>
            <a:ext cx="594000" cy="59400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73" name="Image 1" descr="preencoded.png"/>
          <p:cNvPicPr/>
          <p:nvPr/>
        </p:nvPicPr>
        <p:blipFill>
          <a:blip r:embed="rId4"/>
          <a:stretch/>
        </p:blipFill>
        <p:spPr>
          <a:xfrm>
            <a:off x="3708720" y="2017080"/>
            <a:ext cx="308880" cy="308880"/>
          </a:xfrm>
          <a:prstGeom prst="rect">
            <a:avLst/>
          </a:prstGeom>
          <a:ln w="0">
            <a:noFill/>
          </a:ln>
        </p:spPr>
      </p:pic>
      <p:sp>
        <p:nvSpPr>
          <p:cNvPr id="874" name="Text 8"/>
          <p:cNvSpPr/>
          <p:nvPr/>
        </p:nvSpPr>
        <p:spPr>
          <a:xfrm>
            <a:off x="3566160" y="2606040"/>
            <a:ext cx="2102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26215C"/>
                </a:solidFill>
                <a:latin typeface="Cambria"/>
                <a:ea typeface="Cambria"/>
              </a:rPr>
              <a:t>Session store survives a restart</a:t>
            </a:r>
            <a:endParaRPr lang="en-US" sz="1600" b="0" strike="noStrike" spc="-1">
              <a:solidFill>
                <a:srgbClr val="000000"/>
              </a:solidFill>
              <a:latin typeface="Arial"/>
            </a:endParaRPr>
          </a:p>
        </p:txBody>
      </p:sp>
      <p:sp>
        <p:nvSpPr>
          <p:cNvPr id="875" name="Text 9"/>
          <p:cNvSpPr/>
          <p:nvPr/>
        </p:nvSpPr>
        <p:spPr>
          <a:xfrm>
            <a:off x="3566160" y="3063240"/>
            <a:ext cx="210276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150" b="0" strike="noStrike" spc="-1">
                <a:solidFill>
                  <a:srgbClr val="433F5C"/>
                </a:solidFill>
                <a:latin typeface="Calibri"/>
                <a:ea typeface="Calibri"/>
              </a:rPr>
              <a:t>Same user, same session id: restart the app process and show the conversation resume from Redis — this works today.</a:t>
            </a:r>
            <a:endParaRPr lang="en-US" sz="1150" b="0" strike="noStrike" spc="-1">
              <a:solidFill>
                <a:srgbClr val="000000"/>
              </a:solidFill>
              <a:latin typeface="Arial"/>
            </a:endParaRPr>
          </a:p>
        </p:txBody>
      </p:sp>
      <p:sp>
        <p:nvSpPr>
          <p:cNvPr id="876" name="Shape 10"/>
          <p:cNvSpPr/>
          <p:nvPr/>
        </p:nvSpPr>
        <p:spPr>
          <a:xfrm>
            <a:off x="6126480" y="1600200"/>
            <a:ext cx="2651400" cy="2742840"/>
          </a:xfrm>
          <a:prstGeom prst="roundRect">
            <a:avLst>
              <a:gd name="adj" fmla="val 3448"/>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77" name="Shape 11"/>
          <p:cNvSpPr/>
          <p:nvPr/>
        </p:nvSpPr>
        <p:spPr>
          <a:xfrm>
            <a:off x="6400800" y="1874520"/>
            <a:ext cx="594000" cy="594000"/>
          </a:xfrm>
          <a:prstGeom prst="ellipse">
            <a:avLst/>
          </a:prstGeom>
          <a:solidFill>
            <a:srgbClr val="FAEC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78" name="Image 2" descr="preencoded.png"/>
          <p:cNvPicPr/>
          <p:nvPr/>
        </p:nvPicPr>
        <p:blipFill>
          <a:blip r:embed="rId5"/>
          <a:stretch/>
        </p:blipFill>
        <p:spPr>
          <a:xfrm>
            <a:off x="6543360" y="2017080"/>
            <a:ext cx="308880" cy="308880"/>
          </a:xfrm>
          <a:prstGeom prst="rect">
            <a:avLst/>
          </a:prstGeom>
          <a:ln w="0">
            <a:noFill/>
          </a:ln>
        </p:spPr>
      </p:pic>
      <p:sp>
        <p:nvSpPr>
          <p:cNvPr id="879" name="Text 12"/>
          <p:cNvSpPr/>
          <p:nvPr/>
        </p:nvSpPr>
        <p:spPr>
          <a:xfrm>
            <a:off x="6400800" y="2606040"/>
            <a:ext cx="2102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26215C"/>
                </a:solidFill>
                <a:latin typeface="Cambria"/>
                <a:ea typeface="Cambria"/>
              </a:rPr>
              <a:t>Coming later: long-term memory</a:t>
            </a:r>
            <a:endParaRPr lang="en-US" sz="1600" b="0" strike="noStrike" spc="-1">
              <a:solidFill>
                <a:srgbClr val="000000"/>
              </a:solidFill>
              <a:latin typeface="Arial"/>
            </a:endParaRPr>
          </a:p>
        </p:txBody>
      </p:sp>
      <p:sp>
        <p:nvSpPr>
          <p:cNvPr id="880" name="Text 13"/>
          <p:cNvSpPr/>
          <p:nvPr/>
        </p:nvSpPr>
        <p:spPr>
          <a:xfrm>
            <a:off x="6400800" y="3063240"/>
            <a:ext cx="210276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150" b="0" strike="noStrike" spc="-1">
                <a:solidFill>
                  <a:srgbClr val="433F5C"/>
                </a:solidFill>
                <a:latin typeface="Calibri"/>
                <a:ea typeface="Calibri"/>
              </a:rPr>
              <a:t>list_sessions(user_id) across logins and cross-session recall both depend on Memory Bank, which isn't built yet — flagged here, not demoed.</a:t>
            </a:r>
            <a:endParaRPr lang="en-US" sz="1150" b="0" strike="noStrike" spc="-1">
              <a:solidFill>
                <a:srgbClr val="000000"/>
              </a:solidFill>
              <a:latin typeface="Arial"/>
            </a:endParaRPr>
          </a:p>
        </p:txBody>
      </p:sp>
      <p:sp>
        <p:nvSpPr>
          <p:cNvPr id="881" name="Text 14"/>
          <p:cNvSpPr/>
          <p:nvPr/>
        </p:nvSpPr>
        <p:spPr>
          <a:xfrm>
            <a:off x="457200" y="4526280"/>
            <a:ext cx="8229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i="1" strike="noStrike" spc="-1">
                <a:solidFill>
                  <a:srgbClr val="767290"/>
                </a:solidFill>
                <a:latin typeface="Calibri"/>
                <a:ea typeface="Calibri"/>
              </a:rPr>
              <a:t>Fallback if live demo isn't possible: pre-recorded trace screenshots covering the same three moments.</a:t>
            </a:r>
            <a:endParaRPr lang="en-US" sz="1100" b="0" strike="noStrike" spc="-1">
              <a:solidFill>
                <a:srgbClr val="000000"/>
              </a:solidFill>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2"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WRAP-UP</a:t>
            </a:r>
            <a:endParaRPr lang="en-US" sz="1200" b="0" strike="noStrike" spc="-1">
              <a:solidFill>
                <a:srgbClr val="000000"/>
              </a:solidFill>
              <a:latin typeface="Arial"/>
            </a:endParaRPr>
          </a:p>
        </p:txBody>
      </p:sp>
      <p:sp>
        <p:nvSpPr>
          <p:cNvPr id="883"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Key takeaways</a:t>
            </a:r>
            <a:endParaRPr lang="en-US" sz="2800" b="0" strike="noStrike" spc="-1">
              <a:solidFill>
                <a:srgbClr val="000000"/>
              </a:solidFill>
              <a:latin typeface="Arial"/>
            </a:endParaRPr>
          </a:p>
        </p:txBody>
      </p:sp>
      <p:sp>
        <p:nvSpPr>
          <p:cNvPr id="884" name="Shape 2"/>
          <p:cNvSpPr/>
          <p:nvPr/>
        </p:nvSpPr>
        <p:spPr>
          <a:xfrm>
            <a:off x="457200" y="1371600"/>
            <a:ext cx="365400" cy="36540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85" name="Image 0" descr="preencoded.png"/>
          <p:cNvPicPr/>
          <p:nvPr/>
        </p:nvPicPr>
        <p:blipFill>
          <a:blip r:embed="rId3"/>
          <a:stretch/>
        </p:blipFill>
        <p:spPr>
          <a:xfrm>
            <a:off x="545040" y="1459440"/>
            <a:ext cx="189720" cy="189720"/>
          </a:xfrm>
          <a:prstGeom prst="rect">
            <a:avLst/>
          </a:prstGeom>
          <a:ln w="0">
            <a:noFill/>
          </a:ln>
        </p:spPr>
      </p:pic>
      <p:sp>
        <p:nvSpPr>
          <p:cNvPr id="886" name="Text 3"/>
          <p:cNvSpPr/>
          <p:nvPr/>
        </p:nvSpPr>
        <p:spPr>
          <a:xfrm>
            <a:off x="1005840" y="1371600"/>
            <a:ext cx="768060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433F5C"/>
                </a:solidFill>
                <a:latin typeface="Calibri"/>
                <a:ea typeface="Calibri"/>
              </a:rPr>
              <a:t>The agent is a layered system — channel, session, orchestration, sub-agents, sidecars, models — not one giant prompt.</a:t>
            </a:r>
            <a:endParaRPr lang="en-US" sz="1250" b="0" strike="noStrike" spc="-1">
              <a:solidFill>
                <a:srgbClr val="000000"/>
              </a:solidFill>
              <a:latin typeface="Arial"/>
            </a:endParaRPr>
          </a:p>
        </p:txBody>
      </p:sp>
      <p:sp>
        <p:nvSpPr>
          <p:cNvPr id="887" name="Shape 4"/>
          <p:cNvSpPr/>
          <p:nvPr/>
        </p:nvSpPr>
        <p:spPr>
          <a:xfrm>
            <a:off x="457200" y="1993320"/>
            <a:ext cx="365400" cy="36540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88" name="Image 1" descr="preencoded.png"/>
          <p:cNvPicPr/>
          <p:nvPr/>
        </p:nvPicPr>
        <p:blipFill>
          <a:blip r:embed="rId3"/>
          <a:stretch/>
        </p:blipFill>
        <p:spPr>
          <a:xfrm>
            <a:off x="545040" y="2081160"/>
            <a:ext cx="189720" cy="189720"/>
          </a:xfrm>
          <a:prstGeom prst="rect">
            <a:avLst/>
          </a:prstGeom>
          <a:ln w="0">
            <a:noFill/>
          </a:ln>
        </p:spPr>
      </p:pic>
      <p:sp>
        <p:nvSpPr>
          <p:cNvPr id="889" name="Text 5"/>
          <p:cNvSpPr/>
          <p:nvPr/>
        </p:nvSpPr>
        <p:spPr>
          <a:xfrm>
            <a:off x="1005840" y="1993320"/>
            <a:ext cx="768060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433F5C"/>
                </a:solidFill>
                <a:latin typeface="Calibri"/>
                <a:ea typeface="Calibri"/>
              </a:rPr>
              <a:t>State ≠ memory ≠ context — each one solves a different continuity problem.</a:t>
            </a:r>
            <a:endParaRPr lang="en-US" sz="1250" b="0" strike="noStrike" spc="-1">
              <a:solidFill>
                <a:srgbClr val="000000"/>
              </a:solidFill>
              <a:latin typeface="Arial"/>
            </a:endParaRPr>
          </a:p>
        </p:txBody>
      </p:sp>
      <p:sp>
        <p:nvSpPr>
          <p:cNvPr id="890" name="Shape 6"/>
          <p:cNvSpPr/>
          <p:nvPr/>
        </p:nvSpPr>
        <p:spPr>
          <a:xfrm>
            <a:off x="457200" y="2615040"/>
            <a:ext cx="365400" cy="36540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91" name="Image 2" descr="preencoded.png"/>
          <p:cNvPicPr/>
          <p:nvPr/>
        </p:nvPicPr>
        <p:blipFill>
          <a:blip r:embed="rId3"/>
          <a:stretch/>
        </p:blipFill>
        <p:spPr>
          <a:xfrm>
            <a:off x="545040" y="2702880"/>
            <a:ext cx="189720" cy="189720"/>
          </a:xfrm>
          <a:prstGeom prst="rect">
            <a:avLst/>
          </a:prstGeom>
          <a:ln w="0">
            <a:noFill/>
          </a:ln>
        </p:spPr>
      </p:pic>
      <p:sp>
        <p:nvSpPr>
          <p:cNvPr id="892" name="Text 7"/>
          <p:cNvSpPr/>
          <p:nvPr/>
        </p:nvSpPr>
        <p:spPr>
          <a:xfrm>
            <a:off x="1005840" y="2615040"/>
            <a:ext cx="768060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433F5C"/>
                </a:solidFill>
                <a:latin typeface="Calibri"/>
                <a:ea typeface="Calibri"/>
              </a:rPr>
              <a:t>Context engineering means deciding what the model actually sees, fresh, on every turn.</a:t>
            </a:r>
            <a:endParaRPr lang="en-US" sz="1250" b="0" strike="noStrike" spc="-1">
              <a:solidFill>
                <a:srgbClr val="000000"/>
              </a:solidFill>
              <a:latin typeface="Arial"/>
            </a:endParaRPr>
          </a:p>
        </p:txBody>
      </p:sp>
      <p:sp>
        <p:nvSpPr>
          <p:cNvPr id="893" name="Shape 8"/>
          <p:cNvSpPr/>
          <p:nvPr/>
        </p:nvSpPr>
        <p:spPr>
          <a:xfrm>
            <a:off x="457200" y="3237120"/>
            <a:ext cx="365400" cy="36540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94" name="Image 3" descr="preencoded.png"/>
          <p:cNvPicPr/>
          <p:nvPr/>
        </p:nvPicPr>
        <p:blipFill>
          <a:blip r:embed="rId3"/>
          <a:stretch/>
        </p:blipFill>
        <p:spPr>
          <a:xfrm>
            <a:off x="545040" y="3324600"/>
            <a:ext cx="189720" cy="189720"/>
          </a:xfrm>
          <a:prstGeom prst="rect">
            <a:avLst/>
          </a:prstGeom>
          <a:ln w="0">
            <a:noFill/>
          </a:ln>
        </p:spPr>
      </p:pic>
      <p:sp>
        <p:nvSpPr>
          <p:cNvPr id="895" name="Text 9"/>
          <p:cNvSpPr/>
          <p:nvPr/>
        </p:nvSpPr>
        <p:spPr>
          <a:xfrm>
            <a:off x="1005840" y="3237120"/>
            <a:ext cx="768060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433F5C"/>
                </a:solidFill>
                <a:latin typeface="Calibri"/>
                <a:ea typeface="Calibri"/>
              </a:rPr>
              <a:t>Multi-agent orchestration turns one giant prompt into specialists with clear ownership.</a:t>
            </a:r>
            <a:endParaRPr lang="en-US" sz="1250" b="0" strike="noStrike" spc="-1">
              <a:solidFill>
                <a:srgbClr val="000000"/>
              </a:solidFill>
              <a:latin typeface="Arial"/>
            </a:endParaRPr>
          </a:p>
        </p:txBody>
      </p:sp>
      <p:sp>
        <p:nvSpPr>
          <p:cNvPr id="896" name="Shape 10"/>
          <p:cNvSpPr/>
          <p:nvPr/>
        </p:nvSpPr>
        <p:spPr>
          <a:xfrm>
            <a:off x="457200" y="3858840"/>
            <a:ext cx="365400" cy="36540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897" name="Image 4" descr="preencoded.png"/>
          <p:cNvPicPr/>
          <p:nvPr/>
        </p:nvPicPr>
        <p:blipFill>
          <a:blip r:embed="rId3"/>
          <a:stretch/>
        </p:blipFill>
        <p:spPr>
          <a:xfrm>
            <a:off x="545040" y="3946680"/>
            <a:ext cx="189720" cy="189720"/>
          </a:xfrm>
          <a:prstGeom prst="rect">
            <a:avLst/>
          </a:prstGeom>
          <a:ln w="0">
            <a:noFill/>
          </a:ln>
        </p:spPr>
      </p:pic>
      <p:sp>
        <p:nvSpPr>
          <p:cNvPr id="898" name="Text 11"/>
          <p:cNvSpPr/>
          <p:nvPr/>
        </p:nvSpPr>
        <p:spPr>
          <a:xfrm>
            <a:off x="1005840" y="3858840"/>
            <a:ext cx="768060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433F5C"/>
                </a:solidFill>
                <a:latin typeface="Calibri"/>
                <a:ea typeface="Calibri"/>
              </a:rPr>
              <a:t>None of this scales across an enterprise without a shared platform: one hosting model, one session system, the same guardrails and observability inherited by every team that onboards.</a:t>
            </a:r>
            <a:endParaRPr lang="en-US" sz="1250" b="0" strike="noStrike" spc="-1">
              <a:solidFill>
                <a:srgbClr val="000000"/>
              </a:solidFill>
              <a:latin typeface="Arial"/>
            </a:endParaRPr>
          </a:p>
        </p:txBody>
      </p:sp>
      <p:sp>
        <p:nvSpPr>
          <p:cNvPr id="899" name="Shape 12"/>
          <p:cNvSpPr/>
          <p:nvPr/>
        </p:nvSpPr>
        <p:spPr>
          <a:xfrm>
            <a:off x="457200" y="4526280"/>
            <a:ext cx="8229240" cy="548280"/>
          </a:xfrm>
          <a:prstGeom prst="roundRect">
            <a:avLst>
              <a:gd name="adj" fmla="val 13333"/>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00" name="Shape 13"/>
          <p:cNvSpPr/>
          <p:nvPr/>
        </p:nvSpPr>
        <p:spPr>
          <a:xfrm>
            <a:off x="576000" y="4599360"/>
            <a:ext cx="383760" cy="383760"/>
          </a:xfrm>
          <a:prstGeom prst="ellipse">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901" name="Image 5" descr="preencoded.png"/>
          <p:cNvPicPr/>
          <p:nvPr/>
        </p:nvPicPr>
        <p:blipFill>
          <a:blip r:embed="rId4"/>
          <a:stretch/>
        </p:blipFill>
        <p:spPr>
          <a:xfrm>
            <a:off x="668160" y="4691520"/>
            <a:ext cx="199440" cy="199440"/>
          </a:xfrm>
          <a:prstGeom prst="rect">
            <a:avLst/>
          </a:prstGeom>
          <a:ln w="0">
            <a:noFill/>
          </a:ln>
        </p:spPr>
      </p:pic>
      <p:sp>
        <p:nvSpPr>
          <p:cNvPr id="902" name="Text 14"/>
          <p:cNvSpPr/>
          <p:nvPr/>
        </p:nvSpPr>
        <p:spPr>
          <a:xfrm>
            <a:off x="1097280" y="4526280"/>
            <a:ext cx="74520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strike="noStrike" spc="-1">
                <a:solidFill>
                  <a:srgbClr val="26215C"/>
                </a:solidFill>
                <a:latin typeface="Calibri"/>
                <a:ea typeface="Calibri"/>
              </a:rPr>
              <a:t>Resources:  </a:t>
            </a:r>
            <a:r>
              <a:rPr lang="en-US" sz="1050" b="0" strike="noStrike" spc="-1">
                <a:solidFill>
                  <a:srgbClr val="433F5C"/>
                </a:solidFill>
                <a:latin typeface="Calibri"/>
                <a:ea typeface="Calibri"/>
              </a:rPr>
              <a:t>google.github.io/adk-docs (Sessions, State &amp; Memory)   ·   Google Cloud blog: “Remember this — agent state and memory with ADK”</a:t>
            </a:r>
            <a:endParaRPr lang="en-US" sz="1050" b="0" strike="noStrike" spc="-1">
              <a:solidFill>
                <a:srgbClr val="000000"/>
              </a:solidFill>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26215C"/>
        </a:solidFill>
        <a:effectLst/>
      </p:bgPr>
    </p:bg>
    <p:spTree>
      <p:nvGrpSpPr>
        <p:cNvPr id="1" name=""/>
        <p:cNvGrpSpPr/>
        <p:nvPr/>
      </p:nvGrpSpPr>
      <p:grpSpPr>
        <a:xfrm>
          <a:off x="0" y="0"/>
          <a:ext cx="0" cy="0"/>
          <a:chOff x="0" y="0"/>
          <a:chExt cx="0" cy="0"/>
        </a:xfrm>
      </p:grpSpPr>
      <p:sp>
        <p:nvSpPr>
          <p:cNvPr id="903" name="Shape 0"/>
          <p:cNvSpPr/>
          <p:nvPr/>
        </p:nvSpPr>
        <p:spPr>
          <a:xfrm>
            <a:off x="7150320" y="658080"/>
            <a:ext cx="914400" cy="54864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904" name="Shape 1"/>
          <p:cNvSpPr/>
          <p:nvPr/>
        </p:nvSpPr>
        <p:spPr>
          <a:xfrm flipH="1">
            <a:off x="7369920" y="1206720"/>
            <a:ext cx="694800" cy="4024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905" name="Shape 2"/>
          <p:cNvSpPr/>
          <p:nvPr/>
        </p:nvSpPr>
        <p:spPr>
          <a:xfrm flipV="1">
            <a:off x="8064720" y="676440"/>
            <a:ext cx="384120" cy="5302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906" name="Shape 3"/>
          <p:cNvSpPr/>
          <p:nvPr/>
        </p:nvSpPr>
        <p:spPr>
          <a:xfrm>
            <a:off x="8064720" y="1206720"/>
            <a:ext cx="567000" cy="38412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907" name="Shape 4"/>
          <p:cNvSpPr/>
          <p:nvPr/>
        </p:nvSpPr>
        <p:spPr>
          <a:xfrm>
            <a:off x="6949440" y="457200"/>
            <a:ext cx="402120" cy="40212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08" name="Shape 5"/>
          <p:cNvSpPr/>
          <p:nvPr/>
        </p:nvSpPr>
        <p:spPr>
          <a:xfrm>
            <a:off x="7772400" y="914400"/>
            <a:ext cx="585000" cy="585000"/>
          </a:xfrm>
          <a:prstGeom prst="ellipse">
            <a:avLst/>
          </a:prstGeom>
          <a:solidFill>
            <a:srgbClr val="7F77DD">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09" name="Shape 6"/>
          <p:cNvSpPr/>
          <p:nvPr/>
        </p:nvSpPr>
        <p:spPr>
          <a:xfrm>
            <a:off x="7223760" y="1463040"/>
            <a:ext cx="292320" cy="29232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10" name="Shape 7"/>
          <p:cNvSpPr/>
          <p:nvPr/>
        </p:nvSpPr>
        <p:spPr>
          <a:xfrm>
            <a:off x="8321040" y="548640"/>
            <a:ext cx="255600" cy="25560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11" name="Shape 8"/>
          <p:cNvSpPr/>
          <p:nvPr/>
        </p:nvSpPr>
        <p:spPr>
          <a:xfrm>
            <a:off x="8412480" y="1371600"/>
            <a:ext cx="438480" cy="43848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12" name="Shape 9"/>
          <p:cNvSpPr/>
          <p:nvPr/>
        </p:nvSpPr>
        <p:spPr>
          <a:xfrm>
            <a:off x="640080" y="1417320"/>
            <a:ext cx="914040" cy="914040"/>
          </a:xfrm>
          <a:prstGeom prst="ellipse">
            <a:avLst/>
          </a:prstGeom>
          <a:solidFill>
            <a:srgbClr val="3C348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913" name="Image 0" descr="preencoded.png"/>
          <p:cNvPicPr/>
          <p:nvPr/>
        </p:nvPicPr>
        <p:blipFill>
          <a:blip r:embed="rId3"/>
          <a:stretch/>
        </p:blipFill>
        <p:spPr>
          <a:xfrm>
            <a:off x="859680" y="1636920"/>
            <a:ext cx="475200" cy="475200"/>
          </a:xfrm>
          <a:prstGeom prst="rect">
            <a:avLst/>
          </a:prstGeom>
          <a:ln w="0">
            <a:noFill/>
          </a:ln>
        </p:spPr>
      </p:pic>
      <p:sp>
        <p:nvSpPr>
          <p:cNvPr id="914" name="Text 10"/>
          <p:cNvSpPr/>
          <p:nvPr/>
        </p:nvSpPr>
        <p:spPr>
          <a:xfrm>
            <a:off x="1828800" y="1417320"/>
            <a:ext cx="6400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299">
                <a:solidFill>
                  <a:srgbClr val="F2A623"/>
                </a:solidFill>
                <a:latin typeface="Calibri"/>
                <a:ea typeface="Calibri"/>
              </a:rPr>
              <a:t>APPENDIX</a:t>
            </a:r>
            <a:endParaRPr lang="en-US" sz="1400" b="0" strike="noStrike" spc="-1">
              <a:solidFill>
                <a:srgbClr val="FFFFFF"/>
              </a:solidFill>
              <a:latin typeface="Arial"/>
            </a:endParaRPr>
          </a:p>
        </p:txBody>
      </p:sp>
      <p:sp>
        <p:nvSpPr>
          <p:cNvPr id="915" name="Text 11"/>
          <p:cNvSpPr/>
          <p:nvPr/>
        </p:nvSpPr>
        <p:spPr>
          <a:xfrm>
            <a:off x="1828800" y="1783080"/>
            <a:ext cx="66747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strike="noStrike" spc="-1">
                <a:solidFill>
                  <a:srgbClr val="FFFFFF"/>
                </a:solidFill>
                <a:latin typeface="Cambria"/>
                <a:ea typeface="Cambria"/>
              </a:rPr>
              <a:t>Generative AI fundamentals</a:t>
            </a:r>
            <a:endParaRPr lang="en-US" sz="3400" b="0" strike="noStrike" spc="-1">
              <a:solidFill>
                <a:srgbClr val="FFFFFF"/>
              </a:solidFill>
              <a:latin typeface="Arial"/>
            </a:endParaRPr>
          </a:p>
        </p:txBody>
      </p:sp>
      <p:sp>
        <p:nvSpPr>
          <p:cNvPr id="916" name="Text 12"/>
          <p:cNvSpPr/>
          <p:nvPr/>
        </p:nvSpPr>
        <p:spPr>
          <a:xfrm>
            <a:off x="1828800" y="2788920"/>
            <a:ext cx="64004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0000"/>
              </a:lnSpc>
              <a:tabLst>
                <a:tab pos="0" algn="l"/>
              </a:tabLst>
            </a:pPr>
            <a:r>
              <a:rPr lang="en-US" sz="1500" b="0" strike="noStrike" spc="-1">
                <a:solidFill>
                  <a:srgbClr val="CECBF6"/>
                </a:solidFill>
                <a:latin typeface="Calibri"/>
                <a:ea typeface="Calibri"/>
              </a:rPr>
              <a:t>Optional background material: a jargon-light primer on what an LLM does and how the agentic loop works, for reference or pre-reading.</a:t>
            </a:r>
            <a:endParaRPr lang="en-US" sz="1500" b="0" strike="noStrike" spc="-1">
              <a:solidFill>
                <a:srgbClr val="FFFFFF"/>
              </a:solidFill>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7"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APPENDIX</a:t>
            </a:r>
            <a:endParaRPr lang="en-US" sz="1200" b="0" strike="noStrike" spc="-1">
              <a:solidFill>
                <a:srgbClr val="000000"/>
              </a:solidFill>
              <a:latin typeface="Arial"/>
            </a:endParaRPr>
          </a:p>
        </p:txBody>
      </p:sp>
      <p:sp>
        <p:nvSpPr>
          <p:cNvPr id="918"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What a large language model actually does</a:t>
            </a:r>
            <a:endParaRPr lang="en-US" sz="2800" b="0" strike="noStrike" spc="-1">
              <a:solidFill>
                <a:srgbClr val="000000"/>
              </a:solidFill>
              <a:latin typeface="Arial"/>
            </a:endParaRPr>
          </a:p>
        </p:txBody>
      </p:sp>
      <p:sp>
        <p:nvSpPr>
          <p:cNvPr id="919" name="Shape 2"/>
          <p:cNvSpPr/>
          <p:nvPr/>
        </p:nvSpPr>
        <p:spPr>
          <a:xfrm>
            <a:off x="548640" y="1554480"/>
            <a:ext cx="639720" cy="639720"/>
          </a:xfrm>
          <a:prstGeom prst="ellipse">
            <a:avLst/>
          </a:prstGeom>
          <a:solidFill>
            <a:srgbClr val="EEED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920" name="Image 0" descr="preencoded.png"/>
          <p:cNvPicPr/>
          <p:nvPr/>
        </p:nvPicPr>
        <p:blipFill>
          <a:blip r:embed="rId3"/>
          <a:stretch/>
        </p:blipFill>
        <p:spPr>
          <a:xfrm>
            <a:off x="702360" y="1708200"/>
            <a:ext cx="332640" cy="332640"/>
          </a:xfrm>
          <a:prstGeom prst="rect">
            <a:avLst/>
          </a:prstGeom>
          <a:ln w="0">
            <a:noFill/>
          </a:ln>
        </p:spPr>
      </p:pic>
      <p:sp>
        <p:nvSpPr>
          <p:cNvPr id="921" name="Text 3"/>
          <p:cNvSpPr/>
          <p:nvPr/>
        </p:nvSpPr>
        <p:spPr>
          <a:xfrm>
            <a:off x="1463040" y="150876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26215C"/>
                </a:solidFill>
                <a:latin typeface="Calibri"/>
                <a:ea typeface="Calibri"/>
              </a:rPr>
              <a:t>Predicts the next chunk of text</a:t>
            </a:r>
            <a:endParaRPr lang="en-US" sz="1600" b="0" strike="noStrike" spc="-1">
              <a:solidFill>
                <a:srgbClr val="000000"/>
              </a:solidFill>
              <a:latin typeface="Arial"/>
            </a:endParaRPr>
          </a:p>
        </p:txBody>
      </p:sp>
      <p:sp>
        <p:nvSpPr>
          <p:cNvPr id="922" name="Text 4"/>
          <p:cNvSpPr/>
          <p:nvPr/>
        </p:nvSpPr>
        <p:spPr>
          <a:xfrm>
            <a:off x="1463040" y="1874520"/>
            <a:ext cx="7314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5000"/>
              </a:lnSpc>
              <a:tabLst>
                <a:tab pos="0" algn="l"/>
              </a:tabLst>
            </a:pPr>
            <a:r>
              <a:rPr lang="en-US" sz="1250" b="0" strike="noStrike" spc="-1">
                <a:solidFill>
                  <a:srgbClr val="433F5C"/>
                </a:solidFill>
                <a:latin typeface="Calibri"/>
                <a:ea typeface="Calibri"/>
              </a:rPr>
              <a:t>Given everything written so far, it estimates the most likely continuation. That is the entire trick — there is no understanding layer underneath.</a:t>
            </a:r>
            <a:endParaRPr lang="en-US" sz="1250" b="0" strike="noStrike" spc="-1">
              <a:solidFill>
                <a:srgbClr val="000000"/>
              </a:solidFill>
              <a:latin typeface="Arial"/>
            </a:endParaRPr>
          </a:p>
        </p:txBody>
      </p:sp>
      <p:sp>
        <p:nvSpPr>
          <p:cNvPr id="923" name="Shape 5"/>
          <p:cNvSpPr/>
          <p:nvPr/>
        </p:nvSpPr>
        <p:spPr>
          <a:xfrm>
            <a:off x="548640" y="2633400"/>
            <a:ext cx="639720" cy="639720"/>
          </a:xfrm>
          <a:prstGeom prst="ellipse">
            <a:avLst/>
          </a:prstGeom>
          <a:solidFill>
            <a:srgbClr val="FAEC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924" name="Image 1" descr="preencoded.png"/>
          <p:cNvPicPr/>
          <p:nvPr/>
        </p:nvPicPr>
        <p:blipFill>
          <a:blip r:embed="rId4"/>
          <a:stretch/>
        </p:blipFill>
        <p:spPr>
          <a:xfrm>
            <a:off x="702360" y="2787120"/>
            <a:ext cx="332640" cy="332640"/>
          </a:xfrm>
          <a:prstGeom prst="rect">
            <a:avLst/>
          </a:prstGeom>
          <a:ln w="0">
            <a:noFill/>
          </a:ln>
        </p:spPr>
      </p:pic>
      <p:sp>
        <p:nvSpPr>
          <p:cNvPr id="925" name="Text 6"/>
          <p:cNvSpPr/>
          <p:nvPr/>
        </p:nvSpPr>
        <p:spPr>
          <a:xfrm>
            <a:off x="1463040" y="258768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26215C"/>
                </a:solidFill>
                <a:latin typeface="Calibri"/>
                <a:ea typeface="Calibri"/>
              </a:rPr>
              <a:t>No memory by default</a:t>
            </a:r>
            <a:endParaRPr lang="en-US" sz="1600" b="0" strike="noStrike" spc="-1">
              <a:solidFill>
                <a:srgbClr val="000000"/>
              </a:solidFill>
              <a:latin typeface="Arial"/>
            </a:endParaRPr>
          </a:p>
        </p:txBody>
      </p:sp>
      <p:sp>
        <p:nvSpPr>
          <p:cNvPr id="926" name="Text 7"/>
          <p:cNvSpPr/>
          <p:nvPr/>
        </p:nvSpPr>
        <p:spPr>
          <a:xfrm>
            <a:off x="1463040" y="2953440"/>
            <a:ext cx="7314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5000"/>
              </a:lnSpc>
              <a:tabLst>
                <a:tab pos="0" algn="l"/>
              </a:tabLst>
            </a:pPr>
            <a:r>
              <a:rPr lang="en-US" sz="1250" b="0" strike="noStrike" spc="-1">
                <a:solidFill>
                  <a:srgbClr val="433F5C"/>
                </a:solidFill>
                <a:latin typeface="Calibri"/>
                <a:ea typeface="Calibri"/>
              </a:rPr>
              <a:t>Each call is stateless. Nothing persists from one request to the next unless the application explicitly stores and replays it.</a:t>
            </a:r>
            <a:endParaRPr lang="en-US" sz="1250" b="0" strike="noStrike" spc="-1">
              <a:solidFill>
                <a:srgbClr val="000000"/>
              </a:solidFill>
              <a:latin typeface="Arial"/>
            </a:endParaRPr>
          </a:p>
        </p:txBody>
      </p:sp>
      <p:sp>
        <p:nvSpPr>
          <p:cNvPr id="927" name="Shape 8"/>
          <p:cNvSpPr/>
          <p:nvPr/>
        </p:nvSpPr>
        <p:spPr>
          <a:xfrm>
            <a:off x="548640" y="3712320"/>
            <a:ext cx="639720" cy="63972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928" name="Image 2" descr="preencoded.png"/>
          <p:cNvPicPr/>
          <p:nvPr/>
        </p:nvPicPr>
        <p:blipFill>
          <a:blip r:embed="rId5"/>
          <a:stretch/>
        </p:blipFill>
        <p:spPr>
          <a:xfrm>
            <a:off x="702360" y="3866040"/>
            <a:ext cx="332640" cy="332640"/>
          </a:xfrm>
          <a:prstGeom prst="rect">
            <a:avLst/>
          </a:prstGeom>
          <a:ln w="0">
            <a:noFill/>
          </a:ln>
        </p:spPr>
      </p:pic>
      <p:sp>
        <p:nvSpPr>
          <p:cNvPr id="929" name="Text 9"/>
          <p:cNvSpPr/>
          <p:nvPr/>
        </p:nvSpPr>
        <p:spPr>
          <a:xfrm>
            <a:off x="1463040" y="366660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26215C"/>
                </a:solidFill>
                <a:latin typeface="Calibri"/>
                <a:ea typeface="Calibri"/>
              </a:rPr>
              <a:t>One-shot, not goal-seeking</a:t>
            </a:r>
            <a:endParaRPr lang="en-US" sz="1600" b="0" strike="noStrike" spc="-1">
              <a:solidFill>
                <a:srgbClr val="000000"/>
              </a:solidFill>
              <a:latin typeface="Arial"/>
            </a:endParaRPr>
          </a:p>
        </p:txBody>
      </p:sp>
      <p:sp>
        <p:nvSpPr>
          <p:cNvPr id="930" name="Text 10"/>
          <p:cNvSpPr/>
          <p:nvPr/>
        </p:nvSpPr>
        <p:spPr>
          <a:xfrm>
            <a:off x="1463040" y="4032360"/>
            <a:ext cx="7314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5000"/>
              </a:lnSpc>
              <a:tabLst>
                <a:tab pos="0" algn="l"/>
              </a:tabLst>
            </a:pPr>
            <a:r>
              <a:rPr lang="en-US" sz="1250" b="0" strike="noStrike" spc="-1">
                <a:solidFill>
                  <a:srgbClr val="433F5C"/>
                </a:solidFill>
                <a:latin typeface="Calibri"/>
                <a:ea typeface="Calibri"/>
              </a:rPr>
              <a:t>It answers. On its own, it doesn't plan multiple steps, check its work, or take actions in the outside world.</a:t>
            </a:r>
            <a:endParaRPr lang="en-US" sz="1250" b="0" strike="noStrike" spc="-1">
              <a:solidFill>
                <a:srgbClr val="000000"/>
              </a:solidFill>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APPENDIX</a:t>
            </a:r>
            <a:endParaRPr lang="en-US" sz="1200" b="0" strike="noStrike" spc="-1">
              <a:solidFill>
                <a:srgbClr val="000000"/>
              </a:solidFill>
              <a:latin typeface="Arial"/>
            </a:endParaRPr>
          </a:p>
        </p:txBody>
      </p:sp>
      <p:sp>
        <p:nvSpPr>
          <p:cNvPr id="932"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Agentic AI = an LLM inside a loop</a:t>
            </a:r>
            <a:endParaRPr lang="en-US" sz="2800" b="0" strike="noStrike" spc="-1">
              <a:solidFill>
                <a:srgbClr val="000000"/>
              </a:solidFill>
              <a:latin typeface="Arial"/>
            </a:endParaRPr>
          </a:p>
        </p:txBody>
      </p:sp>
      <p:sp>
        <p:nvSpPr>
          <p:cNvPr id="933" name="Shape 2"/>
          <p:cNvSpPr/>
          <p:nvPr/>
        </p:nvSpPr>
        <p:spPr>
          <a:xfrm>
            <a:off x="640080" y="1737360"/>
            <a:ext cx="1828440" cy="1554120"/>
          </a:xfrm>
          <a:prstGeom prst="roundRect">
            <a:avLst>
              <a:gd name="adj" fmla="val 4706"/>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34" name="Shape 3"/>
          <p:cNvSpPr/>
          <p:nvPr/>
        </p:nvSpPr>
        <p:spPr>
          <a:xfrm>
            <a:off x="1280160" y="1901880"/>
            <a:ext cx="548280" cy="548280"/>
          </a:xfrm>
          <a:prstGeom prst="ellipse">
            <a:avLst/>
          </a:prstGeom>
          <a:solidFill>
            <a:srgbClr val="3C348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935" name="Image 0" descr="preencoded.png"/>
          <p:cNvPicPr/>
          <p:nvPr/>
        </p:nvPicPr>
        <p:blipFill>
          <a:blip r:embed="rId3"/>
          <a:stretch/>
        </p:blipFill>
        <p:spPr>
          <a:xfrm>
            <a:off x="1411920" y="2033640"/>
            <a:ext cx="284760" cy="284760"/>
          </a:xfrm>
          <a:prstGeom prst="rect">
            <a:avLst/>
          </a:prstGeom>
          <a:ln w="0">
            <a:noFill/>
          </a:ln>
        </p:spPr>
      </p:pic>
      <p:sp>
        <p:nvSpPr>
          <p:cNvPr id="936" name="Text 4"/>
          <p:cNvSpPr/>
          <p:nvPr/>
        </p:nvSpPr>
        <p:spPr>
          <a:xfrm>
            <a:off x="640080" y="2514600"/>
            <a:ext cx="1828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alibri"/>
                <a:ea typeface="Calibri"/>
              </a:rPr>
              <a:t>Perceive</a:t>
            </a:r>
            <a:endParaRPr lang="en-US" sz="1400" b="0" strike="noStrike" spc="-1">
              <a:solidFill>
                <a:srgbClr val="000000"/>
              </a:solidFill>
              <a:latin typeface="Arial"/>
            </a:endParaRPr>
          </a:p>
        </p:txBody>
      </p:sp>
      <p:sp>
        <p:nvSpPr>
          <p:cNvPr id="937" name="Text 5"/>
          <p:cNvSpPr/>
          <p:nvPr/>
        </p:nvSpPr>
        <p:spPr>
          <a:xfrm>
            <a:off x="640080" y="2834640"/>
            <a:ext cx="18284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5000"/>
              </a:lnSpc>
              <a:tabLst>
                <a:tab pos="0" algn="l"/>
              </a:tabLst>
            </a:pPr>
            <a:r>
              <a:rPr lang="en-US" sz="1050" b="0" strike="noStrike" spc="-1">
                <a:solidFill>
                  <a:srgbClr val="CADCFC"/>
                </a:solidFill>
                <a:latin typeface="Calibri"/>
                <a:ea typeface="Calibri"/>
              </a:rPr>
              <a:t>Read the user's</a:t>
            </a:r>
            <a:endParaRPr lang="en-US" sz="1050" b="0" strike="noStrike" spc="-1">
              <a:solidFill>
                <a:srgbClr val="000000"/>
              </a:solidFill>
              <a:latin typeface="Arial"/>
            </a:endParaRPr>
          </a:p>
          <a:p>
            <a:pPr algn="ctr" defTabSz="914400">
              <a:lnSpc>
                <a:spcPct val="105000"/>
              </a:lnSpc>
              <a:tabLst>
                <a:tab pos="0" algn="l"/>
              </a:tabLst>
            </a:pPr>
            <a:r>
              <a:rPr lang="en-US" sz="1050" b="0" strike="noStrike" spc="-1">
                <a:solidFill>
                  <a:srgbClr val="CADCFC"/>
                </a:solidFill>
                <a:latin typeface="Calibri"/>
                <a:ea typeface="Calibri"/>
              </a:rPr>
              <a:t>message + context</a:t>
            </a:r>
            <a:endParaRPr lang="en-US" sz="1050" b="0" strike="noStrike" spc="-1">
              <a:solidFill>
                <a:srgbClr val="000000"/>
              </a:solidFill>
              <a:latin typeface="Arial"/>
            </a:endParaRPr>
          </a:p>
        </p:txBody>
      </p:sp>
      <p:sp>
        <p:nvSpPr>
          <p:cNvPr id="938" name="Text 6"/>
          <p:cNvSpPr/>
          <p:nvPr/>
        </p:nvSpPr>
        <p:spPr>
          <a:xfrm>
            <a:off x="2468880" y="1737360"/>
            <a:ext cx="31968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2A623"/>
                </a:solidFill>
                <a:latin typeface="Calibri"/>
                <a:ea typeface="Calibri"/>
              </a:rPr>
              <a:t>&gt;</a:t>
            </a:r>
            <a:endParaRPr lang="en-US" sz="2000" b="0" strike="noStrike" spc="-1">
              <a:solidFill>
                <a:srgbClr val="000000"/>
              </a:solidFill>
              <a:latin typeface="Arial"/>
            </a:endParaRPr>
          </a:p>
        </p:txBody>
      </p:sp>
      <p:sp>
        <p:nvSpPr>
          <p:cNvPr id="939" name="Shape 7"/>
          <p:cNvSpPr/>
          <p:nvPr/>
        </p:nvSpPr>
        <p:spPr>
          <a:xfrm>
            <a:off x="2788920" y="1737360"/>
            <a:ext cx="1828440" cy="1554120"/>
          </a:xfrm>
          <a:prstGeom prst="roundRect">
            <a:avLst>
              <a:gd name="adj" fmla="val 4706"/>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40" name="Shape 8"/>
          <p:cNvSpPr/>
          <p:nvPr/>
        </p:nvSpPr>
        <p:spPr>
          <a:xfrm>
            <a:off x="3429000" y="1901880"/>
            <a:ext cx="548280" cy="548280"/>
          </a:xfrm>
          <a:prstGeom prst="ellipse">
            <a:avLst/>
          </a:prstGeom>
          <a:solidFill>
            <a:srgbClr val="3C348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941" name="Image 1" descr="preencoded.png"/>
          <p:cNvPicPr/>
          <p:nvPr/>
        </p:nvPicPr>
        <p:blipFill>
          <a:blip r:embed="rId4"/>
          <a:stretch/>
        </p:blipFill>
        <p:spPr>
          <a:xfrm>
            <a:off x="3560760" y="2033640"/>
            <a:ext cx="284760" cy="284760"/>
          </a:xfrm>
          <a:prstGeom prst="rect">
            <a:avLst/>
          </a:prstGeom>
          <a:ln w="0">
            <a:noFill/>
          </a:ln>
        </p:spPr>
      </p:pic>
      <p:sp>
        <p:nvSpPr>
          <p:cNvPr id="942" name="Text 9"/>
          <p:cNvSpPr/>
          <p:nvPr/>
        </p:nvSpPr>
        <p:spPr>
          <a:xfrm>
            <a:off x="2788920" y="2514600"/>
            <a:ext cx="1828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alibri"/>
                <a:ea typeface="Calibri"/>
              </a:rPr>
              <a:t>Reason</a:t>
            </a:r>
            <a:endParaRPr lang="en-US" sz="1400" b="0" strike="noStrike" spc="-1">
              <a:solidFill>
                <a:srgbClr val="000000"/>
              </a:solidFill>
              <a:latin typeface="Arial"/>
            </a:endParaRPr>
          </a:p>
        </p:txBody>
      </p:sp>
      <p:sp>
        <p:nvSpPr>
          <p:cNvPr id="943" name="Text 10"/>
          <p:cNvSpPr/>
          <p:nvPr/>
        </p:nvSpPr>
        <p:spPr>
          <a:xfrm>
            <a:off x="2788920" y="2834640"/>
            <a:ext cx="18284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5000"/>
              </a:lnSpc>
              <a:tabLst>
                <a:tab pos="0" algn="l"/>
              </a:tabLst>
            </a:pPr>
            <a:r>
              <a:rPr lang="en-US" sz="1050" b="0" strike="noStrike" spc="-1">
                <a:solidFill>
                  <a:srgbClr val="CADCFC"/>
                </a:solidFill>
                <a:latin typeface="Calibri"/>
                <a:ea typeface="Calibri"/>
              </a:rPr>
              <a:t>LLM decides</a:t>
            </a:r>
            <a:endParaRPr lang="en-US" sz="1050" b="0" strike="noStrike" spc="-1">
              <a:solidFill>
                <a:srgbClr val="000000"/>
              </a:solidFill>
              <a:latin typeface="Arial"/>
            </a:endParaRPr>
          </a:p>
          <a:p>
            <a:pPr algn="ctr" defTabSz="914400">
              <a:lnSpc>
                <a:spcPct val="105000"/>
              </a:lnSpc>
              <a:tabLst>
                <a:tab pos="0" algn="l"/>
              </a:tabLst>
            </a:pPr>
            <a:r>
              <a:rPr lang="en-US" sz="1050" b="0" strike="noStrike" spc="-1">
                <a:solidFill>
                  <a:srgbClr val="CADCFC"/>
                </a:solidFill>
                <a:latin typeface="Calibri"/>
                <a:ea typeface="Calibri"/>
              </a:rPr>
              <a:t>what's needed</a:t>
            </a:r>
            <a:endParaRPr lang="en-US" sz="1050" b="0" strike="noStrike" spc="-1">
              <a:solidFill>
                <a:srgbClr val="000000"/>
              </a:solidFill>
              <a:latin typeface="Arial"/>
            </a:endParaRPr>
          </a:p>
        </p:txBody>
      </p:sp>
      <p:sp>
        <p:nvSpPr>
          <p:cNvPr id="944" name="Text 11"/>
          <p:cNvSpPr/>
          <p:nvPr/>
        </p:nvSpPr>
        <p:spPr>
          <a:xfrm>
            <a:off x="4617720" y="1737360"/>
            <a:ext cx="31968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2A623"/>
                </a:solidFill>
                <a:latin typeface="Calibri"/>
                <a:ea typeface="Calibri"/>
              </a:rPr>
              <a:t>&gt;</a:t>
            </a:r>
            <a:endParaRPr lang="en-US" sz="2000" b="0" strike="noStrike" spc="-1">
              <a:solidFill>
                <a:srgbClr val="000000"/>
              </a:solidFill>
              <a:latin typeface="Arial"/>
            </a:endParaRPr>
          </a:p>
        </p:txBody>
      </p:sp>
      <p:sp>
        <p:nvSpPr>
          <p:cNvPr id="945" name="Shape 12"/>
          <p:cNvSpPr/>
          <p:nvPr/>
        </p:nvSpPr>
        <p:spPr>
          <a:xfrm>
            <a:off x="4937760" y="1737360"/>
            <a:ext cx="1828440" cy="1554120"/>
          </a:xfrm>
          <a:prstGeom prst="roundRect">
            <a:avLst>
              <a:gd name="adj" fmla="val 4706"/>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46" name="Shape 13"/>
          <p:cNvSpPr/>
          <p:nvPr/>
        </p:nvSpPr>
        <p:spPr>
          <a:xfrm>
            <a:off x="5577840" y="1901880"/>
            <a:ext cx="548280" cy="548280"/>
          </a:xfrm>
          <a:prstGeom prst="ellipse">
            <a:avLst/>
          </a:prstGeom>
          <a:solidFill>
            <a:srgbClr val="3C348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947" name="Image 2" descr="preencoded.png"/>
          <p:cNvPicPr/>
          <p:nvPr/>
        </p:nvPicPr>
        <p:blipFill>
          <a:blip r:embed="rId5"/>
          <a:stretch/>
        </p:blipFill>
        <p:spPr>
          <a:xfrm>
            <a:off x="5709600" y="2033640"/>
            <a:ext cx="284760" cy="284760"/>
          </a:xfrm>
          <a:prstGeom prst="rect">
            <a:avLst/>
          </a:prstGeom>
          <a:ln w="0">
            <a:noFill/>
          </a:ln>
        </p:spPr>
      </p:pic>
      <p:sp>
        <p:nvSpPr>
          <p:cNvPr id="948" name="Text 14"/>
          <p:cNvSpPr/>
          <p:nvPr/>
        </p:nvSpPr>
        <p:spPr>
          <a:xfrm>
            <a:off x="4937760" y="2514600"/>
            <a:ext cx="1828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alibri"/>
                <a:ea typeface="Calibri"/>
              </a:rPr>
              <a:t>Act</a:t>
            </a:r>
            <a:endParaRPr lang="en-US" sz="1400" b="0" strike="noStrike" spc="-1">
              <a:solidFill>
                <a:srgbClr val="000000"/>
              </a:solidFill>
              <a:latin typeface="Arial"/>
            </a:endParaRPr>
          </a:p>
        </p:txBody>
      </p:sp>
      <p:sp>
        <p:nvSpPr>
          <p:cNvPr id="949" name="Text 15"/>
          <p:cNvSpPr/>
          <p:nvPr/>
        </p:nvSpPr>
        <p:spPr>
          <a:xfrm>
            <a:off x="4937760" y="2834640"/>
            <a:ext cx="18284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5000"/>
              </a:lnSpc>
              <a:tabLst>
                <a:tab pos="0" algn="l"/>
              </a:tabLst>
            </a:pPr>
            <a:r>
              <a:rPr lang="en-US" sz="1050" b="0" strike="noStrike" spc="-1">
                <a:solidFill>
                  <a:srgbClr val="CADCFC"/>
                </a:solidFill>
                <a:latin typeface="Calibri"/>
                <a:ea typeface="Calibri"/>
              </a:rPr>
              <a:t>Call a tool or</a:t>
            </a:r>
            <a:endParaRPr lang="en-US" sz="1050" b="0" strike="noStrike" spc="-1">
              <a:solidFill>
                <a:srgbClr val="000000"/>
              </a:solidFill>
              <a:latin typeface="Arial"/>
            </a:endParaRPr>
          </a:p>
          <a:p>
            <a:pPr algn="ctr" defTabSz="914400">
              <a:lnSpc>
                <a:spcPct val="105000"/>
              </a:lnSpc>
              <a:tabLst>
                <a:tab pos="0" algn="l"/>
              </a:tabLst>
            </a:pPr>
            <a:r>
              <a:rPr lang="en-US" sz="1050" b="0" strike="noStrike" spc="-1">
                <a:solidFill>
                  <a:srgbClr val="CADCFC"/>
                </a:solidFill>
                <a:latin typeface="Calibri"/>
                <a:ea typeface="Calibri"/>
              </a:rPr>
              <a:t>sub-agent</a:t>
            </a:r>
            <a:endParaRPr lang="en-US" sz="1050" b="0" strike="noStrike" spc="-1">
              <a:solidFill>
                <a:srgbClr val="000000"/>
              </a:solidFill>
              <a:latin typeface="Arial"/>
            </a:endParaRPr>
          </a:p>
        </p:txBody>
      </p:sp>
      <p:sp>
        <p:nvSpPr>
          <p:cNvPr id="950" name="Text 16"/>
          <p:cNvSpPr/>
          <p:nvPr/>
        </p:nvSpPr>
        <p:spPr>
          <a:xfrm>
            <a:off x="6766560" y="1737360"/>
            <a:ext cx="31968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2A623"/>
                </a:solidFill>
                <a:latin typeface="Calibri"/>
                <a:ea typeface="Calibri"/>
              </a:rPr>
              <a:t>&gt;</a:t>
            </a:r>
            <a:endParaRPr lang="en-US" sz="2000" b="0" strike="noStrike" spc="-1">
              <a:solidFill>
                <a:srgbClr val="000000"/>
              </a:solidFill>
              <a:latin typeface="Arial"/>
            </a:endParaRPr>
          </a:p>
        </p:txBody>
      </p:sp>
      <p:sp>
        <p:nvSpPr>
          <p:cNvPr id="951" name="Shape 17"/>
          <p:cNvSpPr/>
          <p:nvPr/>
        </p:nvSpPr>
        <p:spPr>
          <a:xfrm>
            <a:off x="7086600" y="1737360"/>
            <a:ext cx="1828440" cy="1554120"/>
          </a:xfrm>
          <a:prstGeom prst="roundRect">
            <a:avLst>
              <a:gd name="adj" fmla="val 4706"/>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52" name="Shape 18"/>
          <p:cNvSpPr/>
          <p:nvPr/>
        </p:nvSpPr>
        <p:spPr>
          <a:xfrm>
            <a:off x="7726680" y="1901880"/>
            <a:ext cx="548280" cy="548280"/>
          </a:xfrm>
          <a:prstGeom prst="ellipse">
            <a:avLst/>
          </a:prstGeom>
          <a:solidFill>
            <a:srgbClr val="3C348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953" name="Image 3" descr="preencoded.png"/>
          <p:cNvPicPr/>
          <p:nvPr/>
        </p:nvPicPr>
        <p:blipFill>
          <a:blip r:embed="rId6"/>
          <a:stretch/>
        </p:blipFill>
        <p:spPr>
          <a:xfrm>
            <a:off x="7858440" y="2033640"/>
            <a:ext cx="284760" cy="284760"/>
          </a:xfrm>
          <a:prstGeom prst="rect">
            <a:avLst/>
          </a:prstGeom>
          <a:ln w="0">
            <a:noFill/>
          </a:ln>
        </p:spPr>
      </p:pic>
      <p:sp>
        <p:nvSpPr>
          <p:cNvPr id="954" name="Text 19"/>
          <p:cNvSpPr/>
          <p:nvPr/>
        </p:nvSpPr>
        <p:spPr>
          <a:xfrm>
            <a:off x="7086600" y="2514600"/>
            <a:ext cx="1828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alibri"/>
                <a:ea typeface="Calibri"/>
              </a:rPr>
              <a:t>Observe</a:t>
            </a:r>
            <a:endParaRPr lang="en-US" sz="1400" b="0" strike="noStrike" spc="-1">
              <a:solidFill>
                <a:srgbClr val="000000"/>
              </a:solidFill>
              <a:latin typeface="Arial"/>
            </a:endParaRPr>
          </a:p>
        </p:txBody>
      </p:sp>
      <p:sp>
        <p:nvSpPr>
          <p:cNvPr id="955" name="Text 20"/>
          <p:cNvSpPr/>
          <p:nvPr/>
        </p:nvSpPr>
        <p:spPr>
          <a:xfrm>
            <a:off x="7086600" y="2834640"/>
            <a:ext cx="18284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5000"/>
              </a:lnSpc>
              <a:tabLst>
                <a:tab pos="0" algn="l"/>
              </a:tabLst>
            </a:pPr>
            <a:r>
              <a:rPr lang="en-US" sz="1050" b="0" strike="noStrike" spc="-1">
                <a:solidFill>
                  <a:srgbClr val="CADCFC"/>
                </a:solidFill>
                <a:latin typeface="Calibri"/>
                <a:ea typeface="Calibri"/>
              </a:rPr>
              <a:t>Feed the result</a:t>
            </a:r>
            <a:endParaRPr lang="en-US" sz="1050" b="0" strike="noStrike" spc="-1">
              <a:solidFill>
                <a:srgbClr val="000000"/>
              </a:solidFill>
              <a:latin typeface="Arial"/>
            </a:endParaRPr>
          </a:p>
          <a:p>
            <a:pPr algn="ctr" defTabSz="914400">
              <a:lnSpc>
                <a:spcPct val="105000"/>
              </a:lnSpc>
              <a:tabLst>
                <a:tab pos="0" algn="l"/>
              </a:tabLst>
            </a:pPr>
            <a:r>
              <a:rPr lang="en-US" sz="1050" b="0" strike="noStrike" spc="-1">
                <a:solidFill>
                  <a:srgbClr val="CADCFC"/>
                </a:solidFill>
                <a:latin typeface="Calibri"/>
                <a:ea typeface="Calibri"/>
              </a:rPr>
              <a:t>back in</a:t>
            </a:r>
            <a:endParaRPr lang="en-US" sz="1050" b="0" strike="noStrike" spc="-1">
              <a:solidFill>
                <a:srgbClr val="000000"/>
              </a:solidFill>
              <a:latin typeface="Arial"/>
            </a:endParaRPr>
          </a:p>
        </p:txBody>
      </p:sp>
      <p:sp>
        <p:nvSpPr>
          <p:cNvPr id="956" name="Shape 21"/>
          <p:cNvSpPr/>
          <p:nvPr/>
        </p:nvSpPr>
        <p:spPr>
          <a:xfrm flipH="1">
            <a:off x="731520" y="3337560"/>
            <a:ext cx="8092440" cy="360"/>
          </a:xfrm>
          <a:prstGeom prst="line">
            <a:avLst/>
          </a:prstGeom>
          <a:ln w="15875">
            <a:solidFill>
              <a:srgbClr val="F2A623"/>
            </a:solidFill>
            <a:prstDash val="dash"/>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957" name="Text 22"/>
          <p:cNvSpPr/>
          <p:nvPr/>
        </p:nvSpPr>
        <p:spPr>
          <a:xfrm>
            <a:off x="640080" y="3456360"/>
            <a:ext cx="8274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i="1" strike="noStrike" spc="-1">
                <a:solidFill>
                  <a:srgbClr val="767290"/>
                </a:solidFill>
                <a:latin typeface="Calibri"/>
                <a:ea typeface="Calibri"/>
              </a:rPr>
              <a:t>repeats until the agent has enough information to respond</a:t>
            </a:r>
            <a:endParaRPr lang="en-US" sz="1100" b="0" strike="noStrike" spc="-1">
              <a:solidFill>
                <a:srgbClr val="000000"/>
              </a:solidFill>
              <a:latin typeface="Arial"/>
            </a:endParaRPr>
          </a:p>
        </p:txBody>
      </p:sp>
      <p:sp>
        <p:nvSpPr>
          <p:cNvPr id="958" name="Text 23"/>
          <p:cNvSpPr/>
          <p:nvPr/>
        </p:nvSpPr>
        <p:spPr>
          <a:xfrm>
            <a:off x="640080" y="3977640"/>
            <a:ext cx="7863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50" b="1" strike="noStrike" spc="-1">
                <a:solidFill>
                  <a:srgbClr val="26215C"/>
                </a:solidFill>
                <a:latin typeface="Calibri"/>
                <a:ea typeface="Calibri"/>
              </a:rPr>
              <a:t>Add long-term memory, a set of tools, and this loop to a model — and it becomes an agent.</a:t>
            </a:r>
            <a:endParaRPr lang="en-US" sz="1350" b="0" strike="noStrike" spc="-1">
              <a:solidFill>
                <a:srgbClr val="000000"/>
              </a:solidFill>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9"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APPENDIX</a:t>
            </a:r>
            <a:endParaRPr lang="en-US" sz="1200" b="0" strike="noStrike" spc="-1">
              <a:solidFill>
                <a:srgbClr val="000000"/>
              </a:solidFill>
              <a:latin typeface="Arial"/>
            </a:endParaRPr>
          </a:p>
        </p:txBody>
      </p:sp>
      <p:sp>
        <p:nvSpPr>
          <p:cNvPr id="960"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What changes for the person using it</a:t>
            </a:r>
            <a:endParaRPr lang="en-US" sz="2800" b="0" strike="noStrike" spc="-1">
              <a:solidFill>
                <a:srgbClr val="000000"/>
              </a:solidFill>
              <a:latin typeface="Arial"/>
            </a:endParaRPr>
          </a:p>
        </p:txBody>
      </p:sp>
      <p:sp>
        <p:nvSpPr>
          <p:cNvPr id="961" name="Shape 2"/>
          <p:cNvSpPr/>
          <p:nvPr/>
        </p:nvSpPr>
        <p:spPr>
          <a:xfrm>
            <a:off x="457200" y="1554480"/>
            <a:ext cx="4023000" cy="3200040"/>
          </a:xfrm>
          <a:prstGeom prst="roundRect">
            <a:avLst>
              <a:gd name="adj" fmla="val 2857"/>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62" name="Shape 3"/>
          <p:cNvSpPr/>
          <p:nvPr/>
        </p:nvSpPr>
        <p:spPr>
          <a:xfrm>
            <a:off x="777240" y="1828800"/>
            <a:ext cx="548280" cy="548280"/>
          </a:xfrm>
          <a:prstGeom prst="ellipse">
            <a:avLst/>
          </a:prstGeom>
          <a:solidFill>
            <a:srgbClr val="ECEB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963" name="Image 0" descr="preencoded.png"/>
          <p:cNvPicPr/>
          <p:nvPr/>
        </p:nvPicPr>
        <p:blipFill>
          <a:blip r:embed="rId3"/>
          <a:stretch/>
        </p:blipFill>
        <p:spPr>
          <a:xfrm>
            <a:off x="909000" y="1960560"/>
            <a:ext cx="284760" cy="284760"/>
          </a:xfrm>
          <a:prstGeom prst="rect">
            <a:avLst/>
          </a:prstGeom>
          <a:ln w="0">
            <a:noFill/>
          </a:ln>
        </p:spPr>
      </p:pic>
      <p:sp>
        <p:nvSpPr>
          <p:cNvPr id="964" name="Text 4"/>
          <p:cNvSpPr/>
          <p:nvPr/>
        </p:nvSpPr>
        <p:spPr>
          <a:xfrm>
            <a:off x="1463040" y="1828800"/>
            <a:ext cx="27428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26215C"/>
                </a:solidFill>
                <a:latin typeface="Cambria"/>
                <a:ea typeface="Cambria"/>
              </a:rPr>
              <a:t>Traditional chatbot</a:t>
            </a:r>
            <a:endParaRPr lang="en-US" sz="1800" b="0" strike="noStrike" spc="-1">
              <a:solidFill>
                <a:srgbClr val="000000"/>
              </a:solidFill>
              <a:latin typeface="Arial"/>
            </a:endParaRPr>
          </a:p>
        </p:txBody>
      </p:sp>
      <p:sp>
        <p:nvSpPr>
          <p:cNvPr id="965" name="Text 5"/>
          <p:cNvSpPr/>
          <p:nvPr/>
        </p:nvSpPr>
        <p:spPr>
          <a:xfrm>
            <a:off x="777240" y="2606040"/>
            <a:ext cx="33829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0000"/>
              </a:lnSpc>
              <a:buClr>
                <a:srgbClr val="433F5C"/>
              </a:buClr>
              <a:buFont typeface="Symbol" charset="2"/>
              <a:buChar char=""/>
            </a:pPr>
            <a:r>
              <a:rPr lang="en-US" sz="1300" b="0" strike="noStrike" spc="-1">
                <a:solidFill>
                  <a:srgbClr val="433F5C"/>
                </a:solidFill>
                <a:latin typeface="Calibri"/>
                <a:ea typeface="Calibri"/>
              </a:rPr>
              <a:t>Forgets everything between sessions</a:t>
            </a:r>
            <a:endParaRPr lang="en-US" sz="1300" b="0" strike="noStrike" spc="-1">
              <a:solidFill>
                <a:srgbClr val="000000"/>
              </a:solidFill>
              <a:latin typeface="Arial"/>
            </a:endParaRPr>
          </a:p>
        </p:txBody>
      </p:sp>
      <p:sp>
        <p:nvSpPr>
          <p:cNvPr id="966" name="Text 6"/>
          <p:cNvSpPr/>
          <p:nvPr/>
        </p:nvSpPr>
        <p:spPr>
          <a:xfrm>
            <a:off x="777240" y="3246120"/>
            <a:ext cx="33829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0000"/>
              </a:lnSpc>
              <a:buClr>
                <a:srgbClr val="433F5C"/>
              </a:buClr>
              <a:buFont typeface="Symbol" charset="2"/>
              <a:buChar char=""/>
            </a:pPr>
            <a:r>
              <a:rPr lang="en-US" sz="1300" b="0" strike="noStrike" spc="-1">
                <a:solidFill>
                  <a:srgbClr val="433F5C"/>
                </a:solidFill>
                <a:latin typeface="Calibri"/>
                <a:ea typeface="Calibri"/>
              </a:rPr>
              <a:t>Answers one request at a time</a:t>
            </a:r>
            <a:endParaRPr lang="en-US" sz="1300" b="0" strike="noStrike" spc="-1">
              <a:solidFill>
                <a:srgbClr val="000000"/>
              </a:solidFill>
              <a:latin typeface="Arial"/>
            </a:endParaRPr>
          </a:p>
        </p:txBody>
      </p:sp>
      <p:sp>
        <p:nvSpPr>
          <p:cNvPr id="967" name="Text 7"/>
          <p:cNvSpPr/>
          <p:nvPr/>
        </p:nvSpPr>
        <p:spPr>
          <a:xfrm>
            <a:off x="777240" y="3886200"/>
            <a:ext cx="33829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0000"/>
              </a:lnSpc>
              <a:buClr>
                <a:srgbClr val="433F5C"/>
              </a:buClr>
              <a:buFont typeface="Symbol" charset="2"/>
              <a:buChar char=""/>
            </a:pPr>
            <a:r>
              <a:rPr lang="en-US" sz="1300" b="0" strike="noStrike" spc="-1">
                <a:solidFill>
                  <a:srgbClr val="433F5C"/>
                </a:solidFill>
                <a:latin typeface="Calibri"/>
                <a:ea typeface="Calibri"/>
              </a:rPr>
              <a:t>Same response for every user</a:t>
            </a:r>
            <a:endParaRPr lang="en-US" sz="1300" b="0" strike="noStrike" spc="-1">
              <a:solidFill>
                <a:srgbClr val="000000"/>
              </a:solidFill>
              <a:latin typeface="Arial"/>
            </a:endParaRPr>
          </a:p>
        </p:txBody>
      </p:sp>
      <p:sp>
        <p:nvSpPr>
          <p:cNvPr id="968" name="Shape 8"/>
          <p:cNvSpPr/>
          <p:nvPr/>
        </p:nvSpPr>
        <p:spPr>
          <a:xfrm>
            <a:off x="4663440" y="1554480"/>
            <a:ext cx="4023000" cy="3200040"/>
          </a:xfrm>
          <a:prstGeom prst="roundRect">
            <a:avLst>
              <a:gd name="adj" fmla="val 2857"/>
            </a:avLst>
          </a:prstGeom>
          <a:solidFill>
            <a:srgbClr val="F8F7FC"/>
          </a:solidFill>
          <a:ln w="0">
            <a:noFill/>
          </a:ln>
          <a:effectLst>
            <a:outerShdw blurRad="63360" dist="25560" dir="54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69" name="Shape 9"/>
          <p:cNvSpPr/>
          <p:nvPr/>
        </p:nvSpPr>
        <p:spPr>
          <a:xfrm>
            <a:off x="4983480" y="1828800"/>
            <a:ext cx="548280" cy="548280"/>
          </a:xfrm>
          <a:prstGeom prst="ellipse">
            <a:avLst/>
          </a:prstGeom>
          <a:solidFill>
            <a:srgbClr val="FAEE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970" name="Image 1" descr="preencoded.png"/>
          <p:cNvPicPr/>
          <p:nvPr/>
        </p:nvPicPr>
        <p:blipFill>
          <a:blip r:embed="rId4"/>
          <a:stretch/>
        </p:blipFill>
        <p:spPr>
          <a:xfrm>
            <a:off x="5115240" y="1960560"/>
            <a:ext cx="284760" cy="284760"/>
          </a:xfrm>
          <a:prstGeom prst="rect">
            <a:avLst/>
          </a:prstGeom>
          <a:ln w="0">
            <a:noFill/>
          </a:ln>
        </p:spPr>
      </p:pic>
      <p:sp>
        <p:nvSpPr>
          <p:cNvPr id="971" name="Text 10"/>
          <p:cNvSpPr/>
          <p:nvPr/>
        </p:nvSpPr>
        <p:spPr>
          <a:xfrm>
            <a:off x="5669280" y="1828800"/>
            <a:ext cx="27428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26215C"/>
                </a:solidFill>
                <a:latin typeface="Cambria"/>
                <a:ea typeface="Cambria"/>
              </a:rPr>
              <a:t>Agentic assistant</a:t>
            </a:r>
            <a:endParaRPr lang="en-US" sz="1800" b="0" strike="noStrike" spc="-1">
              <a:solidFill>
                <a:srgbClr val="000000"/>
              </a:solidFill>
              <a:latin typeface="Arial"/>
            </a:endParaRPr>
          </a:p>
        </p:txBody>
      </p:sp>
      <p:sp>
        <p:nvSpPr>
          <p:cNvPr id="972" name="Text 11"/>
          <p:cNvSpPr/>
          <p:nvPr/>
        </p:nvSpPr>
        <p:spPr>
          <a:xfrm>
            <a:off x="4983480" y="2606040"/>
            <a:ext cx="33829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0000"/>
              </a:lnSpc>
              <a:buClr>
                <a:srgbClr val="433F5C"/>
              </a:buClr>
              <a:buFont typeface="Symbol" charset="2"/>
              <a:buChar char=""/>
            </a:pPr>
            <a:r>
              <a:rPr lang="en-US" sz="1300" b="0" strike="noStrike" spc="-1">
                <a:solidFill>
                  <a:srgbClr val="433F5C"/>
                </a:solidFill>
                <a:latin typeface="Calibri"/>
                <a:ea typeface="Calibri"/>
              </a:rPr>
              <a:t>Recognizes you and shows chat history</a:t>
            </a:r>
            <a:endParaRPr lang="en-US" sz="1300" b="0" strike="noStrike" spc="-1">
              <a:solidFill>
                <a:srgbClr val="000000"/>
              </a:solidFill>
              <a:latin typeface="Arial"/>
            </a:endParaRPr>
          </a:p>
        </p:txBody>
      </p:sp>
      <p:sp>
        <p:nvSpPr>
          <p:cNvPr id="973" name="Text 12"/>
          <p:cNvSpPr/>
          <p:nvPr/>
        </p:nvSpPr>
        <p:spPr>
          <a:xfrm>
            <a:off x="4983480" y="3246120"/>
            <a:ext cx="33829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0000"/>
              </a:lnSpc>
              <a:buClr>
                <a:srgbClr val="433F5C"/>
              </a:buClr>
              <a:buFont typeface="Symbol" charset="2"/>
              <a:buChar char=""/>
            </a:pPr>
            <a:r>
              <a:rPr lang="en-US" sz="1300" b="0" strike="noStrike" spc="-1">
                <a:solidFill>
                  <a:srgbClr val="433F5C"/>
                </a:solidFill>
                <a:latin typeface="Calibri"/>
                <a:ea typeface="Calibri"/>
              </a:rPr>
              <a:t>Splits multi-part requests across specialist agents</a:t>
            </a:r>
            <a:endParaRPr lang="en-US" sz="1300" b="0" strike="noStrike" spc="-1">
              <a:solidFill>
                <a:srgbClr val="000000"/>
              </a:solidFill>
              <a:latin typeface="Arial"/>
            </a:endParaRPr>
          </a:p>
        </p:txBody>
      </p:sp>
      <p:sp>
        <p:nvSpPr>
          <p:cNvPr id="974" name="Text 13"/>
          <p:cNvSpPr/>
          <p:nvPr/>
        </p:nvSpPr>
        <p:spPr>
          <a:xfrm>
            <a:off x="4983480" y="3886200"/>
            <a:ext cx="33829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10000"/>
              </a:lnSpc>
              <a:buClr>
                <a:srgbClr val="433F5C"/>
              </a:buClr>
              <a:buFont typeface="Symbol" charset="2"/>
              <a:buChar char=""/>
            </a:pPr>
            <a:r>
              <a:rPr lang="en-US" sz="1300" b="0" strike="noStrike" spc="-1">
                <a:solidFill>
                  <a:srgbClr val="433F5C"/>
                </a:solidFill>
                <a:latin typeface="Calibri"/>
                <a:ea typeface="Calibri"/>
              </a:rPr>
              <a:t>Personalizes answers using long-term memory</a:t>
            </a:r>
            <a:endParaRPr lang="en-US" sz="1300" b="0" strike="noStrike" spc="-1">
              <a:solidFill>
                <a:srgbClr val="000000"/>
              </a:solidFill>
              <a:latin typeface="Arial"/>
            </a:endParaRPr>
          </a:p>
        </p:txBody>
      </p:sp>
      <p:sp>
        <p:nvSpPr>
          <p:cNvPr id="975" name="Shape 14"/>
          <p:cNvSpPr/>
          <p:nvPr/>
        </p:nvSpPr>
        <p:spPr>
          <a:xfrm>
            <a:off x="4297680" y="2971800"/>
            <a:ext cx="548280" cy="54828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76" name="Text 15"/>
          <p:cNvSpPr/>
          <p:nvPr/>
        </p:nvSpPr>
        <p:spPr>
          <a:xfrm>
            <a:off x="4297680" y="2971800"/>
            <a:ext cx="548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Calibri"/>
                <a:ea typeface="Calibri"/>
              </a:rPr>
              <a:t>&gt;</a:t>
            </a:r>
            <a:endParaRPr lang="en-US" sz="1800" b="0" strike="noStrike" spc="-1">
              <a:solidFill>
                <a:srgbClr val="000000"/>
              </a:solidFill>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7"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APPENDIX</a:t>
            </a:r>
            <a:endParaRPr lang="en-US" sz="1200" b="0" strike="noStrike" spc="-1">
              <a:solidFill>
                <a:srgbClr val="000000"/>
              </a:solidFill>
              <a:latin typeface="Arial"/>
            </a:endParaRPr>
          </a:p>
        </p:txBody>
      </p:sp>
      <p:sp>
        <p:nvSpPr>
          <p:cNvPr id="978"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References: banking industry statistics</a:t>
            </a:r>
            <a:endParaRPr lang="en-US" sz="2800" b="0" strike="noStrike" spc="-1">
              <a:solidFill>
                <a:srgbClr val="000000"/>
              </a:solidFill>
              <a:latin typeface="Arial"/>
            </a:endParaRPr>
          </a:p>
        </p:txBody>
      </p:sp>
      <p:sp>
        <p:nvSpPr>
          <p:cNvPr id="979" name="Shape 2"/>
          <p:cNvSpPr/>
          <p:nvPr/>
        </p:nvSpPr>
        <p:spPr>
          <a:xfrm>
            <a:off x="457200" y="1325880"/>
            <a:ext cx="347040" cy="34704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980" name="Image 0" descr="preencoded.png"/>
          <p:cNvPicPr/>
          <p:nvPr/>
        </p:nvPicPr>
        <p:blipFill>
          <a:blip r:embed="rId3"/>
          <a:stretch/>
        </p:blipFill>
        <p:spPr>
          <a:xfrm>
            <a:off x="540720" y="1409400"/>
            <a:ext cx="180360" cy="180360"/>
          </a:xfrm>
          <a:prstGeom prst="rect">
            <a:avLst/>
          </a:prstGeom>
          <a:ln w="0">
            <a:noFill/>
          </a:ln>
        </p:spPr>
      </p:pic>
      <p:sp>
        <p:nvSpPr>
          <p:cNvPr id="981" name="Text 3"/>
          <p:cNvSpPr/>
          <p:nvPr/>
        </p:nvSpPr>
        <p:spPr>
          <a:xfrm>
            <a:off x="914400" y="12801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strike="noStrike" spc="-1">
                <a:solidFill>
                  <a:srgbClr val="26215C"/>
                </a:solidFill>
                <a:latin typeface="Calibri"/>
                <a:ea typeface="Calibri"/>
              </a:rPr>
              <a:t>[1]  99% of firms plan to deploy AI agents; only 11% have done so</a:t>
            </a:r>
            <a:endParaRPr lang="en-US" sz="1050" b="0" strike="noStrike" spc="-1">
              <a:solidFill>
                <a:srgbClr val="000000"/>
              </a:solidFill>
              <a:latin typeface="Arial"/>
            </a:endParaRPr>
          </a:p>
        </p:txBody>
      </p:sp>
      <p:sp>
        <p:nvSpPr>
          <p:cNvPr id="982" name="Text 4"/>
          <p:cNvSpPr/>
          <p:nvPr/>
        </p:nvSpPr>
        <p:spPr>
          <a:xfrm>
            <a:off x="914400" y="1664280"/>
            <a:ext cx="78634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strike="noStrike" spc="-1">
                <a:solidFill>
                  <a:srgbClr val="433F5C"/>
                </a:solidFill>
                <a:latin typeface="Calibri"/>
                <a:ea typeface="Calibri"/>
              </a:rPr>
              <a:t>KPMG estimate, cited in “Agentic AI in Financial Services: A Research Roundup for 2026” (Neurons Lab)</a:t>
            </a:r>
            <a:endParaRPr lang="en-US" sz="900" b="0" strike="noStrike" spc="-1">
              <a:solidFill>
                <a:srgbClr val="000000"/>
              </a:solidFill>
              <a:latin typeface="Arial"/>
            </a:endParaRPr>
          </a:p>
        </p:txBody>
      </p:sp>
      <p:sp>
        <p:nvSpPr>
          <p:cNvPr id="983" name="Text 5">
            <a:hlinkClick r:id="rId4"/>
          </p:cNvPr>
          <p:cNvSpPr/>
          <p:nvPr/>
        </p:nvSpPr>
        <p:spPr>
          <a:xfrm>
            <a:off x="914400" y="187452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sng" strike="noStrike" spc="-1">
                <a:solidFill>
                  <a:srgbClr val="0F6E56"/>
                </a:solidFill>
                <a:uFillTx/>
                <a:latin typeface="Calibri"/>
                <a:ea typeface="Calibri"/>
                <a:hlinkClick r:id="rId4"/>
              </a:rPr>
              <a:t>neurons-lab.com/articles/agentic-ai-in-financial-services-2026</a:t>
            </a:r>
            <a:endParaRPr lang="en-US" sz="850" b="0" strike="noStrike" spc="-1">
              <a:solidFill>
                <a:srgbClr val="000000"/>
              </a:solidFill>
              <a:latin typeface="Arial"/>
            </a:endParaRPr>
          </a:p>
        </p:txBody>
      </p:sp>
      <p:sp>
        <p:nvSpPr>
          <p:cNvPr id="984" name="Shape 6"/>
          <p:cNvSpPr/>
          <p:nvPr/>
        </p:nvSpPr>
        <p:spPr>
          <a:xfrm>
            <a:off x="457200" y="2130480"/>
            <a:ext cx="347040" cy="34704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985" name="Image 1" descr="preencoded.png"/>
          <p:cNvPicPr/>
          <p:nvPr/>
        </p:nvPicPr>
        <p:blipFill>
          <a:blip r:embed="rId3"/>
          <a:stretch/>
        </p:blipFill>
        <p:spPr>
          <a:xfrm>
            <a:off x="540720" y="2214000"/>
            <a:ext cx="180360" cy="180360"/>
          </a:xfrm>
          <a:prstGeom prst="rect">
            <a:avLst/>
          </a:prstGeom>
          <a:ln w="0">
            <a:noFill/>
          </a:ln>
        </p:spPr>
      </p:pic>
      <p:sp>
        <p:nvSpPr>
          <p:cNvPr id="986" name="Text 7"/>
          <p:cNvSpPr/>
          <p:nvPr/>
        </p:nvSpPr>
        <p:spPr>
          <a:xfrm>
            <a:off x="914400" y="20847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strike="noStrike" spc="-1">
                <a:solidFill>
                  <a:srgbClr val="26215C"/>
                </a:solidFill>
                <a:latin typeface="Calibri"/>
                <a:ea typeface="Calibri"/>
              </a:rPr>
              <a:t>[2]  62% of consumers most trust their primary bank for gen AI financial services, vs. 19% for a major tech company</a:t>
            </a:r>
            <a:endParaRPr lang="en-US" sz="1050" b="0" strike="noStrike" spc="-1">
              <a:solidFill>
                <a:srgbClr val="000000"/>
              </a:solidFill>
              <a:latin typeface="Arial"/>
            </a:endParaRPr>
          </a:p>
        </p:txBody>
      </p:sp>
      <p:sp>
        <p:nvSpPr>
          <p:cNvPr id="987" name="Text 8"/>
          <p:cNvSpPr/>
          <p:nvPr/>
        </p:nvSpPr>
        <p:spPr>
          <a:xfrm>
            <a:off x="914400" y="2468880"/>
            <a:ext cx="78634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strike="noStrike" spc="-1">
                <a:solidFill>
                  <a:srgbClr val="433F5C"/>
                </a:solidFill>
                <a:latin typeface="Calibri"/>
                <a:ea typeface="Calibri"/>
              </a:rPr>
              <a:t>McKinsey Global Banking Annual Review Survey, May 2025 (n = 30,021), cited in “How gen AI agents threaten retail banks’ customer relationships,” McKinsey</a:t>
            </a:r>
            <a:endParaRPr lang="en-US" sz="900" b="0" strike="noStrike" spc="-1">
              <a:solidFill>
                <a:srgbClr val="000000"/>
              </a:solidFill>
              <a:latin typeface="Arial"/>
            </a:endParaRPr>
          </a:p>
        </p:txBody>
      </p:sp>
      <p:sp>
        <p:nvSpPr>
          <p:cNvPr id="988" name="Text 9">
            <a:hlinkClick r:id="rId5"/>
          </p:cNvPr>
          <p:cNvSpPr/>
          <p:nvPr/>
        </p:nvSpPr>
        <p:spPr>
          <a:xfrm>
            <a:off x="914400" y="267912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sng" strike="noStrike" spc="-1">
                <a:solidFill>
                  <a:srgbClr val="0F6E56"/>
                </a:solidFill>
                <a:uFillTx/>
                <a:latin typeface="Calibri"/>
                <a:ea typeface="Calibri"/>
                <a:hlinkClick r:id="rId5"/>
              </a:rPr>
              <a:t>mckinsey.com/industries/financial-services/our-insights/how-gen-ai-agents-threaten-retail-banks-customer-relationships</a:t>
            </a:r>
            <a:endParaRPr lang="en-US" sz="850" b="0" strike="noStrike" spc="-1">
              <a:solidFill>
                <a:srgbClr val="000000"/>
              </a:solidFill>
              <a:latin typeface="Arial"/>
            </a:endParaRPr>
          </a:p>
        </p:txBody>
      </p:sp>
      <p:sp>
        <p:nvSpPr>
          <p:cNvPr id="989" name="Shape 10"/>
          <p:cNvSpPr/>
          <p:nvPr/>
        </p:nvSpPr>
        <p:spPr>
          <a:xfrm>
            <a:off x="457200" y="2935080"/>
            <a:ext cx="347040" cy="34704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990" name="Image 2" descr="preencoded.png"/>
          <p:cNvPicPr/>
          <p:nvPr/>
        </p:nvPicPr>
        <p:blipFill>
          <a:blip r:embed="rId3"/>
          <a:stretch/>
        </p:blipFill>
        <p:spPr>
          <a:xfrm>
            <a:off x="540720" y="3018600"/>
            <a:ext cx="180360" cy="180360"/>
          </a:xfrm>
          <a:prstGeom prst="rect">
            <a:avLst/>
          </a:prstGeom>
          <a:ln w="0">
            <a:noFill/>
          </a:ln>
        </p:spPr>
      </p:pic>
      <p:sp>
        <p:nvSpPr>
          <p:cNvPr id="991" name="Text 11"/>
          <p:cNvSpPr/>
          <p:nvPr/>
        </p:nvSpPr>
        <p:spPr>
          <a:xfrm>
            <a:off x="914400" y="28893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strike="noStrike" spc="-1">
                <a:solidFill>
                  <a:srgbClr val="26215C"/>
                </a:solidFill>
                <a:latin typeface="Calibri"/>
                <a:ea typeface="Calibri"/>
              </a:rPr>
              <a:t>[2b]  More than half of banking consumers now use gen AI tools; nearly all say they'd switch providers if their bank didn't keep up</a:t>
            </a:r>
            <a:endParaRPr lang="en-US" sz="1050" b="0" strike="noStrike" spc="-1">
              <a:solidFill>
                <a:srgbClr val="000000"/>
              </a:solidFill>
              <a:latin typeface="Arial"/>
            </a:endParaRPr>
          </a:p>
        </p:txBody>
      </p:sp>
      <p:sp>
        <p:nvSpPr>
          <p:cNvPr id="992" name="Text 12"/>
          <p:cNvSpPr/>
          <p:nvPr/>
        </p:nvSpPr>
        <p:spPr>
          <a:xfrm>
            <a:off x="914400" y="3273480"/>
            <a:ext cx="78634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strike="noStrike" spc="-1">
                <a:solidFill>
                  <a:srgbClr val="433F5C"/>
                </a:solidFill>
                <a:latin typeface="Calibri"/>
                <a:ea typeface="Calibri"/>
              </a:rPr>
              <a:t>McKinsey, cited in “3 Key Shifts Will Make 2026 the Inflection Point for AI in Banking” (The Financial Brand)</a:t>
            </a:r>
            <a:endParaRPr lang="en-US" sz="900" b="0" strike="noStrike" spc="-1">
              <a:solidFill>
                <a:srgbClr val="000000"/>
              </a:solidFill>
              <a:latin typeface="Arial"/>
            </a:endParaRPr>
          </a:p>
        </p:txBody>
      </p:sp>
      <p:sp>
        <p:nvSpPr>
          <p:cNvPr id="993" name="Text 13">
            <a:hlinkClick r:id="rId6"/>
          </p:cNvPr>
          <p:cNvSpPr/>
          <p:nvPr/>
        </p:nvSpPr>
        <p:spPr>
          <a:xfrm>
            <a:off x="914400" y="348372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sng" strike="noStrike" spc="-1">
                <a:solidFill>
                  <a:srgbClr val="0F6E56"/>
                </a:solidFill>
                <a:uFillTx/>
                <a:latin typeface="Calibri"/>
                <a:ea typeface="Calibri"/>
                <a:hlinkClick r:id="rId6"/>
              </a:rPr>
              <a:t>thefinancialbrand.com/news/artificial-intelligence-banking/three-key-shifts-to-make-2026-your-inflection-point-for-ai-in-banking-194723</a:t>
            </a:r>
            <a:endParaRPr lang="en-US" sz="850" b="0" strike="noStrike" spc="-1">
              <a:solidFill>
                <a:srgbClr val="000000"/>
              </a:solidFill>
              <a:latin typeface="Arial"/>
            </a:endParaRPr>
          </a:p>
        </p:txBody>
      </p:sp>
      <p:sp>
        <p:nvSpPr>
          <p:cNvPr id="994" name="Shape 14"/>
          <p:cNvSpPr/>
          <p:nvPr/>
        </p:nvSpPr>
        <p:spPr>
          <a:xfrm>
            <a:off x="457200" y="3740040"/>
            <a:ext cx="347040" cy="347040"/>
          </a:xfrm>
          <a:prstGeom prst="ellipse">
            <a:avLst/>
          </a:prstGeom>
          <a:solidFill>
            <a:srgbClr val="E1F5E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995" name="Image 3" descr="preencoded.png"/>
          <p:cNvPicPr/>
          <p:nvPr/>
        </p:nvPicPr>
        <p:blipFill>
          <a:blip r:embed="rId3"/>
          <a:stretch/>
        </p:blipFill>
        <p:spPr>
          <a:xfrm>
            <a:off x="540720" y="3823200"/>
            <a:ext cx="180360" cy="180360"/>
          </a:xfrm>
          <a:prstGeom prst="rect">
            <a:avLst/>
          </a:prstGeom>
          <a:ln w="0">
            <a:noFill/>
          </a:ln>
        </p:spPr>
      </p:pic>
      <p:sp>
        <p:nvSpPr>
          <p:cNvPr id="996" name="Text 15"/>
          <p:cNvSpPr/>
          <p:nvPr/>
        </p:nvSpPr>
        <p:spPr>
          <a:xfrm>
            <a:off x="914400" y="3694320"/>
            <a:ext cx="78634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strike="noStrike" spc="-1">
                <a:solidFill>
                  <a:srgbClr val="26215C"/>
                </a:solidFill>
                <a:latin typeface="Calibri"/>
                <a:ea typeface="Calibri"/>
              </a:rPr>
              <a:t>[3]  High-risk AI in credit scoring, lending, and AML must comply with the EU AI Act by 2 Aug 2026; penalties up to 7% of global annual turnover</a:t>
            </a:r>
            <a:endParaRPr lang="en-US" sz="1050" b="0" strike="noStrike" spc="-1">
              <a:solidFill>
                <a:srgbClr val="000000"/>
              </a:solidFill>
              <a:latin typeface="Arial"/>
            </a:endParaRPr>
          </a:p>
        </p:txBody>
      </p:sp>
      <p:sp>
        <p:nvSpPr>
          <p:cNvPr id="997" name="Text 16"/>
          <p:cNvSpPr/>
          <p:nvPr/>
        </p:nvSpPr>
        <p:spPr>
          <a:xfrm>
            <a:off x="914400" y="4078080"/>
            <a:ext cx="78634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strike="noStrike" spc="-1">
                <a:solidFill>
                  <a:srgbClr val="433F5C"/>
                </a:solidFill>
                <a:latin typeface="Calibri"/>
                <a:ea typeface="Calibri"/>
              </a:rPr>
              <a:t>EU AI Act, cited in “AI in Banking 2026: Use Cases, Trends &amp; Outlook” (Blott)</a:t>
            </a:r>
            <a:endParaRPr lang="en-US" sz="900" b="0" strike="noStrike" spc="-1">
              <a:solidFill>
                <a:srgbClr val="000000"/>
              </a:solidFill>
              <a:latin typeface="Arial"/>
            </a:endParaRPr>
          </a:p>
        </p:txBody>
      </p:sp>
      <p:sp>
        <p:nvSpPr>
          <p:cNvPr id="998" name="Text 17">
            <a:hlinkClick r:id="rId7"/>
          </p:cNvPr>
          <p:cNvSpPr/>
          <p:nvPr/>
        </p:nvSpPr>
        <p:spPr>
          <a:xfrm>
            <a:off x="914400" y="428868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sng" strike="noStrike" spc="-1">
                <a:solidFill>
                  <a:srgbClr val="0F6E56"/>
                </a:solidFill>
                <a:uFillTx/>
                <a:latin typeface="Calibri"/>
                <a:ea typeface="Calibri"/>
                <a:hlinkClick r:id="rId7"/>
              </a:rPr>
              <a:t>blott.com/reports/ai-use-cases-in-banking</a:t>
            </a:r>
            <a:endParaRPr lang="en-US" sz="850" b="0" strike="noStrike" spc="-1">
              <a:solidFill>
                <a:srgbClr val="000000"/>
              </a:solidFill>
              <a:latin typeface="Arial"/>
            </a:endParaRPr>
          </a:p>
        </p:txBody>
      </p:sp>
      <p:sp>
        <p:nvSpPr>
          <p:cNvPr id="999" name="Text 18"/>
          <p:cNvSpPr/>
          <p:nvPr/>
        </p:nvSpPr>
        <p:spPr>
          <a:xfrm>
            <a:off x="457200" y="46360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0" i="1" strike="noStrike" spc="-1">
                <a:solidFill>
                  <a:srgbClr val="767290"/>
                </a:solidFill>
                <a:latin typeface="Calibri"/>
                <a:ea typeface="Calibri"/>
              </a:rPr>
              <a:t>Figures reflect publicly available industry surveys and reports current as of mid-2026; verify against the original source before reuse in external materials.</a:t>
            </a:r>
            <a:endParaRPr lang="en-US" sz="850" b="0" strike="noStrike" spc="-1">
              <a:solidFill>
                <a:srgbClr val="000000"/>
              </a:solidFill>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AUDIENCE FAQ · 1 OF 3</a:t>
            </a:r>
            <a:endParaRPr lang="en-US" sz="1200" b="0" strike="noStrike" spc="-1">
              <a:solidFill>
                <a:srgbClr val="000000"/>
              </a:solidFill>
              <a:latin typeface="Arial"/>
            </a:endParaRPr>
          </a:p>
        </p:txBody>
      </p:sp>
      <p:sp>
        <p:nvSpPr>
          <p:cNvPr id="1001"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Framework &amp; architecture choices</a:t>
            </a:r>
            <a:endParaRPr lang="en-US" sz="2800" b="0" strike="noStrike" spc="-1">
              <a:solidFill>
                <a:srgbClr val="000000"/>
              </a:solidFill>
              <a:latin typeface="Arial"/>
            </a:endParaRPr>
          </a:p>
        </p:txBody>
      </p:sp>
      <p:sp>
        <p:nvSpPr>
          <p:cNvPr id="1002" name="Shape 2"/>
          <p:cNvSpPr/>
          <p:nvPr/>
        </p:nvSpPr>
        <p:spPr>
          <a:xfrm>
            <a:off x="457200" y="128916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03" name="Text 3"/>
          <p:cNvSpPr/>
          <p:nvPr/>
        </p:nvSpPr>
        <p:spPr>
          <a:xfrm>
            <a:off x="457200" y="128916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04" name="Text 4"/>
          <p:cNvSpPr/>
          <p:nvPr/>
        </p:nvSpPr>
        <p:spPr>
          <a:xfrm>
            <a:off x="749880" y="1252800"/>
            <a:ext cx="38217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Why ADK and not LangGraph?</a:t>
            </a:r>
            <a:endParaRPr lang="en-US" sz="1000" b="0" strike="noStrike" spc="-1">
              <a:solidFill>
                <a:srgbClr val="000000"/>
              </a:solidFill>
              <a:latin typeface="Arial"/>
            </a:endParaRPr>
          </a:p>
        </p:txBody>
      </p:sp>
      <p:sp>
        <p:nvSpPr>
          <p:cNvPr id="1005" name="Text 5"/>
          <p:cNvSpPr/>
          <p:nvPr/>
        </p:nvSpPr>
        <p:spPr>
          <a:xfrm>
            <a:off x="749880" y="1517760"/>
            <a:ext cx="38217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ADK optimizes for build-and-deploy speed on GCP: built-in evals, one-command deploy to Vertex AI, native voice/multimodal. LangGraph optimizes for precise control over branching logic. We chose ADK for shipping speed on our GCP stack — not because it's objectively better.</a:t>
            </a:r>
            <a:endParaRPr lang="en-US" sz="780" b="0" strike="noStrike" spc="-1">
              <a:solidFill>
                <a:srgbClr val="000000"/>
              </a:solidFill>
              <a:latin typeface="Arial"/>
            </a:endParaRPr>
          </a:p>
        </p:txBody>
      </p:sp>
      <p:sp>
        <p:nvSpPr>
          <p:cNvPr id="1006" name="Shape 6"/>
          <p:cNvSpPr/>
          <p:nvPr/>
        </p:nvSpPr>
        <p:spPr>
          <a:xfrm>
            <a:off x="457200" y="233172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07" name="Text 7"/>
          <p:cNvSpPr/>
          <p:nvPr/>
        </p:nvSpPr>
        <p:spPr>
          <a:xfrm>
            <a:off x="457200" y="233172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08" name="Text 8"/>
          <p:cNvSpPr/>
          <p:nvPr/>
        </p:nvSpPr>
        <p:spPr>
          <a:xfrm>
            <a:off x="749880" y="2295000"/>
            <a:ext cx="38217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Are we locked into Google Cloud by choosing ADK?</a:t>
            </a:r>
            <a:endParaRPr lang="en-US" sz="1000" b="0" strike="noStrike" spc="-1">
              <a:solidFill>
                <a:srgbClr val="000000"/>
              </a:solidFill>
              <a:latin typeface="Arial"/>
            </a:endParaRPr>
          </a:p>
        </p:txBody>
      </p:sp>
      <p:sp>
        <p:nvSpPr>
          <p:cNvPr id="1009" name="Text 9"/>
          <p:cNvSpPr/>
          <p:nvPr/>
        </p:nvSpPr>
        <p:spPr>
          <a:xfrm>
            <a:off x="749880" y="2560320"/>
            <a:ext cx="38217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Less than expected. ADK is open-source and model-agnostic via LiteLLM (Gemini, GPT, Claude, Mistral all work) and can run on Cloud Run, GKE, or self-hosted. The real lock-in is losing Vertex AI's one-command deploy convenience, not the agent code itself.</a:t>
            </a:r>
            <a:endParaRPr lang="en-US" sz="780" b="0" strike="noStrike" spc="-1">
              <a:solidFill>
                <a:srgbClr val="000000"/>
              </a:solidFill>
              <a:latin typeface="Arial"/>
            </a:endParaRPr>
          </a:p>
        </p:txBody>
      </p:sp>
      <p:sp>
        <p:nvSpPr>
          <p:cNvPr id="1010" name="Shape 10"/>
          <p:cNvSpPr/>
          <p:nvPr/>
        </p:nvSpPr>
        <p:spPr>
          <a:xfrm>
            <a:off x="457200" y="337428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11" name="Text 11"/>
          <p:cNvSpPr/>
          <p:nvPr/>
        </p:nvSpPr>
        <p:spPr>
          <a:xfrm>
            <a:off x="457200" y="337428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12" name="Text 12"/>
          <p:cNvSpPr/>
          <p:nvPr/>
        </p:nvSpPr>
        <p:spPr>
          <a:xfrm>
            <a:off x="749880" y="3337560"/>
            <a:ext cx="38217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Can ADK work alongside LangGraph or other frameworks?</a:t>
            </a:r>
            <a:endParaRPr lang="en-US" sz="1000" b="0" strike="noStrike" spc="-1">
              <a:solidFill>
                <a:srgbClr val="000000"/>
              </a:solidFill>
              <a:latin typeface="Arial"/>
            </a:endParaRPr>
          </a:p>
        </p:txBody>
      </p:sp>
      <p:sp>
        <p:nvSpPr>
          <p:cNvPr id="1013" name="Text 13"/>
          <p:cNvSpPr/>
          <p:nvPr/>
        </p:nvSpPr>
        <p:spPr>
          <a:xfrm>
            <a:off x="749880" y="3785760"/>
            <a:ext cx="3821760" cy="52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Yes — ADK can call a LangGraph agent as a tool, and ADK agents are reachable from other frameworks via the A2A protocol, now a Linux Foundation standard with 150+ adopting organizations.</a:t>
            </a:r>
            <a:endParaRPr lang="en-US" sz="780" b="0" strike="noStrike" spc="-1">
              <a:solidFill>
                <a:srgbClr val="000000"/>
              </a:solidFill>
              <a:latin typeface="Arial"/>
            </a:endParaRPr>
          </a:p>
        </p:txBody>
      </p:sp>
      <p:sp>
        <p:nvSpPr>
          <p:cNvPr id="1014" name="Shape 14"/>
          <p:cNvSpPr/>
          <p:nvPr/>
        </p:nvSpPr>
        <p:spPr>
          <a:xfrm>
            <a:off x="4846320" y="128916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15" name="Text 15"/>
          <p:cNvSpPr/>
          <p:nvPr/>
        </p:nvSpPr>
        <p:spPr>
          <a:xfrm>
            <a:off x="4846320" y="128916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16" name="Text 16"/>
          <p:cNvSpPr/>
          <p:nvPr/>
        </p:nvSpPr>
        <p:spPr>
          <a:xfrm>
            <a:off x="5139000" y="1252800"/>
            <a:ext cx="38217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Why not OpenAI Assistants or AWS Bedrock Agents?</a:t>
            </a:r>
            <a:endParaRPr lang="en-US" sz="1000" b="0" strike="noStrike" spc="-1">
              <a:solidFill>
                <a:srgbClr val="000000"/>
              </a:solidFill>
              <a:latin typeface="Arial"/>
            </a:endParaRPr>
          </a:p>
        </p:txBody>
      </p:sp>
      <p:sp>
        <p:nvSpPr>
          <p:cNvPr id="1017" name="Text 17"/>
          <p:cNvSpPr/>
          <p:nvPr/>
        </p:nvSpPr>
        <p:spPr>
          <a:xfrm>
            <a:off x="5139000" y="1517760"/>
            <a:ext cx="38217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Bedrock Agents is configuration-driven (console fields, not code) — faster to start, less flexible for custom orchestration. We chose ADK for hierarchical multi-agent delegation as a first-class concept and multi-provider model support.</a:t>
            </a:r>
            <a:endParaRPr lang="en-US" sz="780" b="0" strike="noStrike" spc="-1">
              <a:solidFill>
                <a:srgbClr val="000000"/>
              </a:solidFill>
              <a:latin typeface="Arial"/>
            </a:endParaRPr>
          </a:p>
        </p:txBody>
      </p:sp>
      <p:sp>
        <p:nvSpPr>
          <p:cNvPr id="1018" name="Shape 18"/>
          <p:cNvSpPr/>
          <p:nvPr/>
        </p:nvSpPr>
        <p:spPr>
          <a:xfrm>
            <a:off x="4846320" y="233172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19" name="Text 19"/>
          <p:cNvSpPr/>
          <p:nvPr/>
        </p:nvSpPr>
        <p:spPr>
          <a:xfrm>
            <a:off x="4846320" y="233172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20" name="Text 20"/>
          <p:cNvSpPr/>
          <p:nvPr/>
        </p:nvSpPr>
        <p:spPr>
          <a:xfrm>
            <a:off x="5139000" y="2295000"/>
            <a:ext cx="38217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Is this architecture proven at production scale?</a:t>
            </a:r>
            <a:endParaRPr lang="en-US" sz="1000" b="0" strike="noStrike" spc="-1">
              <a:solidFill>
                <a:srgbClr val="000000"/>
              </a:solidFill>
              <a:latin typeface="Arial"/>
            </a:endParaRPr>
          </a:p>
        </p:txBody>
      </p:sp>
      <p:sp>
        <p:nvSpPr>
          <p:cNvPr id="1021" name="Text 21"/>
          <p:cNvSpPr/>
          <p:nvPr/>
        </p:nvSpPr>
        <p:spPr>
          <a:xfrm>
            <a:off x="5139000" y="2560320"/>
            <a:ext cx="38217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The layered pattern (channel/session/orchestration/sub-agents/sidecars/model) is proven industry-wide. Our own implementation is still early — the Redis session store and Memory Bank are named gaps covered earlier in this deck.</a:t>
            </a:r>
            <a:endParaRPr lang="en-US" sz="780" b="0" strike="noStrike" spc="-1">
              <a:solidFill>
                <a:srgbClr val="000000"/>
              </a:solidFill>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2"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AUDIENCE FAQ · 2 OF 3</a:t>
            </a:r>
            <a:endParaRPr lang="en-US" sz="1200" b="0" strike="noStrike" spc="-1">
              <a:solidFill>
                <a:srgbClr val="000000"/>
              </a:solidFill>
              <a:latin typeface="Arial"/>
            </a:endParaRPr>
          </a:p>
        </p:txBody>
      </p:sp>
      <p:sp>
        <p:nvSpPr>
          <p:cNvPr id="1023"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Reliability, scale &amp; failure handling</a:t>
            </a:r>
            <a:endParaRPr lang="en-US" sz="2800" b="0" strike="noStrike" spc="-1">
              <a:solidFill>
                <a:srgbClr val="000000"/>
              </a:solidFill>
              <a:latin typeface="Arial"/>
            </a:endParaRPr>
          </a:p>
        </p:txBody>
      </p:sp>
      <p:sp>
        <p:nvSpPr>
          <p:cNvPr id="1024" name="Shape 2"/>
          <p:cNvSpPr/>
          <p:nvPr/>
        </p:nvSpPr>
        <p:spPr>
          <a:xfrm>
            <a:off x="457200" y="128916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25" name="Text 3"/>
          <p:cNvSpPr/>
          <p:nvPr/>
        </p:nvSpPr>
        <p:spPr>
          <a:xfrm>
            <a:off x="457200" y="128916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26" name="Text 4"/>
          <p:cNvSpPr/>
          <p:nvPr/>
        </p:nvSpPr>
        <p:spPr>
          <a:xfrm>
            <a:off x="749880" y="1252800"/>
            <a:ext cx="38217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What happens if a sub-agent or tool call fails mid-conversation?</a:t>
            </a:r>
            <a:endParaRPr lang="en-US" sz="1000" b="0" strike="noStrike" spc="-1">
              <a:solidFill>
                <a:srgbClr val="000000"/>
              </a:solidFill>
              <a:latin typeface="Arial"/>
            </a:endParaRPr>
          </a:p>
        </p:txBody>
      </p:sp>
      <p:sp>
        <p:nvSpPr>
          <p:cNvPr id="1027" name="Text 5"/>
          <p:cNvSpPr/>
          <p:nvPr/>
        </p:nvSpPr>
        <p:spPr>
          <a:xfrm>
            <a:off x="749880" y="1700640"/>
            <a:ext cx="3821760" cy="52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The failure is logged as a typed event, not silently dropped. The orchestrator can retry, fall back to another sub-agent, or tell the user clearly — it never pretends the action succeeded.</a:t>
            </a:r>
            <a:endParaRPr lang="en-US" sz="780" b="0" strike="noStrike" spc="-1">
              <a:solidFill>
                <a:srgbClr val="000000"/>
              </a:solidFill>
              <a:latin typeface="Arial"/>
            </a:endParaRPr>
          </a:p>
        </p:txBody>
      </p:sp>
      <p:sp>
        <p:nvSpPr>
          <p:cNvPr id="1028" name="Shape 6"/>
          <p:cNvSpPr/>
          <p:nvPr/>
        </p:nvSpPr>
        <p:spPr>
          <a:xfrm>
            <a:off x="457200" y="236376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29" name="Text 7"/>
          <p:cNvSpPr/>
          <p:nvPr/>
        </p:nvSpPr>
        <p:spPr>
          <a:xfrm>
            <a:off x="457200" y="236376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30" name="Text 8"/>
          <p:cNvSpPr/>
          <p:nvPr/>
        </p:nvSpPr>
        <p:spPr>
          <a:xfrm>
            <a:off x="749880" y="2327040"/>
            <a:ext cx="38217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Does this scale to many concurrent users?</a:t>
            </a:r>
            <a:endParaRPr lang="en-US" sz="1000" b="0" strike="noStrike" spc="-1">
              <a:solidFill>
                <a:srgbClr val="000000"/>
              </a:solidFill>
              <a:latin typeface="Arial"/>
            </a:endParaRPr>
          </a:p>
        </p:txBody>
      </p:sp>
      <p:sp>
        <p:nvSpPr>
          <p:cNvPr id="1031" name="Text 9"/>
          <p:cNvSpPr/>
          <p:nvPr/>
        </p:nvSpPr>
        <p:spPr>
          <a:xfrm>
            <a:off x="749880" y="2592360"/>
            <a:ext cx="38217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Per-user isolation via user_id works today even on in-memory storage; it scales horizontally once we move to the Redis-backed session store. Model layer scales via tiered pairing — cheap/fast model for routing, escalate only when needed.</a:t>
            </a:r>
            <a:endParaRPr lang="en-US" sz="780" b="0" strike="noStrike" spc="-1">
              <a:solidFill>
                <a:srgbClr val="000000"/>
              </a:solidFill>
              <a:latin typeface="Arial"/>
            </a:endParaRPr>
          </a:p>
        </p:txBody>
      </p:sp>
      <p:sp>
        <p:nvSpPr>
          <p:cNvPr id="1032" name="Shape 10"/>
          <p:cNvSpPr/>
          <p:nvPr/>
        </p:nvSpPr>
        <p:spPr>
          <a:xfrm>
            <a:off x="457200" y="340632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33" name="Text 11"/>
          <p:cNvSpPr/>
          <p:nvPr/>
        </p:nvSpPr>
        <p:spPr>
          <a:xfrm>
            <a:off x="457200" y="340632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34" name="Text 12"/>
          <p:cNvSpPr/>
          <p:nvPr/>
        </p:nvSpPr>
        <p:spPr>
          <a:xfrm>
            <a:off x="749880" y="3369600"/>
            <a:ext cx="38217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What's the latency cost of guardrails, evals, and routing?</a:t>
            </a:r>
            <a:endParaRPr lang="en-US" sz="1000" b="0" strike="noStrike" spc="-1">
              <a:solidFill>
                <a:srgbClr val="000000"/>
              </a:solidFill>
              <a:latin typeface="Arial"/>
            </a:endParaRPr>
          </a:p>
        </p:txBody>
      </p:sp>
      <p:sp>
        <p:nvSpPr>
          <p:cNvPr id="1035" name="Text 13"/>
          <p:cNvSpPr/>
          <p:nvPr/>
        </p:nvSpPr>
        <p:spPr>
          <a:xfrm>
            <a:off x="749880" y="3817800"/>
            <a:ext cx="38217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Guardrails run in a 200–300ms budget as a separate sidecar, not embedded in every prompt. Tiered model-pairing usually reduces latency, since most turns route to a fast classifier and only escalate when complexity requires it.</a:t>
            </a:r>
            <a:endParaRPr lang="en-US" sz="780" b="0" strike="noStrike" spc="-1">
              <a:solidFill>
                <a:srgbClr val="000000"/>
              </a:solidFill>
              <a:latin typeface="Arial"/>
            </a:endParaRPr>
          </a:p>
        </p:txBody>
      </p:sp>
      <p:sp>
        <p:nvSpPr>
          <p:cNvPr id="1036" name="Shape 14"/>
          <p:cNvSpPr/>
          <p:nvPr/>
        </p:nvSpPr>
        <p:spPr>
          <a:xfrm>
            <a:off x="4846320" y="128916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37" name="Text 15"/>
          <p:cNvSpPr/>
          <p:nvPr/>
        </p:nvSpPr>
        <p:spPr>
          <a:xfrm>
            <a:off x="4846320" y="128916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38" name="Text 16"/>
          <p:cNvSpPr/>
          <p:nvPr/>
        </p:nvSpPr>
        <p:spPr>
          <a:xfrm>
            <a:off x="5139000" y="1252800"/>
            <a:ext cx="38217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How do you prevent infinite loops between sub-agents?</a:t>
            </a:r>
            <a:endParaRPr lang="en-US" sz="1000" b="0" strike="noStrike" spc="-1">
              <a:solidFill>
                <a:srgbClr val="000000"/>
              </a:solidFill>
              <a:latin typeface="Arial"/>
            </a:endParaRPr>
          </a:p>
        </p:txBody>
      </p:sp>
      <p:sp>
        <p:nvSpPr>
          <p:cNvPr id="1039" name="Text 17"/>
          <p:cNvSpPr/>
          <p:nvPr/>
        </p:nvSpPr>
        <p:spPr>
          <a:xfrm>
            <a:off x="5139000" y="1700640"/>
            <a:ext cx="3821760" cy="52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Step efficiency / loop detection is one of our trajectory-layer eval metrics, built specifically to flag recursive hand-offs. ADK's Loop primitive also enforces a hard max_iterations ceiling.</a:t>
            </a:r>
            <a:endParaRPr lang="en-US" sz="780" b="0" strike="noStrike" spc="-1">
              <a:solidFill>
                <a:srgbClr val="000000"/>
              </a:solidFill>
              <a:latin typeface="Arial"/>
            </a:endParaRPr>
          </a:p>
        </p:txBody>
      </p:sp>
      <p:sp>
        <p:nvSpPr>
          <p:cNvPr id="1040" name="Shape 18"/>
          <p:cNvSpPr/>
          <p:nvPr/>
        </p:nvSpPr>
        <p:spPr>
          <a:xfrm>
            <a:off x="4846320" y="236376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41" name="Text 19"/>
          <p:cNvSpPr/>
          <p:nvPr/>
        </p:nvSpPr>
        <p:spPr>
          <a:xfrm>
            <a:off x="4846320" y="236376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42" name="Text 20"/>
          <p:cNvSpPr/>
          <p:nvPr/>
        </p:nvSpPr>
        <p:spPr>
          <a:xfrm>
            <a:off x="5139000" y="2327040"/>
            <a:ext cx="38217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What happens during a partial outage — e.g. the MCP server is down?</a:t>
            </a:r>
            <a:endParaRPr lang="en-US" sz="1000" b="0" strike="noStrike" spc="-1">
              <a:solidFill>
                <a:srgbClr val="000000"/>
              </a:solidFill>
              <a:latin typeface="Arial"/>
            </a:endParaRPr>
          </a:p>
        </p:txBody>
      </p:sp>
      <p:sp>
        <p:nvSpPr>
          <p:cNvPr id="1043" name="Text 21"/>
          <p:cNvSpPr/>
          <p:nvPr/>
        </p:nvSpPr>
        <p:spPr>
          <a:xfrm>
            <a:off x="5139000" y="2775240"/>
            <a:ext cx="3821760" cy="52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Today: the failure surfaces as an error event and the sub-agent degrades gracefully. A dedicated MCP Gateway (not yet built) would add centralized retry and circuit-breaking across all sub-agents at once.</a:t>
            </a:r>
            <a:endParaRPr lang="en-US" sz="780" b="0" strike="noStrike" spc="-1">
              <a:solidFill>
                <a:srgbClr val="000000"/>
              </a:solidFill>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 name="Text 0"/>
          <p:cNvSpPr/>
          <p:nvPr/>
        </p:nvSpPr>
        <p:spPr>
          <a:xfrm>
            <a:off x="457200" y="2926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F6E56"/>
                </a:solidFill>
                <a:latin typeface="Calibri"/>
                <a:ea typeface="Calibri"/>
              </a:rPr>
              <a:t>AUDIENCE FAQ · 3 OF 3</a:t>
            </a:r>
            <a:endParaRPr lang="en-US" sz="1200" b="0" strike="noStrike" spc="-1">
              <a:solidFill>
                <a:srgbClr val="000000"/>
              </a:solidFill>
              <a:latin typeface="Arial"/>
            </a:endParaRPr>
          </a:p>
        </p:txBody>
      </p:sp>
      <p:sp>
        <p:nvSpPr>
          <p:cNvPr id="1045" name="Text 1"/>
          <p:cNvSpPr/>
          <p:nvPr/>
        </p:nvSpPr>
        <p:spPr>
          <a:xfrm>
            <a:off x="457200" y="5486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26215C"/>
                </a:solidFill>
                <a:latin typeface="Cambria"/>
                <a:ea typeface="Cambria"/>
              </a:rPr>
              <a:t>Data, privacy &amp; governance</a:t>
            </a:r>
            <a:endParaRPr lang="en-US" sz="2800" b="0" strike="noStrike" spc="-1">
              <a:solidFill>
                <a:srgbClr val="000000"/>
              </a:solidFill>
              <a:latin typeface="Arial"/>
            </a:endParaRPr>
          </a:p>
        </p:txBody>
      </p:sp>
      <p:sp>
        <p:nvSpPr>
          <p:cNvPr id="1046" name="Shape 2"/>
          <p:cNvSpPr/>
          <p:nvPr/>
        </p:nvSpPr>
        <p:spPr>
          <a:xfrm>
            <a:off x="457200" y="128916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47" name="Text 3"/>
          <p:cNvSpPr/>
          <p:nvPr/>
        </p:nvSpPr>
        <p:spPr>
          <a:xfrm>
            <a:off x="457200" y="128916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48" name="Text 4"/>
          <p:cNvSpPr/>
          <p:nvPr/>
        </p:nvSpPr>
        <p:spPr>
          <a:xfrm>
            <a:off x="749880" y="1252800"/>
            <a:ext cx="38217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How do evals protect sensitive data, like account numbers or balances?</a:t>
            </a:r>
            <a:endParaRPr lang="en-US" sz="1000" b="0" strike="noStrike" spc="-1">
              <a:solidFill>
                <a:srgbClr val="000000"/>
              </a:solidFill>
              <a:latin typeface="Arial"/>
            </a:endParaRPr>
          </a:p>
        </p:txBody>
      </p:sp>
      <p:sp>
        <p:nvSpPr>
          <p:cNvPr id="1049" name="Text 5"/>
          <p:cNvSpPr/>
          <p:nvPr/>
        </p:nvSpPr>
        <p:spPr>
          <a:xfrm>
            <a:off x="749880" y="1700640"/>
            <a:ext cx="38217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Guardrails apply real-time PII masking on inputs/outputs before they reach the model or user. Evals separately score whether that masking worked — precision/recall on a labeled redaction set — so it's a tracked, regression-tested metric, not a one-time filter.</a:t>
            </a:r>
            <a:endParaRPr lang="en-US" sz="780" b="0" strike="noStrike" spc="-1">
              <a:solidFill>
                <a:srgbClr val="000000"/>
              </a:solidFill>
              <a:latin typeface="Arial"/>
            </a:endParaRPr>
          </a:p>
        </p:txBody>
      </p:sp>
      <p:sp>
        <p:nvSpPr>
          <p:cNvPr id="1050" name="Shape 6"/>
          <p:cNvSpPr/>
          <p:nvPr/>
        </p:nvSpPr>
        <p:spPr>
          <a:xfrm>
            <a:off x="457200" y="251460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51" name="Text 7"/>
          <p:cNvSpPr/>
          <p:nvPr/>
        </p:nvSpPr>
        <p:spPr>
          <a:xfrm>
            <a:off x="457200" y="251460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52" name="Text 8"/>
          <p:cNvSpPr/>
          <p:nvPr/>
        </p:nvSpPr>
        <p:spPr>
          <a:xfrm>
            <a:off x="749880" y="2477880"/>
            <a:ext cx="38217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Is sensitive data ever sent to the LLM itself?</a:t>
            </a:r>
            <a:endParaRPr lang="en-US" sz="1000" b="0" strike="noStrike" spc="-1">
              <a:solidFill>
                <a:srgbClr val="000000"/>
              </a:solidFill>
              <a:latin typeface="Arial"/>
            </a:endParaRPr>
          </a:p>
        </p:txBody>
      </p:sp>
      <p:sp>
        <p:nvSpPr>
          <p:cNvPr id="1053" name="Text 9"/>
          <p:cNvSpPr/>
          <p:nvPr/>
        </p:nvSpPr>
        <p:spPr>
          <a:xfrm>
            <a:off x="749880" y="2743200"/>
            <a:ext cx="38217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It can be, which is why masking happens before the prompt is assembled, not after. High-consequence data (account numbers, SSNs) gets strict redaction. This is a design principle for our build, not yet a fully audited implementation.</a:t>
            </a:r>
            <a:endParaRPr lang="en-US" sz="780" b="0" strike="noStrike" spc="-1">
              <a:solidFill>
                <a:srgbClr val="000000"/>
              </a:solidFill>
              <a:latin typeface="Arial"/>
            </a:endParaRPr>
          </a:p>
        </p:txBody>
      </p:sp>
      <p:sp>
        <p:nvSpPr>
          <p:cNvPr id="1054" name="Shape 10"/>
          <p:cNvSpPr/>
          <p:nvPr/>
        </p:nvSpPr>
        <p:spPr>
          <a:xfrm>
            <a:off x="457200" y="355716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55" name="Text 11"/>
          <p:cNvSpPr/>
          <p:nvPr/>
        </p:nvSpPr>
        <p:spPr>
          <a:xfrm>
            <a:off x="457200" y="355716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56" name="Text 12"/>
          <p:cNvSpPr/>
          <p:nvPr/>
        </p:nvSpPr>
        <p:spPr>
          <a:xfrm>
            <a:off x="749880" y="3520440"/>
            <a:ext cx="38217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Where does the audit trail live, and who can see it?</a:t>
            </a:r>
            <a:endParaRPr lang="en-US" sz="1000" b="0" strike="noStrike" spc="-1">
              <a:solidFill>
                <a:srgbClr val="000000"/>
              </a:solidFill>
              <a:latin typeface="Arial"/>
            </a:endParaRPr>
          </a:p>
        </p:txBody>
      </p:sp>
      <p:sp>
        <p:nvSpPr>
          <p:cNvPr id="1057" name="Text 13"/>
          <p:cNvSpPr/>
          <p:nvPr/>
        </p:nvSpPr>
        <p:spPr>
          <a:xfrm>
            <a:off x="749880" y="3968640"/>
            <a:ext cx="38217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Every tool call and hand-off is logged as an immutable, context-enriched event. Today that trail lives wherever InMemorySessionService keeps it — in-process, not centrally queryable yet. Centralizing it is part of the same persistence work as the session store.</a:t>
            </a:r>
            <a:endParaRPr lang="en-US" sz="780" b="0" strike="noStrike" spc="-1">
              <a:solidFill>
                <a:srgbClr val="000000"/>
              </a:solidFill>
              <a:latin typeface="Arial"/>
            </a:endParaRPr>
          </a:p>
        </p:txBody>
      </p:sp>
      <p:sp>
        <p:nvSpPr>
          <p:cNvPr id="1058" name="Shape 14"/>
          <p:cNvSpPr/>
          <p:nvPr/>
        </p:nvSpPr>
        <p:spPr>
          <a:xfrm>
            <a:off x="4846320" y="128916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59" name="Text 15"/>
          <p:cNvSpPr/>
          <p:nvPr/>
        </p:nvSpPr>
        <p:spPr>
          <a:xfrm>
            <a:off x="4846320" y="128916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60" name="Text 16"/>
          <p:cNvSpPr/>
          <p:nvPr/>
        </p:nvSpPr>
        <p:spPr>
          <a:xfrm>
            <a:off x="5139000" y="1252800"/>
            <a:ext cx="38217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How does this map to regulations like the EU AI Act?</a:t>
            </a:r>
            <a:endParaRPr lang="en-US" sz="1000" b="0" strike="noStrike" spc="-1">
              <a:solidFill>
                <a:srgbClr val="000000"/>
              </a:solidFill>
              <a:latin typeface="Arial"/>
            </a:endParaRPr>
          </a:p>
        </p:txBody>
      </p:sp>
      <p:sp>
        <p:nvSpPr>
          <p:cNvPr id="1061" name="Text 17"/>
          <p:cNvSpPr/>
          <p:nvPr/>
        </p:nvSpPr>
        <p:spPr>
          <a:xfrm>
            <a:off x="5139000" y="1700640"/>
            <a:ext cx="38217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High-risk AI in credit, lending, and AML must comply with the EU AI Act by August 2026, penalties up to 7% of global turnover. Our traceability and evals sidecars are the mechanisms a compliance review would need — a formal audit hasn't been done yet.</a:t>
            </a:r>
            <a:endParaRPr lang="en-US" sz="780" b="0" strike="noStrike" spc="-1">
              <a:solidFill>
                <a:srgbClr val="000000"/>
              </a:solidFill>
              <a:latin typeface="Arial"/>
            </a:endParaRPr>
          </a:p>
        </p:txBody>
      </p:sp>
      <p:sp>
        <p:nvSpPr>
          <p:cNvPr id="1062" name="Shape 18"/>
          <p:cNvSpPr/>
          <p:nvPr/>
        </p:nvSpPr>
        <p:spPr>
          <a:xfrm>
            <a:off x="4846320" y="2514600"/>
            <a:ext cx="219240" cy="219240"/>
          </a:xfrm>
          <a:prstGeom prst="ellipse">
            <a:avLst/>
          </a:prstGeom>
          <a:solidFill>
            <a:srgbClr val="26215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63" name="Text 19"/>
          <p:cNvSpPr/>
          <p:nvPr/>
        </p:nvSpPr>
        <p:spPr>
          <a:xfrm>
            <a:off x="4846320" y="2514600"/>
            <a:ext cx="2192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Calibri"/>
                <a:ea typeface="Calibri"/>
              </a:rPr>
              <a:t>Q</a:t>
            </a:r>
            <a:endParaRPr lang="en-US" sz="900" b="0" strike="noStrike" spc="-1">
              <a:solidFill>
                <a:srgbClr val="000000"/>
              </a:solidFill>
              <a:latin typeface="Arial"/>
            </a:endParaRPr>
          </a:p>
        </p:txBody>
      </p:sp>
      <p:sp>
        <p:nvSpPr>
          <p:cNvPr id="1064" name="Text 20"/>
          <p:cNvSpPr/>
          <p:nvPr/>
        </p:nvSpPr>
        <p:spPr>
          <a:xfrm>
            <a:off x="5139000" y="2477880"/>
            <a:ext cx="38217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26215C"/>
                </a:solidFill>
                <a:latin typeface="Calibri"/>
                <a:ea typeface="Calibri"/>
              </a:rPr>
              <a:t>Who decides what counts as a hallucination vs. an acceptable answer?</a:t>
            </a:r>
            <a:endParaRPr lang="en-US" sz="1000" b="0" strike="noStrike" spc="-1">
              <a:solidFill>
                <a:srgbClr val="000000"/>
              </a:solidFill>
              <a:latin typeface="Arial"/>
            </a:endParaRPr>
          </a:p>
        </p:txBody>
      </p:sp>
      <p:sp>
        <p:nvSpPr>
          <p:cNvPr id="1065" name="Text 21"/>
          <p:cNvSpPr/>
          <p:nvPr/>
        </p:nvSpPr>
        <p:spPr>
          <a:xfrm>
            <a:off x="5139000" y="2926080"/>
            <a:ext cx="38217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780" b="0" strike="noStrike" spc="-1">
                <a:solidFill>
                  <a:srgbClr val="433F5C"/>
                </a:solidFill>
                <a:latin typeface="Calibri"/>
                <a:ea typeface="Calibri"/>
              </a:rPr>
              <a:t>The faithfulness metric checks whether the answer stays grounded in actual tool outputs and policy docs, not invented facts. Edge cases still need a human-defined threshold — a policy decision for the owning team, not the framework.</a:t>
            </a:r>
            <a:endParaRPr lang="en-US" sz="780" b="0" strike="noStrike" spc="-1">
              <a:solidFill>
                <a:srgbClr val="000000"/>
              </a:solidFill>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26215C"/>
        </a:solidFill>
        <a:effectLst/>
      </p:bgPr>
    </p:bg>
    <p:spTree>
      <p:nvGrpSpPr>
        <p:cNvPr id="1" name=""/>
        <p:cNvGrpSpPr/>
        <p:nvPr/>
      </p:nvGrpSpPr>
      <p:grpSpPr>
        <a:xfrm>
          <a:off x="0" y="0"/>
          <a:ext cx="0" cy="0"/>
          <a:chOff x="0" y="0"/>
          <a:chExt cx="0" cy="0"/>
        </a:xfrm>
      </p:grpSpPr>
      <p:sp>
        <p:nvSpPr>
          <p:cNvPr id="1066" name="Shape 0"/>
          <p:cNvSpPr/>
          <p:nvPr/>
        </p:nvSpPr>
        <p:spPr>
          <a:xfrm>
            <a:off x="658080" y="658080"/>
            <a:ext cx="914400" cy="54864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067" name="Shape 1"/>
          <p:cNvSpPr/>
          <p:nvPr/>
        </p:nvSpPr>
        <p:spPr>
          <a:xfrm flipH="1">
            <a:off x="877680" y="1206720"/>
            <a:ext cx="694800" cy="4024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068" name="Shape 2"/>
          <p:cNvSpPr/>
          <p:nvPr/>
        </p:nvSpPr>
        <p:spPr>
          <a:xfrm flipV="1">
            <a:off x="1572480" y="676440"/>
            <a:ext cx="384120" cy="5302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069" name="Shape 3"/>
          <p:cNvSpPr/>
          <p:nvPr/>
        </p:nvSpPr>
        <p:spPr>
          <a:xfrm>
            <a:off x="1572480" y="1206720"/>
            <a:ext cx="567000" cy="38412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070" name="Shape 4"/>
          <p:cNvSpPr/>
          <p:nvPr/>
        </p:nvSpPr>
        <p:spPr>
          <a:xfrm>
            <a:off x="457200" y="457200"/>
            <a:ext cx="402120" cy="40212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71" name="Shape 5"/>
          <p:cNvSpPr/>
          <p:nvPr/>
        </p:nvSpPr>
        <p:spPr>
          <a:xfrm>
            <a:off x="1280160" y="914400"/>
            <a:ext cx="585000" cy="585000"/>
          </a:xfrm>
          <a:prstGeom prst="ellipse">
            <a:avLst/>
          </a:prstGeom>
          <a:solidFill>
            <a:srgbClr val="7F77DD">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72" name="Shape 6"/>
          <p:cNvSpPr/>
          <p:nvPr/>
        </p:nvSpPr>
        <p:spPr>
          <a:xfrm>
            <a:off x="731520" y="1463040"/>
            <a:ext cx="292320" cy="29232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73" name="Shape 7"/>
          <p:cNvSpPr/>
          <p:nvPr/>
        </p:nvSpPr>
        <p:spPr>
          <a:xfrm>
            <a:off x="1828800" y="548640"/>
            <a:ext cx="255600" cy="25560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74" name="Shape 8"/>
          <p:cNvSpPr/>
          <p:nvPr/>
        </p:nvSpPr>
        <p:spPr>
          <a:xfrm>
            <a:off x="1920240" y="1371600"/>
            <a:ext cx="438480" cy="43848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75" name="Shape 9"/>
          <p:cNvSpPr/>
          <p:nvPr/>
        </p:nvSpPr>
        <p:spPr>
          <a:xfrm>
            <a:off x="7150320" y="3218400"/>
            <a:ext cx="914400" cy="54864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076" name="Shape 10"/>
          <p:cNvSpPr/>
          <p:nvPr/>
        </p:nvSpPr>
        <p:spPr>
          <a:xfrm flipH="1">
            <a:off x="7369920" y="3767040"/>
            <a:ext cx="694800" cy="4024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077" name="Shape 11"/>
          <p:cNvSpPr/>
          <p:nvPr/>
        </p:nvSpPr>
        <p:spPr>
          <a:xfrm flipV="1">
            <a:off x="8064720" y="3236760"/>
            <a:ext cx="384120" cy="53028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078" name="Shape 12"/>
          <p:cNvSpPr/>
          <p:nvPr/>
        </p:nvSpPr>
        <p:spPr>
          <a:xfrm>
            <a:off x="8064720" y="3767040"/>
            <a:ext cx="567000" cy="384120"/>
          </a:xfrm>
          <a:prstGeom prst="line">
            <a:avLst/>
          </a:prstGeom>
          <a:ln w="9525">
            <a:solidFill>
              <a:srgbClr val="FFFFFF">
                <a:alpha val="3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079" name="Shape 13"/>
          <p:cNvSpPr/>
          <p:nvPr/>
        </p:nvSpPr>
        <p:spPr>
          <a:xfrm>
            <a:off x="6949440" y="3017520"/>
            <a:ext cx="402120" cy="40212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80" name="Shape 14"/>
          <p:cNvSpPr/>
          <p:nvPr/>
        </p:nvSpPr>
        <p:spPr>
          <a:xfrm>
            <a:off x="7772400" y="3474720"/>
            <a:ext cx="585000" cy="585000"/>
          </a:xfrm>
          <a:prstGeom prst="ellipse">
            <a:avLst/>
          </a:prstGeom>
          <a:solidFill>
            <a:srgbClr val="7F77DD">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81" name="Shape 15"/>
          <p:cNvSpPr/>
          <p:nvPr/>
        </p:nvSpPr>
        <p:spPr>
          <a:xfrm>
            <a:off x="7223760" y="4023360"/>
            <a:ext cx="292320" cy="29232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82" name="Shape 16"/>
          <p:cNvSpPr/>
          <p:nvPr/>
        </p:nvSpPr>
        <p:spPr>
          <a:xfrm>
            <a:off x="8321040" y="3108960"/>
            <a:ext cx="255600" cy="255600"/>
          </a:xfrm>
          <a:prstGeom prst="ellipse">
            <a:avLst/>
          </a:prstGeom>
          <a:solidFill>
            <a:srgbClr val="5DCAA5">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83" name="Shape 17"/>
          <p:cNvSpPr/>
          <p:nvPr/>
        </p:nvSpPr>
        <p:spPr>
          <a:xfrm>
            <a:off x="8412480" y="3931920"/>
            <a:ext cx="438480" cy="438480"/>
          </a:xfrm>
          <a:prstGeom prst="ellipse">
            <a:avLst/>
          </a:prstGeom>
          <a:solidFill>
            <a:srgbClr val="F2A623">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84" name="Shape 18"/>
          <p:cNvSpPr/>
          <p:nvPr/>
        </p:nvSpPr>
        <p:spPr>
          <a:xfrm>
            <a:off x="4023360" y="1188720"/>
            <a:ext cx="1096920" cy="1096920"/>
          </a:xfrm>
          <a:prstGeom prst="ellipse">
            <a:avLst/>
          </a:prstGeom>
          <a:solidFill>
            <a:srgbClr val="3C348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085" name="Image 0" descr="preencoded.png"/>
          <p:cNvPicPr/>
          <p:nvPr/>
        </p:nvPicPr>
        <p:blipFill>
          <a:blip r:embed="rId3"/>
          <a:stretch/>
        </p:blipFill>
        <p:spPr>
          <a:xfrm>
            <a:off x="4286880" y="1452240"/>
            <a:ext cx="570240" cy="570240"/>
          </a:xfrm>
          <a:prstGeom prst="rect">
            <a:avLst/>
          </a:prstGeom>
          <a:ln w="0">
            <a:noFill/>
          </a:ln>
        </p:spPr>
      </p:pic>
      <p:sp>
        <p:nvSpPr>
          <p:cNvPr id="1086" name="Text 19"/>
          <p:cNvSpPr/>
          <p:nvPr/>
        </p:nvSpPr>
        <p:spPr>
          <a:xfrm>
            <a:off x="0" y="2468880"/>
            <a:ext cx="91436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800" b="1" strike="noStrike" spc="-1">
                <a:solidFill>
                  <a:srgbClr val="FFFFFF"/>
                </a:solidFill>
                <a:latin typeface="Cambria"/>
                <a:ea typeface="Cambria"/>
              </a:rPr>
              <a:t>Thank you</a:t>
            </a:r>
            <a:endParaRPr lang="en-US" sz="3800" b="0" strike="noStrike" spc="-1">
              <a:solidFill>
                <a:srgbClr val="FFFFFF"/>
              </a:solidFill>
              <a:latin typeface="Arial"/>
            </a:endParaRPr>
          </a:p>
        </p:txBody>
      </p:sp>
      <p:sp>
        <p:nvSpPr>
          <p:cNvPr id="1087" name="Text 20"/>
          <p:cNvSpPr/>
          <p:nvPr/>
        </p:nvSpPr>
        <p:spPr>
          <a:xfrm>
            <a:off x="0" y="324612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strike="noStrike" spc="-1">
                <a:solidFill>
                  <a:srgbClr val="CADCFC"/>
                </a:solidFill>
                <a:latin typeface="Calibri"/>
                <a:ea typeface="Calibri"/>
              </a:rPr>
              <a:t>Questions &amp; discussion</a:t>
            </a:r>
            <a:endParaRPr lang="en-US" sz="1600" b="0" strike="noStrike" spc="-1">
              <a:solidFill>
                <a:srgbClr val="FFFFFF"/>
              </a:solidFill>
              <a:latin typeface="Arial"/>
            </a:endParaRPr>
          </a:p>
        </p:txBody>
      </p:sp>
      <p:sp>
        <p:nvSpPr>
          <p:cNvPr id="1088" name="Text 21"/>
          <p:cNvSpPr/>
          <p:nvPr/>
        </p:nvSpPr>
        <p:spPr>
          <a:xfrm>
            <a:off x="0" y="42062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97">
                <a:solidFill>
                  <a:srgbClr val="7F77DD"/>
                </a:solidFill>
                <a:latin typeface="Calibri"/>
                <a:ea typeface="Calibri"/>
              </a:rPr>
              <a:t>State · Memory · Context engineering · Multi-agent orchestration · Tools · Events</a:t>
            </a:r>
            <a:endParaRPr lang="en-US" sz="110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7642</Words>
  <Application>Microsoft Office PowerPoint</Application>
  <PresentationFormat>On-screen Show (16:9)</PresentationFormat>
  <Paragraphs>683</Paragraphs>
  <Slides>42</Slides>
  <Notes>42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Calibri</vt:lpstr>
      <vt:lpstr>Cambria</vt:lpstr>
      <vt:lpstr>Consolas</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for Conversational Apps</dc:title>
  <dc:subject>PptxGenJS Presentation</dc:subject>
  <dc:creator>Seminar Plan</dc:creator>
  <dc:description/>
  <cp:lastModifiedBy>Sunil Kumar</cp:lastModifiedBy>
  <cp:revision>1</cp:revision>
  <dcterms:created xsi:type="dcterms:W3CDTF">2026-06-21T12:38:20Z</dcterms:created>
  <dcterms:modified xsi:type="dcterms:W3CDTF">2026-06-21T12:41:54Z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42</vt:r8>
  </property>
  <property fmtid="{D5CDD505-2E9C-101B-9397-08002B2CF9AE}" pid="3" name="PresentationFormat">
    <vt:lpwstr>On-screen Show (16:9)</vt:lpwstr>
  </property>
  <property fmtid="{D5CDD505-2E9C-101B-9397-08002B2CF9AE}" pid="4" name="Slides">
    <vt:r8>42</vt:r8>
  </property>
</Properties>
</file>