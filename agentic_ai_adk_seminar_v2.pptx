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21E1DE0D-12FE-4ADD-9152-5DC4DF0DC41E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3B91F9-E08E-4759-BD4D-D98221257A4D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9ED830-16FA-4136-B313-3165C0613BF3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E5F315-73B7-42F1-AF31-E4FF3DC777BC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Host framing: deterministic means 'if X, say Y' - a fixed decision tree. Agentic flips this to 'given this goal and these capabilities, figure out the right sequence of actions.' Use the two-screen hook here if time allows: a static FAQ bot vs. an assistant that greets a returning user by name.</a:t>
            </a:r>
          </a:p>
        </p:txBody>
      </p:sp>
      <p:sp>
        <p:nvSpPr>
          <p:cNvPr id="67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0B2D05-EF38-4190-A85B-E956B57BACCC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This is the bridge into Part 2. Close with the running example that carries through the rest of the deck: a banking user looking at transactions who pivots mid-conversation to applying for a new card - that single scenario is what every later building-block slide maps back to.</a:t>
            </a:r>
          </a:p>
        </p:txBody>
      </p:sp>
      <p:sp>
        <p:nvSpPr>
          <p:cNvPr id="67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505CCC-2D1C-49CF-9982-23C8B392ADEC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B77EDA-DB41-4530-9859-6537ADF1A468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This is the 30,000-foot view before we zoom into ADK specifics. Treat the agent as a distributed system, not a single prompt: each layer here can be reasoned about, tested, and changed independently. Everything in the next two parts maps back into one of these six layers.</a:t>
            </a:r>
          </a:p>
        </p:txBody>
      </p:sp>
      <p:sp>
        <p:nvSpPr>
          <p:cNvPr id="68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B1B48E-F018-40BD-B297-E52CD9589E22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C17C93-4D4D-46DC-A1D6-E3C90E7456F1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This is the anchor diagram for all of Part 3 - the mini-map at the bottom of the next six slides highlights whichever step is being discussed. Walk across left to right once at a high level before diving into each box. Note the rightmost box is labeled 'Session store (Redis)', not 'Memory bank' - this matches our actual implementation: Redis extends session state across restarts/instances, but it is NOT the long-term Memory Bank, which remains unbuilt. Don't let the room conflate the two.</a:t>
            </a:r>
          </a:p>
        </p:txBody>
      </p:sp>
      <p:sp>
        <p:nvSpPr>
          <p:cNvPr id="68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DBC351-2C5B-4105-8BC1-B20D2A42DC32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This slide replaces the production/future-state picture with where we honestly are today. InMemorySessionService gives real value (turn continuity, per-user isolation, recency, artifact refs, event-sourced writes) even though list_sessions() can't yet repopulate a chat-history sidebar across logins - that requires swapping to a persistent backend. Our planned path is a Redis-backed SessionService (see the architecture slide later) rather than Database/VertexAI - it gets us cross-restart session persistence without a full DB migration, though it's still short-term storage, not the long-term Memory Bank. Emphasize: nothing about the tool code needs to change when that swap happens, because state writes already go through the correct event-sourced mechanism.</a:t>
            </a:r>
          </a:p>
        </p:txBody>
      </p:sp>
      <p:sp>
        <p:nvSpPr>
          <p:cNvPr id="68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D54623-555E-4B8C-8E50-8C6DDFD5C055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This is the slide most worth slowing down on. A good check: ask the room 'if I tell the bot my preferred name now, where does that live - state or memory?' (Answer: it could be either, depending on whether the app explicitly writes it to memory at session end.)</a:t>
            </a:r>
          </a:p>
        </p:txBody>
      </p:sp>
      <p:sp>
        <p:nvSpPr>
          <p:cNvPr id="69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C48DDA-D628-47A1-8585-ECCB3B5EA811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This is the ADK AutoFlow / transfer_to_agent mechanism. The orchestrator's working context is dynamically given a description of every sub-agent, which is what lets it reason about 'who should handle this'. Emphasize: the user sent ONE message, but it became two routed sub-tasks behind the scenes.</a:t>
            </a:r>
          </a:p>
        </p:txBody>
      </p:sp>
      <p:sp>
        <p:nvSpPr>
          <p:cNvPr id="69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834E73-163F-41FE-8042-DA188A455670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Tie this directly back to slide 11: the boxes labeled 'Order agent' and 'Profile agent' there are examples of the specialists shown here. The orchestrator is intentionally 'dumb' about the actual work - its job is purely classification + handoff.</a:t>
            </a:r>
          </a:p>
        </p:txBody>
      </p:sp>
      <p:sp>
        <p:nvSpPr>
          <p:cNvPr id="698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2E744C-B967-4AEF-921B-27158B82218B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Point out the gap between 'the model decided to call a tool' (an agent-layer event) and 'the UI rendered a card' (a front-end decision about how to display that tool's structured result). ADK gives you the structured result; your app decides the presentation.</a:t>
            </a:r>
          </a:p>
        </p:txBody>
      </p:sp>
      <p:sp>
        <p:nvSpPr>
          <p:cNvPr id="701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EF0B4CE-B2CE-4500-AD09-064FA8B46D89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Frame this as the 'show your work' UI pattern. From a single Runner.run_async() call, ADK streams a sequence of Events - this slide is literally that event stream rendered as a status feed instead of raw JSON.</a:t>
            </a:r>
          </a:p>
        </p:txBody>
      </p:sp>
      <p:sp>
        <p:nvSpPr>
          <p:cNvPr id="704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1BD795-D25A-4A83-809C-4C5C29B3AF6C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7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9E08CF-C083-4F3D-A8EB-6FE2ADAFD7A5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This is the bridge slide from 'seminar concepts' to 'the platform we are actually building'. Session/state from earlier in the talk becomes 'single session system of record' here; multi-agent orchestration becomes 'reusable sub-agent hosting'.</a:t>
            </a:r>
          </a:p>
        </p:txBody>
      </p:sp>
      <p:sp>
        <p:nvSpPr>
          <p:cNvPr id="710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011CC4-0A60-4C07-90C4-56E722100384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D791B2-D2A0-4EB6-99D3-9D40687372D0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Concrete example for the room: a banking orchestrator might use a small/fast model purely for intent classification and routing, then escalate to a larger reasoning model only for the sub-agent step that actually needs judgment, like evaluating a dispute.</a:t>
            </a:r>
          </a:p>
        </p:txBody>
      </p:sp>
      <p:sp>
        <p:nvSpPr>
          <p:cNvPr id="716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1F9932-85EF-4F08-8799-6BC7DD3E81E0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9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F9DF080-51DB-44C7-A76A-D61CC713DA94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Good closing point for this block: the four ADK building blocks from earlier in the deck (session, context engineering, orchestration, tools/events) are exactly what this platform standardizes and hosts centrally for every domain team.</a:t>
            </a:r>
          </a:p>
        </p:txBody>
      </p:sp>
      <p:sp>
        <p:nvSpPr>
          <p:cNvPr id="722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0C3007-6629-4144-9F6B-6ED7DDF1C41A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0749FF-AF9B-4D05-92E4-CEFE7B6992F4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Run `adk web` ahead of time and have a sample multi-agent project already loaded. For the second demo, pre-seed a session in Redis and literally kill/restart the app process to show the session resume - this is honest proof the session store works, without overclaiming memory recall we haven't built. The third card is intentionally NOT a live demo - say so explicitly, so the room doesn't assume cross-session memory exists today.</a:t>
            </a:r>
          </a:p>
        </p:txBody>
      </p:sp>
      <p:sp>
        <p:nvSpPr>
          <p:cNvPr id="728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22C219B-A678-4573-A65D-2B066D5ED72B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1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663340-FAD9-4ADA-BD8B-52EE867ECAEA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EE64BD-AB84-4F38-AFA3-C2B6896E5DC7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Background reference only. If the room seems to already understand LLM basics, skip this slide entirely. An LLM by itself is a stateless, single-shot text predictor - everything in the main session is about what gets added on top of this.</a:t>
            </a:r>
          </a:p>
        </p:txBody>
      </p:sp>
      <p:sp>
        <p:nvSpPr>
          <p:cNvPr id="737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7B74AD-F28B-4A5E-8AEC-676A9000B539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Background reference only. Every box in this loop maps to an ADK concept covered in the main session: Perceive = context engineering pulling in state/memory, Reason = the LLM call, Act = tool or sub-agent invocation, Observe = the event/result feeding back into state.</a:t>
            </a:r>
          </a:p>
        </p:txBody>
      </p:sp>
      <p:sp>
        <p:nvSpPr>
          <p:cNvPr id="740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F9D192-3BB4-4A2D-9604-E654BEDFD69B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Background reference only - this is the same deterministic-vs-agentic contrast used to open the main session, shown here again with extra detail in case a deeper audience Q&amp;A calls for it.</a:t>
            </a:r>
          </a:p>
        </p:txBody>
      </p:sp>
      <p:sp>
        <p:nvSpPr>
          <p:cNvPr id="743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9BF03D-02E7-43B3-8E77-4D46DAE580B0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A6142B-F21E-4904-A3CD-6EC8C86F40AE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1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7058880" y="749520"/>
            <a:ext cx="914400" cy="54864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 flipH="1">
            <a:off x="7278480" y="1298160"/>
            <a:ext cx="694800" cy="40248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 flipV="1">
            <a:off x="7973280" y="767880"/>
            <a:ext cx="384120" cy="53028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7973280" y="1298160"/>
            <a:ext cx="567000" cy="38412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6858000" y="548640"/>
            <a:ext cx="402120" cy="402120"/>
          </a:xfrm>
          <a:prstGeom prst="ellipse">
            <a:avLst/>
          </a:prstGeom>
          <a:solidFill>
            <a:srgbClr val="F2A623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7680960" y="1005840"/>
            <a:ext cx="585000" cy="585000"/>
          </a:xfrm>
          <a:prstGeom prst="ellipse">
            <a:avLst/>
          </a:prstGeom>
          <a:solidFill>
            <a:srgbClr val="7F77DD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7132320" y="1554480"/>
            <a:ext cx="292320" cy="292320"/>
          </a:xfrm>
          <a:prstGeom prst="ellipse">
            <a:avLst/>
          </a:prstGeom>
          <a:solidFill>
            <a:srgbClr val="5DCAA5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8229600" y="640080"/>
            <a:ext cx="255600" cy="255600"/>
          </a:xfrm>
          <a:prstGeom prst="ellipse">
            <a:avLst/>
          </a:prstGeom>
          <a:solidFill>
            <a:srgbClr val="5DCAA5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8321040" y="1463040"/>
            <a:ext cx="438480" cy="438480"/>
          </a:xfrm>
          <a:prstGeom prst="ellipse">
            <a:avLst/>
          </a:prstGeom>
          <a:solidFill>
            <a:srgbClr val="F2A623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566640" y="3492720"/>
            <a:ext cx="914400" cy="54864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 flipH="1">
            <a:off x="786240" y="4041360"/>
            <a:ext cx="694800" cy="40248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 flipV="1">
            <a:off x="1481040" y="3511080"/>
            <a:ext cx="384120" cy="53028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1481040" y="4041360"/>
            <a:ext cx="567000" cy="38412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365760" y="3291840"/>
            <a:ext cx="402120" cy="402120"/>
          </a:xfrm>
          <a:prstGeom prst="ellipse">
            <a:avLst/>
          </a:prstGeom>
          <a:solidFill>
            <a:srgbClr val="F2A623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1188720" y="3749040"/>
            <a:ext cx="585000" cy="585000"/>
          </a:xfrm>
          <a:prstGeom prst="ellipse">
            <a:avLst/>
          </a:prstGeom>
          <a:solidFill>
            <a:srgbClr val="7F77DD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640080" y="4297680"/>
            <a:ext cx="292320" cy="292320"/>
          </a:xfrm>
          <a:prstGeom prst="ellipse">
            <a:avLst/>
          </a:prstGeom>
          <a:solidFill>
            <a:srgbClr val="5DCAA5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1737360" y="3383280"/>
            <a:ext cx="255600" cy="255600"/>
          </a:xfrm>
          <a:prstGeom prst="ellipse">
            <a:avLst/>
          </a:prstGeom>
          <a:solidFill>
            <a:srgbClr val="5DCAA5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1828800" y="4206240"/>
            <a:ext cx="438480" cy="438480"/>
          </a:xfrm>
          <a:prstGeom prst="ellipse">
            <a:avLst/>
          </a:prstGeom>
          <a:solidFill>
            <a:srgbClr val="F2A623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640080" y="105156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299">
                <a:solidFill>
                  <a:srgbClr val="F2A623"/>
                </a:solidFill>
                <a:latin typeface="Calibri"/>
                <a:ea typeface="Calibri"/>
              </a:rPr>
              <a:t>TECHNICAL SEMINAR  ·  75 MINUTES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640080" y="1463040"/>
            <a:ext cx="786348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4200" b="1" strike="noStrike" spc="-1">
                <a:solidFill>
                  <a:srgbClr val="FFFFFF"/>
                </a:solidFill>
                <a:latin typeface="Cambria"/>
                <a:ea typeface="Cambria"/>
              </a:rPr>
              <a:t>Agentic AI for Conversational Apps</a:t>
            </a:r>
            <a:endParaRPr lang="en-US" sz="4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20"/>
          <p:cNvSpPr/>
          <p:nvPr/>
        </p:nvSpPr>
        <p:spPr>
          <a:xfrm>
            <a:off x="640080" y="2788920"/>
            <a:ext cx="73148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CADCFC"/>
                </a:solidFill>
                <a:latin typeface="Calibri"/>
                <a:ea typeface="Calibri"/>
              </a:rPr>
              <a:t>Mapping Google ADK concepts to real user-experience moments —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CADCFC"/>
                </a:solidFill>
                <a:latin typeface="Calibri"/>
                <a:ea typeface="Calibri"/>
              </a:rPr>
              <a:t>built for technical teams who are new to Gen AI and agentic AI.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640080" y="4160520"/>
            <a:ext cx="3172680" cy="383760"/>
          </a:xfrm>
          <a:prstGeom prst="roundRect">
            <a:avLst>
              <a:gd name="adj" fmla="val 50000"/>
            </a:avLst>
          </a:prstGeom>
          <a:solidFill>
            <a:srgbClr val="3C3489"/>
          </a:solidFill>
          <a:ln w="12700">
            <a:solidFill>
              <a:srgbClr val="3C348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22"/>
          <p:cNvSpPr/>
          <p:nvPr/>
        </p:nvSpPr>
        <p:spPr>
          <a:xfrm>
            <a:off x="640080" y="4160520"/>
            <a:ext cx="31726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CECBF6"/>
                </a:solidFill>
                <a:latin typeface="Calibri"/>
                <a:ea typeface="Calibri"/>
              </a:rPr>
              <a:t>No prior Gen AI experience needed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3977640" y="4160520"/>
            <a:ext cx="1279800" cy="383760"/>
          </a:xfrm>
          <a:prstGeom prst="roundRect">
            <a:avLst>
              <a:gd name="adj" fmla="val 50000"/>
            </a:avLst>
          </a:prstGeom>
          <a:solidFill>
            <a:srgbClr val="3C3489"/>
          </a:solidFill>
          <a:ln w="12700">
            <a:solidFill>
              <a:srgbClr val="3C348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24"/>
          <p:cNvSpPr/>
          <p:nvPr/>
        </p:nvSpPr>
        <p:spPr>
          <a:xfrm>
            <a:off x="3977640" y="4160520"/>
            <a:ext cx="12798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CECBF6"/>
                </a:solidFill>
                <a:latin typeface="Calibri"/>
                <a:ea typeface="Calibri"/>
              </a:rPr>
              <a:t>Google ADK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5422320" y="4160520"/>
            <a:ext cx="2267280" cy="383760"/>
          </a:xfrm>
          <a:prstGeom prst="roundRect">
            <a:avLst>
              <a:gd name="adj" fmla="val 50000"/>
            </a:avLst>
          </a:prstGeom>
          <a:solidFill>
            <a:srgbClr val="3C3489"/>
          </a:solidFill>
          <a:ln w="12700">
            <a:solidFill>
              <a:srgbClr val="3C348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5422320" y="4160520"/>
            <a:ext cx="22672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CECBF6"/>
                </a:solidFill>
                <a:latin typeface="Calibri"/>
                <a:ea typeface="Calibri"/>
              </a:rPr>
              <a:t>Live ADK demo included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0"/>
          <p:cNvSpPr/>
          <p:nvPr/>
        </p:nvSpPr>
        <p:spPr>
          <a:xfrm>
            <a:off x="457200" y="2926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199">
                <a:solidFill>
                  <a:srgbClr val="0F6E56"/>
                </a:solidFill>
                <a:latin typeface="Calibri"/>
                <a:ea typeface="Calibri"/>
              </a:rPr>
              <a:t>SESSION ROADMAP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1"/>
          <p:cNvSpPr/>
          <p:nvPr/>
        </p:nvSpPr>
        <p:spPr>
          <a:xfrm>
            <a:off x="457200" y="5486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6215C"/>
                </a:solidFill>
                <a:latin typeface="Cambria"/>
                <a:ea typeface="Cambria"/>
              </a:rPr>
              <a:t>How we'll spend 75 minutes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2"/>
          <p:cNvSpPr/>
          <p:nvPr/>
        </p:nvSpPr>
        <p:spPr>
          <a:xfrm>
            <a:off x="457200" y="1508760"/>
            <a:ext cx="1325520" cy="3245760"/>
          </a:xfrm>
          <a:prstGeom prst="roundRect">
            <a:avLst>
              <a:gd name="adj" fmla="val 5517"/>
            </a:avLst>
          </a:prstGeom>
          <a:solidFill>
            <a:srgbClr val="F8F7FC"/>
          </a:solidFill>
          <a:ln w="0">
            <a:noFill/>
          </a:ln>
          <a:effectLst>
            <a:outerShdw blurRad="63360" dist="255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3"/>
          <p:cNvSpPr/>
          <p:nvPr/>
        </p:nvSpPr>
        <p:spPr>
          <a:xfrm>
            <a:off x="891720" y="1737360"/>
            <a:ext cx="456840" cy="456840"/>
          </a:xfrm>
          <a:prstGeom prst="ellipse">
            <a:avLst/>
          </a:prstGeom>
          <a:solidFill>
            <a:srgbClr val="EEEDF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" name="Image 0" descr="preencoded.png"/>
          <p:cNvPicPr/>
          <p:nvPr/>
        </p:nvPicPr>
        <p:blipFill>
          <a:blip r:embed="rId3"/>
          <a:stretch/>
        </p:blipFill>
        <p:spPr>
          <a:xfrm>
            <a:off x="1001160" y="184716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40" name="Text 4"/>
          <p:cNvSpPr/>
          <p:nvPr/>
        </p:nvSpPr>
        <p:spPr>
          <a:xfrm>
            <a:off x="548640" y="2331720"/>
            <a:ext cx="1142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767290"/>
                </a:solidFill>
                <a:latin typeface="Calibri"/>
                <a:ea typeface="Calibri"/>
              </a:rPr>
              <a:t>0:00 – 0:07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5"/>
          <p:cNvSpPr/>
          <p:nvPr/>
        </p:nvSpPr>
        <p:spPr>
          <a:xfrm>
            <a:off x="548640" y="2606040"/>
            <a:ext cx="11426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26215C"/>
                </a:solidFill>
                <a:latin typeface="Calibri"/>
                <a:ea typeface="Calibri"/>
              </a:rPr>
              <a:t>Why agentic, why now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6"/>
          <p:cNvSpPr/>
          <p:nvPr/>
        </p:nvSpPr>
        <p:spPr>
          <a:xfrm>
            <a:off x="567000" y="3154680"/>
            <a:ext cx="110592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433F5C"/>
                </a:solidFill>
                <a:latin typeface="Calibri"/>
                <a:ea typeface="Calibri"/>
              </a:rPr>
              <a:t>The shift from deterministic chatbots to agentic AI, and why it matters for this use case.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Shape 7"/>
          <p:cNvSpPr/>
          <p:nvPr/>
        </p:nvSpPr>
        <p:spPr>
          <a:xfrm>
            <a:off x="1892880" y="1508760"/>
            <a:ext cx="1325520" cy="3245760"/>
          </a:xfrm>
          <a:prstGeom prst="roundRect">
            <a:avLst>
              <a:gd name="adj" fmla="val 5517"/>
            </a:avLst>
          </a:prstGeom>
          <a:solidFill>
            <a:srgbClr val="F8F7FC"/>
          </a:solidFill>
          <a:ln w="0">
            <a:noFill/>
          </a:ln>
          <a:effectLst>
            <a:outerShdw blurRad="63360" dist="255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8"/>
          <p:cNvSpPr/>
          <p:nvPr/>
        </p:nvSpPr>
        <p:spPr>
          <a:xfrm>
            <a:off x="2327040" y="1737360"/>
            <a:ext cx="456840" cy="456840"/>
          </a:xfrm>
          <a:prstGeom prst="ellipse">
            <a:avLst/>
          </a:prstGeom>
          <a:solidFill>
            <a:srgbClr val="FAEE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5" name="Image 1" descr="preencoded.png"/>
          <p:cNvPicPr/>
          <p:nvPr/>
        </p:nvPicPr>
        <p:blipFill>
          <a:blip r:embed="rId4"/>
          <a:stretch/>
        </p:blipFill>
        <p:spPr>
          <a:xfrm>
            <a:off x="2436840" y="184716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46" name="Text 9"/>
          <p:cNvSpPr/>
          <p:nvPr/>
        </p:nvSpPr>
        <p:spPr>
          <a:xfrm>
            <a:off x="1984320" y="2331720"/>
            <a:ext cx="1142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767290"/>
                </a:solidFill>
                <a:latin typeface="Calibri"/>
                <a:ea typeface="Calibri"/>
              </a:rPr>
              <a:t>0:07 – 0:13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10"/>
          <p:cNvSpPr/>
          <p:nvPr/>
        </p:nvSpPr>
        <p:spPr>
          <a:xfrm>
            <a:off x="1984320" y="2606040"/>
            <a:ext cx="11426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26215C"/>
                </a:solidFill>
                <a:latin typeface="Calibri"/>
                <a:ea typeface="Calibri"/>
              </a:rPr>
              <a:t>Overall architecture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11"/>
          <p:cNvSpPr/>
          <p:nvPr/>
        </p:nvSpPr>
        <p:spPr>
          <a:xfrm>
            <a:off x="2002680" y="3154680"/>
            <a:ext cx="110592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433F5C"/>
                </a:solidFill>
                <a:latin typeface="Calibri"/>
                <a:ea typeface="Calibri"/>
              </a:rPr>
              <a:t>Zooming out: the full stack this seminar's concepts live inside.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12"/>
          <p:cNvSpPr/>
          <p:nvPr/>
        </p:nvSpPr>
        <p:spPr>
          <a:xfrm>
            <a:off x="3328560" y="1508760"/>
            <a:ext cx="1325520" cy="3245760"/>
          </a:xfrm>
          <a:prstGeom prst="roundRect">
            <a:avLst>
              <a:gd name="adj" fmla="val 5517"/>
            </a:avLst>
          </a:prstGeom>
          <a:solidFill>
            <a:srgbClr val="F8F7FC"/>
          </a:solidFill>
          <a:ln w="0">
            <a:noFill/>
          </a:ln>
          <a:effectLst>
            <a:outerShdw blurRad="63360" dist="255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13"/>
          <p:cNvSpPr/>
          <p:nvPr/>
        </p:nvSpPr>
        <p:spPr>
          <a:xfrm>
            <a:off x="3762720" y="1737360"/>
            <a:ext cx="456840" cy="456840"/>
          </a:xfrm>
          <a:prstGeom prst="ellipse">
            <a:avLst/>
          </a:prstGeom>
          <a:solidFill>
            <a:srgbClr val="EEEDF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1" name="Image 2" descr="preencoded.png"/>
          <p:cNvPicPr/>
          <p:nvPr/>
        </p:nvPicPr>
        <p:blipFill>
          <a:blip r:embed="rId5"/>
          <a:stretch/>
        </p:blipFill>
        <p:spPr>
          <a:xfrm>
            <a:off x="3872520" y="184716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52" name="Text 14"/>
          <p:cNvSpPr/>
          <p:nvPr/>
        </p:nvSpPr>
        <p:spPr>
          <a:xfrm>
            <a:off x="3420000" y="2331720"/>
            <a:ext cx="1142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767290"/>
                </a:solidFill>
                <a:latin typeface="Calibri"/>
                <a:ea typeface="Calibri"/>
              </a:rPr>
              <a:t>0:13 – 0:55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15"/>
          <p:cNvSpPr/>
          <p:nvPr/>
        </p:nvSpPr>
        <p:spPr>
          <a:xfrm>
            <a:off x="3420000" y="2606040"/>
            <a:ext cx="11426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26215C"/>
                </a:solidFill>
                <a:latin typeface="Calibri"/>
                <a:ea typeface="Calibri"/>
              </a:rPr>
              <a:t>ADK building blocks ↔ UX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16"/>
          <p:cNvSpPr/>
          <p:nvPr/>
        </p:nvSpPr>
        <p:spPr>
          <a:xfrm>
            <a:off x="3438000" y="3154680"/>
            <a:ext cx="110592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433F5C"/>
                </a:solidFill>
                <a:latin typeface="Calibri"/>
                <a:ea typeface="Calibri"/>
              </a:rPr>
              <a:t>Session, state, memory, context engineering, multi-agent routing, tools.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17"/>
          <p:cNvSpPr/>
          <p:nvPr/>
        </p:nvSpPr>
        <p:spPr>
          <a:xfrm>
            <a:off x="4763880" y="1508760"/>
            <a:ext cx="1325520" cy="3245760"/>
          </a:xfrm>
          <a:prstGeom prst="roundRect">
            <a:avLst>
              <a:gd name="adj" fmla="val 5517"/>
            </a:avLst>
          </a:prstGeom>
          <a:solidFill>
            <a:srgbClr val="F8F7FC"/>
          </a:solidFill>
          <a:ln w="0">
            <a:noFill/>
          </a:ln>
          <a:effectLst>
            <a:outerShdw blurRad="63360" dist="255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18"/>
          <p:cNvSpPr/>
          <p:nvPr/>
        </p:nvSpPr>
        <p:spPr>
          <a:xfrm>
            <a:off x="5198400" y="1737360"/>
            <a:ext cx="456840" cy="456840"/>
          </a:xfrm>
          <a:prstGeom prst="ellipse">
            <a:avLst/>
          </a:prstGeom>
          <a:solidFill>
            <a:srgbClr val="FAEE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7" name="Image 3" descr="preencoded.png"/>
          <p:cNvPicPr/>
          <p:nvPr/>
        </p:nvPicPr>
        <p:blipFill>
          <a:blip r:embed="rId6"/>
          <a:stretch/>
        </p:blipFill>
        <p:spPr>
          <a:xfrm>
            <a:off x="5308200" y="184716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58" name="Text 19"/>
          <p:cNvSpPr/>
          <p:nvPr/>
        </p:nvSpPr>
        <p:spPr>
          <a:xfrm>
            <a:off x="4855320" y="2331720"/>
            <a:ext cx="1142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767290"/>
                </a:solidFill>
                <a:latin typeface="Calibri"/>
                <a:ea typeface="Calibri"/>
              </a:rPr>
              <a:t>0:55 – 1:05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20"/>
          <p:cNvSpPr/>
          <p:nvPr/>
        </p:nvSpPr>
        <p:spPr>
          <a:xfrm>
            <a:off x="4855320" y="2606040"/>
            <a:ext cx="11426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26215C"/>
                </a:solidFill>
                <a:latin typeface="Calibri"/>
                <a:ea typeface="Calibri"/>
              </a:rPr>
              <a:t>Platform onboarding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21"/>
          <p:cNvSpPr/>
          <p:nvPr/>
        </p:nvSpPr>
        <p:spPr>
          <a:xfrm>
            <a:off x="4873680" y="3154680"/>
            <a:ext cx="110592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433F5C"/>
                </a:solidFill>
                <a:latin typeface="Calibri"/>
                <a:ea typeface="Calibri"/>
              </a:rPr>
              <a:t>Reusable sub-agent hosting, sidecar services, and onboarding best practices.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22"/>
          <p:cNvSpPr/>
          <p:nvPr/>
        </p:nvSpPr>
        <p:spPr>
          <a:xfrm>
            <a:off x="6199560" y="1508760"/>
            <a:ext cx="1325520" cy="3245760"/>
          </a:xfrm>
          <a:prstGeom prst="roundRect">
            <a:avLst>
              <a:gd name="adj" fmla="val 5517"/>
            </a:avLst>
          </a:prstGeom>
          <a:solidFill>
            <a:srgbClr val="F8F7FC"/>
          </a:solidFill>
          <a:ln w="0">
            <a:noFill/>
          </a:ln>
          <a:effectLst>
            <a:outerShdw blurRad="63360" dist="255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23"/>
          <p:cNvSpPr/>
          <p:nvPr/>
        </p:nvSpPr>
        <p:spPr>
          <a:xfrm>
            <a:off x="6634080" y="1737360"/>
            <a:ext cx="456840" cy="456840"/>
          </a:xfrm>
          <a:prstGeom prst="ellipse">
            <a:avLst/>
          </a:prstGeom>
          <a:solidFill>
            <a:srgbClr val="E1F5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3" name="Image 4" descr="preencoded.png"/>
          <p:cNvPicPr/>
          <p:nvPr/>
        </p:nvPicPr>
        <p:blipFill>
          <a:blip r:embed="rId7"/>
          <a:stretch/>
        </p:blipFill>
        <p:spPr>
          <a:xfrm>
            <a:off x="6743880" y="184716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64" name="Text 24"/>
          <p:cNvSpPr/>
          <p:nvPr/>
        </p:nvSpPr>
        <p:spPr>
          <a:xfrm>
            <a:off x="6291000" y="2331720"/>
            <a:ext cx="1142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767290"/>
                </a:solidFill>
                <a:latin typeface="Calibri"/>
                <a:ea typeface="Calibri"/>
              </a:rPr>
              <a:t>1:05 – 1:12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25"/>
          <p:cNvSpPr/>
          <p:nvPr/>
        </p:nvSpPr>
        <p:spPr>
          <a:xfrm>
            <a:off x="6291000" y="2606040"/>
            <a:ext cx="11426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26215C"/>
                </a:solidFill>
                <a:latin typeface="Calibri"/>
                <a:ea typeface="Calibri"/>
              </a:rPr>
              <a:t>Live demo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26"/>
          <p:cNvSpPr/>
          <p:nvPr/>
        </p:nvSpPr>
        <p:spPr>
          <a:xfrm>
            <a:off x="6309360" y="3154680"/>
            <a:ext cx="110592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433F5C"/>
                </a:solidFill>
                <a:latin typeface="Calibri"/>
                <a:ea typeface="Calibri"/>
              </a:rPr>
              <a:t>A real ADK agent, traced end to end on the running banking example.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27"/>
          <p:cNvSpPr/>
          <p:nvPr/>
        </p:nvSpPr>
        <p:spPr>
          <a:xfrm>
            <a:off x="7635240" y="1508760"/>
            <a:ext cx="1325520" cy="3245760"/>
          </a:xfrm>
          <a:prstGeom prst="roundRect">
            <a:avLst>
              <a:gd name="adj" fmla="val 5517"/>
            </a:avLst>
          </a:prstGeom>
          <a:solidFill>
            <a:srgbClr val="F8F7FC"/>
          </a:solidFill>
          <a:ln w="0">
            <a:noFill/>
          </a:ln>
          <a:effectLst>
            <a:outerShdw blurRad="63360" dist="255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28"/>
          <p:cNvSpPr/>
          <p:nvPr/>
        </p:nvSpPr>
        <p:spPr>
          <a:xfrm>
            <a:off x="8069760" y="1737360"/>
            <a:ext cx="456840" cy="456840"/>
          </a:xfrm>
          <a:prstGeom prst="ellipse">
            <a:avLst/>
          </a:prstGeom>
          <a:solidFill>
            <a:srgbClr val="E1F5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9" name="Image 5" descr="preencoded.png"/>
          <p:cNvPicPr/>
          <p:nvPr/>
        </p:nvPicPr>
        <p:blipFill>
          <a:blip r:embed="rId8"/>
          <a:stretch/>
        </p:blipFill>
        <p:spPr>
          <a:xfrm>
            <a:off x="8179200" y="184716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70" name="Text 29"/>
          <p:cNvSpPr/>
          <p:nvPr/>
        </p:nvSpPr>
        <p:spPr>
          <a:xfrm>
            <a:off x="7726680" y="2331720"/>
            <a:ext cx="1142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767290"/>
                </a:solidFill>
                <a:latin typeface="Calibri"/>
                <a:ea typeface="Calibri"/>
              </a:rPr>
              <a:t>1:12 – 1:15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30"/>
          <p:cNvSpPr/>
          <p:nvPr/>
        </p:nvSpPr>
        <p:spPr>
          <a:xfrm>
            <a:off x="7726680" y="2606040"/>
            <a:ext cx="11426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26215C"/>
                </a:solidFill>
                <a:latin typeface="Calibri"/>
                <a:ea typeface="Calibri"/>
              </a:rPr>
              <a:t>Wrap-up &amp; Q&amp;A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31"/>
          <p:cNvSpPr/>
          <p:nvPr/>
        </p:nvSpPr>
        <p:spPr>
          <a:xfrm>
            <a:off x="7745040" y="3154680"/>
            <a:ext cx="110592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433F5C"/>
                </a:solidFill>
                <a:latin typeface="Calibri"/>
                <a:ea typeface="Calibri"/>
              </a:rPr>
              <a:t>Key takeaways, resources, and a few quick questions.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1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0"/>
          <p:cNvSpPr/>
          <p:nvPr/>
        </p:nvSpPr>
        <p:spPr>
          <a:xfrm>
            <a:off x="7150320" y="658080"/>
            <a:ext cx="914400" cy="54864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Shape 1"/>
          <p:cNvSpPr/>
          <p:nvPr/>
        </p:nvSpPr>
        <p:spPr>
          <a:xfrm flipH="1">
            <a:off x="7369920" y="1206720"/>
            <a:ext cx="694800" cy="40248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Shape 2"/>
          <p:cNvSpPr/>
          <p:nvPr/>
        </p:nvSpPr>
        <p:spPr>
          <a:xfrm flipV="1">
            <a:off x="8064720" y="676440"/>
            <a:ext cx="384120" cy="53028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Shape 3"/>
          <p:cNvSpPr/>
          <p:nvPr/>
        </p:nvSpPr>
        <p:spPr>
          <a:xfrm>
            <a:off x="8064720" y="1206720"/>
            <a:ext cx="567000" cy="38412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Shape 4"/>
          <p:cNvSpPr/>
          <p:nvPr/>
        </p:nvSpPr>
        <p:spPr>
          <a:xfrm>
            <a:off x="6949440" y="457200"/>
            <a:ext cx="402120" cy="402120"/>
          </a:xfrm>
          <a:prstGeom prst="ellipse">
            <a:avLst/>
          </a:prstGeom>
          <a:solidFill>
            <a:srgbClr val="F2A623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5"/>
          <p:cNvSpPr/>
          <p:nvPr/>
        </p:nvSpPr>
        <p:spPr>
          <a:xfrm>
            <a:off x="7772400" y="914400"/>
            <a:ext cx="585000" cy="585000"/>
          </a:xfrm>
          <a:prstGeom prst="ellipse">
            <a:avLst/>
          </a:prstGeom>
          <a:solidFill>
            <a:srgbClr val="7F77DD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Shape 6"/>
          <p:cNvSpPr/>
          <p:nvPr/>
        </p:nvSpPr>
        <p:spPr>
          <a:xfrm>
            <a:off x="7223760" y="1463040"/>
            <a:ext cx="292320" cy="292320"/>
          </a:xfrm>
          <a:prstGeom prst="ellipse">
            <a:avLst/>
          </a:prstGeom>
          <a:solidFill>
            <a:srgbClr val="5DCAA5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7"/>
          <p:cNvSpPr/>
          <p:nvPr/>
        </p:nvSpPr>
        <p:spPr>
          <a:xfrm>
            <a:off x="8321040" y="548640"/>
            <a:ext cx="255600" cy="255600"/>
          </a:xfrm>
          <a:prstGeom prst="ellipse">
            <a:avLst/>
          </a:prstGeom>
          <a:solidFill>
            <a:srgbClr val="5DCAA5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8"/>
          <p:cNvSpPr/>
          <p:nvPr/>
        </p:nvSpPr>
        <p:spPr>
          <a:xfrm>
            <a:off x="8412480" y="1371600"/>
            <a:ext cx="438480" cy="438480"/>
          </a:xfrm>
          <a:prstGeom prst="ellipse">
            <a:avLst/>
          </a:prstGeom>
          <a:solidFill>
            <a:srgbClr val="F2A623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9"/>
          <p:cNvSpPr/>
          <p:nvPr/>
        </p:nvSpPr>
        <p:spPr>
          <a:xfrm>
            <a:off x="640080" y="1417320"/>
            <a:ext cx="914040" cy="914040"/>
          </a:xfrm>
          <a:prstGeom prst="ellipse">
            <a:avLst/>
          </a:prstGeom>
          <a:solidFill>
            <a:srgbClr val="3C348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3" name="Image 0" descr="preencoded.png"/>
          <p:cNvPicPr/>
          <p:nvPr/>
        </p:nvPicPr>
        <p:blipFill>
          <a:blip r:embed="rId3"/>
          <a:stretch/>
        </p:blipFill>
        <p:spPr>
          <a:xfrm>
            <a:off x="859680" y="1636920"/>
            <a:ext cx="475200" cy="475200"/>
          </a:xfrm>
          <a:prstGeom prst="rect">
            <a:avLst/>
          </a:prstGeom>
          <a:ln w="0">
            <a:noFill/>
          </a:ln>
        </p:spPr>
      </p:pic>
      <p:sp>
        <p:nvSpPr>
          <p:cNvPr id="84" name="Text 10"/>
          <p:cNvSpPr/>
          <p:nvPr/>
        </p:nvSpPr>
        <p:spPr>
          <a:xfrm>
            <a:off x="1828800" y="141732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299">
                <a:solidFill>
                  <a:srgbClr val="F2A623"/>
                </a:solidFill>
                <a:latin typeface="Calibri"/>
                <a:ea typeface="Calibri"/>
              </a:rPr>
              <a:t>PART 1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 11"/>
          <p:cNvSpPr/>
          <p:nvPr/>
        </p:nvSpPr>
        <p:spPr>
          <a:xfrm>
            <a:off x="1828800" y="1783080"/>
            <a:ext cx="667476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strike="noStrike" spc="-1">
                <a:solidFill>
                  <a:srgbClr val="FFFFFF"/>
                </a:solidFill>
                <a:latin typeface="Cambria"/>
                <a:ea typeface="Cambria"/>
              </a:rPr>
              <a:t>Why shift from deterministic to agentic</a:t>
            </a:r>
            <a:endParaRPr lang="en-US" sz="3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12"/>
          <p:cNvSpPr/>
          <p:nvPr/>
        </p:nvSpPr>
        <p:spPr>
          <a:xfrm>
            <a:off x="1828800" y="2788920"/>
            <a:ext cx="64004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CECBF6"/>
                </a:solidFill>
                <a:latin typeface="Calibri"/>
                <a:ea typeface="Calibri"/>
              </a:rPr>
              <a:t>Setting up the rest of the session: what's actually changing, and why it matters now.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0"/>
          <p:cNvSpPr/>
          <p:nvPr/>
        </p:nvSpPr>
        <p:spPr>
          <a:xfrm>
            <a:off x="457200" y="2926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199">
                <a:solidFill>
                  <a:srgbClr val="0F6E56"/>
                </a:solidFill>
                <a:latin typeface="Calibri"/>
                <a:ea typeface="Calibri"/>
              </a:rPr>
              <a:t>INTRODUCTION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1"/>
          <p:cNvSpPr/>
          <p:nvPr/>
        </p:nvSpPr>
        <p:spPr>
          <a:xfrm>
            <a:off x="457200" y="5486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6215C"/>
                </a:solidFill>
                <a:latin typeface="Cambria"/>
                <a:ea typeface="Cambria"/>
              </a:rPr>
              <a:t>From a fixed decision tree to a reasoning loop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2"/>
          <p:cNvSpPr/>
          <p:nvPr/>
        </p:nvSpPr>
        <p:spPr>
          <a:xfrm>
            <a:off x="457200" y="1554480"/>
            <a:ext cx="4023000" cy="3200040"/>
          </a:xfrm>
          <a:prstGeom prst="roundRect">
            <a:avLst>
              <a:gd name="adj" fmla="val 2857"/>
            </a:avLst>
          </a:prstGeom>
          <a:solidFill>
            <a:srgbClr val="F8F7FC"/>
          </a:solidFill>
          <a:ln w="0">
            <a:noFill/>
          </a:ln>
          <a:effectLst>
            <a:outerShdw blurRad="63360" dist="255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3"/>
          <p:cNvSpPr/>
          <p:nvPr/>
        </p:nvSpPr>
        <p:spPr>
          <a:xfrm>
            <a:off x="777240" y="1828800"/>
            <a:ext cx="548280" cy="548280"/>
          </a:xfrm>
          <a:prstGeom prst="ellipse">
            <a:avLst/>
          </a:prstGeom>
          <a:solidFill>
            <a:srgbClr val="ECEBF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1" name="Image 0" descr="preencoded.png"/>
          <p:cNvPicPr/>
          <p:nvPr/>
        </p:nvPicPr>
        <p:blipFill>
          <a:blip r:embed="rId3"/>
          <a:stretch/>
        </p:blipFill>
        <p:spPr>
          <a:xfrm>
            <a:off x="909000" y="1960560"/>
            <a:ext cx="284760" cy="284760"/>
          </a:xfrm>
          <a:prstGeom prst="rect">
            <a:avLst/>
          </a:prstGeom>
          <a:ln w="0">
            <a:noFill/>
          </a:ln>
        </p:spPr>
      </p:pic>
      <p:sp>
        <p:nvSpPr>
          <p:cNvPr id="92" name="Text 4"/>
          <p:cNvSpPr/>
          <p:nvPr/>
        </p:nvSpPr>
        <p:spPr>
          <a:xfrm>
            <a:off x="1463040" y="1828800"/>
            <a:ext cx="27428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26215C"/>
                </a:solidFill>
                <a:latin typeface="Cambria"/>
                <a:ea typeface="Cambria"/>
              </a:rPr>
              <a:t>Deterministic chatbot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5"/>
          <p:cNvSpPr/>
          <p:nvPr/>
        </p:nvSpPr>
        <p:spPr>
          <a:xfrm>
            <a:off x="777240" y="2606040"/>
            <a:ext cx="338292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08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433F5C"/>
                </a:solidFill>
                <a:latin typeface="Calibri"/>
                <a:ea typeface="Calibri"/>
              </a:rPr>
              <a:t>Fixed path: for a given input, there's one pre-mapped output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6"/>
          <p:cNvSpPr/>
          <p:nvPr/>
        </p:nvSpPr>
        <p:spPr>
          <a:xfrm>
            <a:off x="777240" y="3319200"/>
            <a:ext cx="338292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08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433F5C"/>
                </a:solidFill>
                <a:latin typeface="Calibri"/>
                <a:ea typeface="Calibri"/>
              </a:rPr>
              <a:t>Fails outside known intents — falls back to “I didn't understand” or a human handoff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7"/>
          <p:cNvSpPr/>
          <p:nvPr/>
        </p:nvSpPr>
        <p:spPr>
          <a:xfrm>
            <a:off x="777240" y="4032360"/>
            <a:ext cx="338292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08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433F5C"/>
                </a:solidFill>
                <a:latin typeface="Calibri"/>
                <a:ea typeface="Calibri"/>
              </a:rPr>
              <a:t>Same answer for every user, no memory of past interactions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8"/>
          <p:cNvSpPr/>
          <p:nvPr/>
        </p:nvSpPr>
        <p:spPr>
          <a:xfrm>
            <a:off x="4663440" y="1554480"/>
            <a:ext cx="4023000" cy="3200040"/>
          </a:xfrm>
          <a:prstGeom prst="roundRect">
            <a:avLst>
              <a:gd name="adj" fmla="val 2857"/>
            </a:avLst>
          </a:prstGeom>
          <a:solidFill>
            <a:srgbClr val="F8F7FC"/>
          </a:solidFill>
          <a:ln w="0">
            <a:noFill/>
          </a:ln>
          <a:effectLst>
            <a:outerShdw blurRad="63360" dist="255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9"/>
          <p:cNvSpPr/>
          <p:nvPr/>
        </p:nvSpPr>
        <p:spPr>
          <a:xfrm>
            <a:off x="4983480" y="1828800"/>
            <a:ext cx="548280" cy="548280"/>
          </a:xfrm>
          <a:prstGeom prst="ellipse">
            <a:avLst/>
          </a:prstGeom>
          <a:solidFill>
            <a:srgbClr val="FAEE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Image 1" descr="preencoded.png"/>
          <p:cNvPicPr/>
          <p:nvPr/>
        </p:nvPicPr>
        <p:blipFill>
          <a:blip r:embed="rId4"/>
          <a:stretch/>
        </p:blipFill>
        <p:spPr>
          <a:xfrm>
            <a:off x="5115240" y="1960560"/>
            <a:ext cx="284760" cy="284760"/>
          </a:xfrm>
          <a:prstGeom prst="rect">
            <a:avLst/>
          </a:prstGeom>
          <a:ln w="0">
            <a:noFill/>
          </a:ln>
        </p:spPr>
      </p:pic>
      <p:sp>
        <p:nvSpPr>
          <p:cNvPr id="99" name="Text 10"/>
          <p:cNvSpPr/>
          <p:nvPr/>
        </p:nvSpPr>
        <p:spPr>
          <a:xfrm>
            <a:off x="5669280" y="1828800"/>
            <a:ext cx="27428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26215C"/>
                </a:solidFill>
                <a:latin typeface="Cambria"/>
                <a:ea typeface="Cambria"/>
              </a:rPr>
              <a:t>Agentic assistant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11"/>
          <p:cNvSpPr/>
          <p:nvPr/>
        </p:nvSpPr>
        <p:spPr>
          <a:xfrm>
            <a:off x="4983480" y="2606040"/>
            <a:ext cx="338292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08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433F5C"/>
                </a:solidFill>
                <a:latin typeface="Calibri"/>
                <a:ea typeface="Calibri"/>
              </a:rPr>
              <a:t>Given a goal, tools, and memory, it reasons at runtime about what to do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12"/>
          <p:cNvSpPr/>
          <p:nvPr/>
        </p:nvSpPr>
        <p:spPr>
          <a:xfrm>
            <a:off x="4983480" y="3319200"/>
            <a:ext cx="338292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08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433F5C"/>
                </a:solidFill>
                <a:latin typeface="Calibri"/>
                <a:ea typeface="Calibri"/>
              </a:rPr>
              <a:t>Handles multi-part and novel requests, not just pre-mapped ones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13"/>
          <p:cNvSpPr/>
          <p:nvPr/>
        </p:nvSpPr>
        <p:spPr>
          <a:xfrm>
            <a:off x="4983480" y="4032360"/>
            <a:ext cx="338292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08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433F5C"/>
                </a:solidFill>
                <a:latin typeface="Calibri"/>
                <a:ea typeface="Calibri"/>
              </a:rPr>
              <a:t>Personalizes using memory and can take real actions, not just answer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14"/>
          <p:cNvSpPr/>
          <p:nvPr/>
        </p:nvSpPr>
        <p:spPr>
          <a:xfrm>
            <a:off x="4297680" y="2971800"/>
            <a:ext cx="548280" cy="548280"/>
          </a:xfrm>
          <a:prstGeom prst="ellipse">
            <a:avLst/>
          </a:prstGeom>
          <a:solidFill>
            <a:srgbClr val="2621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15"/>
          <p:cNvSpPr/>
          <p:nvPr/>
        </p:nvSpPr>
        <p:spPr>
          <a:xfrm>
            <a:off x="4297680" y="297180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Calibri"/>
                <a:ea typeface="Calibri"/>
              </a:rPr>
              <a:t>&gt;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0"/>
          <p:cNvSpPr/>
          <p:nvPr/>
        </p:nvSpPr>
        <p:spPr>
          <a:xfrm>
            <a:off x="457200" y="2926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199">
                <a:solidFill>
                  <a:srgbClr val="0F6E56"/>
                </a:solidFill>
                <a:latin typeface="Calibri"/>
                <a:ea typeface="Calibri"/>
              </a:rPr>
              <a:t>INTRODUCTION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1"/>
          <p:cNvSpPr/>
          <p:nvPr/>
        </p:nvSpPr>
        <p:spPr>
          <a:xfrm>
            <a:off x="457200" y="5486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6215C"/>
                </a:solidFill>
                <a:latin typeface="Cambria"/>
                <a:ea typeface="Cambria"/>
              </a:rPr>
              <a:t>Why this shift matters right now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2"/>
          <p:cNvSpPr/>
          <p:nvPr/>
        </p:nvSpPr>
        <p:spPr>
          <a:xfrm>
            <a:off x="548640" y="1508760"/>
            <a:ext cx="566640" cy="566640"/>
          </a:xfrm>
          <a:prstGeom prst="ellipse">
            <a:avLst/>
          </a:prstGeom>
          <a:solidFill>
            <a:srgbClr val="EEEDF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8" name="Image 0" descr="preencoded.png"/>
          <p:cNvPicPr/>
          <p:nvPr/>
        </p:nvPicPr>
        <p:blipFill>
          <a:blip r:embed="rId3"/>
          <a:stretch/>
        </p:blipFill>
        <p:spPr>
          <a:xfrm>
            <a:off x="684720" y="1644840"/>
            <a:ext cx="294480" cy="294480"/>
          </a:xfrm>
          <a:prstGeom prst="rect">
            <a:avLst/>
          </a:prstGeom>
          <a:ln w="0">
            <a:noFill/>
          </a:ln>
        </p:spPr>
      </p:pic>
      <p:sp>
        <p:nvSpPr>
          <p:cNvPr id="109" name="Text 3"/>
          <p:cNvSpPr/>
          <p:nvPr/>
        </p:nvSpPr>
        <p:spPr>
          <a:xfrm>
            <a:off x="1371600" y="1472040"/>
            <a:ext cx="73148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26215C"/>
                </a:solidFill>
                <a:latin typeface="Calibri"/>
                <a:ea typeface="Calibri"/>
              </a:rPr>
              <a:t>Richer, generative use cases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4"/>
          <p:cNvSpPr/>
          <p:nvPr/>
        </p:nvSpPr>
        <p:spPr>
          <a:xfrm>
            <a:off x="1371600" y="1801440"/>
            <a:ext cx="73148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433F5C"/>
                </a:solidFill>
                <a:latin typeface="Calibri"/>
                <a:ea typeface="Calibri"/>
              </a:rPr>
              <a:t>One message can now carry multiple intents — e.g. reviewing a transaction and applying for a new card in the same conversation — without the user starting over.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5"/>
          <p:cNvSpPr/>
          <p:nvPr/>
        </p:nvSpPr>
        <p:spPr>
          <a:xfrm>
            <a:off x="548640" y="2404800"/>
            <a:ext cx="566640" cy="566640"/>
          </a:xfrm>
          <a:prstGeom prst="ellipse">
            <a:avLst/>
          </a:prstGeom>
          <a:solidFill>
            <a:srgbClr val="FAEE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2" name="Image 1" descr="preencoded.png"/>
          <p:cNvPicPr/>
          <p:nvPr/>
        </p:nvPicPr>
        <p:blipFill>
          <a:blip r:embed="rId4"/>
          <a:stretch/>
        </p:blipFill>
        <p:spPr>
          <a:xfrm>
            <a:off x="684720" y="2540880"/>
            <a:ext cx="294480" cy="294480"/>
          </a:xfrm>
          <a:prstGeom prst="rect">
            <a:avLst/>
          </a:prstGeom>
          <a:ln w="0">
            <a:noFill/>
          </a:ln>
        </p:spPr>
      </p:pic>
      <p:sp>
        <p:nvSpPr>
          <p:cNvPr id="113" name="Text 6"/>
          <p:cNvSpPr/>
          <p:nvPr/>
        </p:nvSpPr>
        <p:spPr>
          <a:xfrm>
            <a:off x="1371600" y="2368440"/>
            <a:ext cx="73148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26215C"/>
                </a:solidFill>
                <a:latin typeface="Calibri"/>
                <a:ea typeface="Calibri"/>
              </a:rPr>
              <a:t>Customer expectations have shifted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7"/>
          <p:cNvSpPr/>
          <p:nvPr/>
        </p:nvSpPr>
        <p:spPr>
          <a:xfrm>
            <a:off x="1371600" y="2697480"/>
            <a:ext cx="73148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433F5C"/>
                </a:solidFill>
                <a:latin typeface="Calibri"/>
                <a:ea typeface="Calibri"/>
              </a:rPr>
              <a:t>People compare every assistant to the best generative AI products they already use — an FAQ-only bot now feels outdated by comparison.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Shape 8"/>
          <p:cNvSpPr/>
          <p:nvPr/>
        </p:nvSpPr>
        <p:spPr>
          <a:xfrm>
            <a:off x="548640" y="3300840"/>
            <a:ext cx="566640" cy="566640"/>
          </a:xfrm>
          <a:prstGeom prst="ellipse">
            <a:avLst/>
          </a:prstGeom>
          <a:solidFill>
            <a:srgbClr val="FAECE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6" name="Image 2" descr="preencoded.png"/>
          <p:cNvPicPr/>
          <p:nvPr/>
        </p:nvPicPr>
        <p:blipFill>
          <a:blip r:embed="rId5"/>
          <a:stretch/>
        </p:blipFill>
        <p:spPr>
          <a:xfrm>
            <a:off x="684720" y="3436920"/>
            <a:ext cx="294480" cy="294480"/>
          </a:xfrm>
          <a:prstGeom prst="rect">
            <a:avLst/>
          </a:prstGeom>
          <a:ln w="0">
            <a:noFill/>
          </a:ln>
        </p:spPr>
      </p:pic>
      <p:sp>
        <p:nvSpPr>
          <p:cNvPr id="117" name="Text 9"/>
          <p:cNvSpPr/>
          <p:nvPr/>
        </p:nvSpPr>
        <p:spPr>
          <a:xfrm>
            <a:off x="1371600" y="3264480"/>
            <a:ext cx="73148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26215C"/>
                </a:solidFill>
                <a:latin typeface="Calibri"/>
                <a:ea typeface="Calibri"/>
              </a:rPr>
              <a:t>Meeting industry standards for external experiences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10"/>
          <p:cNvSpPr/>
          <p:nvPr/>
        </p:nvSpPr>
        <p:spPr>
          <a:xfrm>
            <a:off x="1371600" y="3593520"/>
            <a:ext cx="73148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433F5C"/>
                </a:solidFill>
                <a:latin typeface="Calibri"/>
                <a:ea typeface="Calibri"/>
              </a:rPr>
              <a:t>Customer- and partner-facing conversations carry real brand and trust risk, and regulated industries need every agent action to be traceable and auditable.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Shape 11"/>
          <p:cNvSpPr/>
          <p:nvPr/>
        </p:nvSpPr>
        <p:spPr>
          <a:xfrm>
            <a:off x="457200" y="4251960"/>
            <a:ext cx="8229240" cy="548280"/>
          </a:xfrm>
          <a:prstGeom prst="roundRect">
            <a:avLst>
              <a:gd name="adj" fmla="val 13333"/>
            </a:avLst>
          </a:prstGeom>
          <a:solidFill>
            <a:srgbClr val="EEEDF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12"/>
          <p:cNvSpPr/>
          <p:nvPr/>
        </p:nvSpPr>
        <p:spPr>
          <a:xfrm>
            <a:off x="640080" y="4251960"/>
            <a:ext cx="78634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-1">
                <a:solidFill>
                  <a:srgbClr val="26215C"/>
                </a:solidFill>
                <a:latin typeface="Calibri"/>
                <a:ea typeface="Calibri"/>
              </a:rPr>
              <a:t>We'll use Google's Agent Development Kit (ADK) as our reference framework — a consistent vocabulary for every concept in today's session.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1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0"/>
          <p:cNvSpPr/>
          <p:nvPr/>
        </p:nvSpPr>
        <p:spPr>
          <a:xfrm>
            <a:off x="7150320" y="658080"/>
            <a:ext cx="914400" cy="54864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Shape 1"/>
          <p:cNvSpPr/>
          <p:nvPr/>
        </p:nvSpPr>
        <p:spPr>
          <a:xfrm flipH="1">
            <a:off x="7369920" y="1206720"/>
            <a:ext cx="694800" cy="40248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Shape 2"/>
          <p:cNvSpPr/>
          <p:nvPr/>
        </p:nvSpPr>
        <p:spPr>
          <a:xfrm flipV="1">
            <a:off x="8064720" y="676440"/>
            <a:ext cx="384120" cy="53028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Shape 3"/>
          <p:cNvSpPr/>
          <p:nvPr/>
        </p:nvSpPr>
        <p:spPr>
          <a:xfrm>
            <a:off x="8064720" y="1206720"/>
            <a:ext cx="567000" cy="38412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Shape 4"/>
          <p:cNvSpPr/>
          <p:nvPr/>
        </p:nvSpPr>
        <p:spPr>
          <a:xfrm>
            <a:off x="6949440" y="457200"/>
            <a:ext cx="402120" cy="402120"/>
          </a:xfrm>
          <a:prstGeom prst="ellipse">
            <a:avLst/>
          </a:prstGeom>
          <a:solidFill>
            <a:srgbClr val="F2A623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5"/>
          <p:cNvSpPr/>
          <p:nvPr/>
        </p:nvSpPr>
        <p:spPr>
          <a:xfrm>
            <a:off x="7772400" y="914400"/>
            <a:ext cx="585000" cy="585000"/>
          </a:xfrm>
          <a:prstGeom prst="ellipse">
            <a:avLst/>
          </a:prstGeom>
          <a:solidFill>
            <a:srgbClr val="7F77DD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Shape 6"/>
          <p:cNvSpPr/>
          <p:nvPr/>
        </p:nvSpPr>
        <p:spPr>
          <a:xfrm>
            <a:off x="7223760" y="1463040"/>
            <a:ext cx="292320" cy="292320"/>
          </a:xfrm>
          <a:prstGeom prst="ellipse">
            <a:avLst/>
          </a:prstGeom>
          <a:solidFill>
            <a:srgbClr val="5DCAA5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7"/>
          <p:cNvSpPr/>
          <p:nvPr/>
        </p:nvSpPr>
        <p:spPr>
          <a:xfrm>
            <a:off x="8321040" y="548640"/>
            <a:ext cx="255600" cy="255600"/>
          </a:xfrm>
          <a:prstGeom prst="ellipse">
            <a:avLst/>
          </a:prstGeom>
          <a:solidFill>
            <a:srgbClr val="5DCAA5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8"/>
          <p:cNvSpPr/>
          <p:nvPr/>
        </p:nvSpPr>
        <p:spPr>
          <a:xfrm>
            <a:off x="8412480" y="1371600"/>
            <a:ext cx="438480" cy="438480"/>
          </a:xfrm>
          <a:prstGeom prst="ellipse">
            <a:avLst/>
          </a:prstGeom>
          <a:solidFill>
            <a:srgbClr val="F2A623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9"/>
          <p:cNvSpPr/>
          <p:nvPr/>
        </p:nvSpPr>
        <p:spPr>
          <a:xfrm>
            <a:off x="640080" y="1417320"/>
            <a:ext cx="914040" cy="914040"/>
          </a:xfrm>
          <a:prstGeom prst="ellipse">
            <a:avLst/>
          </a:prstGeom>
          <a:solidFill>
            <a:srgbClr val="3C348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1" name="Image 0" descr="preencoded.png"/>
          <p:cNvPicPr/>
          <p:nvPr/>
        </p:nvPicPr>
        <p:blipFill>
          <a:blip r:embed="rId3"/>
          <a:stretch/>
        </p:blipFill>
        <p:spPr>
          <a:xfrm>
            <a:off x="859680" y="1636920"/>
            <a:ext cx="475200" cy="475200"/>
          </a:xfrm>
          <a:prstGeom prst="rect">
            <a:avLst/>
          </a:prstGeom>
          <a:ln w="0">
            <a:noFill/>
          </a:ln>
        </p:spPr>
      </p:pic>
      <p:sp>
        <p:nvSpPr>
          <p:cNvPr id="132" name="Text 10"/>
          <p:cNvSpPr/>
          <p:nvPr/>
        </p:nvSpPr>
        <p:spPr>
          <a:xfrm>
            <a:off x="1828800" y="141732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299">
                <a:solidFill>
                  <a:srgbClr val="F2A623"/>
                </a:solidFill>
                <a:latin typeface="Calibri"/>
                <a:ea typeface="Calibri"/>
              </a:rPr>
              <a:t>PART 2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 11"/>
          <p:cNvSpPr/>
          <p:nvPr/>
        </p:nvSpPr>
        <p:spPr>
          <a:xfrm>
            <a:off x="1828800" y="1783080"/>
            <a:ext cx="667476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strike="noStrike" spc="-1">
                <a:solidFill>
                  <a:srgbClr val="FFFFFF"/>
                </a:solidFill>
                <a:latin typeface="Cambria"/>
                <a:ea typeface="Cambria"/>
              </a:rPr>
              <a:t>Overall Agentic AI Architecture</a:t>
            </a:r>
            <a:endParaRPr lang="en-US" sz="3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 12"/>
          <p:cNvSpPr/>
          <p:nvPr/>
        </p:nvSpPr>
        <p:spPr>
          <a:xfrm>
            <a:off x="1828800" y="2788920"/>
            <a:ext cx="64004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CECBF6"/>
                </a:solidFill>
                <a:latin typeface="Calibri"/>
                <a:ea typeface="Calibri"/>
              </a:rPr>
              <a:t>Zooming out before we zoom in: the full stack this seminar's concepts live inside.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 0"/>
          <p:cNvSpPr/>
          <p:nvPr/>
        </p:nvSpPr>
        <p:spPr>
          <a:xfrm>
            <a:off x="457200" y="2926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199">
                <a:solidFill>
                  <a:srgbClr val="0F6E56"/>
                </a:solidFill>
                <a:latin typeface="Calibri"/>
                <a:ea typeface="Calibri"/>
              </a:rPr>
              <a:t>ARCHITECTURE OVERVIEW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1"/>
          <p:cNvSpPr/>
          <p:nvPr/>
        </p:nvSpPr>
        <p:spPr>
          <a:xfrm>
            <a:off x="457200" y="5486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6215C"/>
                </a:solidFill>
                <a:latin typeface="Cambria"/>
                <a:ea typeface="Cambria"/>
              </a:rPr>
              <a:t>The full stack, top to bottom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2"/>
          <p:cNvSpPr/>
          <p:nvPr/>
        </p:nvSpPr>
        <p:spPr>
          <a:xfrm>
            <a:off x="457200" y="1325880"/>
            <a:ext cx="8229240" cy="475200"/>
          </a:xfrm>
          <a:prstGeom prst="roundRect">
            <a:avLst>
              <a:gd name="adj" fmla="val 13462"/>
            </a:avLst>
          </a:prstGeom>
          <a:solidFill>
            <a:srgbClr val="ECEBF4"/>
          </a:solidFill>
          <a:ln w="12700">
            <a:solidFill>
              <a:srgbClr val="ECEBF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3"/>
          <p:cNvSpPr/>
          <p:nvPr/>
        </p:nvSpPr>
        <p:spPr>
          <a:xfrm>
            <a:off x="685800" y="1325880"/>
            <a:ext cx="23770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767290"/>
                </a:solidFill>
                <a:latin typeface="Calibri"/>
                <a:ea typeface="Calibri"/>
              </a:rPr>
              <a:t>Channel / interface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4"/>
          <p:cNvSpPr/>
          <p:nvPr/>
        </p:nvSpPr>
        <p:spPr>
          <a:xfrm>
            <a:off x="3154680" y="1325880"/>
            <a:ext cx="5303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433F5C"/>
                </a:solidFill>
                <a:latin typeface="Calibri"/>
                <a:ea typeface="Calibri"/>
              </a:rPr>
              <a:t>Mobile, web, voice, messaging — renders a channel-agnostic payload natively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5"/>
          <p:cNvSpPr/>
          <p:nvPr/>
        </p:nvSpPr>
        <p:spPr>
          <a:xfrm>
            <a:off x="457200" y="1874520"/>
            <a:ext cx="8229240" cy="475200"/>
          </a:xfrm>
          <a:prstGeom prst="roundRect">
            <a:avLst>
              <a:gd name="adj" fmla="val 13462"/>
            </a:avLst>
          </a:prstGeom>
          <a:solidFill>
            <a:srgbClr val="E1F5EE"/>
          </a:solidFill>
          <a:ln w="12700">
            <a:solidFill>
              <a:srgbClr val="E1F5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6"/>
          <p:cNvSpPr/>
          <p:nvPr/>
        </p:nvSpPr>
        <p:spPr>
          <a:xfrm>
            <a:off x="685800" y="1874520"/>
            <a:ext cx="23770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0F6E56"/>
                </a:solidFill>
                <a:latin typeface="Calibri"/>
                <a:ea typeface="Calibri"/>
              </a:rPr>
              <a:t>Session management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7"/>
          <p:cNvSpPr/>
          <p:nvPr/>
        </p:nvSpPr>
        <p:spPr>
          <a:xfrm>
            <a:off x="3154680" y="1874520"/>
            <a:ext cx="5303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433F5C"/>
                </a:solidFill>
                <a:latin typeface="Calibri"/>
                <a:ea typeface="Calibri"/>
              </a:rPr>
              <a:t>Single source of truth for state &amp; history, across every channel and sub-agent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8"/>
          <p:cNvSpPr/>
          <p:nvPr/>
        </p:nvSpPr>
        <p:spPr>
          <a:xfrm>
            <a:off x="457200" y="2423160"/>
            <a:ext cx="8229240" cy="475200"/>
          </a:xfrm>
          <a:prstGeom prst="roundRect">
            <a:avLst>
              <a:gd name="adj" fmla="val 13462"/>
            </a:avLst>
          </a:prstGeom>
          <a:solidFill>
            <a:srgbClr val="EEEDFE"/>
          </a:solidFill>
          <a:ln w="12700">
            <a:solidFill>
              <a:srgbClr val="EEED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9"/>
          <p:cNvSpPr/>
          <p:nvPr/>
        </p:nvSpPr>
        <p:spPr>
          <a:xfrm>
            <a:off x="685800" y="2423160"/>
            <a:ext cx="23770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26215C"/>
                </a:solidFill>
                <a:latin typeface="Calibri"/>
                <a:ea typeface="Calibri"/>
              </a:rPr>
              <a:t>Orchestration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10"/>
          <p:cNvSpPr/>
          <p:nvPr/>
        </p:nvSpPr>
        <p:spPr>
          <a:xfrm>
            <a:off x="3154680" y="2423160"/>
            <a:ext cx="5303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433F5C"/>
                </a:solidFill>
                <a:latin typeface="Calibri"/>
                <a:ea typeface="Calibri"/>
              </a:rPr>
              <a:t>Intent routing, context engineering, model-pairing decisions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11"/>
          <p:cNvSpPr/>
          <p:nvPr/>
        </p:nvSpPr>
        <p:spPr>
          <a:xfrm>
            <a:off x="457200" y="2971800"/>
            <a:ext cx="8229240" cy="475200"/>
          </a:xfrm>
          <a:prstGeom prst="roundRect">
            <a:avLst>
              <a:gd name="adj" fmla="val 13462"/>
            </a:avLst>
          </a:prstGeom>
          <a:solidFill>
            <a:srgbClr val="EEEDFE"/>
          </a:solidFill>
          <a:ln w="12700">
            <a:solidFill>
              <a:srgbClr val="EEED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12"/>
          <p:cNvSpPr/>
          <p:nvPr/>
        </p:nvSpPr>
        <p:spPr>
          <a:xfrm>
            <a:off x="685800" y="2971800"/>
            <a:ext cx="23770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26215C"/>
                </a:solidFill>
                <a:latin typeface="Calibri"/>
                <a:ea typeface="Calibri"/>
              </a:rPr>
              <a:t>Domain sub-agents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13"/>
          <p:cNvSpPr/>
          <p:nvPr/>
        </p:nvSpPr>
        <p:spPr>
          <a:xfrm>
            <a:off x="3154680" y="2971800"/>
            <a:ext cx="5303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433F5C"/>
                </a:solidFill>
                <a:latin typeface="Calibri"/>
                <a:ea typeface="Calibri"/>
              </a:rPr>
              <a:t>Business logic and tools — built by enterprise teams, hosted by the platform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14"/>
          <p:cNvSpPr/>
          <p:nvPr/>
        </p:nvSpPr>
        <p:spPr>
          <a:xfrm>
            <a:off x="457200" y="3520440"/>
            <a:ext cx="8229240" cy="475200"/>
          </a:xfrm>
          <a:prstGeom prst="roundRect">
            <a:avLst>
              <a:gd name="adj" fmla="val 13462"/>
            </a:avLst>
          </a:prstGeom>
          <a:solidFill>
            <a:srgbClr val="FAEEDA"/>
          </a:solidFill>
          <a:ln w="12700">
            <a:solidFill>
              <a:srgbClr val="FAEE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15"/>
          <p:cNvSpPr/>
          <p:nvPr/>
        </p:nvSpPr>
        <p:spPr>
          <a:xfrm>
            <a:off x="685800" y="3520440"/>
            <a:ext cx="23770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854F0B"/>
                </a:solidFill>
                <a:latin typeface="Calibri"/>
                <a:ea typeface="Calibri"/>
              </a:rPr>
              <a:t>Sidecar services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16"/>
          <p:cNvSpPr/>
          <p:nvPr/>
        </p:nvSpPr>
        <p:spPr>
          <a:xfrm>
            <a:off x="3154680" y="3520440"/>
            <a:ext cx="5303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433F5C"/>
                </a:solidFill>
                <a:latin typeface="Calibri"/>
                <a:ea typeface="Calibri"/>
              </a:rPr>
              <a:t>Evals, guardrails, traceability, observability — shared by every sub-agent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17"/>
          <p:cNvSpPr/>
          <p:nvPr/>
        </p:nvSpPr>
        <p:spPr>
          <a:xfrm>
            <a:off x="457200" y="4069080"/>
            <a:ext cx="8229240" cy="475200"/>
          </a:xfrm>
          <a:prstGeom prst="roundRect">
            <a:avLst>
              <a:gd name="adj" fmla="val 13462"/>
            </a:avLst>
          </a:prstGeom>
          <a:solidFill>
            <a:srgbClr val="E1F5EE"/>
          </a:solidFill>
          <a:ln w="12700">
            <a:solidFill>
              <a:srgbClr val="E1F5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18"/>
          <p:cNvSpPr/>
          <p:nvPr/>
        </p:nvSpPr>
        <p:spPr>
          <a:xfrm>
            <a:off x="685800" y="4069080"/>
            <a:ext cx="23770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0F6E56"/>
                </a:solidFill>
                <a:latin typeface="Calibri"/>
                <a:ea typeface="Calibri"/>
              </a:rPr>
              <a:t>Model layer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19"/>
          <p:cNvSpPr/>
          <p:nvPr/>
        </p:nvSpPr>
        <p:spPr>
          <a:xfrm>
            <a:off x="3154680" y="4069080"/>
            <a:ext cx="5303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433F5C"/>
                </a:solidFill>
                <a:latin typeface="Calibri"/>
                <a:ea typeface="Calibri"/>
              </a:rPr>
              <a:t>Multiple LLMs/SLMs, abstracted behind a routing interface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20"/>
          <p:cNvSpPr/>
          <p:nvPr/>
        </p:nvSpPr>
        <p:spPr>
          <a:xfrm>
            <a:off x="457200" y="467244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strike="noStrike" spc="-1">
                <a:solidFill>
                  <a:srgbClr val="767290"/>
                </a:solidFill>
                <a:latin typeface="Calibri"/>
                <a:ea typeface="Calibri"/>
              </a:rPr>
              <a:t>This seminar lives mostly in the middle three layers — session, orchestration, and sub-agents — with sidecar services covered as their own section.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1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0"/>
          <p:cNvSpPr/>
          <p:nvPr/>
        </p:nvSpPr>
        <p:spPr>
          <a:xfrm>
            <a:off x="7150320" y="658080"/>
            <a:ext cx="914400" cy="54864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Shape 1"/>
          <p:cNvSpPr/>
          <p:nvPr/>
        </p:nvSpPr>
        <p:spPr>
          <a:xfrm flipH="1">
            <a:off x="7369920" y="1206720"/>
            <a:ext cx="694800" cy="40248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Shape 2"/>
          <p:cNvSpPr/>
          <p:nvPr/>
        </p:nvSpPr>
        <p:spPr>
          <a:xfrm flipV="1">
            <a:off x="8064720" y="676440"/>
            <a:ext cx="384120" cy="53028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Shape 3"/>
          <p:cNvSpPr/>
          <p:nvPr/>
        </p:nvSpPr>
        <p:spPr>
          <a:xfrm>
            <a:off x="8064720" y="1206720"/>
            <a:ext cx="567000" cy="38412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Shape 4"/>
          <p:cNvSpPr/>
          <p:nvPr/>
        </p:nvSpPr>
        <p:spPr>
          <a:xfrm>
            <a:off x="6949440" y="457200"/>
            <a:ext cx="402120" cy="402120"/>
          </a:xfrm>
          <a:prstGeom prst="ellipse">
            <a:avLst/>
          </a:prstGeom>
          <a:solidFill>
            <a:srgbClr val="F2A623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5"/>
          <p:cNvSpPr/>
          <p:nvPr/>
        </p:nvSpPr>
        <p:spPr>
          <a:xfrm>
            <a:off x="7772400" y="914400"/>
            <a:ext cx="585000" cy="585000"/>
          </a:xfrm>
          <a:prstGeom prst="ellipse">
            <a:avLst/>
          </a:prstGeom>
          <a:solidFill>
            <a:srgbClr val="7F77DD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Shape 6"/>
          <p:cNvSpPr/>
          <p:nvPr/>
        </p:nvSpPr>
        <p:spPr>
          <a:xfrm>
            <a:off x="7223760" y="1463040"/>
            <a:ext cx="292320" cy="292320"/>
          </a:xfrm>
          <a:prstGeom prst="ellipse">
            <a:avLst/>
          </a:prstGeom>
          <a:solidFill>
            <a:srgbClr val="5DCAA5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7"/>
          <p:cNvSpPr/>
          <p:nvPr/>
        </p:nvSpPr>
        <p:spPr>
          <a:xfrm>
            <a:off x="8321040" y="548640"/>
            <a:ext cx="255600" cy="255600"/>
          </a:xfrm>
          <a:prstGeom prst="ellipse">
            <a:avLst/>
          </a:prstGeom>
          <a:solidFill>
            <a:srgbClr val="5DCAA5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Shape 8"/>
          <p:cNvSpPr/>
          <p:nvPr/>
        </p:nvSpPr>
        <p:spPr>
          <a:xfrm>
            <a:off x="8412480" y="1371600"/>
            <a:ext cx="438480" cy="438480"/>
          </a:xfrm>
          <a:prstGeom prst="ellipse">
            <a:avLst/>
          </a:prstGeom>
          <a:solidFill>
            <a:srgbClr val="F2A623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9"/>
          <p:cNvSpPr/>
          <p:nvPr/>
        </p:nvSpPr>
        <p:spPr>
          <a:xfrm>
            <a:off x="640080" y="1417320"/>
            <a:ext cx="914040" cy="914040"/>
          </a:xfrm>
          <a:prstGeom prst="ellipse">
            <a:avLst/>
          </a:prstGeom>
          <a:solidFill>
            <a:srgbClr val="3C348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6" name="Image 0" descr="preencoded.png"/>
          <p:cNvPicPr/>
          <p:nvPr/>
        </p:nvPicPr>
        <p:blipFill>
          <a:blip r:embed="rId3"/>
          <a:stretch/>
        </p:blipFill>
        <p:spPr>
          <a:xfrm>
            <a:off x="859680" y="1636920"/>
            <a:ext cx="475200" cy="475200"/>
          </a:xfrm>
          <a:prstGeom prst="rect">
            <a:avLst/>
          </a:prstGeom>
          <a:ln w="0">
            <a:noFill/>
          </a:ln>
        </p:spPr>
      </p:pic>
      <p:sp>
        <p:nvSpPr>
          <p:cNvPr id="167" name="Text 10"/>
          <p:cNvSpPr/>
          <p:nvPr/>
        </p:nvSpPr>
        <p:spPr>
          <a:xfrm>
            <a:off x="1828800" y="141732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299">
                <a:solidFill>
                  <a:srgbClr val="F2A623"/>
                </a:solidFill>
                <a:latin typeface="Calibri"/>
                <a:ea typeface="Calibri"/>
              </a:rPr>
              <a:t>PART 3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 11"/>
          <p:cNvSpPr/>
          <p:nvPr/>
        </p:nvSpPr>
        <p:spPr>
          <a:xfrm>
            <a:off x="1828800" y="1783080"/>
            <a:ext cx="667476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strike="noStrike" spc="-1">
                <a:solidFill>
                  <a:srgbClr val="FFFFFF"/>
                </a:solidFill>
                <a:latin typeface="Cambria"/>
                <a:ea typeface="Cambria"/>
              </a:rPr>
              <a:t>ADK building blocks, mapped to UX</a:t>
            </a:r>
            <a:endParaRPr lang="en-US" sz="3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Text 12"/>
          <p:cNvSpPr/>
          <p:nvPr/>
        </p:nvSpPr>
        <p:spPr>
          <a:xfrm>
            <a:off x="1828800" y="2788920"/>
            <a:ext cx="64004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CECBF6"/>
                </a:solidFill>
                <a:latin typeface="Calibri"/>
                <a:ea typeface="Calibri"/>
              </a:rPr>
              <a:t>Six ADK primitives — and the exact screen moment each one powers.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 0"/>
          <p:cNvSpPr/>
          <p:nvPr/>
        </p:nvSpPr>
        <p:spPr>
          <a:xfrm>
            <a:off x="457200" y="2926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199">
                <a:solidFill>
                  <a:srgbClr val="0F6E56"/>
                </a:solidFill>
                <a:latin typeface="Calibri"/>
                <a:ea typeface="Calibri"/>
              </a:rPr>
              <a:t>ADK OVERVIEW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1"/>
          <p:cNvSpPr/>
          <p:nvPr/>
        </p:nvSpPr>
        <p:spPr>
          <a:xfrm>
            <a:off x="457200" y="5486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6215C"/>
                </a:solidFill>
                <a:latin typeface="Cambria"/>
                <a:ea typeface="Cambria"/>
              </a:rPr>
              <a:t>One request, six moving parts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2"/>
          <p:cNvSpPr/>
          <p:nvPr/>
        </p:nvSpPr>
        <p:spPr>
          <a:xfrm>
            <a:off x="457200" y="1874520"/>
            <a:ext cx="1215720" cy="1508400"/>
          </a:xfrm>
          <a:prstGeom prst="roundRect">
            <a:avLst>
              <a:gd name="adj" fmla="val 6015"/>
            </a:avLst>
          </a:prstGeom>
          <a:solidFill>
            <a:srgbClr val="ECEBF4"/>
          </a:solidFill>
          <a:ln w="12700">
            <a:solidFill>
              <a:srgbClr val="ECEBF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3"/>
          <p:cNvSpPr/>
          <p:nvPr/>
        </p:nvSpPr>
        <p:spPr>
          <a:xfrm>
            <a:off x="511920" y="1984320"/>
            <a:ext cx="11059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767290"/>
                </a:solidFill>
                <a:latin typeface="Calibri"/>
                <a:ea typeface="Calibri"/>
              </a:rPr>
              <a:t>Login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4"/>
          <p:cNvSpPr/>
          <p:nvPr/>
        </p:nvSpPr>
        <p:spPr>
          <a:xfrm>
            <a:off x="511920" y="2651760"/>
            <a:ext cx="11059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433F5C"/>
                </a:solidFill>
                <a:latin typeface="Calibri"/>
                <a:ea typeface="Calibri"/>
              </a:rPr>
              <a:t>Opens the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433F5C"/>
                </a:solidFill>
                <a:latin typeface="Calibri"/>
                <a:ea typeface="Calibri"/>
              </a:rPr>
              <a:t>chat app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5"/>
          <p:cNvSpPr/>
          <p:nvPr/>
        </p:nvSpPr>
        <p:spPr>
          <a:xfrm>
            <a:off x="1673280" y="1874520"/>
            <a:ext cx="182520" cy="150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767290"/>
                </a:solidFill>
                <a:latin typeface="Calibri"/>
                <a:ea typeface="Calibri"/>
              </a:rPr>
              <a:t>&gt;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6"/>
          <p:cNvSpPr/>
          <p:nvPr/>
        </p:nvSpPr>
        <p:spPr>
          <a:xfrm>
            <a:off x="1856160" y="1874520"/>
            <a:ext cx="1215720" cy="1508400"/>
          </a:xfrm>
          <a:prstGeom prst="roundRect">
            <a:avLst>
              <a:gd name="adj" fmla="val 6015"/>
            </a:avLst>
          </a:prstGeom>
          <a:solidFill>
            <a:srgbClr val="E1F5EE"/>
          </a:solidFill>
          <a:ln w="12700">
            <a:solidFill>
              <a:srgbClr val="E1F5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7"/>
          <p:cNvSpPr/>
          <p:nvPr/>
        </p:nvSpPr>
        <p:spPr>
          <a:xfrm>
            <a:off x="1911240" y="1984320"/>
            <a:ext cx="11059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0F6E56"/>
                </a:solidFill>
                <a:latin typeface="Calibri"/>
                <a:ea typeface="Calibri"/>
              </a:rPr>
              <a:t>Session service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8"/>
          <p:cNvSpPr/>
          <p:nvPr/>
        </p:nvSpPr>
        <p:spPr>
          <a:xfrm>
            <a:off x="1911240" y="2651760"/>
            <a:ext cx="11059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433F5C"/>
                </a:solidFill>
                <a:latin typeface="Calibri"/>
                <a:ea typeface="Calibri"/>
              </a:rPr>
              <a:t>Tracks this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433F5C"/>
                </a:solidFill>
                <a:latin typeface="Calibri"/>
                <a:ea typeface="Calibri"/>
              </a:rPr>
              <a:t>conversation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9"/>
          <p:cNvSpPr/>
          <p:nvPr/>
        </p:nvSpPr>
        <p:spPr>
          <a:xfrm>
            <a:off x="3072240" y="1874520"/>
            <a:ext cx="182520" cy="150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767290"/>
                </a:solidFill>
                <a:latin typeface="Calibri"/>
                <a:ea typeface="Calibri"/>
              </a:rPr>
              <a:t>&gt;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10"/>
          <p:cNvSpPr/>
          <p:nvPr/>
        </p:nvSpPr>
        <p:spPr>
          <a:xfrm>
            <a:off x="3255120" y="1874520"/>
            <a:ext cx="1215720" cy="1508400"/>
          </a:xfrm>
          <a:prstGeom prst="roundRect">
            <a:avLst>
              <a:gd name="adj" fmla="val 6015"/>
            </a:avLst>
          </a:prstGeom>
          <a:solidFill>
            <a:srgbClr val="EEEDFE"/>
          </a:solidFill>
          <a:ln w="12700">
            <a:solidFill>
              <a:srgbClr val="EEED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11"/>
          <p:cNvSpPr/>
          <p:nvPr/>
        </p:nvSpPr>
        <p:spPr>
          <a:xfrm>
            <a:off x="3310200" y="1984320"/>
            <a:ext cx="11059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26215C"/>
                </a:solidFill>
                <a:latin typeface="Calibri"/>
                <a:ea typeface="Calibri"/>
              </a:rPr>
              <a:t>Context engineering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12"/>
          <p:cNvSpPr/>
          <p:nvPr/>
        </p:nvSpPr>
        <p:spPr>
          <a:xfrm>
            <a:off x="3310200" y="2651760"/>
            <a:ext cx="11059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433F5C"/>
                </a:solidFill>
                <a:latin typeface="Calibri"/>
                <a:ea typeface="Calibri"/>
              </a:rPr>
              <a:t>Builds this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433F5C"/>
                </a:solidFill>
                <a:latin typeface="Calibri"/>
                <a:ea typeface="Calibri"/>
              </a:rPr>
              <a:t>turn's context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13"/>
          <p:cNvSpPr/>
          <p:nvPr/>
        </p:nvSpPr>
        <p:spPr>
          <a:xfrm>
            <a:off x="4471560" y="1874520"/>
            <a:ext cx="182520" cy="150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767290"/>
                </a:solidFill>
                <a:latin typeface="Calibri"/>
                <a:ea typeface="Calibri"/>
              </a:rPr>
              <a:t>&gt;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14"/>
          <p:cNvSpPr/>
          <p:nvPr/>
        </p:nvSpPr>
        <p:spPr>
          <a:xfrm>
            <a:off x="4654440" y="1874520"/>
            <a:ext cx="1215720" cy="1508400"/>
          </a:xfrm>
          <a:prstGeom prst="roundRect">
            <a:avLst>
              <a:gd name="adj" fmla="val 6015"/>
            </a:avLst>
          </a:prstGeom>
          <a:solidFill>
            <a:srgbClr val="EEEDFE"/>
          </a:solidFill>
          <a:ln w="12700">
            <a:solidFill>
              <a:srgbClr val="EEED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15"/>
          <p:cNvSpPr/>
          <p:nvPr/>
        </p:nvSpPr>
        <p:spPr>
          <a:xfrm>
            <a:off x="4709160" y="1984320"/>
            <a:ext cx="11059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26215C"/>
                </a:solidFill>
                <a:latin typeface="Calibri"/>
                <a:ea typeface="Calibri"/>
              </a:rPr>
              <a:t>Orchestrator + agents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16"/>
          <p:cNvSpPr/>
          <p:nvPr/>
        </p:nvSpPr>
        <p:spPr>
          <a:xfrm>
            <a:off x="4709160" y="2651760"/>
            <a:ext cx="11059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433F5C"/>
                </a:solidFill>
                <a:latin typeface="Calibri"/>
                <a:ea typeface="Calibri"/>
              </a:rPr>
              <a:t>Route intents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433F5C"/>
                </a:solidFill>
                <a:latin typeface="Calibri"/>
                <a:ea typeface="Calibri"/>
              </a:rPr>
              <a:t>to tools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17"/>
          <p:cNvSpPr/>
          <p:nvPr/>
        </p:nvSpPr>
        <p:spPr>
          <a:xfrm>
            <a:off x="5870520" y="1874520"/>
            <a:ext cx="182520" cy="150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767290"/>
                </a:solidFill>
                <a:latin typeface="Calibri"/>
                <a:ea typeface="Calibri"/>
              </a:rPr>
              <a:t>&gt;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18"/>
          <p:cNvSpPr/>
          <p:nvPr/>
        </p:nvSpPr>
        <p:spPr>
          <a:xfrm>
            <a:off x="6053400" y="1874520"/>
            <a:ext cx="1215720" cy="1508400"/>
          </a:xfrm>
          <a:prstGeom prst="roundRect">
            <a:avLst>
              <a:gd name="adj" fmla="val 6015"/>
            </a:avLst>
          </a:prstGeom>
          <a:solidFill>
            <a:srgbClr val="ECEBF4"/>
          </a:solidFill>
          <a:ln w="12700">
            <a:solidFill>
              <a:srgbClr val="ECEBF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19"/>
          <p:cNvSpPr/>
          <p:nvPr/>
        </p:nvSpPr>
        <p:spPr>
          <a:xfrm>
            <a:off x="6108120" y="1984320"/>
            <a:ext cx="11059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767290"/>
                </a:solidFill>
                <a:latin typeface="Calibri"/>
                <a:ea typeface="Calibri"/>
              </a:rPr>
              <a:t>Chat UI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20"/>
          <p:cNvSpPr/>
          <p:nvPr/>
        </p:nvSpPr>
        <p:spPr>
          <a:xfrm>
            <a:off x="6108120" y="2651760"/>
            <a:ext cx="11059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433F5C"/>
                </a:solidFill>
                <a:latin typeface="Calibri"/>
                <a:ea typeface="Calibri"/>
              </a:rPr>
              <a:t>Streams reply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433F5C"/>
                </a:solidFill>
                <a:latin typeface="Calibri"/>
                <a:ea typeface="Calibri"/>
              </a:rPr>
              <a:t>+ actions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21"/>
          <p:cNvSpPr/>
          <p:nvPr/>
        </p:nvSpPr>
        <p:spPr>
          <a:xfrm>
            <a:off x="7269480" y="1874520"/>
            <a:ext cx="182520" cy="150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767290"/>
                </a:solidFill>
                <a:latin typeface="Calibri"/>
                <a:ea typeface="Calibri"/>
              </a:rPr>
              <a:t>&gt;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22"/>
          <p:cNvSpPr/>
          <p:nvPr/>
        </p:nvSpPr>
        <p:spPr>
          <a:xfrm>
            <a:off x="7452360" y="1874520"/>
            <a:ext cx="1215720" cy="1508400"/>
          </a:xfrm>
          <a:prstGeom prst="roundRect">
            <a:avLst>
              <a:gd name="adj" fmla="val 6015"/>
            </a:avLst>
          </a:prstGeom>
          <a:solidFill>
            <a:srgbClr val="E1F5EE"/>
          </a:solidFill>
          <a:ln w="12700">
            <a:solidFill>
              <a:srgbClr val="E1F5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23"/>
          <p:cNvSpPr/>
          <p:nvPr/>
        </p:nvSpPr>
        <p:spPr>
          <a:xfrm>
            <a:off x="7507080" y="1984320"/>
            <a:ext cx="11059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0F6E56"/>
                </a:solidFill>
                <a:latin typeface="Calibri"/>
                <a:ea typeface="Calibri"/>
              </a:rPr>
              <a:t>Session store (Redis)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 24"/>
          <p:cNvSpPr/>
          <p:nvPr/>
        </p:nvSpPr>
        <p:spPr>
          <a:xfrm>
            <a:off x="7507080" y="2651760"/>
            <a:ext cx="11059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433F5C"/>
                </a:solidFill>
                <a:latin typeface="Calibri"/>
                <a:ea typeface="Calibri"/>
              </a:rPr>
              <a:t>Short-term state,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433F5C"/>
                </a:solidFill>
                <a:latin typeface="Calibri"/>
                <a:ea typeface="Calibri"/>
              </a:rPr>
              <a:t>across restarts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25"/>
          <p:cNvSpPr/>
          <p:nvPr/>
        </p:nvSpPr>
        <p:spPr>
          <a:xfrm>
            <a:off x="457200" y="361188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i="1" strike="noStrike" spc="-1">
                <a:solidFill>
                  <a:srgbClr val="433F5C"/>
                </a:solidFill>
                <a:latin typeface="Calibri"/>
                <a:ea typeface="Calibri"/>
              </a:rPr>
              <a:t>State gives continuity within a conversation. A Redis-backed session store extends that across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i="1" strike="noStrike" spc="-1">
                <a:solidFill>
                  <a:srgbClr val="433F5C"/>
                </a:solidFill>
                <a:latin typeface="Calibri"/>
                <a:ea typeface="Calibri"/>
              </a:rPr>
              <a:t>restarts and instances — it is still short-term, not the long-term Memory Bank, which isn't built yet.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Text 0"/>
          <p:cNvSpPr/>
          <p:nvPr/>
        </p:nvSpPr>
        <p:spPr>
          <a:xfrm>
            <a:off x="457200" y="2926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199">
                <a:solidFill>
                  <a:srgbClr val="0F6E56"/>
                </a:solidFill>
                <a:latin typeface="Calibri"/>
                <a:ea typeface="Calibri"/>
              </a:rPr>
              <a:t>BUILDING BLOCK 1 OF 6 · CURRENT IMPLEMENTATION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1"/>
          <p:cNvSpPr/>
          <p:nvPr/>
        </p:nvSpPr>
        <p:spPr>
          <a:xfrm>
            <a:off x="457200" y="5486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6215C"/>
                </a:solidFill>
                <a:latin typeface="Cambria"/>
                <a:ea typeface="Cambria"/>
              </a:rPr>
              <a:t>Session service today: InMemorySessionService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2"/>
          <p:cNvSpPr/>
          <p:nvPr/>
        </p:nvSpPr>
        <p:spPr>
          <a:xfrm>
            <a:off x="457200" y="1325880"/>
            <a:ext cx="8229240" cy="511560"/>
          </a:xfrm>
          <a:prstGeom prst="roundRect">
            <a:avLst>
              <a:gd name="adj" fmla="val 12500"/>
            </a:avLst>
          </a:prstGeom>
          <a:solidFill>
            <a:srgbClr val="FAECE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3"/>
          <p:cNvSpPr/>
          <p:nvPr/>
        </p:nvSpPr>
        <p:spPr>
          <a:xfrm>
            <a:off x="567000" y="1380600"/>
            <a:ext cx="402120" cy="40212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0" name="Image 0" descr="preencoded.png"/>
          <p:cNvPicPr/>
          <p:nvPr/>
        </p:nvPicPr>
        <p:blipFill>
          <a:blip r:embed="rId3"/>
          <a:stretch/>
        </p:blipFill>
        <p:spPr>
          <a:xfrm>
            <a:off x="663480" y="1477440"/>
            <a:ext cx="208800" cy="208800"/>
          </a:xfrm>
          <a:prstGeom prst="rect">
            <a:avLst/>
          </a:prstGeom>
          <a:ln w="0">
            <a:noFill/>
          </a:ln>
        </p:spPr>
      </p:pic>
      <p:sp>
        <p:nvSpPr>
          <p:cNvPr id="201" name="Text 4"/>
          <p:cNvSpPr/>
          <p:nvPr/>
        </p:nvSpPr>
        <p:spPr>
          <a:xfrm>
            <a:off x="1097280" y="1325880"/>
            <a:ext cx="74977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D85A30"/>
                </a:solidFill>
                <a:latin typeface="Calibri"/>
                <a:ea typeface="Calibri"/>
              </a:rPr>
              <a:t>Not yet built: </a:t>
            </a:r>
            <a:r>
              <a:rPr lang="en-US" sz="1000" b="0" strike="noStrike" spc="-1">
                <a:solidFill>
                  <a:srgbClr val="433F5C"/>
                </a:solidFill>
                <a:latin typeface="Calibri"/>
                <a:ea typeface="Calibri"/>
              </a:rPr>
              <a:t>long-term memory, and list_sessions() can't surface past threads — state lives only as long as the process runs. Planned next step: a Redis-backed session store (still short-term, not Memory Bank).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5"/>
          <p:cNvSpPr/>
          <p:nvPr/>
        </p:nvSpPr>
        <p:spPr>
          <a:xfrm>
            <a:off x="457200" y="1920240"/>
            <a:ext cx="2651400" cy="1298160"/>
          </a:xfrm>
          <a:prstGeom prst="roundRect">
            <a:avLst>
              <a:gd name="adj" fmla="val 6338"/>
            </a:avLst>
          </a:prstGeom>
          <a:solidFill>
            <a:srgbClr val="F8F7FC"/>
          </a:solidFill>
          <a:ln w="0">
            <a:noFill/>
          </a:ln>
          <a:effectLst>
            <a:outerShdw blurRad="50760" dist="25560" dir="54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6"/>
          <p:cNvSpPr/>
          <p:nvPr/>
        </p:nvSpPr>
        <p:spPr>
          <a:xfrm>
            <a:off x="621720" y="2066400"/>
            <a:ext cx="365400" cy="365400"/>
          </a:xfrm>
          <a:prstGeom prst="ellipse">
            <a:avLst/>
          </a:prstGeom>
          <a:solidFill>
            <a:srgbClr val="EEEDF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4" name="Image 1" descr="preencoded.png"/>
          <p:cNvPicPr/>
          <p:nvPr/>
        </p:nvPicPr>
        <p:blipFill>
          <a:blip r:embed="rId4"/>
          <a:stretch/>
        </p:blipFill>
        <p:spPr>
          <a:xfrm>
            <a:off x="709560" y="2154240"/>
            <a:ext cx="189720" cy="189720"/>
          </a:xfrm>
          <a:prstGeom prst="rect">
            <a:avLst/>
          </a:prstGeom>
          <a:ln w="0">
            <a:noFill/>
          </a:ln>
        </p:spPr>
      </p:pic>
      <p:sp>
        <p:nvSpPr>
          <p:cNvPr id="205" name="Text 7"/>
          <p:cNvSpPr/>
          <p:nvPr/>
        </p:nvSpPr>
        <p:spPr>
          <a:xfrm>
            <a:off x="1078920" y="2039040"/>
            <a:ext cx="186516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26215C"/>
                </a:solidFill>
                <a:latin typeface="Calibri"/>
                <a:ea typeface="Calibri"/>
              </a:rPr>
              <a:t>Create on first message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 8"/>
          <p:cNvSpPr/>
          <p:nvPr/>
        </p:nvSpPr>
        <p:spPr>
          <a:xfrm>
            <a:off x="621720" y="2487240"/>
            <a:ext cx="23223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433F5C"/>
                </a:solidFill>
                <a:latin typeface="Calibri"/>
                <a:ea typeface="Calibri"/>
              </a:rPr>
              <a:t>A Session (id, user_id, app_name) is created the moment the user submits their first message — not waiting for a full turn to complete.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9"/>
          <p:cNvSpPr/>
          <p:nvPr/>
        </p:nvSpPr>
        <p:spPr>
          <a:xfrm>
            <a:off x="3246120" y="1920240"/>
            <a:ext cx="2651400" cy="1298160"/>
          </a:xfrm>
          <a:prstGeom prst="roundRect">
            <a:avLst>
              <a:gd name="adj" fmla="val 6338"/>
            </a:avLst>
          </a:prstGeom>
          <a:solidFill>
            <a:srgbClr val="F8F7FC"/>
          </a:solidFill>
          <a:ln w="0">
            <a:noFill/>
          </a:ln>
          <a:effectLst>
            <a:outerShdw blurRad="50760" dist="25560" dir="54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10"/>
          <p:cNvSpPr/>
          <p:nvPr/>
        </p:nvSpPr>
        <p:spPr>
          <a:xfrm>
            <a:off x="3410640" y="2066400"/>
            <a:ext cx="365400" cy="365400"/>
          </a:xfrm>
          <a:prstGeom prst="ellipse">
            <a:avLst/>
          </a:prstGeom>
          <a:solidFill>
            <a:srgbClr val="E1F5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9" name="Image 2" descr="preencoded.png"/>
          <p:cNvPicPr/>
          <p:nvPr/>
        </p:nvPicPr>
        <p:blipFill>
          <a:blip r:embed="rId5"/>
          <a:stretch/>
        </p:blipFill>
        <p:spPr>
          <a:xfrm>
            <a:off x="3498480" y="2154240"/>
            <a:ext cx="189720" cy="189720"/>
          </a:xfrm>
          <a:prstGeom prst="rect">
            <a:avLst/>
          </a:prstGeom>
          <a:ln w="0">
            <a:noFill/>
          </a:ln>
        </p:spPr>
      </p:pic>
      <p:sp>
        <p:nvSpPr>
          <p:cNvPr id="210" name="Text 11"/>
          <p:cNvSpPr/>
          <p:nvPr/>
        </p:nvSpPr>
        <p:spPr>
          <a:xfrm>
            <a:off x="3867840" y="2039040"/>
            <a:ext cx="186516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26215C"/>
                </a:solidFill>
                <a:latin typeface="Calibri"/>
                <a:ea typeface="Calibri"/>
              </a:rPr>
              <a:t>Turn-to-turn continuity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12"/>
          <p:cNvSpPr/>
          <p:nvPr/>
        </p:nvSpPr>
        <p:spPr>
          <a:xfrm>
            <a:off x="3410640" y="2487240"/>
            <a:ext cx="23223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433F5C"/>
                </a:solidFill>
                <a:latin typeface="Calibri"/>
                <a:ea typeface="Calibri"/>
              </a:rPr>
              <a:t>current_intent, active_transaction, and similar scratchpad keys persist for the lifetime of this conversation, so the agent doesn't re-ask what it just learned.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13"/>
          <p:cNvSpPr/>
          <p:nvPr/>
        </p:nvSpPr>
        <p:spPr>
          <a:xfrm>
            <a:off x="6035040" y="1920240"/>
            <a:ext cx="2651400" cy="1298160"/>
          </a:xfrm>
          <a:prstGeom prst="roundRect">
            <a:avLst>
              <a:gd name="adj" fmla="val 6338"/>
            </a:avLst>
          </a:prstGeom>
          <a:solidFill>
            <a:srgbClr val="F8F7FC"/>
          </a:solidFill>
          <a:ln w="0">
            <a:noFill/>
          </a:ln>
          <a:effectLst>
            <a:outerShdw blurRad="50760" dist="25560" dir="54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hape 14"/>
          <p:cNvSpPr/>
          <p:nvPr/>
        </p:nvSpPr>
        <p:spPr>
          <a:xfrm>
            <a:off x="6199560" y="2066400"/>
            <a:ext cx="365400" cy="365400"/>
          </a:xfrm>
          <a:prstGeom prst="ellipse">
            <a:avLst/>
          </a:prstGeom>
          <a:solidFill>
            <a:srgbClr val="EEEDF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4" name="Image 3" descr="preencoded.png"/>
          <p:cNvPicPr/>
          <p:nvPr/>
        </p:nvPicPr>
        <p:blipFill>
          <a:blip r:embed="rId6"/>
          <a:stretch/>
        </p:blipFill>
        <p:spPr>
          <a:xfrm>
            <a:off x="6287400" y="2154240"/>
            <a:ext cx="189720" cy="189720"/>
          </a:xfrm>
          <a:prstGeom prst="rect">
            <a:avLst/>
          </a:prstGeom>
          <a:ln w="0">
            <a:noFill/>
          </a:ln>
        </p:spPr>
      </p:pic>
      <p:sp>
        <p:nvSpPr>
          <p:cNvPr id="215" name="Text 15"/>
          <p:cNvSpPr/>
          <p:nvPr/>
        </p:nvSpPr>
        <p:spPr>
          <a:xfrm>
            <a:off x="6656760" y="2039040"/>
            <a:ext cx="186516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26215C"/>
                </a:solidFill>
                <a:latin typeface="Calibri"/>
                <a:ea typeface="Calibri"/>
              </a:rPr>
              <a:t>Per-user scoping in-process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 16"/>
          <p:cNvSpPr/>
          <p:nvPr/>
        </p:nvSpPr>
        <p:spPr>
          <a:xfrm>
            <a:off x="6199560" y="2487240"/>
            <a:ext cx="23223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433F5C"/>
                </a:solidFill>
                <a:latin typeface="Calibri"/>
                <a:ea typeface="Calibri"/>
              </a:rPr>
              <a:t>user_id keeps concurrent customers' sessions fully isolated, even though all of it lives in the same process memory today.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Shape 17"/>
          <p:cNvSpPr/>
          <p:nvPr/>
        </p:nvSpPr>
        <p:spPr>
          <a:xfrm>
            <a:off x="457200" y="3310200"/>
            <a:ext cx="2651400" cy="1298160"/>
          </a:xfrm>
          <a:prstGeom prst="roundRect">
            <a:avLst>
              <a:gd name="adj" fmla="val 6338"/>
            </a:avLst>
          </a:prstGeom>
          <a:solidFill>
            <a:srgbClr val="F8F7FC"/>
          </a:solidFill>
          <a:ln w="0">
            <a:noFill/>
          </a:ln>
          <a:effectLst>
            <a:outerShdw blurRad="50760" dist="25560" dir="54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Shape 18"/>
          <p:cNvSpPr/>
          <p:nvPr/>
        </p:nvSpPr>
        <p:spPr>
          <a:xfrm>
            <a:off x="621720" y="3456360"/>
            <a:ext cx="365400" cy="365400"/>
          </a:xfrm>
          <a:prstGeom prst="ellipse">
            <a:avLst/>
          </a:prstGeom>
          <a:solidFill>
            <a:srgbClr val="FAEE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9" name="Image 4" descr="preencoded.png"/>
          <p:cNvPicPr/>
          <p:nvPr/>
        </p:nvPicPr>
        <p:blipFill>
          <a:blip r:embed="rId7"/>
          <a:stretch/>
        </p:blipFill>
        <p:spPr>
          <a:xfrm>
            <a:off x="709560" y="3544200"/>
            <a:ext cx="189720" cy="189720"/>
          </a:xfrm>
          <a:prstGeom prst="rect">
            <a:avLst/>
          </a:prstGeom>
          <a:ln w="0">
            <a:noFill/>
          </a:ln>
        </p:spPr>
      </p:pic>
      <p:sp>
        <p:nvSpPr>
          <p:cNvPr id="220" name="Text 19"/>
          <p:cNvSpPr/>
          <p:nvPr/>
        </p:nvSpPr>
        <p:spPr>
          <a:xfrm>
            <a:off x="1078920" y="3429000"/>
            <a:ext cx="186516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26215C"/>
                </a:solidFill>
                <a:latin typeface="Calibri"/>
                <a:ea typeface="Calibri"/>
              </a:rPr>
              <a:t>Recency via lastUpdateTime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 20"/>
          <p:cNvSpPr/>
          <p:nvPr/>
        </p:nvSpPr>
        <p:spPr>
          <a:xfrm>
            <a:off x="621720" y="3877200"/>
            <a:ext cx="23223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433F5C"/>
                </a:solidFill>
                <a:latin typeface="Calibri"/>
                <a:ea typeface="Calibri"/>
              </a:rPr>
              <a:t>Every session carries a timestamp — usable today to detect “still mid-conversation” within the same process run.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hape 21"/>
          <p:cNvSpPr/>
          <p:nvPr/>
        </p:nvSpPr>
        <p:spPr>
          <a:xfrm>
            <a:off x="3246120" y="3310200"/>
            <a:ext cx="2651400" cy="1298160"/>
          </a:xfrm>
          <a:prstGeom prst="roundRect">
            <a:avLst>
              <a:gd name="adj" fmla="val 6338"/>
            </a:avLst>
          </a:prstGeom>
          <a:solidFill>
            <a:srgbClr val="F8F7FC"/>
          </a:solidFill>
          <a:ln w="0">
            <a:noFill/>
          </a:ln>
          <a:effectLst>
            <a:outerShdw blurRad="50760" dist="25560" dir="54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22"/>
          <p:cNvSpPr/>
          <p:nvPr/>
        </p:nvSpPr>
        <p:spPr>
          <a:xfrm>
            <a:off x="3410640" y="3456360"/>
            <a:ext cx="365400" cy="365400"/>
          </a:xfrm>
          <a:prstGeom prst="ellipse">
            <a:avLst/>
          </a:prstGeom>
          <a:solidFill>
            <a:srgbClr val="FAECE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4" name="Image 5" descr="preencoded.png"/>
          <p:cNvPicPr/>
          <p:nvPr/>
        </p:nvPicPr>
        <p:blipFill>
          <a:blip r:embed="rId8"/>
          <a:stretch/>
        </p:blipFill>
        <p:spPr>
          <a:xfrm>
            <a:off x="3498480" y="3544200"/>
            <a:ext cx="189720" cy="189720"/>
          </a:xfrm>
          <a:prstGeom prst="rect">
            <a:avLst/>
          </a:prstGeom>
          <a:ln w="0">
            <a:noFill/>
          </a:ln>
        </p:spPr>
      </p:pic>
      <p:sp>
        <p:nvSpPr>
          <p:cNvPr id="225" name="Text 23"/>
          <p:cNvSpPr/>
          <p:nvPr/>
        </p:nvSpPr>
        <p:spPr>
          <a:xfrm>
            <a:off x="3867840" y="3429000"/>
            <a:ext cx="186516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26215C"/>
                </a:solidFill>
                <a:latin typeface="Calibri"/>
                <a:ea typeface="Calibri"/>
              </a:rPr>
              <a:t>Artifact references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24"/>
          <p:cNvSpPr/>
          <p:nvPr/>
        </p:nvSpPr>
        <p:spPr>
          <a:xfrm>
            <a:off x="3410640" y="3877200"/>
            <a:ext cx="23223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433F5C"/>
                </a:solidFill>
                <a:latin typeface="Calibri"/>
                <a:ea typeface="Calibri"/>
              </a:rPr>
              <a:t>Uploaded documents (e.g. KYC proof) are stored by reference, not inline — keeps state lightweight even in memory.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hape 25"/>
          <p:cNvSpPr/>
          <p:nvPr/>
        </p:nvSpPr>
        <p:spPr>
          <a:xfrm>
            <a:off x="6035040" y="3310200"/>
            <a:ext cx="2651400" cy="1298160"/>
          </a:xfrm>
          <a:prstGeom prst="roundRect">
            <a:avLst>
              <a:gd name="adj" fmla="val 6338"/>
            </a:avLst>
          </a:prstGeom>
          <a:solidFill>
            <a:srgbClr val="F8F7FC"/>
          </a:solidFill>
          <a:ln w="0">
            <a:noFill/>
          </a:ln>
          <a:effectLst>
            <a:outerShdw blurRad="50760" dist="25560" dir="54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26"/>
          <p:cNvSpPr/>
          <p:nvPr/>
        </p:nvSpPr>
        <p:spPr>
          <a:xfrm>
            <a:off x="6199560" y="3456360"/>
            <a:ext cx="365400" cy="365400"/>
          </a:xfrm>
          <a:prstGeom prst="ellipse">
            <a:avLst/>
          </a:prstGeom>
          <a:solidFill>
            <a:srgbClr val="E1F5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9" name="Image 6" descr="preencoded.png"/>
          <p:cNvPicPr/>
          <p:nvPr/>
        </p:nvPicPr>
        <p:blipFill>
          <a:blip r:embed="rId9"/>
          <a:stretch/>
        </p:blipFill>
        <p:spPr>
          <a:xfrm>
            <a:off x="6287400" y="3544200"/>
            <a:ext cx="189720" cy="189720"/>
          </a:xfrm>
          <a:prstGeom prst="rect">
            <a:avLst/>
          </a:prstGeom>
          <a:ln w="0">
            <a:noFill/>
          </a:ln>
        </p:spPr>
      </p:pic>
      <p:sp>
        <p:nvSpPr>
          <p:cNvPr id="230" name="Text 27"/>
          <p:cNvSpPr/>
          <p:nvPr/>
        </p:nvSpPr>
        <p:spPr>
          <a:xfrm>
            <a:off x="6656760" y="3429000"/>
            <a:ext cx="186516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26215C"/>
                </a:solidFill>
                <a:latin typeface="Calibri"/>
                <a:ea typeface="Calibri"/>
              </a:rPr>
              <a:t>Event-sourced state writes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28"/>
          <p:cNvSpPr/>
          <p:nvPr/>
        </p:nvSpPr>
        <p:spPr>
          <a:xfrm>
            <a:off x="6199560" y="3877200"/>
            <a:ext cx="23223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433F5C"/>
                </a:solidFill>
                <a:latin typeface="Calibri"/>
                <a:ea typeface="Calibri"/>
              </a:rPr>
              <a:t>Tools already write state_delta the right way — so when persistence lands, no tool code has to change.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29"/>
          <p:cNvSpPr/>
          <p:nvPr/>
        </p:nvSpPr>
        <p:spPr>
          <a:xfrm>
            <a:off x="45720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CEBF4"/>
          </a:solidFill>
          <a:ln w="6350">
            <a:solidFill>
              <a:srgbClr val="ECEBF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30"/>
          <p:cNvSpPr/>
          <p:nvPr/>
        </p:nvSpPr>
        <p:spPr>
          <a:xfrm>
            <a:off x="45720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767290"/>
                </a:solidFill>
                <a:latin typeface="Calibri"/>
                <a:ea typeface="Calibri"/>
              </a:rPr>
              <a:t>Login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31"/>
          <p:cNvSpPr/>
          <p:nvPr/>
        </p:nvSpPr>
        <p:spPr>
          <a:xfrm>
            <a:off x="186552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F2A623"/>
          </a:solidFill>
          <a:ln w="6350">
            <a:solidFill>
              <a:srgbClr val="F2A62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32"/>
          <p:cNvSpPr/>
          <p:nvPr/>
        </p:nvSpPr>
        <p:spPr>
          <a:xfrm>
            <a:off x="186552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854F0B"/>
                </a:solidFill>
                <a:latin typeface="Calibri"/>
                <a:ea typeface="Calibri"/>
              </a:rPr>
              <a:t>History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hape 33"/>
          <p:cNvSpPr/>
          <p:nvPr/>
        </p:nvSpPr>
        <p:spPr>
          <a:xfrm>
            <a:off x="327348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EEDFE"/>
          </a:solidFill>
          <a:ln w="6350">
            <a:solidFill>
              <a:srgbClr val="EEED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 34"/>
          <p:cNvSpPr/>
          <p:nvPr/>
        </p:nvSpPr>
        <p:spPr>
          <a:xfrm>
            <a:off x="327348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26215C"/>
                </a:solidFill>
                <a:latin typeface="Calibri"/>
                <a:ea typeface="Calibri"/>
              </a:rPr>
              <a:t>Context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35"/>
          <p:cNvSpPr/>
          <p:nvPr/>
        </p:nvSpPr>
        <p:spPr>
          <a:xfrm>
            <a:off x="468180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EEDFE"/>
          </a:solidFill>
          <a:ln w="6350">
            <a:solidFill>
              <a:srgbClr val="EEED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 36"/>
          <p:cNvSpPr/>
          <p:nvPr/>
        </p:nvSpPr>
        <p:spPr>
          <a:xfrm>
            <a:off x="468180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26215C"/>
                </a:solidFill>
                <a:latin typeface="Calibri"/>
                <a:ea typeface="Calibri"/>
              </a:rPr>
              <a:t>Agents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37"/>
          <p:cNvSpPr/>
          <p:nvPr/>
        </p:nvSpPr>
        <p:spPr>
          <a:xfrm>
            <a:off x="608976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CEBF4"/>
          </a:solidFill>
          <a:ln w="6350">
            <a:solidFill>
              <a:srgbClr val="ECEBF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 38"/>
          <p:cNvSpPr/>
          <p:nvPr/>
        </p:nvSpPr>
        <p:spPr>
          <a:xfrm>
            <a:off x="608976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767290"/>
                </a:solidFill>
                <a:latin typeface="Calibri"/>
                <a:ea typeface="Calibri"/>
              </a:rPr>
              <a:t>Chat UI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39"/>
          <p:cNvSpPr/>
          <p:nvPr/>
        </p:nvSpPr>
        <p:spPr>
          <a:xfrm>
            <a:off x="749808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1F5EE"/>
          </a:solidFill>
          <a:ln w="6350">
            <a:solidFill>
              <a:srgbClr val="E1F5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 40"/>
          <p:cNvSpPr/>
          <p:nvPr/>
        </p:nvSpPr>
        <p:spPr>
          <a:xfrm>
            <a:off x="749808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F6E56"/>
                </a:solidFill>
                <a:latin typeface="Calibri"/>
                <a:ea typeface="Calibri"/>
              </a:rPr>
              <a:t>Session Store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Text 0"/>
          <p:cNvSpPr/>
          <p:nvPr/>
        </p:nvSpPr>
        <p:spPr>
          <a:xfrm>
            <a:off x="457200" y="2926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199">
                <a:solidFill>
                  <a:srgbClr val="0F6E56"/>
                </a:solidFill>
                <a:latin typeface="Calibri"/>
                <a:ea typeface="Calibri"/>
              </a:rPr>
              <a:t>BUILDING BLOCK 2 OF 6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1"/>
          <p:cNvSpPr/>
          <p:nvPr/>
        </p:nvSpPr>
        <p:spPr>
          <a:xfrm>
            <a:off x="457200" y="5486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6215C"/>
                </a:solidFill>
                <a:latin typeface="Cambria"/>
                <a:ea typeface="Cambria"/>
              </a:rPr>
              <a:t>State vs. memory — the key distinction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hape 2"/>
          <p:cNvSpPr/>
          <p:nvPr/>
        </p:nvSpPr>
        <p:spPr>
          <a:xfrm>
            <a:off x="457200" y="1508760"/>
            <a:ext cx="4023000" cy="2514240"/>
          </a:xfrm>
          <a:prstGeom prst="roundRect">
            <a:avLst>
              <a:gd name="adj" fmla="val 3636"/>
            </a:avLst>
          </a:prstGeom>
          <a:solidFill>
            <a:srgbClr val="F8F7FC"/>
          </a:solidFill>
          <a:ln w="0">
            <a:noFill/>
          </a:ln>
          <a:effectLst>
            <a:outerShdw blurRad="63360" dist="255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3"/>
          <p:cNvSpPr/>
          <p:nvPr/>
        </p:nvSpPr>
        <p:spPr>
          <a:xfrm>
            <a:off x="731520" y="1737360"/>
            <a:ext cx="548280" cy="548280"/>
          </a:xfrm>
          <a:prstGeom prst="ellipse">
            <a:avLst/>
          </a:prstGeom>
          <a:solidFill>
            <a:srgbClr val="E1F5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8" name="Image 0" descr="preencoded.png"/>
          <p:cNvPicPr/>
          <p:nvPr/>
        </p:nvPicPr>
        <p:blipFill>
          <a:blip r:embed="rId3"/>
          <a:stretch/>
        </p:blipFill>
        <p:spPr>
          <a:xfrm>
            <a:off x="863280" y="1869120"/>
            <a:ext cx="284760" cy="284760"/>
          </a:xfrm>
          <a:prstGeom prst="rect">
            <a:avLst/>
          </a:prstGeom>
          <a:ln w="0">
            <a:noFill/>
          </a:ln>
        </p:spPr>
      </p:pic>
      <p:sp>
        <p:nvSpPr>
          <p:cNvPr id="249" name="Text 4"/>
          <p:cNvSpPr/>
          <p:nvPr/>
        </p:nvSpPr>
        <p:spPr>
          <a:xfrm>
            <a:off x="1417320" y="1737360"/>
            <a:ext cx="21942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26215C"/>
                </a:solidFill>
                <a:latin typeface="Cambria"/>
                <a:ea typeface="Cambria"/>
              </a:rPr>
              <a:t>Session state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 5"/>
          <p:cNvSpPr/>
          <p:nvPr/>
        </p:nvSpPr>
        <p:spPr>
          <a:xfrm>
            <a:off x="731520" y="2423160"/>
            <a:ext cx="3474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05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433F5C"/>
                </a:solidFill>
                <a:latin typeface="Calibri"/>
                <a:ea typeface="Calibri"/>
              </a:rPr>
              <a:t>Lives only for this conversation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 6"/>
          <p:cNvSpPr/>
          <p:nvPr/>
        </p:nvSpPr>
        <p:spPr>
          <a:xfrm>
            <a:off x="731520" y="3017520"/>
            <a:ext cx="3474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05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433F5C"/>
                </a:solidFill>
                <a:latin typeface="Calibri"/>
                <a:ea typeface="Calibri"/>
              </a:rPr>
              <a:t>A scratchpad: partially filled forms, confirmed details, in-progress steps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 7"/>
          <p:cNvSpPr/>
          <p:nvPr/>
        </p:nvSpPr>
        <p:spPr>
          <a:xfrm>
            <a:off x="731520" y="3611880"/>
            <a:ext cx="3474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05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433F5C"/>
                </a:solidFill>
                <a:latin typeface="Calibri"/>
                <a:ea typeface="Calibri"/>
              </a:rPr>
              <a:t>Why the bot doesn't make you repeat yourself mid-chat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hape 8"/>
          <p:cNvSpPr/>
          <p:nvPr/>
        </p:nvSpPr>
        <p:spPr>
          <a:xfrm>
            <a:off x="4663440" y="1508760"/>
            <a:ext cx="4023000" cy="2514240"/>
          </a:xfrm>
          <a:prstGeom prst="roundRect">
            <a:avLst>
              <a:gd name="adj" fmla="val 3636"/>
            </a:avLst>
          </a:prstGeom>
          <a:solidFill>
            <a:srgbClr val="F8F7FC"/>
          </a:solidFill>
          <a:ln w="0">
            <a:noFill/>
          </a:ln>
          <a:effectLst>
            <a:outerShdw blurRad="63360" dist="255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Shape 9"/>
          <p:cNvSpPr/>
          <p:nvPr/>
        </p:nvSpPr>
        <p:spPr>
          <a:xfrm>
            <a:off x="4937760" y="1737360"/>
            <a:ext cx="548280" cy="548280"/>
          </a:xfrm>
          <a:prstGeom prst="ellipse">
            <a:avLst/>
          </a:prstGeom>
          <a:solidFill>
            <a:srgbClr val="EEEDF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5" name="Image 1" descr="preencoded.png"/>
          <p:cNvPicPr/>
          <p:nvPr/>
        </p:nvPicPr>
        <p:blipFill>
          <a:blip r:embed="rId4"/>
          <a:stretch/>
        </p:blipFill>
        <p:spPr>
          <a:xfrm>
            <a:off x="5069520" y="1869120"/>
            <a:ext cx="284760" cy="284760"/>
          </a:xfrm>
          <a:prstGeom prst="rect">
            <a:avLst/>
          </a:prstGeom>
          <a:ln w="0">
            <a:noFill/>
          </a:ln>
        </p:spPr>
      </p:pic>
      <p:sp>
        <p:nvSpPr>
          <p:cNvPr id="256" name="Text 10"/>
          <p:cNvSpPr/>
          <p:nvPr/>
        </p:nvSpPr>
        <p:spPr>
          <a:xfrm>
            <a:off x="5623560" y="1737360"/>
            <a:ext cx="21942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26215C"/>
                </a:solidFill>
                <a:latin typeface="Cambria"/>
                <a:ea typeface="Cambria"/>
              </a:rPr>
              <a:t>Long-term memory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11"/>
          <p:cNvSpPr/>
          <p:nvPr/>
        </p:nvSpPr>
        <p:spPr>
          <a:xfrm>
            <a:off x="7726680" y="1874520"/>
            <a:ext cx="868320" cy="292320"/>
          </a:xfrm>
          <a:prstGeom prst="roundRect">
            <a:avLst>
              <a:gd name="adj" fmla="val 50000"/>
            </a:avLst>
          </a:prstGeom>
          <a:solidFill>
            <a:srgbClr val="FAECE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 12"/>
          <p:cNvSpPr/>
          <p:nvPr/>
        </p:nvSpPr>
        <p:spPr>
          <a:xfrm>
            <a:off x="7726680" y="1874520"/>
            <a:ext cx="868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D85A30"/>
                </a:solidFill>
                <a:latin typeface="Calibri"/>
                <a:ea typeface="Calibri"/>
              </a:rPr>
              <a:t>Not built yet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 13"/>
          <p:cNvSpPr/>
          <p:nvPr/>
        </p:nvSpPr>
        <p:spPr>
          <a:xfrm>
            <a:off x="4937760" y="2423160"/>
            <a:ext cx="3474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05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433F5C"/>
                </a:solidFill>
                <a:latin typeface="Calibri"/>
                <a:ea typeface="Calibri"/>
              </a:rPr>
              <a:t>Persists across sessions, via a Memory Bank / MemoryService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14"/>
          <p:cNvSpPr/>
          <p:nvPr/>
        </p:nvSpPr>
        <p:spPr>
          <a:xfrm>
            <a:off x="4937760" y="3017520"/>
            <a:ext cx="3474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05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433F5C"/>
                </a:solidFill>
                <a:latin typeface="Calibri"/>
                <a:ea typeface="Calibri"/>
              </a:rPr>
              <a:t>A searchable store of facts and preferences ingested from past sessions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15"/>
          <p:cNvSpPr/>
          <p:nvPr/>
        </p:nvSpPr>
        <p:spPr>
          <a:xfrm>
            <a:off x="4937760" y="3611880"/>
            <a:ext cx="3474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05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433F5C"/>
                </a:solidFill>
                <a:latin typeface="Calibri"/>
                <a:ea typeface="Calibri"/>
              </a:rPr>
              <a:t>Personalizes a brand-new conversation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 16"/>
          <p:cNvSpPr/>
          <p:nvPr/>
        </p:nvSpPr>
        <p:spPr>
          <a:xfrm>
            <a:off x="457200" y="416052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26215C"/>
                </a:solidFill>
                <a:latin typeface="Calibri"/>
                <a:ea typeface="Calibri"/>
              </a:rPr>
              <a:t>State = continuity within a conversation.   Memory = continuity across conversations.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Shape 17"/>
          <p:cNvSpPr/>
          <p:nvPr/>
        </p:nvSpPr>
        <p:spPr>
          <a:xfrm>
            <a:off x="45720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CEBF4"/>
          </a:solidFill>
          <a:ln w="6350">
            <a:solidFill>
              <a:srgbClr val="ECEBF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 18"/>
          <p:cNvSpPr/>
          <p:nvPr/>
        </p:nvSpPr>
        <p:spPr>
          <a:xfrm>
            <a:off x="45720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767290"/>
                </a:solidFill>
                <a:latin typeface="Calibri"/>
                <a:ea typeface="Calibri"/>
              </a:rPr>
              <a:t>Login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Shape 19"/>
          <p:cNvSpPr/>
          <p:nvPr/>
        </p:nvSpPr>
        <p:spPr>
          <a:xfrm>
            <a:off x="186552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F2A623"/>
          </a:solidFill>
          <a:ln w="6350">
            <a:solidFill>
              <a:srgbClr val="F2A62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 20"/>
          <p:cNvSpPr/>
          <p:nvPr/>
        </p:nvSpPr>
        <p:spPr>
          <a:xfrm>
            <a:off x="186552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854F0B"/>
                </a:solidFill>
                <a:latin typeface="Calibri"/>
                <a:ea typeface="Calibri"/>
              </a:rPr>
              <a:t>History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21"/>
          <p:cNvSpPr/>
          <p:nvPr/>
        </p:nvSpPr>
        <p:spPr>
          <a:xfrm>
            <a:off x="327348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EEDFE"/>
          </a:solidFill>
          <a:ln w="6350">
            <a:solidFill>
              <a:srgbClr val="EEED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 22"/>
          <p:cNvSpPr/>
          <p:nvPr/>
        </p:nvSpPr>
        <p:spPr>
          <a:xfrm>
            <a:off x="327348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26215C"/>
                </a:solidFill>
                <a:latin typeface="Calibri"/>
                <a:ea typeface="Calibri"/>
              </a:rPr>
              <a:t>Context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Shape 23"/>
          <p:cNvSpPr/>
          <p:nvPr/>
        </p:nvSpPr>
        <p:spPr>
          <a:xfrm>
            <a:off x="468180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EEDFE"/>
          </a:solidFill>
          <a:ln w="6350">
            <a:solidFill>
              <a:srgbClr val="EEED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 24"/>
          <p:cNvSpPr/>
          <p:nvPr/>
        </p:nvSpPr>
        <p:spPr>
          <a:xfrm>
            <a:off x="468180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26215C"/>
                </a:solidFill>
                <a:latin typeface="Calibri"/>
                <a:ea typeface="Calibri"/>
              </a:rPr>
              <a:t>Agents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Shape 25"/>
          <p:cNvSpPr/>
          <p:nvPr/>
        </p:nvSpPr>
        <p:spPr>
          <a:xfrm>
            <a:off x="608976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CEBF4"/>
          </a:solidFill>
          <a:ln w="6350">
            <a:solidFill>
              <a:srgbClr val="ECEBF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 26"/>
          <p:cNvSpPr/>
          <p:nvPr/>
        </p:nvSpPr>
        <p:spPr>
          <a:xfrm>
            <a:off x="608976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767290"/>
                </a:solidFill>
                <a:latin typeface="Calibri"/>
                <a:ea typeface="Calibri"/>
              </a:rPr>
              <a:t>Chat UI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Shape 27"/>
          <p:cNvSpPr/>
          <p:nvPr/>
        </p:nvSpPr>
        <p:spPr>
          <a:xfrm>
            <a:off x="749808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F2A623"/>
          </a:solidFill>
          <a:ln w="6350">
            <a:solidFill>
              <a:srgbClr val="F2A62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 28"/>
          <p:cNvSpPr/>
          <p:nvPr/>
        </p:nvSpPr>
        <p:spPr>
          <a:xfrm>
            <a:off x="749808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854F0B"/>
                </a:solidFill>
                <a:latin typeface="Calibri"/>
                <a:ea typeface="Calibri"/>
              </a:rPr>
              <a:t>Session Store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Text 0"/>
          <p:cNvSpPr/>
          <p:nvPr/>
        </p:nvSpPr>
        <p:spPr>
          <a:xfrm>
            <a:off x="457200" y="2926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199">
                <a:solidFill>
                  <a:srgbClr val="0F6E56"/>
                </a:solidFill>
                <a:latin typeface="Calibri"/>
                <a:ea typeface="Calibri"/>
              </a:rPr>
              <a:t>BUILDING BLOCK 3 OF 6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Text 1"/>
          <p:cNvSpPr/>
          <p:nvPr/>
        </p:nvSpPr>
        <p:spPr>
          <a:xfrm>
            <a:off x="457200" y="5486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6215C"/>
                </a:solidFill>
                <a:latin typeface="Cambria"/>
                <a:ea typeface="Cambria"/>
              </a:rPr>
              <a:t>Context engineering → intent &amp; sub-intent routing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2"/>
          <p:cNvSpPr/>
          <p:nvPr/>
        </p:nvSpPr>
        <p:spPr>
          <a:xfrm>
            <a:off x="457200" y="1508760"/>
            <a:ext cx="411444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15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300" b="0" strike="noStrike" spc="-1">
                <a:solidFill>
                  <a:srgbClr val="433F5C"/>
                </a:solidFill>
                <a:latin typeface="Calibri"/>
                <a:ea typeface="Calibri"/>
              </a:rPr>
              <a:t>“Working context” = instructions + relevant state + retrieved memory + tool/agent definitions, compiled fresh for this turn.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 3"/>
          <p:cNvSpPr/>
          <p:nvPr/>
        </p:nvSpPr>
        <p:spPr>
          <a:xfrm>
            <a:off x="457200" y="2286000"/>
            <a:ext cx="411444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15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300" b="0" strike="noStrike" spc="-1">
                <a:solidFill>
                  <a:srgbClr val="433F5C"/>
                </a:solidFill>
                <a:latin typeface="Calibri"/>
                <a:ea typeface="Calibri"/>
              </a:rPr>
              <a:t>The orchestrator's context includes descriptions of its sub-agents, so it can decide “I can't do this, but my Order agent can.”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 4"/>
          <p:cNvSpPr/>
          <p:nvPr/>
        </p:nvSpPr>
        <p:spPr>
          <a:xfrm>
            <a:off x="457200" y="3063240"/>
            <a:ext cx="411444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15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300" b="0" strike="noStrike" spc="-1">
                <a:solidFill>
                  <a:srgbClr val="433F5C"/>
                </a:solidFill>
                <a:latin typeface="Calibri"/>
                <a:ea typeface="Calibri"/>
              </a:rPr>
              <a:t>Each sub-agent gets its own tailored context — not everything the orchestrator sees.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5"/>
          <p:cNvSpPr/>
          <p:nvPr/>
        </p:nvSpPr>
        <p:spPr>
          <a:xfrm>
            <a:off x="4937760" y="1463040"/>
            <a:ext cx="3657240" cy="548280"/>
          </a:xfrm>
          <a:prstGeom prst="roundRect">
            <a:avLst>
              <a:gd name="adj" fmla="val 13333"/>
            </a:avLst>
          </a:prstGeom>
          <a:solidFill>
            <a:srgbClr val="ECEBF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 6"/>
          <p:cNvSpPr/>
          <p:nvPr/>
        </p:nvSpPr>
        <p:spPr>
          <a:xfrm>
            <a:off x="5029200" y="1463040"/>
            <a:ext cx="34743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strike="noStrike" spc="-1">
                <a:solidFill>
                  <a:srgbClr val="433F5C"/>
                </a:solidFill>
                <a:latin typeface="Calibri"/>
                <a:ea typeface="Calibri"/>
              </a:rPr>
              <a:t>“Check my order status and update my address”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Shape 7"/>
          <p:cNvSpPr/>
          <p:nvPr/>
        </p:nvSpPr>
        <p:spPr>
          <a:xfrm>
            <a:off x="6766560" y="2011680"/>
            <a:ext cx="360" cy="411480"/>
          </a:xfrm>
          <a:prstGeom prst="line">
            <a:avLst/>
          </a:prstGeom>
          <a:ln w="12700">
            <a:solidFill>
              <a:srgbClr val="76729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Shape 8"/>
          <p:cNvSpPr/>
          <p:nvPr/>
        </p:nvSpPr>
        <p:spPr>
          <a:xfrm>
            <a:off x="5852160" y="2423160"/>
            <a:ext cx="1828440" cy="502560"/>
          </a:xfrm>
          <a:prstGeom prst="roundRect">
            <a:avLst>
              <a:gd name="adj" fmla="val 14545"/>
            </a:avLst>
          </a:prstGeom>
          <a:solidFill>
            <a:srgbClr val="2621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Text 9"/>
          <p:cNvSpPr/>
          <p:nvPr/>
        </p:nvSpPr>
        <p:spPr>
          <a:xfrm>
            <a:off x="5852160" y="242316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FFFFFF"/>
                </a:solidFill>
                <a:latin typeface="Calibri"/>
                <a:ea typeface="Calibri"/>
              </a:rPr>
              <a:t>Orchestrator: decompose + route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Shape 10"/>
          <p:cNvSpPr/>
          <p:nvPr/>
        </p:nvSpPr>
        <p:spPr>
          <a:xfrm flipH="1">
            <a:off x="5212080" y="2926080"/>
            <a:ext cx="1005840" cy="457200"/>
          </a:xfrm>
          <a:prstGeom prst="line">
            <a:avLst/>
          </a:prstGeom>
          <a:ln w="12700">
            <a:solidFill>
              <a:srgbClr val="76729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Shape 11"/>
          <p:cNvSpPr/>
          <p:nvPr/>
        </p:nvSpPr>
        <p:spPr>
          <a:xfrm>
            <a:off x="7315200" y="2926080"/>
            <a:ext cx="1005840" cy="457200"/>
          </a:xfrm>
          <a:prstGeom prst="line">
            <a:avLst/>
          </a:prstGeom>
          <a:ln w="12700">
            <a:solidFill>
              <a:srgbClr val="76729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Shape 12"/>
          <p:cNvSpPr/>
          <p:nvPr/>
        </p:nvSpPr>
        <p:spPr>
          <a:xfrm>
            <a:off x="4937760" y="3383280"/>
            <a:ext cx="1737000" cy="548280"/>
          </a:xfrm>
          <a:prstGeom prst="roundRect">
            <a:avLst>
              <a:gd name="adj" fmla="val 13333"/>
            </a:avLst>
          </a:prstGeom>
          <a:solidFill>
            <a:srgbClr val="E1F5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 13"/>
          <p:cNvSpPr/>
          <p:nvPr/>
        </p:nvSpPr>
        <p:spPr>
          <a:xfrm>
            <a:off x="4937760" y="3383280"/>
            <a:ext cx="1737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0F6E56"/>
                </a:solidFill>
                <a:latin typeface="Calibri"/>
                <a:ea typeface="Calibri"/>
              </a:rPr>
              <a:t>Order agent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0F6E56"/>
                </a:solidFill>
                <a:latin typeface="Calibri"/>
                <a:ea typeface="Calibri"/>
              </a:rPr>
              <a:t>(sub-intent 1)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Shape 14"/>
          <p:cNvSpPr/>
          <p:nvPr/>
        </p:nvSpPr>
        <p:spPr>
          <a:xfrm>
            <a:off x="6858000" y="3383280"/>
            <a:ext cx="1737000" cy="548280"/>
          </a:xfrm>
          <a:prstGeom prst="roundRect">
            <a:avLst>
              <a:gd name="adj" fmla="val 13333"/>
            </a:avLst>
          </a:prstGeom>
          <a:solidFill>
            <a:srgbClr val="E1F5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Text 15"/>
          <p:cNvSpPr/>
          <p:nvPr/>
        </p:nvSpPr>
        <p:spPr>
          <a:xfrm>
            <a:off x="6858000" y="3383280"/>
            <a:ext cx="1737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0F6E56"/>
                </a:solidFill>
                <a:latin typeface="Calibri"/>
                <a:ea typeface="Calibri"/>
              </a:rPr>
              <a:t>Profile agent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0F6E56"/>
                </a:solidFill>
                <a:latin typeface="Calibri"/>
                <a:ea typeface="Calibri"/>
              </a:rPr>
              <a:t>(sub-intent 2)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Shape 16"/>
          <p:cNvSpPr/>
          <p:nvPr/>
        </p:nvSpPr>
        <p:spPr>
          <a:xfrm>
            <a:off x="5806440" y="3931920"/>
            <a:ext cx="914400" cy="320040"/>
          </a:xfrm>
          <a:prstGeom prst="line">
            <a:avLst/>
          </a:prstGeom>
          <a:ln w="12700">
            <a:solidFill>
              <a:srgbClr val="7672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Shape 17"/>
          <p:cNvSpPr/>
          <p:nvPr/>
        </p:nvSpPr>
        <p:spPr>
          <a:xfrm flipH="1">
            <a:off x="6812280" y="3931920"/>
            <a:ext cx="914400" cy="320040"/>
          </a:xfrm>
          <a:prstGeom prst="line">
            <a:avLst/>
          </a:prstGeom>
          <a:ln w="12700">
            <a:solidFill>
              <a:srgbClr val="76729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Shape 18"/>
          <p:cNvSpPr/>
          <p:nvPr/>
        </p:nvSpPr>
        <p:spPr>
          <a:xfrm>
            <a:off x="5486400" y="4251960"/>
            <a:ext cx="2559960" cy="502560"/>
          </a:xfrm>
          <a:prstGeom prst="roundRect">
            <a:avLst>
              <a:gd name="adj" fmla="val 14545"/>
            </a:avLst>
          </a:prstGeom>
          <a:solidFill>
            <a:srgbClr val="FAEE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 19"/>
          <p:cNvSpPr/>
          <p:nvPr/>
        </p:nvSpPr>
        <p:spPr>
          <a:xfrm>
            <a:off x="5486400" y="4251960"/>
            <a:ext cx="25599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854F0B"/>
                </a:solidFill>
                <a:latin typeface="Calibri"/>
                <a:ea typeface="Calibri"/>
              </a:rPr>
              <a:t>One merged response to the user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Shape 20"/>
          <p:cNvSpPr/>
          <p:nvPr/>
        </p:nvSpPr>
        <p:spPr>
          <a:xfrm>
            <a:off x="45720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CEBF4"/>
          </a:solidFill>
          <a:ln w="6350">
            <a:solidFill>
              <a:srgbClr val="ECEBF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 21"/>
          <p:cNvSpPr/>
          <p:nvPr/>
        </p:nvSpPr>
        <p:spPr>
          <a:xfrm>
            <a:off x="45720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767290"/>
                </a:solidFill>
                <a:latin typeface="Calibri"/>
                <a:ea typeface="Calibri"/>
              </a:rPr>
              <a:t>Login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Shape 22"/>
          <p:cNvSpPr/>
          <p:nvPr/>
        </p:nvSpPr>
        <p:spPr>
          <a:xfrm>
            <a:off x="186552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1F5EE"/>
          </a:solidFill>
          <a:ln w="6350">
            <a:solidFill>
              <a:srgbClr val="E1F5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Text 23"/>
          <p:cNvSpPr/>
          <p:nvPr/>
        </p:nvSpPr>
        <p:spPr>
          <a:xfrm>
            <a:off x="186552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F6E56"/>
                </a:solidFill>
                <a:latin typeface="Calibri"/>
                <a:ea typeface="Calibri"/>
              </a:rPr>
              <a:t>History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Shape 24"/>
          <p:cNvSpPr/>
          <p:nvPr/>
        </p:nvSpPr>
        <p:spPr>
          <a:xfrm>
            <a:off x="327348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F2A623"/>
          </a:solidFill>
          <a:ln w="6350">
            <a:solidFill>
              <a:srgbClr val="F2A62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 25"/>
          <p:cNvSpPr/>
          <p:nvPr/>
        </p:nvSpPr>
        <p:spPr>
          <a:xfrm>
            <a:off x="327348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854F0B"/>
                </a:solidFill>
                <a:latin typeface="Calibri"/>
                <a:ea typeface="Calibri"/>
              </a:rPr>
              <a:t>Context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Shape 26"/>
          <p:cNvSpPr/>
          <p:nvPr/>
        </p:nvSpPr>
        <p:spPr>
          <a:xfrm>
            <a:off x="468180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EEDFE"/>
          </a:solidFill>
          <a:ln w="6350">
            <a:solidFill>
              <a:srgbClr val="EEED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Text 27"/>
          <p:cNvSpPr/>
          <p:nvPr/>
        </p:nvSpPr>
        <p:spPr>
          <a:xfrm>
            <a:off x="468180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26215C"/>
                </a:solidFill>
                <a:latin typeface="Calibri"/>
                <a:ea typeface="Calibri"/>
              </a:rPr>
              <a:t>Agents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Shape 28"/>
          <p:cNvSpPr/>
          <p:nvPr/>
        </p:nvSpPr>
        <p:spPr>
          <a:xfrm>
            <a:off x="608976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CEBF4"/>
          </a:solidFill>
          <a:ln w="6350">
            <a:solidFill>
              <a:srgbClr val="ECEBF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Text 29"/>
          <p:cNvSpPr/>
          <p:nvPr/>
        </p:nvSpPr>
        <p:spPr>
          <a:xfrm>
            <a:off x="608976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767290"/>
                </a:solidFill>
                <a:latin typeface="Calibri"/>
                <a:ea typeface="Calibri"/>
              </a:rPr>
              <a:t>Chat UI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Shape 30"/>
          <p:cNvSpPr/>
          <p:nvPr/>
        </p:nvSpPr>
        <p:spPr>
          <a:xfrm>
            <a:off x="749808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1F5EE"/>
          </a:solidFill>
          <a:ln w="6350">
            <a:solidFill>
              <a:srgbClr val="E1F5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Text 31"/>
          <p:cNvSpPr/>
          <p:nvPr/>
        </p:nvSpPr>
        <p:spPr>
          <a:xfrm>
            <a:off x="749808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F6E56"/>
                </a:solidFill>
                <a:latin typeface="Calibri"/>
                <a:ea typeface="Calibri"/>
              </a:rPr>
              <a:t>Session Store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Text 0"/>
          <p:cNvSpPr/>
          <p:nvPr/>
        </p:nvSpPr>
        <p:spPr>
          <a:xfrm>
            <a:off x="457200" y="2926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199">
                <a:solidFill>
                  <a:srgbClr val="0F6E56"/>
                </a:solidFill>
                <a:latin typeface="Calibri"/>
                <a:ea typeface="Calibri"/>
              </a:rPr>
              <a:t>BUILDING BLOCK 4 OF 6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 1"/>
          <p:cNvSpPr/>
          <p:nvPr/>
        </p:nvSpPr>
        <p:spPr>
          <a:xfrm>
            <a:off x="457200" y="5486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6215C"/>
                </a:solidFill>
                <a:latin typeface="Cambria"/>
                <a:ea typeface="Cambria"/>
              </a:rPr>
              <a:t>Multi-agent orchestration → one assistant, many specialists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Shape 2"/>
          <p:cNvSpPr/>
          <p:nvPr/>
        </p:nvSpPr>
        <p:spPr>
          <a:xfrm flipH="1">
            <a:off x="2560320" y="2674440"/>
            <a:ext cx="1188720" cy="360"/>
          </a:xfrm>
          <a:prstGeom prst="line">
            <a:avLst/>
          </a:prstGeom>
          <a:ln w="25400">
            <a:solidFill>
              <a:srgbClr val="EEED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Shape 3"/>
          <p:cNvSpPr/>
          <p:nvPr/>
        </p:nvSpPr>
        <p:spPr>
          <a:xfrm>
            <a:off x="5394960" y="2674440"/>
            <a:ext cx="1188720" cy="360"/>
          </a:xfrm>
          <a:prstGeom prst="line">
            <a:avLst/>
          </a:prstGeom>
          <a:ln w="25400">
            <a:solidFill>
              <a:srgbClr val="EEED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Shape 4"/>
          <p:cNvSpPr/>
          <p:nvPr/>
        </p:nvSpPr>
        <p:spPr>
          <a:xfrm>
            <a:off x="4572000" y="3063240"/>
            <a:ext cx="360" cy="457200"/>
          </a:xfrm>
          <a:prstGeom prst="line">
            <a:avLst/>
          </a:prstGeom>
          <a:ln w="25400">
            <a:solidFill>
              <a:srgbClr val="EEED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Shape 5"/>
          <p:cNvSpPr/>
          <p:nvPr/>
        </p:nvSpPr>
        <p:spPr>
          <a:xfrm>
            <a:off x="548640" y="1417320"/>
            <a:ext cx="2011320" cy="731160"/>
          </a:xfrm>
          <a:prstGeom prst="roundRect">
            <a:avLst>
              <a:gd name="adj" fmla="val 10000"/>
            </a:avLst>
          </a:prstGeom>
          <a:solidFill>
            <a:srgbClr val="E1F5EE"/>
          </a:solidFill>
          <a:ln w="0">
            <a:noFill/>
          </a:ln>
          <a:effectLst>
            <a:outerShdw blurRad="50760" dist="12600" dir="54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Text 6"/>
          <p:cNvSpPr/>
          <p:nvPr/>
        </p:nvSpPr>
        <p:spPr>
          <a:xfrm>
            <a:off x="548640" y="150876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0F6E56"/>
                </a:solidFill>
                <a:latin typeface="Calibri"/>
                <a:ea typeface="Calibri"/>
              </a:rPr>
              <a:t>Billing agent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ext 7"/>
          <p:cNvSpPr/>
          <p:nvPr/>
        </p:nvSpPr>
        <p:spPr>
          <a:xfrm>
            <a:off x="548640" y="182880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767290"/>
                </a:solidFill>
                <a:latin typeface="Calibri"/>
                <a:ea typeface="Calibri"/>
              </a:rPr>
              <a:t>Refunds, invoices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Shape 8"/>
          <p:cNvSpPr/>
          <p:nvPr/>
        </p:nvSpPr>
        <p:spPr>
          <a:xfrm>
            <a:off x="6583680" y="1417320"/>
            <a:ext cx="2011320" cy="731160"/>
          </a:xfrm>
          <a:prstGeom prst="roundRect">
            <a:avLst>
              <a:gd name="adj" fmla="val 10000"/>
            </a:avLst>
          </a:prstGeom>
          <a:solidFill>
            <a:srgbClr val="E1F5EE"/>
          </a:solidFill>
          <a:ln w="0">
            <a:noFill/>
          </a:ln>
          <a:effectLst>
            <a:outerShdw blurRad="50760" dist="12600" dir="54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Text 9"/>
          <p:cNvSpPr/>
          <p:nvPr/>
        </p:nvSpPr>
        <p:spPr>
          <a:xfrm>
            <a:off x="6583680" y="150876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0F6E56"/>
                </a:solidFill>
                <a:latin typeface="Calibri"/>
                <a:ea typeface="Calibri"/>
              </a:rPr>
              <a:t>Order tracking agent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Text 10"/>
          <p:cNvSpPr/>
          <p:nvPr/>
        </p:nvSpPr>
        <p:spPr>
          <a:xfrm>
            <a:off x="6583680" y="182880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767290"/>
                </a:solidFill>
                <a:latin typeface="Calibri"/>
                <a:ea typeface="Calibri"/>
              </a:rPr>
              <a:t>Shipping status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Shape 11"/>
          <p:cNvSpPr/>
          <p:nvPr/>
        </p:nvSpPr>
        <p:spPr>
          <a:xfrm>
            <a:off x="3611880" y="3520440"/>
            <a:ext cx="1919880" cy="731160"/>
          </a:xfrm>
          <a:prstGeom prst="roundRect">
            <a:avLst>
              <a:gd name="adj" fmla="val 10000"/>
            </a:avLst>
          </a:prstGeom>
          <a:solidFill>
            <a:srgbClr val="E1F5EE"/>
          </a:solidFill>
          <a:ln w="0">
            <a:noFill/>
          </a:ln>
          <a:effectLst>
            <a:outerShdw blurRad="50760" dist="12600" dir="54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 12"/>
          <p:cNvSpPr/>
          <p:nvPr/>
        </p:nvSpPr>
        <p:spPr>
          <a:xfrm>
            <a:off x="3611880" y="361188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0F6E56"/>
                </a:solidFill>
                <a:latin typeface="Calibri"/>
                <a:ea typeface="Calibri"/>
              </a:rPr>
              <a:t>FAQ agent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Text 13"/>
          <p:cNvSpPr/>
          <p:nvPr/>
        </p:nvSpPr>
        <p:spPr>
          <a:xfrm>
            <a:off x="3611880" y="393192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767290"/>
                </a:solidFill>
                <a:latin typeface="Calibri"/>
                <a:ea typeface="Calibri"/>
              </a:rPr>
              <a:t>General questions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Shape 14"/>
          <p:cNvSpPr/>
          <p:nvPr/>
        </p:nvSpPr>
        <p:spPr>
          <a:xfrm>
            <a:off x="3749040" y="2286000"/>
            <a:ext cx="1645560" cy="776880"/>
          </a:xfrm>
          <a:prstGeom prst="roundRect">
            <a:avLst>
              <a:gd name="adj" fmla="val 9412"/>
            </a:avLst>
          </a:prstGeom>
          <a:solidFill>
            <a:srgbClr val="2621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Text 15"/>
          <p:cNvSpPr/>
          <p:nvPr/>
        </p:nvSpPr>
        <p:spPr>
          <a:xfrm>
            <a:off x="3749040" y="2340720"/>
            <a:ext cx="16455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FFFFF"/>
                </a:solidFill>
                <a:latin typeface="Calibri"/>
                <a:ea typeface="Calibri"/>
              </a:rPr>
              <a:t>Orchestrator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FFFFF"/>
                </a:solidFill>
                <a:latin typeface="Calibri"/>
                <a:ea typeface="Calibri"/>
              </a:rPr>
              <a:t>agent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Text 16"/>
          <p:cNvSpPr/>
          <p:nvPr/>
        </p:nvSpPr>
        <p:spPr>
          <a:xfrm>
            <a:off x="3749040" y="269748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CADCFC"/>
                </a:solidFill>
                <a:latin typeface="Calibri"/>
                <a:ea typeface="Calibri"/>
              </a:rPr>
              <a:t>Classifies intent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CADCFC"/>
                </a:solidFill>
                <a:latin typeface="Calibri"/>
                <a:ea typeface="Calibri"/>
              </a:rPr>
              <a:t>&amp; routes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Text 17"/>
          <p:cNvSpPr/>
          <p:nvPr/>
        </p:nvSpPr>
        <p:spPr>
          <a:xfrm>
            <a:off x="548640" y="4434840"/>
            <a:ext cx="80463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The root agent's only job is intent classification and routing — it doesn't need to know how to process a refund.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Each specialist owns its own tools, prompt, and slice of state.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To the user, it's still one chat window and one coherent assistant.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Text 18"/>
          <p:cNvSpPr/>
          <p:nvPr/>
        </p:nvSpPr>
        <p:spPr>
          <a:xfrm>
            <a:off x="548640" y="4370760"/>
            <a:ext cx="81378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05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150" b="0" strike="noStrike" spc="-1">
                <a:solidFill>
                  <a:srgbClr val="433F5C"/>
                </a:solidFill>
                <a:latin typeface="Calibri"/>
                <a:ea typeface="Calibri"/>
              </a:rPr>
              <a:t>The root agent's only job is intent classification and routing — it doesn't need to know how to process a refund.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5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150" b="0" strike="noStrike" spc="-1">
                <a:solidFill>
                  <a:srgbClr val="433F5C"/>
                </a:solidFill>
                <a:latin typeface="Calibri"/>
                <a:ea typeface="Calibri"/>
              </a:rPr>
              <a:t>Each specialist owns its own tools, prompt, and slice of state.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5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150" b="0" strike="noStrike" spc="-1">
                <a:solidFill>
                  <a:srgbClr val="433F5C"/>
                </a:solidFill>
                <a:latin typeface="Calibri"/>
                <a:ea typeface="Calibri"/>
              </a:rPr>
              <a:t>To the user, it's still one chat window and one coherent assistant.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Shape 19"/>
          <p:cNvSpPr/>
          <p:nvPr/>
        </p:nvSpPr>
        <p:spPr>
          <a:xfrm>
            <a:off x="45720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CEBF4"/>
          </a:solidFill>
          <a:ln w="6350">
            <a:solidFill>
              <a:srgbClr val="ECEBF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Text 20"/>
          <p:cNvSpPr/>
          <p:nvPr/>
        </p:nvSpPr>
        <p:spPr>
          <a:xfrm>
            <a:off x="45720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767290"/>
                </a:solidFill>
                <a:latin typeface="Calibri"/>
                <a:ea typeface="Calibri"/>
              </a:rPr>
              <a:t>Login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Shape 21"/>
          <p:cNvSpPr/>
          <p:nvPr/>
        </p:nvSpPr>
        <p:spPr>
          <a:xfrm>
            <a:off x="186552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1F5EE"/>
          </a:solidFill>
          <a:ln w="6350">
            <a:solidFill>
              <a:srgbClr val="E1F5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Text 22"/>
          <p:cNvSpPr/>
          <p:nvPr/>
        </p:nvSpPr>
        <p:spPr>
          <a:xfrm>
            <a:off x="186552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F6E56"/>
                </a:solidFill>
                <a:latin typeface="Calibri"/>
                <a:ea typeface="Calibri"/>
              </a:rPr>
              <a:t>History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Shape 23"/>
          <p:cNvSpPr/>
          <p:nvPr/>
        </p:nvSpPr>
        <p:spPr>
          <a:xfrm>
            <a:off x="327348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EEDFE"/>
          </a:solidFill>
          <a:ln w="6350">
            <a:solidFill>
              <a:srgbClr val="EEED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Text 24"/>
          <p:cNvSpPr/>
          <p:nvPr/>
        </p:nvSpPr>
        <p:spPr>
          <a:xfrm>
            <a:off x="327348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26215C"/>
                </a:solidFill>
                <a:latin typeface="Calibri"/>
                <a:ea typeface="Calibri"/>
              </a:rPr>
              <a:t>Context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Shape 25"/>
          <p:cNvSpPr/>
          <p:nvPr/>
        </p:nvSpPr>
        <p:spPr>
          <a:xfrm>
            <a:off x="468180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F2A623"/>
          </a:solidFill>
          <a:ln w="6350">
            <a:solidFill>
              <a:srgbClr val="F2A62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Text 26"/>
          <p:cNvSpPr/>
          <p:nvPr/>
        </p:nvSpPr>
        <p:spPr>
          <a:xfrm>
            <a:off x="468180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854F0B"/>
                </a:solidFill>
                <a:latin typeface="Calibri"/>
                <a:ea typeface="Calibri"/>
              </a:rPr>
              <a:t>Agents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Shape 27"/>
          <p:cNvSpPr/>
          <p:nvPr/>
        </p:nvSpPr>
        <p:spPr>
          <a:xfrm>
            <a:off x="608976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CEBF4"/>
          </a:solidFill>
          <a:ln w="6350">
            <a:solidFill>
              <a:srgbClr val="ECEBF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Text 28"/>
          <p:cNvSpPr/>
          <p:nvPr/>
        </p:nvSpPr>
        <p:spPr>
          <a:xfrm>
            <a:off x="608976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767290"/>
                </a:solidFill>
                <a:latin typeface="Calibri"/>
                <a:ea typeface="Calibri"/>
              </a:rPr>
              <a:t>Chat UI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Shape 29"/>
          <p:cNvSpPr/>
          <p:nvPr/>
        </p:nvSpPr>
        <p:spPr>
          <a:xfrm>
            <a:off x="749808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1F5EE"/>
          </a:solidFill>
          <a:ln w="6350">
            <a:solidFill>
              <a:srgbClr val="E1F5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Text 30"/>
          <p:cNvSpPr/>
          <p:nvPr/>
        </p:nvSpPr>
        <p:spPr>
          <a:xfrm>
            <a:off x="749808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F6E56"/>
                </a:solidFill>
                <a:latin typeface="Calibri"/>
                <a:ea typeface="Calibri"/>
              </a:rPr>
              <a:t>Session Store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Text 0"/>
          <p:cNvSpPr/>
          <p:nvPr/>
        </p:nvSpPr>
        <p:spPr>
          <a:xfrm>
            <a:off x="457200" y="2926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199">
                <a:solidFill>
                  <a:srgbClr val="0F6E56"/>
                </a:solidFill>
                <a:latin typeface="Calibri"/>
                <a:ea typeface="Calibri"/>
              </a:rPr>
              <a:t>BUILDING BLOCK 5 OF 6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Text 1"/>
          <p:cNvSpPr/>
          <p:nvPr/>
        </p:nvSpPr>
        <p:spPr>
          <a:xfrm>
            <a:off x="457200" y="5486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6215C"/>
                </a:solidFill>
                <a:latin typeface="Cambria"/>
                <a:ea typeface="Cambria"/>
              </a:rPr>
              <a:t>Tools &amp; function calling → actions inside the chat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Text 2"/>
          <p:cNvSpPr/>
          <p:nvPr/>
        </p:nvSpPr>
        <p:spPr>
          <a:xfrm>
            <a:off x="457200" y="1554480"/>
            <a:ext cx="42973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20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400" b="0" strike="noStrike" spc="-1">
                <a:solidFill>
                  <a:srgbClr val="433F5C"/>
                </a:solidFill>
                <a:latin typeface="Calibri"/>
                <a:ea typeface="Calibri"/>
              </a:rPr>
              <a:t>A tool call is a real function or API invocation — not just generated text.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Text 3"/>
          <p:cNvSpPr/>
          <p:nvPr/>
        </p:nvSpPr>
        <p:spPr>
          <a:xfrm>
            <a:off x="457200" y="2423160"/>
            <a:ext cx="42973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20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400" b="0" strike="noStrike" spc="-1">
                <a:solidFill>
                  <a:srgbClr val="433F5C"/>
                </a:solidFill>
                <a:latin typeface="Calibri"/>
                <a:ea typeface="Calibri"/>
              </a:rPr>
              <a:t>Results can render as inline UI: status cards, forms, buttons — not just paragraphs.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Text 4"/>
          <p:cNvSpPr/>
          <p:nvPr/>
        </p:nvSpPr>
        <p:spPr>
          <a:xfrm>
            <a:off x="457200" y="3291840"/>
            <a:ext cx="42973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20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400" b="0" strike="noStrike" spc="-1">
                <a:solidFill>
                  <a:srgbClr val="433F5C"/>
                </a:solidFill>
                <a:latin typeface="Calibri"/>
                <a:ea typeface="Calibri"/>
              </a:rPr>
              <a:t>This is what makes an assistant feel like it can do things, not just talk about them.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Shape 5"/>
          <p:cNvSpPr/>
          <p:nvPr/>
        </p:nvSpPr>
        <p:spPr>
          <a:xfrm>
            <a:off x="5029200" y="1463040"/>
            <a:ext cx="3657240" cy="548280"/>
          </a:xfrm>
          <a:prstGeom prst="roundRect">
            <a:avLst>
              <a:gd name="adj" fmla="val 20000"/>
            </a:avLst>
          </a:prstGeom>
          <a:solidFill>
            <a:srgbClr val="ECEBF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Text 6"/>
          <p:cNvSpPr/>
          <p:nvPr/>
        </p:nvSpPr>
        <p:spPr>
          <a:xfrm>
            <a:off x="5212080" y="1463040"/>
            <a:ext cx="32914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433F5C"/>
                </a:solidFill>
                <a:latin typeface="Calibri"/>
                <a:ea typeface="Calibri"/>
              </a:rPr>
              <a:t>Can you check order #48213?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Shape 7"/>
          <p:cNvSpPr/>
          <p:nvPr/>
        </p:nvSpPr>
        <p:spPr>
          <a:xfrm>
            <a:off x="5029200" y="2240280"/>
            <a:ext cx="3657240" cy="1599840"/>
          </a:xfrm>
          <a:prstGeom prst="roundRect">
            <a:avLst>
              <a:gd name="adj" fmla="val 6857"/>
            </a:avLst>
          </a:prstGeom>
          <a:solidFill>
            <a:srgbClr val="F8F7FC"/>
          </a:solidFill>
          <a:ln w="0">
            <a:noFill/>
          </a:ln>
          <a:effectLst>
            <a:outerShdw blurRad="76320" dist="25560" dir="54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Shape 8"/>
          <p:cNvSpPr/>
          <p:nvPr/>
        </p:nvSpPr>
        <p:spPr>
          <a:xfrm>
            <a:off x="5257800" y="2468880"/>
            <a:ext cx="456840" cy="456840"/>
          </a:xfrm>
          <a:prstGeom prst="ellipse">
            <a:avLst/>
          </a:prstGeom>
          <a:solidFill>
            <a:srgbClr val="E1F5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7" name="Image 0" descr="preencoded.png"/>
          <p:cNvPicPr/>
          <p:nvPr/>
        </p:nvPicPr>
        <p:blipFill>
          <a:blip r:embed="rId3"/>
          <a:stretch/>
        </p:blipFill>
        <p:spPr>
          <a:xfrm>
            <a:off x="5367600" y="257868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348" name="Text 9"/>
          <p:cNvSpPr/>
          <p:nvPr/>
        </p:nvSpPr>
        <p:spPr>
          <a:xfrm>
            <a:off x="5897880" y="2450520"/>
            <a:ext cx="23770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26215C"/>
                </a:solidFill>
                <a:latin typeface="Calibri"/>
                <a:ea typeface="Calibri"/>
              </a:rPr>
              <a:t>Order #48213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Shape 10"/>
          <p:cNvSpPr/>
          <p:nvPr/>
        </p:nvSpPr>
        <p:spPr>
          <a:xfrm>
            <a:off x="7498080" y="2468880"/>
            <a:ext cx="959760" cy="292320"/>
          </a:xfrm>
          <a:prstGeom prst="roundRect">
            <a:avLst>
              <a:gd name="adj" fmla="val 50000"/>
            </a:avLst>
          </a:prstGeom>
          <a:solidFill>
            <a:srgbClr val="E1F5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Text 11"/>
          <p:cNvSpPr/>
          <p:nvPr/>
        </p:nvSpPr>
        <p:spPr>
          <a:xfrm>
            <a:off x="7498080" y="2468880"/>
            <a:ext cx="9597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0F6E56"/>
                </a:solidFill>
                <a:latin typeface="Calibri"/>
                <a:ea typeface="Calibri"/>
              </a:rPr>
              <a:t>Shipped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Text 12"/>
          <p:cNvSpPr/>
          <p:nvPr/>
        </p:nvSpPr>
        <p:spPr>
          <a:xfrm>
            <a:off x="5257800" y="288036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433F5C"/>
                </a:solidFill>
                <a:latin typeface="Calibri"/>
                <a:ea typeface="Calibri"/>
              </a:rPr>
              <a:t>Estimated delivery: Tue, Jun 17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Shape 13"/>
          <p:cNvSpPr/>
          <p:nvPr/>
        </p:nvSpPr>
        <p:spPr>
          <a:xfrm>
            <a:off x="5257800" y="3291840"/>
            <a:ext cx="1554120" cy="383760"/>
          </a:xfrm>
          <a:prstGeom prst="roundRect">
            <a:avLst>
              <a:gd name="adj" fmla="val 19048"/>
            </a:avLst>
          </a:prstGeom>
          <a:solidFill>
            <a:srgbClr val="2621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" name="Text 14"/>
          <p:cNvSpPr/>
          <p:nvPr/>
        </p:nvSpPr>
        <p:spPr>
          <a:xfrm>
            <a:off x="5257800" y="3291840"/>
            <a:ext cx="15541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FFFFFF"/>
                </a:solidFill>
                <a:latin typeface="Calibri"/>
                <a:ea typeface="Calibri"/>
              </a:rPr>
              <a:t>Track shipment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Text 15"/>
          <p:cNvSpPr/>
          <p:nvPr/>
        </p:nvSpPr>
        <p:spPr>
          <a:xfrm>
            <a:off x="5029200" y="402336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strike="noStrike" spc="-1">
                <a:solidFill>
                  <a:srgbClr val="767290"/>
                </a:solidFill>
                <a:latin typeface="Calibri"/>
                <a:ea typeface="Calibri"/>
              </a:rPr>
              <a:t>tool_call: get_order_status(order_id="48213")  →  rendered as a card, not a paragraph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Shape 16"/>
          <p:cNvSpPr/>
          <p:nvPr/>
        </p:nvSpPr>
        <p:spPr>
          <a:xfrm>
            <a:off x="45720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CEBF4"/>
          </a:solidFill>
          <a:ln w="6350">
            <a:solidFill>
              <a:srgbClr val="ECEBF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Text 17"/>
          <p:cNvSpPr/>
          <p:nvPr/>
        </p:nvSpPr>
        <p:spPr>
          <a:xfrm>
            <a:off x="45720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767290"/>
                </a:solidFill>
                <a:latin typeface="Calibri"/>
                <a:ea typeface="Calibri"/>
              </a:rPr>
              <a:t>Login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Shape 18"/>
          <p:cNvSpPr/>
          <p:nvPr/>
        </p:nvSpPr>
        <p:spPr>
          <a:xfrm>
            <a:off x="186552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1F5EE"/>
          </a:solidFill>
          <a:ln w="6350">
            <a:solidFill>
              <a:srgbClr val="E1F5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Text 19"/>
          <p:cNvSpPr/>
          <p:nvPr/>
        </p:nvSpPr>
        <p:spPr>
          <a:xfrm>
            <a:off x="186552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F6E56"/>
                </a:solidFill>
                <a:latin typeface="Calibri"/>
                <a:ea typeface="Calibri"/>
              </a:rPr>
              <a:t>History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Shape 20"/>
          <p:cNvSpPr/>
          <p:nvPr/>
        </p:nvSpPr>
        <p:spPr>
          <a:xfrm>
            <a:off x="327348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EEDFE"/>
          </a:solidFill>
          <a:ln w="6350">
            <a:solidFill>
              <a:srgbClr val="EEED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Text 21"/>
          <p:cNvSpPr/>
          <p:nvPr/>
        </p:nvSpPr>
        <p:spPr>
          <a:xfrm>
            <a:off x="327348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26215C"/>
                </a:solidFill>
                <a:latin typeface="Calibri"/>
                <a:ea typeface="Calibri"/>
              </a:rPr>
              <a:t>Context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Shape 22"/>
          <p:cNvSpPr/>
          <p:nvPr/>
        </p:nvSpPr>
        <p:spPr>
          <a:xfrm>
            <a:off x="468180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F2A623"/>
          </a:solidFill>
          <a:ln w="6350">
            <a:solidFill>
              <a:srgbClr val="F2A62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Text 23"/>
          <p:cNvSpPr/>
          <p:nvPr/>
        </p:nvSpPr>
        <p:spPr>
          <a:xfrm>
            <a:off x="468180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854F0B"/>
                </a:solidFill>
                <a:latin typeface="Calibri"/>
                <a:ea typeface="Calibri"/>
              </a:rPr>
              <a:t>Agents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Shape 24"/>
          <p:cNvSpPr/>
          <p:nvPr/>
        </p:nvSpPr>
        <p:spPr>
          <a:xfrm>
            <a:off x="608976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F2A623"/>
          </a:solidFill>
          <a:ln w="6350">
            <a:solidFill>
              <a:srgbClr val="F2A62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Text 25"/>
          <p:cNvSpPr/>
          <p:nvPr/>
        </p:nvSpPr>
        <p:spPr>
          <a:xfrm>
            <a:off x="608976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854F0B"/>
                </a:solidFill>
                <a:latin typeface="Calibri"/>
                <a:ea typeface="Calibri"/>
              </a:rPr>
              <a:t>Chat UI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Shape 26"/>
          <p:cNvSpPr/>
          <p:nvPr/>
        </p:nvSpPr>
        <p:spPr>
          <a:xfrm>
            <a:off x="749808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1F5EE"/>
          </a:solidFill>
          <a:ln w="6350">
            <a:solidFill>
              <a:srgbClr val="E1F5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Text 27"/>
          <p:cNvSpPr/>
          <p:nvPr/>
        </p:nvSpPr>
        <p:spPr>
          <a:xfrm>
            <a:off x="749808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F6E56"/>
                </a:solidFill>
                <a:latin typeface="Calibri"/>
                <a:ea typeface="Calibri"/>
              </a:rPr>
              <a:t>Session Store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Text 0"/>
          <p:cNvSpPr/>
          <p:nvPr/>
        </p:nvSpPr>
        <p:spPr>
          <a:xfrm>
            <a:off x="457200" y="2926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199">
                <a:solidFill>
                  <a:srgbClr val="0F6E56"/>
                </a:solidFill>
                <a:latin typeface="Calibri"/>
                <a:ea typeface="Calibri"/>
              </a:rPr>
              <a:t>BUILDING BLOCK 6 OF 6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Text 1"/>
          <p:cNvSpPr/>
          <p:nvPr/>
        </p:nvSpPr>
        <p:spPr>
          <a:xfrm>
            <a:off x="457200" y="5486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6215C"/>
                </a:solidFill>
                <a:latin typeface="Cambria"/>
                <a:ea typeface="Cambria"/>
              </a:rPr>
              <a:t>Runner &amp; events → visible “thinking” steps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Text 2"/>
          <p:cNvSpPr/>
          <p:nvPr/>
        </p:nvSpPr>
        <p:spPr>
          <a:xfrm>
            <a:off x="457200" y="1554480"/>
            <a:ext cx="42973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20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400" b="0" strike="noStrike" spc="-1">
                <a:solidFill>
                  <a:srgbClr val="433F5C"/>
                </a:solidFill>
                <a:latin typeface="Calibri"/>
                <a:ea typeface="Calibri"/>
              </a:rPr>
              <a:t>ADK's execution is event-driven — every message, tool call, and agent transfer is an Event.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Text 3"/>
          <p:cNvSpPr/>
          <p:nvPr/>
        </p:nvSpPr>
        <p:spPr>
          <a:xfrm>
            <a:off x="457200" y="2423160"/>
            <a:ext cx="42973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20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400" b="0" strike="noStrike" spc="-1">
                <a:solidFill>
                  <a:srgbClr val="433F5C"/>
                </a:solidFill>
                <a:latin typeface="Calibri"/>
                <a:ea typeface="Calibri"/>
              </a:rPr>
              <a:t>Surface these events as progress indicators in the UI as they happen.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Text 4"/>
          <p:cNvSpPr/>
          <p:nvPr/>
        </p:nvSpPr>
        <p:spPr>
          <a:xfrm>
            <a:off x="457200" y="3291840"/>
            <a:ext cx="42973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20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400" b="0" strike="noStrike" spc="-1">
                <a:solidFill>
                  <a:srgbClr val="433F5C"/>
                </a:solidFill>
                <a:latin typeface="Calibri"/>
                <a:ea typeface="Calibri"/>
              </a:rPr>
              <a:t>Builds trust: the user sees the agent's reasoning steps, not just a spinner.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Shape 5"/>
          <p:cNvSpPr/>
          <p:nvPr/>
        </p:nvSpPr>
        <p:spPr>
          <a:xfrm>
            <a:off x="5029200" y="1463040"/>
            <a:ext cx="3657240" cy="2742840"/>
          </a:xfrm>
          <a:prstGeom prst="roundRect">
            <a:avLst>
              <a:gd name="adj" fmla="val 4000"/>
            </a:avLst>
          </a:prstGeom>
          <a:solidFill>
            <a:srgbClr val="F8F7FC"/>
          </a:solidFill>
          <a:ln w="0">
            <a:noFill/>
          </a:ln>
          <a:effectLst>
            <a:outerShdw blurRad="76320" dist="25560" dir="54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Shape 6"/>
          <p:cNvSpPr/>
          <p:nvPr/>
        </p:nvSpPr>
        <p:spPr>
          <a:xfrm>
            <a:off x="5257800" y="1691640"/>
            <a:ext cx="383760" cy="38376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4" name="Image 0" descr="preencoded.png"/>
          <p:cNvPicPr/>
          <p:nvPr/>
        </p:nvPicPr>
        <p:blipFill>
          <a:blip r:embed="rId3"/>
          <a:stretch/>
        </p:blipFill>
        <p:spPr>
          <a:xfrm>
            <a:off x="5349960" y="1783800"/>
            <a:ext cx="199440" cy="199440"/>
          </a:xfrm>
          <a:prstGeom prst="rect">
            <a:avLst/>
          </a:prstGeom>
          <a:ln w="0">
            <a:noFill/>
          </a:ln>
        </p:spPr>
      </p:pic>
      <p:sp>
        <p:nvSpPr>
          <p:cNvPr id="375" name="Text 7"/>
          <p:cNvSpPr/>
          <p:nvPr/>
        </p:nvSpPr>
        <p:spPr>
          <a:xfrm>
            <a:off x="5806440" y="1691640"/>
            <a:ext cx="26514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strike="noStrike" spc="-1">
                <a:solidFill>
                  <a:srgbClr val="767290"/>
                </a:solidFill>
                <a:latin typeface="Calibri"/>
                <a:ea typeface="Calibri"/>
              </a:rPr>
              <a:t>Searching knowledge base…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Shape 8"/>
          <p:cNvSpPr/>
          <p:nvPr/>
        </p:nvSpPr>
        <p:spPr>
          <a:xfrm>
            <a:off x="5257800" y="2286000"/>
            <a:ext cx="383760" cy="38376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7" name="Image 1" descr="preencoded.png"/>
          <p:cNvPicPr/>
          <p:nvPr/>
        </p:nvPicPr>
        <p:blipFill>
          <a:blip r:embed="rId4"/>
          <a:stretch/>
        </p:blipFill>
        <p:spPr>
          <a:xfrm>
            <a:off x="5349960" y="2378160"/>
            <a:ext cx="199440" cy="199440"/>
          </a:xfrm>
          <a:prstGeom prst="rect">
            <a:avLst/>
          </a:prstGeom>
          <a:ln w="0">
            <a:noFill/>
          </a:ln>
        </p:spPr>
      </p:pic>
      <p:sp>
        <p:nvSpPr>
          <p:cNvPr id="378" name="Text 9"/>
          <p:cNvSpPr/>
          <p:nvPr/>
        </p:nvSpPr>
        <p:spPr>
          <a:xfrm>
            <a:off x="5806440" y="2286000"/>
            <a:ext cx="26514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strike="noStrike" spc="-1">
                <a:solidFill>
                  <a:srgbClr val="767290"/>
                </a:solidFill>
                <a:latin typeface="Calibri"/>
                <a:ea typeface="Calibri"/>
              </a:rPr>
              <a:t>Transferred to Order agent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Shape 10"/>
          <p:cNvSpPr/>
          <p:nvPr/>
        </p:nvSpPr>
        <p:spPr>
          <a:xfrm>
            <a:off x="5257800" y="2880360"/>
            <a:ext cx="383760" cy="38376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0" name="Image 2" descr="preencoded.png"/>
          <p:cNvPicPr/>
          <p:nvPr/>
        </p:nvPicPr>
        <p:blipFill>
          <a:blip r:embed="rId5"/>
          <a:stretch/>
        </p:blipFill>
        <p:spPr>
          <a:xfrm>
            <a:off x="5349960" y="2972520"/>
            <a:ext cx="199440" cy="199440"/>
          </a:xfrm>
          <a:prstGeom prst="rect">
            <a:avLst/>
          </a:prstGeom>
          <a:ln w="0">
            <a:noFill/>
          </a:ln>
        </p:spPr>
      </p:pic>
      <p:sp>
        <p:nvSpPr>
          <p:cNvPr id="381" name="Text 11"/>
          <p:cNvSpPr/>
          <p:nvPr/>
        </p:nvSpPr>
        <p:spPr>
          <a:xfrm>
            <a:off x="5806440" y="2880360"/>
            <a:ext cx="26514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strike="noStrike" spc="-1">
                <a:solidFill>
                  <a:srgbClr val="767290"/>
                </a:solidFill>
                <a:latin typeface="Calibri"/>
                <a:ea typeface="Calibri"/>
              </a:rPr>
              <a:t>Checking order system…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Shape 12"/>
          <p:cNvSpPr/>
          <p:nvPr/>
        </p:nvSpPr>
        <p:spPr>
          <a:xfrm>
            <a:off x="5257800" y="3474720"/>
            <a:ext cx="383760" cy="38376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3" name="Image 3" descr="preencoded.png"/>
          <p:cNvPicPr/>
          <p:nvPr/>
        </p:nvPicPr>
        <p:blipFill>
          <a:blip r:embed="rId6"/>
          <a:stretch/>
        </p:blipFill>
        <p:spPr>
          <a:xfrm>
            <a:off x="5349960" y="3566880"/>
            <a:ext cx="199440" cy="199440"/>
          </a:xfrm>
          <a:prstGeom prst="rect">
            <a:avLst/>
          </a:prstGeom>
          <a:ln w="0">
            <a:noFill/>
          </a:ln>
        </p:spPr>
      </p:pic>
      <p:sp>
        <p:nvSpPr>
          <p:cNvPr id="384" name="Text 13"/>
          <p:cNvSpPr/>
          <p:nvPr/>
        </p:nvSpPr>
        <p:spPr>
          <a:xfrm>
            <a:off x="5806440" y="3474720"/>
            <a:ext cx="26514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26215C"/>
                </a:solidFill>
                <a:latin typeface="Calibri"/>
                <a:ea typeface="Calibri"/>
              </a:rPr>
              <a:t>Here's your order status —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Shape 14"/>
          <p:cNvSpPr/>
          <p:nvPr/>
        </p:nvSpPr>
        <p:spPr>
          <a:xfrm>
            <a:off x="45720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CEBF4"/>
          </a:solidFill>
          <a:ln w="6350">
            <a:solidFill>
              <a:srgbClr val="ECEBF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Text 15"/>
          <p:cNvSpPr/>
          <p:nvPr/>
        </p:nvSpPr>
        <p:spPr>
          <a:xfrm>
            <a:off x="45720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767290"/>
                </a:solidFill>
                <a:latin typeface="Calibri"/>
                <a:ea typeface="Calibri"/>
              </a:rPr>
              <a:t>Login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Shape 16"/>
          <p:cNvSpPr/>
          <p:nvPr/>
        </p:nvSpPr>
        <p:spPr>
          <a:xfrm>
            <a:off x="186552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1F5EE"/>
          </a:solidFill>
          <a:ln w="6350">
            <a:solidFill>
              <a:srgbClr val="E1F5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Text 17"/>
          <p:cNvSpPr/>
          <p:nvPr/>
        </p:nvSpPr>
        <p:spPr>
          <a:xfrm>
            <a:off x="186552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F6E56"/>
                </a:solidFill>
                <a:latin typeface="Calibri"/>
                <a:ea typeface="Calibri"/>
              </a:rPr>
              <a:t>History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Shape 18"/>
          <p:cNvSpPr/>
          <p:nvPr/>
        </p:nvSpPr>
        <p:spPr>
          <a:xfrm>
            <a:off x="327348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EEDFE"/>
          </a:solidFill>
          <a:ln w="6350">
            <a:solidFill>
              <a:srgbClr val="EEED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Text 19"/>
          <p:cNvSpPr/>
          <p:nvPr/>
        </p:nvSpPr>
        <p:spPr>
          <a:xfrm>
            <a:off x="327348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26215C"/>
                </a:solidFill>
                <a:latin typeface="Calibri"/>
                <a:ea typeface="Calibri"/>
              </a:rPr>
              <a:t>Context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Shape 20"/>
          <p:cNvSpPr/>
          <p:nvPr/>
        </p:nvSpPr>
        <p:spPr>
          <a:xfrm>
            <a:off x="468180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EEDFE"/>
          </a:solidFill>
          <a:ln w="6350">
            <a:solidFill>
              <a:srgbClr val="EEED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Text 21"/>
          <p:cNvSpPr/>
          <p:nvPr/>
        </p:nvSpPr>
        <p:spPr>
          <a:xfrm>
            <a:off x="468180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26215C"/>
                </a:solidFill>
                <a:latin typeface="Calibri"/>
                <a:ea typeface="Calibri"/>
              </a:rPr>
              <a:t>Agents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Shape 22"/>
          <p:cNvSpPr/>
          <p:nvPr/>
        </p:nvSpPr>
        <p:spPr>
          <a:xfrm>
            <a:off x="608976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F2A623"/>
          </a:solidFill>
          <a:ln w="6350">
            <a:solidFill>
              <a:srgbClr val="F2A62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Text 23"/>
          <p:cNvSpPr/>
          <p:nvPr/>
        </p:nvSpPr>
        <p:spPr>
          <a:xfrm>
            <a:off x="608976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854F0B"/>
                </a:solidFill>
                <a:latin typeface="Calibri"/>
                <a:ea typeface="Calibri"/>
              </a:rPr>
              <a:t>Chat UI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Shape 24"/>
          <p:cNvSpPr/>
          <p:nvPr/>
        </p:nvSpPr>
        <p:spPr>
          <a:xfrm>
            <a:off x="749808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1F5EE"/>
          </a:solidFill>
          <a:ln w="6350">
            <a:solidFill>
              <a:srgbClr val="E1F5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Text 25"/>
          <p:cNvSpPr/>
          <p:nvPr/>
        </p:nvSpPr>
        <p:spPr>
          <a:xfrm>
            <a:off x="749808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F6E56"/>
                </a:solidFill>
                <a:latin typeface="Calibri"/>
                <a:ea typeface="Calibri"/>
              </a:rPr>
              <a:t>Session Store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1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Shape 0"/>
          <p:cNvSpPr/>
          <p:nvPr/>
        </p:nvSpPr>
        <p:spPr>
          <a:xfrm>
            <a:off x="7150320" y="658080"/>
            <a:ext cx="914400" cy="54864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" name="Shape 1"/>
          <p:cNvSpPr/>
          <p:nvPr/>
        </p:nvSpPr>
        <p:spPr>
          <a:xfrm flipH="1">
            <a:off x="7369920" y="1206720"/>
            <a:ext cx="694800" cy="40248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" name="Shape 2"/>
          <p:cNvSpPr/>
          <p:nvPr/>
        </p:nvSpPr>
        <p:spPr>
          <a:xfrm flipV="1">
            <a:off x="8064720" y="676440"/>
            <a:ext cx="384120" cy="53028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" name="Shape 3"/>
          <p:cNvSpPr/>
          <p:nvPr/>
        </p:nvSpPr>
        <p:spPr>
          <a:xfrm>
            <a:off x="8064720" y="1206720"/>
            <a:ext cx="567000" cy="38412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1" name="Shape 4"/>
          <p:cNvSpPr/>
          <p:nvPr/>
        </p:nvSpPr>
        <p:spPr>
          <a:xfrm>
            <a:off x="6949440" y="457200"/>
            <a:ext cx="402120" cy="402120"/>
          </a:xfrm>
          <a:prstGeom prst="ellipse">
            <a:avLst/>
          </a:prstGeom>
          <a:solidFill>
            <a:srgbClr val="F2A623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Shape 5"/>
          <p:cNvSpPr/>
          <p:nvPr/>
        </p:nvSpPr>
        <p:spPr>
          <a:xfrm>
            <a:off x="7772400" y="914400"/>
            <a:ext cx="585000" cy="585000"/>
          </a:xfrm>
          <a:prstGeom prst="ellipse">
            <a:avLst/>
          </a:prstGeom>
          <a:solidFill>
            <a:srgbClr val="7F77DD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" name="Shape 6"/>
          <p:cNvSpPr/>
          <p:nvPr/>
        </p:nvSpPr>
        <p:spPr>
          <a:xfrm>
            <a:off x="7223760" y="1463040"/>
            <a:ext cx="292320" cy="292320"/>
          </a:xfrm>
          <a:prstGeom prst="ellipse">
            <a:avLst/>
          </a:prstGeom>
          <a:solidFill>
            <a:srgbClr val="5DCAA5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Shape 7"/>
          <p:cNvSpPr/>
          <p:nvPr/>
        </p:nvSpPr>
        <p:spPr>
          <a:xfrm>
            <a:off x="8321040" y="548640"/>
            <a:ext cx="255600" cy="255600"/>
          </a:xfrm>
          <a:prstGeom prst="ellipse">
            <a:avLst/>
          </a:prstGeom>
          <a:solidFill>
            <a:srgbClr val="5DCAA5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Shape 8"/>
          <p:cNvSpPr/>
          <p:nvPr/>
        </p:nvSpPr>
        <p:spPr>
          <a:xfrm>
            <a:off x="8412480" y="1371600"/>
            <a:ext cx="438480" cy="438480"/>
          </a:xfrm>
          <a:prstGeom prst="ellipse">
            <a:avLst/>
          </a:prstGeom>
          <a:solidFill>
            <a:srgbClr val="F2A623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Shape 9"/>
          <p:cNvSpPr/>
          <p:nvPr/>
        </p:nvSpPr>
        <p:spPr>
          <a:xfrm>
            <a:off x="640080" y="1417320"/>
            <a:ext cx="914040" cy="914040"/>
          </a:xfrm>
          <a:prstGeom prst="ellipse">
            <a:avLst/>
          </a:prstGeom>
          <a:solidFill>
            <a:srgbClr val="3C348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07" name="Image 0" descr="preencoded.png"/>
          <p:cNvPicPr/>
          <p:nvPr/>
        </p:nvPicPr>
        <p:blipFill>
          <a:blip r:embed="rId3"/>
          <a:stretch/>
        </p:blipFill>
        <p:spPr>
          <a:xfrm>
            <a:off x="859680" y="1636920"/>
            <a:ext cx="475200" cy="475200"/>
          </a:xfrm>
          <a:prstGeom prst="rect">
            <a:avLst/>
          </a:prstGeom>
          <a:ln w="0">
            <a:noFill/>
          </a:ln>
        </p:spPr>
      </p:pic>
      <p:sp>
        <p:nvSpPr>
          <p:cNvPr id="408" name="Text 10"/>
          <p:cNvSpPr/>
          <p:nvPr/>
        </p:nvSpPr>
        <p:spPr>
          <a:xfrm>
            <a:off x="1828800" y="141732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299">
                <a:solidFill>
                  <a:srgbClr val="F2A623"/>
                </a:solidFill>
                <a:latin typeface="Calibri"/>
                <a:ea typeface="Calibri"/>
              </a:rPr>
              <a:t>PLATFORM DEEP DIVE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" name="Text 11"/>
          <p:cNvSpPr/>
          <p:nvPr/>
        </p:nvSpPr>
        <p:spPr>
          <a:xfrm>
            <a:off x="1828800" y="1783080"/>
            <a:ext cx="667476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strike="noStrike" spc="-1">
                <a:solidFill>
                  <a:srgbClr val="FFFFFF"/>
                </a:solidFill>
                <a:latin typeface="Cambria"/>
                <a:ea typeface="Cambria"/>
              </a:rPr>
              <a:t>From seminar concepts to a production platform</a:t>
            </a:r>
            <a:endParaRPr lang="en-US" sz="3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Text 12"/>
          <p:cNvSpPr/>
          <p:nvPr/>
        </p:nvSpPr>
        <p:spPr>
          <a:xfrm>
            <a:off x="1828800" y="2788920"/>
            <a:ext cx="64004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CECBF6"/>
                </a:solidFill>
                <a:latin typeface="Calibri"/>
                <a:ea typeface="Calibri"/>
              </a:rPr>
              <a:t>How session, context, orchestration, and model selection scale into a horizontal, multi-tenant agent platform.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Text 0"/>
          <p:cNvSpPr/>
          <p:nvPr/>
        </p:nvSpPr>
        <p:spPr>
          <a:xfrm>
            <a:off x="457200" y="2926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199">
                <a:solidFill>
                  <a:srgbClr val="0F6E56"/>
                </a:solidFill>
                <a:latin typeface="Calibri"/>
                <a:ea typeface="Calibri"/>
              </a:rPr>
              <a:t>PLATFORM ARCHITECTURE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Text 1"/>
          <p:cNvSpPr/>
          <p:nvPr/>
        </p:nvSpPr>
        <p:spPr>
          <a:xfrm>
            <a:off x="457200" y="5486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6215C"/>
                </a:solidFill>
                <a:latin typeface="Cambria"/>
                <a:ea typeface="Cambria"/>
              </a:rPr>
              <a:t>One platform, many teams, every channel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Shape 2"/>
          <p:cNvSpPr/>
          <p:nvPr/>
        </p:nvSpPr>
        <p:spPr>
          <a:xfrm>
            <a:off x="457200" y="1600200"/>
            <a:ext cx="2651400" cy="2651400"/>
          </a:xfrm>
          <a:prstGeom prst="roundRect">
            <a:avLst>
              <a:gd name="adj" fmla="val 3448"/>
            </a:avLst>
          </a:prstGeom>
          <a:solidFill>
            <a:srgbClr val="F8F7FC"/>
          </a:solidFill>
          <a:ln w="0">
            <a:noFill/>
          </a:ln>
          <a:effectLst>
            <a:outerShdw blurRad="63360" dist="255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Shape 3"/>
          <p:cNvSpPr/>
          <p:nvPr/>
        </p:nvSpPr>
        <p:spPr>
          <a:xfrm>
            <a:off x="731520" y="1856160"/>
            <a:ext cx="548280" cy="548280"/>
          </a:xfrm>
          <a:prstGeom prst="ellipse">
            <a:avLst/>
          </a:prstGeom>
          <a:solidFill>
            <a:srgbClr val="EEEDF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5" name="Image 0" descr="preencoded.png"/>
          <p:cNvPicPr/>
          <p:nvPr/>
        </p:nvPicPr>
        <p:blipFill>
          <a:blip r:embed="rId3"/>
          <a:stretch/>
        </p:blipFill>
        <p:spPr>
          <a:xfrm>
            <a:off x="863280" y="1987920"/>
            <a:ext cx="284760" cy="284760"/>
          </a:xfrm>
          <a:prstGeom prst="rect">
            <a:avLst/>
          </a:prstGeom>
          <a:ln w="0">
            <a:noFill/>
          </a:ln>
        </p:spPr>
      </p:pic>
      <p:sp>
        <p:nvSpPr>
          <p:cNvPr id="416" name="Text 4"/>
          <p:cNvSpPr/>
          <p:nvPr/>
        </p:nvSpPr>
        <p:spPr>
          <a:xfrm>
            <a:off x="685800" y="2514600"/>
            <a:ext cx="21942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26215C"/>
                </a:solidFill>
                <a:latin typeface="Cambria"/>
                <a:ea typeface="Cambria"/>
              </a:rPr>
              <a:t>Reusable sub-agent hosting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Text 5"/>
          <p:cNvSpPr/>
          <p:nvPr/>
        </p:nvSpPr>
        <p:spPr>
          <a:xfrm>
            <a:off x="685800" y="3017520"/>
            <a:ext cx="219420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433F5C"/>
                </a:solidFill>
                <a:latin typeface="Calibri"/>
                <a:ea typeface="Calibri"/>
              </a:rPr>
              <a:t>Domain teams build sub-agents against a published contract; the platform owns the runtime, registry, security, and observability.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Shape 6"/>
          <p:cNvSpPr/>
          <p:nvPr/>
        </p:nvSpPr>
        <p:spPr>
          <a:xfrm>
            <a:off x="3291840" y="1600200"/>
            <a:ext cx="2651400" cy="2651400"/>
          </a:xfrm>
          <a:prstGeom prst="roundRect">
            <a:avLst>
              <a:gd name="adj" fmla="val 3448"/>
            </a:avLst>
          </a:prstGeom>
          <a:solidFill>
            <a:srgbClr val="F8F7FC"/>
          </a:solidFill>
          <a:ln w="0">
            <a:noFill/>
          </a:ln>
          <a:effectLst>
            <a:outerShdw blurRad="63360" dist="255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Shape 7"/>
          <p:cNvSpPr/>
          <p:nvPr/>
        </p:nvSpPr>
        <p:spPr>
          <a:xfrm>
            <a:off x="3566160" y="1856160"/>
            <a:ext cx="548280" cy="548280"/>
          </a:xfrm>
          <a:prstGeom prst="ellipse">
            <a:avLst/>
          </a:prstGeom>
          <a:solidFill>
            <a:srgbClr val="E1F5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0" name="Image 1" descr="preencoded.png"/>
          <p:cNvPicPr/>
          <p:nvPr/>
        </p:nvPicPr>
        <p:blipFill>
          <a:blip r:embed="rId4"/>
          <a:stretch/>
        </p:blipFill>
        <p:spPr>
          <a:xfrm>
            <a:off x="3697920" y="1987920"/>
            <a:ext cx="284760" cy="284760"/>
          </a:xfrm>
          <a:prstGeom prst="rect">
            <a:avLst/>
          </a:prstGeom>
          <a:ln w="0">
            <a:noFill/>
          </a:ln>
        </p:spPr>
      </p:pic>
      <p:sp>
        <p:nvSpPr>
          <p:cNvPr id="421" name="Text 8"/>
          <p:cNvSpPr/>
          <p:nvPr/>
        </p:nvSpPr>
        <p:spPr>
          <a:xfrm>
            <a:off x="3520440" y="2514600"/>
            <a:ext cx="21942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26215C"/>
                </a:solidFill>
                <a:latin typeface="Cambria"/>
                <a:ea typeface="Cambria"/>
              </a:rPr>
              <a:t>Single session system of record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Text 9"/>
          <p:cNvSpPr/>
          <p:nvPr/>
        </p:nvSpPr>
        <p:spPr>
          <a:xfrm>
            <a:off x="3520440" y="3017520"/>
            <a:ext cx="219420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433F5C"/>
                </a:solidFill>
                <a:latin typeface="Calibri"/>
                <a:ea typeface="Calibri"/>
              </a:rPr>
              <a:t>Every customer conversation — across every sub-agent and channel — is owned by one central session-management layer.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Shape 10"/>
          <p:cNvSpPr/>
          <p:nvPr/>
        </p:nvSpPr>
        <p:spPr>
          <a:xfrm>
            <a:off x="6126480" y="1600200"/>
            <a:ext cx="2651400" cy="2651400"/>
          </a:xfrm>
          <a:prstGeom prst="roundRect">
            <a:avLst>
              <a:gd name="adj" fmla="val 3448"/>
            </a:avLst>
          </a:prstGeom>
          <a:solidFill>
            <a:srgbClr val="F8F7FC"/>
          </a:solidFill>
          <a:ln w="0">
            <a:noFill/>
          </a:ln>
          <a:effectLst>
            <a:outerShdw blurRad="63360" dist="255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Shape 11"/>
          <p:cNvSpPr/>
          <p:nvPr/>
        </p:nvSpPr>
        <p:spPr>
          <a:xfrm>
            <a:off x="6400800" y="1856160"/>
            <a:ext cx="548280" cy="548280"/>
          </a:xfrm>
          <a:prstGeom prst="ellipse">
            <a:avLst/>
          </a:prstGeom>
          <a:solidFill>
            <a:srgbClr val="FAEE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5" name="Image 2" descr="preencoded.png"/>
          <p:cNvPicPr/>
          <p:nvPr/>
        </p:nvPicPr>
        <p:blipFill>
          <a:blip r:embed="rId5"/>
          <a:stretch/>
        </p:blipFill>
        <p:spPr>
          <a:xfrm>
            <a:off x="6532560" y="1987920"/>
            <a:ext cx="284760" cy="284760"/>
          </a:xfrm>
          <a:prstGeom prst="rect">
            <a:avLst/>
          </a:prstGeom>
          <a:ln w="0">
            <a:noFill/>
          </a:ln>
        </p:spPr>
      </p:pic>
      <p:sp>
        <p:nvSpPr>
          <p:cNvPr id="426" name="Text 12"/>
          <p:cNvSpPr/>
          <p:nvPr/>
        </p:nvSpPr>
        <p:spPr>
          <a:xfrm>
            <a:off x="6355080" y="2514600"/>
            <a:ext cx="21942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26215C"/>
                </a:solidFill>
                <a:latin typeface="Cambria"/>
                <a:ea typeface="Cambria"/>
              </a:rPr>
              <a:t>Cross-channel delivery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Text 13"/>
          <p:cNvSpPr/>
          <p:nvPr/>
        </p:nvSpPr>
        <p:spPr>
          <a:xfrm>
            <a:off x="6355080" y="3017520"/>
            <a:ext cx="219420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433F5C"/>
                </a:solidFill>
                <a:latin typeface="Calibri"/>
                <a:ea typeface="Calibri"/>
              </a:rPr>
              <a:t>One channel-agnostic agent core; a rendering boundary translates output into mobile, web, voice, and messaging payloads.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Text 14"/>
          <p:cNvSpPr/>
          <p:nvPr/>
        </p:nvSpPr>
        <p:spPr>
          <a:xfrm>
            <a:off x="457200" y="443484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i="1" strike="noStrike" spc="-1">
                <a:solidFill>
                  <a:srgbClr val="767290"/>
                </a:solidFill>
                <a:latin typeface="Calibri"/>
                <a:ea typeface="Calibri"/>
              </a:rPr>
              <a:t>Why a platform, not a project: without shared infrastructure, every domain team re-solves session storage, routing, safety, and audit logging independently — slower, inconsistent, and harder to govern.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Text 0"/>
          <p:cNvSpPr/>
          <p:nvPr/>
        </p:nvSpPr>
        <p:spPr>
          <a:xfrm>
            <a:off x="457200" y="2926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199">
                <a:solidFill>
                  <a:srgbClr val="0F6E56"/>
                </a:solidFill>
                <a:latin typeface="Calibri"/>
                <a:ea typeface="Calibri"/>
              </a:rPr>
              <a:t>PLATFORM ARCHITECTURE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Text 1"/>
          <p:cNvSpPr/>
          <p:nvPr/>
        </p:nvSpPr>
        <p:spPr>
          <a:xfrm>
            <a:off x="457200" y="5486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6215C"/>
                </a:solidFill>
                <a:latin typeface="Cambria"/>
                <a:ea typeface="Cambria"/>
              </a:rPr>
              <a:t>One agent core, four channel renderers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Shape 2"/>
          <p:cNvSpPr/>
          <p:nvPr/>
        </p:nvSpPr>
        <p:spPr>
          <a:xfrm>
            <a:off x="1051560" y="1691640"/>
            <a:ext cx="3520440" cy="845640"/>
          </a:xfrm>
          <a:prstGeom prst="line">
            <a:avLst/>
          </a:prstGeom>
          <a:ln w="25400">
            <a:solidFill>
              <a:srgbClr val="EEED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Shape 3"/>
          <p:cNvSpPr/>
          <p:nvPr/>
        </p:nvSpPr>
        <p:spPr>
          <a:xfrm flipH="1">
            <a:off x="4572000" y="1691640"/>
            <a:ext cx="2697480" cy="845640"/>
          </a:xfrm>
          <a:prstGeom prst="line">
            <a:avLst/>
          </a:prstGeom>
          <a:ln w="25400">
            <a:solidFill>
              <a:srgbClr val="EEED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Shape 4"/>
          <p:cNvSpPr/>
          <p:nvPr/>
        </p:nvSpPr>
        <p:spPr>
          <a:xfrm flipV="1">
            <a:off x="1051560" y="2537280"/>
            <a:ext cx="3520440" cy="1028880"/>
          </a:xfrm>
          <a:prstGeom prst="line">
            <a:avLst/>
          </a:prstGeom>
          <a:ln w="25400">
            <a:solidFill>
              <a:srgbClr val="EEED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Shape 5"/>
          <p:cNvSpPr/>
          <p:nvPr/>
        </p:nvSpPr>
        <p:spPr>
          <a:xfrm flipH="1" flipV="1">
            <a:off x="4572000" y="2537280"/>
            <a:ext cx="2697480" cy="1028880"/>
          </a:xfrm>
          <a:prstGeom prst="line">
            <a:avLst/>
          </a:prstGeom>
          <a:ln w="25400">
            <a:solidFill>
              <a:srgbClr val="EEED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Shape 6"/>
          <p:cNvSpPr/>
          <p:nvPr/>
        </p:nvSpPr>
        <p:spPr>
          <a:xfrm>
            <a:off x="548640" y="1188720"/>
            <a:ext cx="1005480" cy="1005480"/>
          </a:xfrm>
          <a:prstGeom prst="ellipse">
            <a:avLst/>
          </a:prstGeom>
          <a:solidFill>
            <a:srgbClr val="E1F5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6" name="Image 0" descr="preencoded.png"/>
          <p:cNvPicPr/>
          <p:nvPr/>
        </p:nvPicPr>
        <p:blipFill>
          <a:blip r:embed="rId3"/>
          <a:stretch/>
        </p:blipFill>
        <p:spPr>
          <a:xfrm>
            <a:off x="790200" y="1430280"/>
            <a:ext cx="522720" cy="522720"/>
          </a:xfrm>
          <a:prstGeom prst="rect">
            <a:avLst/>
          </a:prstGeom>
          <a:ln w="0">
            <a:noFill/>
          </a:ln>
        </p:spPr>
      </p:pic>
      <p:sp>
        <p:nvSpPr>
          <p:cNvPr id="437" name="Text 7"/>
          <p:cNvSpPr/>
          <p:nvPr/>
        </p:nvSpPr>
        <p:spPr>
          <a:xfrm>
            <a:off x="182880" y="224028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0F6E56"/>
                </a:solidFill>
                <a:latin typeface="Calibri"/>
                <a:ea typeface="Calibri"/>
              </a:rPr>
              <a:t>Mobile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Shape 8"/>
          <p:cNvSpPr/>
          <p:nvPr/>
        </p:nvSpPr>
        <p:spPr>
          <a:xfrm>
            <a:off x="6766560" y="1188720"/>
            <a:ext cx="1005480" cy="1005480"/>
          </a:xfrm>
          <a:prstGeom prst="ellipse">
            <a:avLst/>
          </a:prstGeom>
          <a:solidFill>
            <a:srgbClr val="E1F5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9" name="Image 1" descr="preencoded.png"/>
          <p:cNvPicPr/>
          <p:nvPr/>
        </p:nvPicPr>
        <p:blipFill>
          <a:blip r:embed="rId4"/>
          <a:stretch/>
        </p:blipFill>
        <p:spPr>
          <a:xfrm>
            <a:off x="7008120" y="1430280"/>
            <a:ext cx="522720" cy="522720"/>
          </a:xfrm>
          <a:prstGeom prst="rect">
            <a:avLst/>
          </a:prstGeom>
          <a:ln w="0">
            <a:noFill/>
          </a:ln>
        </p:spPr>
      </p:pic>
      <p:sp>
        <p:nvSpPr>
          <p:cNvPr id="440" name="Text 9"/>
          <p:cNvSpPr/>
          <p:nvPr/>
        </p:nvSpPr>
        <p:spPr>
          <a:xfrm>
            <a:off x="6400800" y="224028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0F6E56"/>
                </a:solidFill>
                <a:latin typeface="Calibri"/>
                <a:ea typeface="Calibri"/>
              </a:rPr>
              <a:t>Web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Shape 10"/>
          <p:cNvSpPr/>
          <p:nvPr/>
        </p:nvSpPr>
        <p:spPr>
          <a:xfrm>
            <a:off x="548640" y="3063240"/>
            <a:ext cx="1005480" cy="1005480"/>
          </a:xfrm>
          <a:prstGeom prst="ellipse">
            <a:avLst/>
          </a:prstGeom>
          <a:solidFill>
            <a:srgbClr val="E1F5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2" name="Image 2" descr="preencoded.png"/>
          <p:cNvPicPr/>
          <p:nvPr/>
        </p:nvPicPr>
        <p:blipFill>
          <a:blip r:embed="rId5"/>
          <a:stretch/>
        </p:blipFill>
        <p:spPr>
          <a:xfrm>
            <a:off x="790200" y="3304800"/>
            <a:ext cx="522720" cy="522720"/>
          </a:xfrm>
          <a:prstGeom prst="rect">
            <a:avLst/>
          </a:prstGeom>
          <a:ln w="0">
            <a:noFill/>
          </a:ln>
        </p:spPr>
      </p:pic>
      <p:sp>
        <p:nvSpPr>
          <p:cNvPr id="443" name="Text 11"/>
          <p:cNvSpPr/>
          <p:nvPr/>
        </p:nvSpPr>
        <p:spPr>
          <a:xfrm>
            <a:off x="182880" y="411480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0F6E56"/>
                </a:solidFill>
                <a:latin typeface="Calibri"/>
                <a:ea typeface="Calibri"/>
              </a:rPr>
              <a:t>Voice / IVR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Shape 12"/>
          <p:cNvSpPr/>
          <p:nvPr/>
        </p:nvSpPr>
        <p:spPr>
          <a:xfrm>
            <a:off x="6766560" y="3063240"/>
            <a:ext cx="1005480" cy="1005480"/>
          </a:xfrm>
          <a:prstGeom prst="ellipse">
            <a:avLst/>
          </a:prstGeom>
          <a:solidFill>
            <a:srgbClr val="E1F5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5" name="Image 3" descr="preencoded.png"/>
          <p:cNvPicPr/>
          <p:nvPr/>
        </p:nvPicPr>
        <p:blipFill>
          <a:blip r:embed="rId6"/>
          <a:stretch/>
        </p:blipFill>
        <p:spPr>
          <a:xfrm>
            <a:off x="7008120" y="3304800"/>
            <a:ext cx="522720" cy="522720"/>
          </a:xfrm>
          <a:prstGeom prst="rect">
            <a:avLst/>
          </a:prstGeom>
          <a:ln w="0">
            <a:noFill/>
          </a:ln>
        </p:spPr>
      </p:pic>
      <p:sp>
        <p:nvSpPr>
          <p:cNvPr id="446" name="Text 13"/>
          <p:cNvSpPr/>
          <p:nvPr/>
        </p:nvSpPr>
        <p:spPr>
          <a:xfrm>
            <a:off x="6400800" y="411480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0F6E56"/>
                </a:solidFill>
                <a:latin typeface="Calibri"/>
                <a:ea typeface="Calibri"/>
              </a:rPr>
              <a:t>Messaging (SMS/WhatsApp)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Shape 14"/>
          <p:cNvSpPr/>
          <p:nvPr/>
        </p:nvSpPr>
        <p:spPr>
          <a:xfrm>
            <a:off x="3886200" y="2148840"/>
            <a:ext cx="1371240" cy="776880"/>
          </a:xfrm>
          <a:prstGeom prst="roundRect">
            <a:avLst>
              <a:gd name="adj" fmla="val 9412"/>
            </a:avLst>
          </a:prstGeom>
          <a:solidFill>
            <a:srgbClr val="2621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" name="Text 15"/>
          <p:cNvSpPr/>
          <p:nvPr/>
        </p:nvSpPr>
        <p:spPr>
          <a:xfrm>
            <a:off x="3886200" y="2240280"/>
            <a:ext cx="13712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Calibri"/>
                <a:ea typeface="Calibri"/>
              </a:rPr>
              <a:t>Channel-agnostic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Calibri"/>
                <a:ea typeface="Calibri"/>
              </a:rPr>
              <a:t>agent core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Text 16"/>
          <p:cNvSpPr/>
          <p:nvPr/>
        </p:nvSpPr>
        <p:spPr>
          <a:xfrm>
            <a:off x="457200" y="470916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0" i="1" strike="noStrike" spc="-1">
                <a:solidFill>
                  <a:srgbClr val="767290"/>
                </a:solidFill>
                <a:latin typeface="Calibri"/>
                <a:ea typeface="Calibri"/>
              </a:rPr>
              <a:t>A shared rendering sidecar converts one internal response schema into the JSON/SSML/text payload each channel expects — domain teams never implement channel-specific logic.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Text 0"/>
          <p:cNvSpPr/>
          <p:nvPr/>
        </p:nvSpPr>
        <p:spPr>
          <a:xfrm>
            <a:off x="457200" y="2926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199">
                <a:solidFill>
                  <a:srgbClr val="0F6E56"/>
                </a:solidFill>
                <a:latin typeface="Calibri"/>
                <a:ea typeface="Calibri"/>
              </a:rPr>
              <a:t>MODEL STRATEGY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Text 1"/>
          <p:cNvSpPr/>
          <p:nvPr/>
        </p:nvSpPr>
        <p:spPr>
          <a:xfrm>
            <a:off x="457200" y="5486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6215C"/>
                </a:solidFill>
                <a:latin typeface="Cambria"/>
                <a:ea typeface="Cambria"/>
              </a:rPr>
              <a:t>Model pairing: the right model for each step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Shape 2"/>
          <p:cNvSpPr/>
          <p:nvPr/>
        </p:nvSpPr>
        <p:spPr>
          <a:xfrm>
            <a:off x="548640" y="1508760"/>
            <a:ext cx="566640" cy="566640"/>
          </a:xfrm>
          <a:prstGeom prst="ellipse">
            <a:avLst/>
          </a:prstGeom>
          <a:solidFill>
            <a:srgbClr val="FAEE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53" name="Image 0" descr="preencoded.png"/>
          <p:cNvPicPr/>
          <p:nvPr/>
        </p:nvPicPr>
        <p:blipFill>
          <a:blip r:embed="rId3"/>
          <a:stretch/>
        </p:blipFill>
        <p:spPr>
          <a:xfrm>
            <a:off x="684720" y="1644840"/>
            <a:ext cx="294480" cy="294480"/>
          </a:xfrm>
          <a:prstGeom prst="rect">
            <a:avLst/>
          </a:prstGeom>
          <a:ln w="0">
            <a:noFill/>
          </a:ln>
        </p:spPr>
      </p:pic>
      <p:sp>
        <p:nvSpPr>
          <p:cNvPr id="454" name="Text 3"/>
          <p:cNvSpPr/>
          <p:nvPr/>
        </p:nvSpPr>
        <p:spPr>
          <a:xfrm>
            <a:off x="1371600" y="1472040"/>
            <a:ext cx="73148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26215C"/>
                </a:solidFill>
                <a:latin typeface="Calibri"/>
                <a:ea typeface="Calibri"/>
              </a:rPr>
              <a:t>Tiered classification → escalation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Text 4"/>
          <p:cNvSpPr/>
          <p:nvPr/>
        </p:nvSpPr>
        <p:spPr>
          <a:xfrm>
            <a:off x="1371600" y="180144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433F5C"/>
                </a:solidFill>
                <a:latin typeface="Calibri"/>
                <a:ea typeface="Calibri"/>
              </a:rPr>
              <a:t>Cheap model classifies &amp; answers simple turns; complex or judgment-heavy steps escalate to a stronger model.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Shape 5"/>
          <p:cNvSpPr/>
          <p:nvPr/>
        </p:nvSpPr>
        <p:spPr>
          <a:xfrm>
            <a:off x="548640" y="2377440"/>
            <a:ext cx="566640" cy="566640"/>
          </a:xfrm>
          <a:prstGeom prst="ellipse">
            <a:avLst/>
          </a:prstGeom>
          <a:solidFill>
            <a:srgbClr val="FAEE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57" name="Image 1" descr="preencoded.png"/>
          <p:cNvPicPr/>
          <p:nvPr/>
        </p:nvPicPr>
        <p:blipFill>
          <a:blip r:embed="rId4"/>
          <a:stretch/>
        </p:blipFill>
        <p:spPr>
          <a:xfrm>
            <a:off x="684720" y="2513520"/>
            <a:ext cx="294480" cy="294480"/>
          </a:xfrm>
          <a:prstGeom prst="rect">
            <a:avLst/>
          </a:prstGeom>
          <a:ln w="0">
            <a:noFill/>
          </a:ln>
        </p:spPr>
      </p:pic>
      <p:sp>
        <p:nvSpPr>
          <p:cNvPr id="458" name="Text 6"/>
          <p:cNvSpPr/>
          <p:nvPr/>
        </p:nvSpPr>
        <p:spPr>
          <a:xfrm>
            <a:off x="1371600" y="2340720"/>
            <a:ext cx="73148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26215C"/>
                </a:solidFill>
                <a:latin typeface="Calibri"/>
                <a:ea typeface="Calibri"/>
              </a:rPr>
              <a:t>Cascade with verification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Text 7"/>
          <p:cNvSpPr/>
          <p:nvPr/>
        </p:nvSpPr>
        <p:spPr>
          <a:xfrm>
            <a:off x="1371600" y="267012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433F5C"/>
                </a:solidFill>
                <a:latin typeface="Calibri"/>
                <a:ea typeface="Calibri"/>
              </a:rPr>
              <a:t>Small model answers first; a verifier escalates only uncertain cases to a costlier model — cuts large-model usage substantially.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Shape 8"/>
          <p:cNvSpPr/>
          <p:nvPr/>
        </p:nvSpPr>
        <p:spPr>
          <a:xfrm>
            <a:off x="548640" y="3246120"/>
            <a:ext cx="566640" cy="566640"/>
          </a:xfrm>
          <a:prstGeom prst="ellipse">
            <a:avLst/>
          </a:prstGeom>
          <a:solidFill>
            <a:srgbClr val="E1F5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61" name="Image 2" descr="preencoded.png"/>
          <p:cNvPicPr/>
          <p:nvPr/>
        </p:nvPicPr>
        <p:blipFill>
          <a:blip r:embed="rId5"/>
          <a:stretch/>
        </p:blipFill>
        <p:spPr>
          <a:xfrm>
            <a:off x="684720" y="3382200"/>
            <a:ext cx="294480" cy="294480"/>
          </a:xfrm>
          <a:prstGeom prst="rect">
            <a:avLst/>
          </a:prstGeom>
          <a:ln w="0">
            <a:noFill/>
          </a:ln>
        </p:spPr>
      </p:pic>
      <p:sp>
        <p:nvSpPr>
          <p:cNvPr id="462" name="Text 9"/>
          <p:cNvSpPr/>
          <p:nvPr/>
        </p:nvSpPr>
        <p:spPr>
          <a:xfrm>
            <a:off x="1371600" y="3209400"/>
            <a:ext cx="73148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26215C"/>
                </a:solidFill>
                <a:latin typeface="Calibri"/>
                <a:ea typeface="Calibri"/>
              </a:rPr>
              <a:t>Compliance-driven routing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Text 10"/>
          <p:cNvSpPr/>
          <p:nvPr/>
        </p:nvSpPr>
        <p:spPr>
          <a:xfrm>
            <a:off x="1371600" y="353880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433F5C"/>
                </a:solidFill>
                <a:latin typeface="Calibri"/>
                <a:ea typeface="Calibri"/>
              </a:rPr>
              <a:t>PII or regulated-data signals force routing to an approved private model, independent of task complexity.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Shape 11"/>
          <p:cNvSpPr/>
          <p:nvPr/>
        </p:nvSpPr>
        <p:spPr>
          <a:xfrm>
            <a:off x="457200" y="4160520"/>
            <a:ext cx="8229240" cy="594000"/>
          </a:xfrm>
          <a:prstGeom prst="roundRect">
            <a:avLst>
              <a:gd name="adj" fmla="val 12308"/>
            </a:avLst>
          </a:prstGeom>
          <a:solidFill>
            <a:srgbClr val="EEEDF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Text 12"/>
          <p:cNvSpPr/>
          <p:nvPr/>
        </p:nvSpPr>
        <p:spPr>
          <a:xfrm>
            <a:off x="640080" y="4160520"/>
            <a:ext cx="786348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-1">
                <a:solidFill>
                  <a:srgbClr val="26215C"/>
                </a:solidFill>
                <a:latin typeface="Calibri"/>
                <a:ea typeface="Calibri"/>
              </a:rPr>
              <a:t>Industry data point: tiered routing has reduced LLM usage by 37–46% and improved latency by 32–38% on simpler queries in production deployments.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Text 0"/>
          <p:cNvSpPr/>
          <p:nvPr/>
        </p:nvSpPr>
        <p:spPr>
          <a:xfrm>
            <a:off x="457200" y="2926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199">
                <a:solidFill>
                  <a:srgbClr val="0F6E56"/>
                </a:solidFill>
                <a:latin typeface="Calibri"/>
                <a:ea typeface="Calibri"/>
              </a:rPr>
              <a:t>SIDECAR SERVICES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Text 1"/>
          <p:cNvSpPr/>
          <p:nvPr/>
        </p:nvSpPr>
        <p:spPr>
          <a:xfrm>
            <a:off x="457200" y="5486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6215C"/>
                </a:solidFill>
                <a:latin typeface="Cambria"/>
                <a:ea typeface="Cambria"/>
              </a:rPr>
              <a:t>Five horizontal services every sub-agent inherits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Shape 2"/>
          <p:cNvSpPr/>
          <p:nvPr/>
        </p:nvSpPr>
        <p:spPr>
          <a:xfrm>
            <a:off x="457200" y="1554480"/>
            <a:ext cx="1590840" cy="3017160"/>
          </a:xfrm>
          <a:prstGeom prst="roundRect">
            <a:avLst>
              <a:gd name="adj" fmla="val 4598"/>
            </a:avLst>
          </a:prstGeom>
          <a:solidFill>
            <a:srgbClr val="F8F7FC"/>
          </a:solidFill>
          <a:ln w="0">
            <a:noFill/>
          </a:ln>
          <a:effectLst>
            <a:outerShdw blurRad="63360" dist="255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Shape 3"/>
          <p:cNvSpPr/>
          <p:nvPr/>
        </p:nvSpPr>
        <p:spPr>
          <a:xfrm>
            <a:off x="1024200" y="1755720"/>
            <a:ext cx="456840" cy="456840"/>
          </a:xfrm>
          <a:prstGeom prst="ellipse">
            <a:avLst/>
          </a:prstGeom>
          <a:solidFill>
            <a:srgbClr val="E1F5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0" name="Image 0" descr="preencoded.png"/>
          <p:cNvPicPr/>
          <p:nvPr/>
        </p:nvPicPr>
        <p:blipFill>
          <a:blip r:embed="rId3"/>
          <a:stretch/>
        </p:blipFill>
        <p:spPr>
          <a:xfrm>
            <a:off x="1134000" y="186552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471" name="Text 4"/>
          <p:cNvSpPr/>
          <p:nvPr/>
        </p:nvSpPr>
        <p:spPr>
          <a:xfrm>
            <a:off x="530280" y="2331720"/>
            <a:ext cx="1444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26215C"/>
                </a:solidFill>
                <a:latin typeface="Calibri"/>
                <a:ea typeface="Calibri"/>
              </a:rPr>
              <a:t>Evals + prompt eng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Text 5"/>
          <p:cNvSpPr/>
          <p:nvPr/>
        </p:nvSpPr>
        <p:spPr>
          <a:xfrm>
            <a:off x="548640" y="2880360"/>
            <a:ext cx="1407960" cy="155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433F5C"/>
                </a:solidFill>
                <a:latin typeface="Calibri"/>
                <a:ea typeface="Calibri"/>
              </a:rPr>
              <a:t>Golden-set offline evals in CI, plus online evals against live traffic.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Shape 6"/>
          <p:cNvSpPr/>
          <p:nvPr/>
        </p:nvSpPr>
        <p:spPr>
          <a:xfrm>
            <a:off x="2167200" y="1554480"/>
            <a:ext cx="1590840" cy="3017160"/>
          </a:xfrm>
          <a:prstGeom prst="roundRect">
            <a:avLst>
              <a:gd name="adj" fmla="val 4598"/>
            </a:avLst>
          </a:prstGeom>
          <a:solidFill>
            <a:srgbClr val="F8F7FC"/>
          </a:solidFill>
          <a:ln w="0">
            <a:noFill/>
          </a:ln>
          <a:effectLst>
            <a:outerShdw blurRad="63360" dist="255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Shape 7"/>
          <p:cNvSpPr/>
          <p:nvPr/>
        </p:nvSpPr>
        <p:spPr>
          <a:xfrm>
            <a:off x="2734200" y="1755720"/>
            <a:ext cx="456840" cy="456840"/>
          </a:xfrm>
          <a:prstGeom prst="ellipse">
            <a:avLst/>
          </a:prstGeom>
          <a:solidFill>
            <a:srgbClr val="FAECE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5" name="Image 1" descr="preencoded.png"/>
          <p:cNvPicPr/>
          <p:nvPr/>
        </p:nvPicPr>
        <p:blipFill>
          <a:blip r:embed="rId4"/>
          <a:stretch/>
        </p:blipFill>
        <p:spPr>
          <a:xfrm>
            <a:off x="2843640" y="186552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476" name="Text 8"/>
          <p:cNvSpPr/>
          <p:nvPr/>
        </p:nvSpPr>
        <p:spPr>
          <a:xfrm>
            <a:off x="2240280" y="2331720"/>
            <a:ext cx="1444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26215C"/>
                </a:solidFill>
                <a:latin typeface="Calibri"/>
                <a:ea typeface="Calibri"/>
              </a:rPr>
              <a:t>Agent guardrails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Text 9"/>
          <p:cNvSpPr/>
          <p:nvPr/>
        </p:nvSpPr>
        <p:spPr>
          <a:xfrm>
            <a:off x="2258640" y="2880360"/>
            <a:ext cx="1407960" cy="155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433F5C"/>
                </a:solidFill>
                <a:latin typeface="Calibri"/>
                <a:ea typeface="Calibri"/>
              </a:rPr>
              <a:t>Real-time input/output policy enforcement, ~200–300ms budget.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Shape 10"/>
          <p:cNvSpPr/>
          <p:nvPr/>
        </p:nvSpPr>
        <p:spPr>
          <a:xfrm>
            <a:off x="3877200" y="1554480"/>
            <a:ext cx="1590840" cy="3017160"/>
          </a:xfrm>
          <a:prstGeom prst="roundRect">
            <a:avLst>
              <a:gd name="adj" fmla="val 4598"/>
            </a:avLst>
          </a:prstGeom>
          <a:solidFill>
            <a:srgbClr val="F8F7FC"/>
          </a:solidFill>
          <a:ln w="0">
            <a:noFill/>
          </a:ln>
          <a:effectLst>
            <a:outerShdw blurRad="63360" dist="255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Shape 11"/>
          <p:cNvSpPr/>
          <p:nvPr/>
        </p:nvSpPr>
        <p:spPr>
          <a:xfrm>
            <a:off x="4443840" y="1755720"/>
            <a:ext cx="456840" cy="456840"/>
          </a:xfrm>
          <a:prstGeom prst="ellipse">
            <a:avLst/>
          </a:prstGeom>
          <a:solidFill>
            <a:srgbClr val="FAEE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0" name="Image 2" descr="preencoded.png"/>
          <p:cNvPicPr/>
          <p:nvPr/>
        </p:nvPicPr>
        <p:blipFill>
          <a:blip r:embed="rId5"/>
          <a:stretch/>
        </p:blipFill>
        <p:spPr>
          <a:xfrm>
            <a:off x="4553640" y="186552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481" name="Text 12"/>
          <p:cNvSpPr/>
          <p:nvPr/>
        </p:nvSpPr>
        <p:spPr>
          <a:xfrm>
            <a:off x="3950280" y="2331720"/>
            <a:ext cx="1444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26215C"/>
                </a:solidFill>
                <a:latin typeface="Calibri"/>
                <a:ea typeface="Calibri"/>
              </a:rPr>
              <a:t>Traceability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Text 13"/>
          <p:cNvSpPr/>
          <p:nvPr/>
        </p:nvSpPr>
        <p:spPr>
          <a:xfrm>
            <a:off x="3968640" y="2880360"/>
            <a:ext cx="1407960" cy="155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433F5C"/>
                </a:solidFill>
                <a:latin typeface="Calibri"/>
                <a:ea typeface="Calibri"/>
              </a:rPr>
              <a:t>Every event — tool call, hand-off, state change — logged as an audit record.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Shape 14"/>
          <p:cNvSpPr/>
          <p:nvPr/>
        </p:nvSpPr>
        <p:spPr>
          <a:xfrm>
            <a:off x="5586840" y="1554480"/>
            <a:ext cx="1590840" cy="3017160"/>
          </a:xfrm>
          <a:prstGeom prst="roundRect">
            <a:avLst>
              <a:gd name="adj" fmla="val 4598"/>
            </a:avLst>
          </a:prstGeom>
          <a:solidFill>
            <a:srgbClr val="F8F7FC"/>
          </a:solidFill>
          <a:ln w="0">
            <a:noFill/>
          </a:ln>
          <a:effectLst>
            <a:outerShdw blurRad="63360" dist="255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Shape 15"/>
          <p:cNvSpPr/>
          <p:nvPr/>
        </p:nvSpPr>
        <p:spPr>
          <a:xfrm>
            <a:off x="6153840" y="1755720"/>
            <a:ext cx="456840" cy="456840"/>
          </a:xfrm>
          <a:prstGeom prst="ellipse">
            <a:avLst/>
          </a:prstGeom>
          <a:solidFill>
            <a:srgbClr val="EEEDF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5" name="Image 3" descr="preencoded.png"/>
          <p:cNvPicPr/>
          <p:nvPr/>
        </p:nvPicPr>
        <p:blipFill>
          <a:blip r:embed="rId6"/>
          <a:stretch/>
        </p:blipFill>
        <p:spPr>
          <a:xfrm>
            <a:off x="6263640" y="186552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486" name="Text 16"/>
          <p:cNvSpPr/>
          <p:nvPr/>
        </p:nvSpPr>
        <p:spPr>
          <a:xfrm>
            <a:off x="5660280" y="2331720"/>
            <a:ext cx="1444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26215C"/>
                </a:solidFill>
                <a:latin typeface="Calibri"/>
                <a:ea typeface="Calibri"/>
              </a:rPr>
              <a:t>Channel JSON rendering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Text 17"/>
          <p:cNvSpPr/>
          <p:nvPr/>
        </p:nvSpPr>
        <p:spPr>
          <a:xfrm>
            <a:off x="5678280" y="2880360"/>
            <a:ext cx="1407960" cy="155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433F5C"/>
                </a:solidFill>
                <a:latin typeface="Calibri"/>
                <a:ea typeface="Calibri"/>
              </a:rPr>
              <a:t>One response schema → mobile / web / voice / messaging payloads.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Shape 18"/>
          <p:cNvSpPr/>
          <p:nvPr/>
        </p:nvSpPr>
        <p:spPr>
          <a:xfrm>
            <a:off x="7296840" y="1554480"/>
            <a:ext cx="1590840" cy="3017160"/>
          </a:xfrm>
          <a:prstGeom prst="roundRect">
            <a:avLst>
              <a:gd name="adj" fmla="val 4598"/>
            </a:avLst>
          </a:prstGeom>
          <a:solidFill>
            <a:srgbClr val="F8F7FC"/>
          </a:solidFill>
          <a:ln w="0">
            <a:noFill/>
          </a:ln>
          <a:effectLst>
            <a:outerShdw blurRad="63360" dist="255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Shape 19"/>
          <p:cNvSpPr/>
          <p:nvPr/>
        </p:nvSpPr>
        <p:spPr>
          <a:xfrm>
            <a:off x="7863840" y="1755720"/>
            <a:ext cx="456840" cy="456840"/>
          </a:xfrm>
          <a:prstGeom prst="ellipse">
            <a:avLst/>
          </a:prstGeom>
          <a:solidFill>
            <a:srgbClr val="FAECE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0" name="Image 4" descr="preencoded.png"/>
          <p:cNvPicPr/>
          <p:nvPr/>
        </p:nvPicPr>
        <p:blipFill>
          <a:blip r:embed="rId7"/>
          <a:stretch/>
        </p:blipFill>
        <p:spPr>
          <a:xfrm>
            <a:off x="7973640" y="186552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491" name="Text 20"/>
          <p:cNvSpPr/>
          <p:nvPr/>
        </p:nvSpPr>
        <p:spPr>
          <a:xfrm>
            <a:off x="7369920" y="2331720"/>
            <a:ext cx="1444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26215C"/>
                </a:solidFill>
                <a:latin typeface="Calibri"/>
                <a:ea typeface="Calibri"/>
              </a:rPr>
              <a:t>Analytics &amp; observability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Text 21"/>
          <p:cNvSpPr/>
          <p:nvPr/>
        </p:nvSpPr>
        <p:spPr>
          <a:xfrm>
            <a:off x="7388280" y="2880360"/>
            <a:ext cx="1407960" cy="155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433F5C"/>
                </a:solidFill>
                <a:latin typeface="Calibri"/>
                <a:ea typeface="Calibri"/>
              </a:rPr>
              <a:t>Cross-portfolio dashboards: cost, latency, quality, by sub-agent and model.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Text 22"/>
          <p:cNvSpPr/>
          <p:nvPr/>
        </p:nvSpPr>
        <p:spPr>
          <a:xfrm>
            <a:off x="457200" y="47091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strike="noStrike" spc="-1">
                <a:solidFill>
                  <a:srgbClr val="767290"/>
                </a:solidFill>
                <a:latin typeface="Calibri"/>
                <a:ea typeface="Calibri"/>
              </a:rPr>
              <a:t>Necessity: if each domain team builds its own version of these, the enterprise ends up with as many safety bars and audit formats as it has teams — unauditable at scale.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Text 0"/>
          <p:cNvSpPr/>
          <p:nvPr/>
        </p:nvSpPr>
        <p:spPr>
          <a:xfrm>
            <a:off x="457200" y="2926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199">
                <a:solidFill>
                  <a:srgbClr val="0F6E56"/>
                </a:solidFill>
                <a:latin typeface="Calibri"/>
                <a:ea typeface="Calibri"/>
              </a:rPr>
              <a:t>INDUSTRY BEST PRACTICES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Text 1"/>
          <p:cNvSpPr/>
          <p:nvPr/>
        </p:nvSpPr>
        <p:spPr>
          <a:xfrm>
            <a:off x="457200" y="5486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6215C"/>
                </a:solidFill>
                <a:latin typeface="Cambria"/>
                <a:ea typeface="Cambria"/>
              </a:rPr>
              <a:t>What the platform holds itself to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Shape 2"/>
          <p:cNvSpPr/>
          <p:nvPr/>
        </p:nvSpPr>
        <p:spPr>
          <a:xfrm>
            <a:off x="457200" y="1508760"/>
            <a:ext cx="4023000" cy="3108600"/>
          </a:xfrm>
          <a:prstGeom prst="roundRect">
            <a:avLst>
              <a:gd name="adj" fmla="val 2941"/>
            </a:avLst>
          </a:prstGeom>
          <a:solidFill>
            <a:srgbClr val="F8F7FC"/>
          </a:solidFill>
          <a:ln w="0">
            <a:noFill/>
          </a:ln>
          <a:effectLst>
            <a:outerShdw blurRad="63360" dist="255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Shape 3"/>
          <p:cNvSpPr/>
          <p:nvPr/>
        </p:nvSpPr>
        <p:spPr>
          <a:xfrm>
            <a:off x="731520" y="1737360"/>
            <a:ext cx="548280" cy="548280"/>
          </a:xfrm>
          <a:prstGeom prst="ellipse">
            <a:avLst/>
          </a:prstGeom>
          <a:solidFill>
            <a:srgbClr val="EEEDF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8" name="Image 0" descr="preencoded.png"/>
          <p:cNvPicPr/>
          <p:nvPr/>
        </p:nvPicPr>
        <p:blipFill>
          <a:blip r:embed="rId3"/>
          <a:stretch/>
        </p:blipFill>
        <p:spPr>
          <a:xfrm>
            <a:off x="863280" y="1869120"/>
            <a:ext cx="284760" cy="284760"/>
          </a:xfrm>
          <a:prstGeom prst="rect">
            <a:avLst/>
          </a:prstGeom>
          <a:ln w="0">
            <a:noFill/>
          </a:ln>
        </p:spPr>
      </p:pic>
      <p:sp>
        <p:nvSpPr>
          <p:cNvPr id="499" name="Text 4"/>
          <p:cNvSpPr/>
          <p:nvPr/>
        </p:nvSpPr>
        <p:spPr>
          <a:xfrm>
            <a:off x="1417320" y="1737360"/>
            <a:ext cx="27428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26215C"/>
                </a:solidFill>
                <a:latin typeface="Cambria"/>
                <a:ea typeface="Cambria"/>
              </a:rPr>
              <a:t>Architecture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Text 5"/>
          <p:cNvSpPr/>
          <p:nvPr/>
        </p:nvSpPr>
        <p:spPr>
          <a:xfrm>
            <a:off x="731520" y="2423160"/>
            <a:ext cx="34743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10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150" b="0" strike="noStrike" spc="-1">
                <a:solidFill>
                  <a:srgbClr val="433F5C"/>
                </a:solidFill>
                <a:latin typeface="Calibri"/>
                <a:ea typeface="Calibri"/>
              </a:rPr>
              <a:t>Treat agents as distributed systems, not prompts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Text 6"/>
          <p:cNvSpPr/>
          <p:nvPr/>
        </p:nvSpPr>
        <p:spPr>
          <a:xfrm>
            <a:off x="731520" y="3136320"/>
            <a:ext cx="34743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10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150" b="0" strike="noStrike" spc="-1">
                <a:solidFill>
                  <a:srgbClr val="433F5C"/>
                </a:solidFill>
                <a:latin typeface="Calibri"/>
                <a:ea typeface="Calibri"/>
              </a:rPr>
              <a:t>Separate orchestration, tools, memory, policy, observability layers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Text 7"/>
          <p:cNvSpPr/>
          <p:nvPr/>
        </p:nvSpPr>
        <p:spPr>
          <a:xfrm>
            <a:off x="731520" y="3849480"/>
            <a:ext cx="34743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10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150" b="0" strike="noStrike" spc="-1">
                <a:solidFill>
                  <a:srgbClr val="433F5C"/>
                </a:solidFill>
                <a:latin typeface="Calibri"/>
                <a:ea typeface="Calibri"/>
              </a:rPr>
              <a:t>Default to least-privilege tool access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Shape 8"/>
          <p:cNvSpPr/>
          <p:nvPr/>
        </p:nvSpPr>
        <p:spPr>
          <a:xfrm>
            <a:off x="4663440" y="1508760"/>
            <a:ext cx="4023000" cy="3108600"/>
          </a:xfrm>
          <a:prstGeom prst="roundRect">
            <a:avLst>
              <a:gd name="adj" fmla="val 2941"/>
            </a:avLst>
          </a:prstGeom>
          <a:solidFill>
            <a:srgbClr val="F8F7FC"/>
          </a:solidFill>
          <a:ln w="0">
            <a:noFill/>
          </a:ln>
          <a:effectLst>
            <a:outerShdw blurRad="63360" dist="255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Shape 9"/>
          <p:cNvSpPr/>
          <p:nvPr/>
        </p:nvSpPr>
        <p:spPr>
          <a:xfrm>
            <a:off x="4937760" y="1737360"/>
            <a:ext cx="548280" cy="548280"/>
          </a:xfrm>
          <a:prstGeom prst="ellipse">
            <a:avLst/>
          </a:prstGeom>
          <a:solidFill>
            <a:srgbClr val="E1F5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5" name="Image 1" descr="preencoded.png"/>
          <p:cNvPicPr/>
          <p:nvPr/>
        </p:nvPicPr>
        <p:blipFill>
          <a:blip r:embed="rId4"/>
          <a:stretch/>
        </p:blipFill>
        <p:spPr>
          <a:xfrm>
            <a:off x="5069520" y="1869120"/>
            <a:ext cx="284760" cy="284760"/>
          </a:xfrm>
          <a:prstGeom prst="rect">
            <a:avLst/>
          </a:prstGeom>
          <a:ln w="0">
            <a:noFill/>
          </a:ln>
        </p:spPr>
      </p:pic>
      <p:sp>
        <p:nvSpPr>
          <p:cNvPr id="506" name="Text 10"/>
          <p:cNvSpPr/>
          <p:nvPr/>
        </p:nvSpPr>
        <p:spPr>
          <a:xfrm>
            <a:off x="5623560" y="1737360"/>
            <a:ext cx="27428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26215C"/>
                </a:solidFill>
                <a:latin typeface="Cambria"/>
                <a:ea typeface="Cambria"/>
              </a:rPr>
              <a:t>Rollout &amp; governance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Text 11"/>
          <p:cNvSpPr/>
          <p:nvPr/>
        </p:nvSpPr>
        <p:spPr>
          <a:xfrm>
            <a:off x="4937760" y="2423160"/>
            <a:ext cx="34743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10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150" b="0" strike="noStrike" spc="-1">
                <a:solidFill>
                  <a:srgbClr val="433F5C"/>
                </a:solidFill>
                <a:latin typeface="Calibri"/>
                <a:ea typeface="Calibri"/>
              </a:rPr>
              <a:t>Scale incrementally; prove observability before expanding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Text 12"/>
          <p:cNvSpPr/>
          <p:nvPr/>
        </p:nvSpPr>
        <p:spPr>
          <a:xfrm>
            <a:off x="4937760" y="3136320"/>
            <a:ext cx="34743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10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150" b="0" strike="noStrike" spc="-1">
                <a:solidFill>
                  <a:srgbClr val="433F5C"/>
                </a:solidFill>
                <a:latin typeface="Calibri"/>
                <a:ea typeface="Calibri"/>
              </a:rPr>
              <a:t>Formal change control for prompts, tools, model versions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Text 13"/>
          <p:cNvSpPr/>
          <p:nvPr/>
        </p:nvSpPr>
        <p:spPr>
          <a:xfrm>
            <a:off x="4937760" y="3849480"/>
            <a:ext cx="34743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10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150" b="0" strike="noStrike" spc="-1">
                <a:solidFill>
                  <a:srgbClr val="433F5C"/>
                </a:solidFill>
                <a:latin typeface="Calibri"/>
                <a:ea typeface="Calibri"/>
              </a:rPr>
              <a:t>Register every agent with owner, purpose, risk classification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1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Shape 0"/>
          <p:cNvSpPr/>
          <p:nvPr/>
        </p:nvSpPr>
        <p:spPr>
          <a:xfrm>
            <a:off x="7150320" y="658080"/>
            <a:ext cx="914400" cy="54864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1" name="Shape 1"/>
          <p:cNvSpPr/>
          <p:nvPr/>
        </p:nvSpPr>
        <p:spPr>
          <a:xfrm flipH="1">
            <a:off x="7369920" y="1206720"/>
            <a:ext cx="694800" cy="40248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2" name="Shape 2"/>
          <p:cNvSpPr/>
          <p:nvPr/>
        </p:nvSpPr>
        <p:spPr>
          <a:xfrm flipV="1">
            <a:off x="8064720" y="676440"/>
            <a:ext cx="384120" cy="53028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3" name="Shape 3"/>
          <p:cNvSpPr/>
          <p:nvPr/>
        </p:nvSpPr>
        <p:spPr>
          <a:xfrm>
            <a:off x="8064720" y="1206720"/>
            <a:ext cx="567000" cy="38412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4" name="Shape 4"/>
          <p:cNvSpPr/>
          <p:nvPr/>
        </p:nvSpPr>
        <p:spPr>
          <a:xfrm>
            <a:off x="6949440" y="457200"/>
            <a:ext cx="402120" cy="402120"/>
          </a:xfrm>
          <a:prstGeom prst="ellipse">
            <a:avLst/>
          </a:prstGeom>
          <a:solidFill>
            <a:srgbClr val="F2A623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Shape 5"/>
          <p:cNvSpPr/>
          <p:nvPr/>
        </p:nvSpPr>
        <p:spPr>
          <a:xfrm>
            <a:off x="7772400" y="914400"/>
            <a:ext cx="585000" cy="585000"/>
          </a:xfrm>
          <a:prstGeom prst="ellipse">
            <a:avLst/>
          </a:prstGeom>
          <a:solidFill>
            <a:srgbClr val="7F77DD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6" name="Shape 6"/>
          <p:cNvSpPr/>
          <p:nvPr/>
        </p:nvSpPr>
        <p:spPr>
          <a:xfrm>
            <a:off x="7223760" y="1463040"/>
            <a:ext cx="292320" cy="292320"/>
          </a:xfrm>
          <a:prstGeom prst="ellipse">
            <a:avLst/>
          </a:prstGeom>
          <a:solidFill>
            <a:srgbClr val="5DCAA5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Shape 7"/>
          <p:cNvSpPr/>
          <p:nvPr/>
        </p:nvSpPr>
        <p:spPr>
          <a:xfrm>
            <a:off x="8321040" y="548640"/>
            <a:ext cx="255600" cy="255600"/>
          </a:xfrm>
          <a:prstGeom prst="ellipse">
            <a:avLst/>
          </a:prstGeom>
          <a:solidFill>
            <a:srgbClr val="5DCAA5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Shape 8"/>
          <p:cNvSpPr/>
          <p:nvPr/>
        </p:nvSpPr>
        <p:spPr>
          <a:xfrm>
            <a:off x="8412480" y="1371600"/>
            <a:ext cx="438480" cy="438480"/>
          </a:xfrm>
          <a:prstGeom prst="ellipse">
            <a:avLst/>
          </a:prstGeom>
          <a:solidFill>
            <a:srgbClr val="F2A623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Shape 9"/>
          <p:cNvSpPr/>
          <p:nvPr/>
        </p:nvSpPr>
        <p:spPr>
          <a:xfrm>
            <a:off x="640080" y="1417320"/>
            <a:ext cx="914040" cy="914040"/>
          </a:xfrm>
          <a:prstGeom prst="ellipse">
            <a:avLst/>
          </a:prstGeom>
          <a:solidFill>
            <a:srgbClr val="3C348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20" name="Image 0" descr="preencoded.png"/>
          <p:cNvPicPr/>
          <p:nvPr/>
        </p:nvPicPr>
        <p:blipFill>
          <a:blip r:embed="rId3"/>
          <a:stretch/>
        </p:blipFill>
        <p:spPr>
          <a:xfrm>
            <a:off x="859680" y="1636920"/>
            <a:ext cx="475200" cy="475200"/>
          </a:xfrm>
          <a:prstGeom prst="rect">
            <a:avLst/>
          </a:prstGeom>
          <a:ln w="0">
            <a:noFill/>
          </a:ln>
        </p:spPr>
      </p:pic>
      <p:sp>
        <p:nvSpPr>
          <p:cNvPr id="521" name="Text 10"/>
          <p:cNvSpPr/>
          <p:nvPr/>
        </p:nvSpPr>
        <p:spPr>
          <a:xfrm>
            <a:off x="1828800" y="141732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299">
                <a:solidFill>
                  <a:srgbClr val="F2A623"/>
                </a:solidFill>
                <a:latin typeface="Calibri"/>
                <a:ea typeface="Calibri"/>
              </a:rPr>
              <a:t>PART 4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2" name="Text 11"/>
          <p:cNvSpPr/>
          <p:nvPr/>
        </p:nvSpPr>
        <p:spPr>
          <a:xfrm>
            <a:off x="1828800" y="1783080"/>
            <a:ext cx="667476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strike="noStrike" spc="-1">
                <a:solidFill>
                  <a:srgbClr val="FFFFFF"/>
                </a:solidFill>
                <a:latin typeface="Cambria"/>
                <a:ea typeface="Cambria"/>
              </a:rPr>
              <a:t>See it run</a:t>
            </a:r>
            <a:endParaRPr lang="en-US" sz="3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3" name="Text 12"/>
          <p:cNvSpPr/>
          <p:nvPr/>
        </p:nvSpPr>
        <p:spPr>
          <a:xfrm>
            <a:off x="1828800" y="2788920"/>
            <a:ext cx="64004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CECBF6"/>
                </a:solidFill>
                <a:latin typeface="Calibri"/>
                <a:ea typeface="Calibri"/>
              </a:rPr>
              <a:t>A live ADK trace, end to end, on the running banking example.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Text 0"/>
          <p:cNvSpPr/>
          <p:nvPr/>
        </p:nvSpPr>
        <p:spPr>
          <a:xfrm>
            <a:off x="457200" y="2926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199">
                <a:solidFill>
                  <a:srgbClr val="0F6E56"/>
                </a:solidFill>
                <a:latin typeface="Calibri"/>
                <a:ea typeface="Calibri"/>
              </a:rPr>
              <a:t>LIVE SHOWCASE · PART OF SME4'S SECTION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Text 1"/>
          <p:cNvSpPr/>
          <p:nvPr/>
        </p:nvSpPr>
        <p:spPr>
          <a:xfrm>
            <a:off x="457200" y="5486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6215C"/>
                </a:solidFill>
                <a:latin typeface="Cambria"/>
                <a:ea typeface="Cambria"/>
              </a:rPr>
              <a:t>Three things to show live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Shape 2"/>
          <p:cNvSpPr/>
          <p:nvPr/>
        </p:nvSpPr>
        <p:spPr>
          <a:xfrm>
            <a:off x="457200" y="1600200"/>
            <a:ext cx="2651400" cy="2742840"/>
          </a:xfrm>
          <a:prstGeom prst="roundRect">
            <a:avLst>
              <a:gd name="adj" fmla="val 3448"/>
            </a:avLst>
          </a:prstGeom>
          <a:solidFill>
            <a:srgbClr val="F8F7FC"/>
          </a:solidFill>
          <a:ln w="0">
            <a:noFill/>
          </a:ln>
          <a:effectLst>
            <a:outerShdw blurRad="63360" dist="255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Shape 3"/>
          <p:cNvSpPr/>
          <p:nvPr/>
        </p:nvSpPr>
        <p:spPr>
          <a:xfrm>
            <a:off x="731520" y="1874520"/>
            <a:ext cx="594000" cy="594000"/>
          </a:xfrm>
          <a:prstGeom prst="ellipse">
            <a:avLst/>
          </a:prstGeom>
          <a:solidFill>
            <a:srgbClr val="EEEDF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28" name="Image 0" descr="preencoded.png"/>
          <p:cNvPicPr/>
          <p:nvPr/>
        </p:nvPicPr>
        <p:blipFill>
          <a:blip r:embed="rId3"/>
          <a:stretch/>
        </p:blipFill>
        <p:spPr>
          <a:xfrm>
            <a:off x="874080" y="2017080"/>
            <a:ext cx="308880" cy="308880"/>
          </a:xfrm>
          <a:prstGeom prst="rect">
            <a:avLst/>
          </a:prstGeom>
          <a:ln w="0">
            <a:noFill/>
          </a:ln>
        </p:spPr>
      </p:pic>
      <p:sp>
        <p:nvSpPr>
          <p:cNvPr id="529" name="Text 4"/>
          <p:cNvSpPr/>
          <p:nvPr/>
        </p:nvSpPr>
        <p:spPr>
          <a:xfrm>
            <a:off x="731520" y="2606040"/>
            <a:ext cx="21027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26215C"/>
                </a:solidFill>
                <a:latin typeface="Cambria"/>
                <a:ea typeface="Cambria"/>
              </a:rPr>
              <a:t>Routing trace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Text 5"/>
          <p:cNvSpPr/>
          <p:nvPr/>
        </p:nvSpPr>
        <p:spPr>
          <a:xfrm>
            <a:off x="731520" y="3063240"/>
            <a:ext cx="210276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433F5C"/>
                </a:solidFill>
                <a:latin typeface="Calibri"/>
                <a:ea typeface="Calibri"/>
              </a:rPr>
              <a:t>Send a multi-part question through adk web and open the trace view to show intent decomposition and the sub-agent transfer in real time.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Shape 6"/>
          <p:cNvSpPr/>
          <p:nvPr/>
        </p:nvSpPr>
        <p:spPr>
          <a:xfrm>
            <a:off x="3291840" y="1600200"/>
            <a:ext cx="2651400" cy="2742840"/>
          </a:xfrm>
          <a:prstGeom prst="roundRect">
            <a:avLst>
              <a:gd name="adj" fmla="val 3448"/>
            </a:avLst>
          </a:prstGeom>
          <a:solidFill>
            <a:srgbClr val="F8F7FC"/>
          </a:solidFill>
          <a:ln w="0">
            <a:noFill/>
          </a:ln>
          <a:effectLst>
            <a:outerShdw blurRad="63360" dist="255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Shape 7"/>
          <p:cNvSpPr/>
          <p:nvPr/>
        </p:nvSpPr>
        <p:spPr>
          <a:xfrm>
            <a:off x="3566160" y="1874520"/>
            <a:ext cx="594000" cy="594000"/>
          </a:xfrm>
          <a:prstGeom prst="ellipse">
            <a:avLst/>
          </a:prstGeom>
          <a:solidFill>
            <a:srgbClr val="E1F5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33" name="Image 1" descr="preencoded.png"/>
          <p:cNvPicPr/>
          <p:nvPr/>
        </p:nvPicPr>
        <p:blipFill>
          <a:blip r:embed="rId4"/>
          <a:stretch/>
        </p:blipFill>
        <p:spPr>
          <a:xfrm>
            <a:off x="3708720" y="2017080"/>
            <a:ext cx="308880" cy="308880"/>
          </a:xfrm>
          <a:prstGeom prst="rect">
            <a:avLst/>
          </a:prstGeom>
          <a:ln w="0">
            <a:noFill/>
          </a:ln>
        </p:spPr>
      </p:pic>
      <p:sp>
        <p:nvSpPr>
          <p:cNvPr id="534" name="Text 8"/>
          <p:cNvSpPr/>
          <p:nvPr/>
        </p:nvSpPr>
        <p:spPr>
          <a:xfrm>
            <a:off x="3566160" y="2606040"/>
            <a:ext cx="21027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26215C"/>
                </a:solidFill>
                <a:latin typeface="Cambria"/>
                <a:ea typeface="Cambria"/>
              </a:rPr>
              <a:t>Session store survives a restart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Text 9"/>
          <p:cNvSpPr/>
          <p:nvPr/>
        </p:nvSpPr>
        <p:spPr>
          <a:xfrm>
            <a:off x="3566160" y="3063240"/>
            <a:ext cx="210276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433F5C"/>
                </a:solidFill>
                <a:latin typeface="Calibri"/>
                <a:ea typeface="Calibri"/>
              </a:rPr>
              <a:t>Same user, same session id: restart the app process and show the conversation resume from Redis — this works today.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Shape 10"/>
          <p:cNvSpPr/>
          <p:nvPr/>
        </p:nvSpPr>
        <p:spPr>
          <a:xfrm>
            <a:off x="6126480" y="1600200"/>
            <a:ext cx="2651400" cy="2742840"/>
          </a:xfrm>
          <a:prstGeom prst="roundRect">
            <a:avLst>
              <a:gd name="adj" fmla="val 3448"/>
            </a:avLst>
          </a:prstGeom>
          <a:solidFill>
            <a:srgbClr val="F8F7FC"/>
          </a:solidFill>
          <a:ln w="0">
            <a:noFill/>
          </a:ln>
          <a:effectLst>
            <a:outerShdw blurRad="63360" dist="255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Shape 11"/>
          <p:cNvSpPr/>
          <p:nvPr/>
        </p:nvSpPr>
        <p:spPr>
          <a:xfrm>
            <a:off x="6400800" y="1874520"/>
            <a:ext cx="594000" cy="594000"/>
          </a:xfrm>
          <a:prstGeom prst="ellipse">
            <a:avLst/>
          </a:prstGeom>
          <a:solidFill>
            <a:srgbClr val="FAECE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38" name="Image 2" descr="preencoded.png"/>
          <p:cNvPicPr/>
          <p:nvPr/>
        </p:nvPicPr>
        <p:blipFill>
          <a:blip r:embed="rId5"/>
          <a:stretch/>
        </p:blipFill>
        <p:spPr>
          <a:xfrm>
            <a:off x="6543360" y="2017080"/>
            <a:ext cx="308880" cy="308880"/>
          </a:xfrm>
          <a:prstGeom prst="rect">
            <a:avLst/>
          </a:prstGeom>
          <a:ln w="0">
            <a:noFill/>
          </a:ln>
        </p:spPr>
      </p:pic>
      <p:sp>
        <p:nvSpPr>
          <p:cNvPr id="539" name="Text 12"/>
          <p:cNvSpPr/>
          <p:nvPr/>
        </p:nvSpPr>
        <p:spPr>
          <a:xfrm>
            <a:off x="6400800" y="2606040"/>
            <a:ext cx="21027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26215C"/>
                </a:solidFill>
                <a:latin typeface="Cambria"/>
                <a:ea typeface="Cambria"/>
              </a:rPr>
              <a:t>Coming later: long-term memory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Text 13"/>
          <p:cNvSpPr/>
          <p:nvPr/>
        </p:nvSpPr>
        <p:spPr>
          <a:xfrm>
            <a:off x="6400800" y="3063240"/>
            <a:ext cx="210276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433F5C"/>
                </a:solidFill>
                <a:latin typeface="Calibri"/>
                <a:ea typeface="Calibri"/>
              </a:rPr>
              <a:t>list_sessions(user_id) across logins and cross-session recall both depend on Memory Bank, which isn't built yet — flagged here, not demoed.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Text 14"/>
          <p:cNvSpPr/>
          <p:nvPr/>
        </p:nvSpPr>
        <p:spPr>
          <a:xfrm>
            <a:off x="457200" y="45262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strike="noStrike" spc="-1">
                <a:solidFill>
                  <a:srgbClr val="767290"/>
                </a:solidFill>
                <a:latin typeface="Calibri"/>
                <a:ea typeface="Calibri"/>
              </a:rPr>
              <a:t>Fallback if live demo isn't possible: pre-recorded trace screenshots covering the same three moments.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Text 0"/>
          <p:cNvSpPr/>
          <p:nvPr/>
        </p:nvSpPr>
        <p:spPr>
          <a:xfrm>
            <a:off x="457200" y="2926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199">
                <a:solidFill>
                  <a:srgbClr val="0F6E56"/>
                </a:solidFill>
                <a:latin typeface="Calibri"/>
                <a:ea typeface="Calibri"/>
              </a:rPr>
              <a:t>WRAP-UP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Text 1"/>
          <p:cNvSpPr/>
          <p:nvPr/>
        </p:nvSpPr>
        <p:spPr>
          <a:xfrm>
            <a:off x="457200" y="5486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6215C"/>
                </a:solidFill>
                <a:latin typeface="Cambria"/>
                <a:ea typeface="Cambria"/>
              </a:rPr>
              <a:t>Key takeaways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Shape 2"/>
          <p:cNvSpPr/>
          <p:nvPr/>
        </p:nvSpPr>
        <p:spPr>
          <a:xfrm>
            <a:off x="457200" y="1371600"/>
            <a:ext cx="365400" cy="365400"/>
          </a:xfrm>
          <a:prstGeom prst="ellipse">
            <a:avLst/>
          </a:prstGeom>
          <a:solidFill>
            <a:srgbClr val="E1F5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5" name="Image 0" descr="preencoded.png"/>
          <p:cNvPicPr/>
          <p:nvPr/>
        </p:nvPicPr>
        <p:blipFill>
          <a:blip r:embed="rId3"/>
          <a:stretch/>
        </p:blipFill>
        <p:spPr>
          <a:xfrm>
            <a:off x="545040" y="1459440"/>
            <a:ext cx="189720" cy="189720"/>
          </a:xfrm>
          <a:prstGeom prst="rect">
            <a:avLst/>
          </a:prstGeom>
          <a:ln w="0">
            <a:noFill/>
          </a:ln>
        </p:spPr>
      </p:pic>
      <p:sp>
        <p:nvSpPr>
          <p:cNvPr id="546" name="Text 3"/>
          <p:cNvSpPr/>
          <p:nvPr/>
        </p:nvSpPr>
        <p:spPr>
          <a:xfrm>
            <a:off x="1005840" y="1371600"/>
            <a:ext cx="76806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433F5C"/>
                </a:solidFill>
                <a:latin typeface="Calibri"/>
                <a:ea typeface="Calibri"/>
              </a:rPr>
              <a:t>The agent is a layered system — channel, session, orchestration, sub-agents, sidecars, models — not one giant prompt.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Shape 4"/>
          <p:cNvSpPr/>
          <p:nvPr/>
        </p:nvSpPr>
        <p:spPr>
          <a:xfrm>
            <a:off x="457200" y="1993320"/>
            <a:ext cx="365400" cy="365400"/>
          </a:xfrm>
          <a:prstGeom prst="ellipse">
            <a:avLst/>
          </a:prstGeom>
          <a:solidFill>
            <a:srgbClr val="E1F5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8" name="Image 1" descr="preencoded.png"/>
          <p:cNvPicPr/>
          <p:nvPr/>
        </p:nvPicPr>
        <p:blipFill>
          <a:blip r:embed="rId3"/>
          <a:stretch/>
        </p:blipFill>
        <p:spPr>
          <a:xfrm>
            <a:off x="545040" y="2081160"/>
            <a:ext cx="189720" cy="189720"/>
          </a:xfrm>
          <a:prstGeom prst="rect">
            <a:avLst/>
          </a:prstGeom>
          <a:ln w="0">
            <a:noFill/>
          </a:ln>
        </p:spPr>
      </p:pic>
      <p:sp>
        <p:nvSpPr>
          <p:cNvPr id="549" name="Text 5"/>
          <p:cNvSpPr/>
          <p:nvPr/>
        </p:nvSpPr>
        <p:spPr>
          <a:xfrm>
            <a:off x="1005840" y="1993320"/>
            <a:ext cx="76806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433F5C"/>
                </a:solidFill>
                <a:latin typeface="Calibri"/>
                <a:ea typeface="Calibri"/>
              </a:rPr>
              <a:t>State ≠ memory ≠ context — each one solves a different continuity problem.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Shape 6"/>
          <p:cNvSpPr/>
          <p:nvPr/>
        </p:nvSpPr>
        <p:spPr>
          <a:xfrm>
            <a:off x="457200" y="2615040"/>
            <a:ext cx="365400" cy="365400"/>
          </a:xfrm>
          <a:prstGeom prst="ellipse">
            <a:avLst/>
          </a:prstGeom>
          <a:solidFill>
            <a:srgbClr val="E1F5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51" name="Image 2" descr="preencoded.png"/>
          <p:cNvPicPr/>
          <p:nvPr/>
        </p:nvPicPr>
        <p:blipFill>
          <a:blip r:embed="rId3"/>
          <a:stretch/>
        </p:blipFill>
        <p:spPr>
          <a:xfrm>
            <a:off x="545040" y="2702880"/>
            <a:ext cx="189720" cy="189720"/>
          </a:xfrm>
          <a:prstGeom prst="rect">
            <a:avLst/>
          </a:prstGeom>
          <a:ln w="0">
            <a:noFill/>
          </a:ln>
        </p:spPr>
      </p:pic>
      <p:sp>
        <p:nvSpPr>
          <p:cNvPr id="552" name="Text 7"/>
          <p:cNvSpPr/>
          <p:nvPr/>
        </p:nvSpPr>
        <p:spPr>
          <a:xfrm>
            <a:off x="1005840" y="2615040"/>
            <a:ext cx="76806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433F5C"/>
                </a:solidFill>
                <a:latin typeface="Calibri"/>
                <a:ea typeface="Calibri"/>
              </a:rPr>
              <a:t>Context engineering means deciding what the model actually sees, fresh, on every turn.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Shape 8"/>
          <p:cNvSpPr/>
          <p:nvPr/>
        </p:nvSpPr>
        <p:spPr>
          <a:xfrm>
            <a:off x="457200" y="3237120"/>
            <a:ext cx="365400" cy="365400"/>
          </a:xfrm>
          <a:prstGeom prst="ellipse">
            <a:avLst/>
          </a:prstGeom>
          <a:solidFill>
            <a:srgbClr val="E1F5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54" name="Image 3" descr="preencoded.png"/>
          <p:cNvPicPr/>
          <p:nvPr/>
        </p:nvPicPr>
        <p:blipFill>
          <a:blip r:embed="rId3"/>
          <a:stretch/>
        </p:blipFill>
        <p:spPr>
          <a:xfrm>
            <a:off x="545040" y="3324600"/>
            <a:ext cx="189720" cy="189720"/>
          </a:xfrm>
          <a:prstGeom prst="rect">
            <a:avLst/>
          </a:prstGeom>
          <a:ln w="0">
            <a:noFill/>
          </a:ln>
        </p:spPr>
      </p:pic>
      <p:sp>
        <p:nvSpPr>
          <p:cNvPr id="555" name="Text 9"/>
          <p:cNvSpPr/>
          <p:nvPr/>
        </p:nvSpPr>
        <p:spPr>
          <a:xfrm>
            <a:off x="1005840" y="3237120"/>
            <a:ext cx="76806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433F5C"/>
                </a:solidFill>
                <a:latin typeface="Calibri"/>
                <a:ea typeface="Calibri"/>
              </a:rPr>
              <a:t>Multi-agent orchestration turns one giant prompt into specialists with clear ownership.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Shape 10"/>
          <p:cNvSpPr/>
          <p:nvPr/>
        </p:nvSpPr>
        <p:spPr>
          <a:xfrm>
            <a:off x="457200" y="3858840"/>
            <a:ext cx="365400" cy="365400"/>
          </a:xfrm>
          <a:prstGeom prst="ellipse">
            <a:avLst/>
          </a:prstGeom>
          <a:solidFill>
            <a:srgbClr val="E1F5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57" name="Image 4" descr="preencoded.png"/>
          <p:cNvPicPr/>
          <p:nvPr/>
        </p:nvPicPr>
        <p:blipFill>
          <a:blip r:embed="rId3"/>
          <a:stretch/>
        </p:blipFill>
        <p:spPr>
          <a:xfrm>
            <a:off x="545040" y="3946680"/>
            <a:ext cx="189720" cy="189720"/>
          </a:xfrm>
          <a:prstGeom prst="rect">
            <a:avLst/>
          </a:prstGeom>
          <a:ln w="0">
            <a:noFill/>
          </a:ln>
        </p:spPr>
      </p:pic>
      <p:sp>
        <p:nvSpPr>
          <p:cNvPr id="558" name="Text 11"/>
          <p:cNvSpPr/>
          <p:nvPr/>
        </p:nvSpPr>
        <p:spPr>
          <a:xfrm>
            <a:off x="1005840" y="3858840"/>
            <a:ext cx="76806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433F5C"/>
                </a:solidFill>
                <a:latin typeface="Calibri"/>
                <a:ea typeface="Calibri"/>
              </a:rPr>
              <a:t>None of this scales across an enterprise without a shared platform: one hosting model, one session system, the same guardrails and observability inherited by every team that onboards.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Shape 12"/>
          <p:cNvSpPr/>
          <p:nvPr/>
        </p:nvSpPr>
        <p:spPr>
          <a:xfrm>
            <a:off x="457200" y="4526280"/>
            <a:ext cx="8229240" cy="548280"/>
          </a:xfrm>
          <a:prstGeom prst="roundRect">
            <a:avLst>
              <a:gd name="adj" fmla="val 13333"/>
            </a:avLst>
          </a:prstGeom>
          <a:solidFill>
            <a:srgbClr val="EEEDF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Shape 13"/>
          <p:cNvSpPr/>
          <p:nvPr/>
        </p:nvSpPr>
        <p:spPr>
          <a:xfrm>
            <a:off x="576000" y="4599360"/>
            <a:ext cx="383760" cy="38376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61" name="Image 5" descr="preencoded.png"/>
          <p:cNvPicPr/>
          <p:nvPr/>
        </p:nvPicPr>
        <p:blipFill>
          <a:blip r:embed="rId4"/>
          <a:stretch/>
        </p:blipFill>
        <p:spPr>
          <a:xfrm>
            <a:off x="668160" y="4691520"/>
            <a:ext cx="199440" cy="199440"/>
          </a:xfrm>
          <a:prstGeom prst="rect">
            <a:avLst/>
          </a:prstGeom>
          <a:ln w="0">
            <a:noFill/>
          </a:ln>
        </p:spPr>
      </p:pic>
      <p:sp>
        <p:nvSpPr>
          <p:cNvPr id="562" name="Text 14"/>
          <p:cNvSpPr/>
          <p:nvPr/>
        </p:nvSpPr>
        <p:spPr>
          <a:xfrm>
            <a:off x="1097280" y="4526280"/>
            <a:ext cx="7452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26215C"/>
                </a:solidFill>
                <a:latin typeface="Calibri"/>
                <a:ea typeface="Calibri"/>
              </a:rPr>
              <a:t>Resources:  </a:t>
            </a:r>
            <a:r>
              <a:rPr lang="en-US" sz="1050" b="0" strike="noStrike" spc="-1">
                <a:solidFill>
                  <a:srgbClr val="433F5C"/>
                </a:solidFill>
                <a:latin typeface="Calibri"/>
                <a:ea typeface="Calibri"/>
              </a:rPr>
              <a:t>google.github.io/adk-docs (Sessions, State &amp; Memory)   ·   Google Cloud blog: “Remember this — agent state and memory with ADK”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1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Shape 0"/>
          <p:cNvSpPr/>
          <p:nvPr/>
        </p:nvSpPr>
        <p:spPr>
          <a:xfrm>
            <a:off x="7150320" y="658080"/>
            <a:ext cx="914400" cy="54864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4" name="Shape 1"/>
          <p:cNvSpPr/>
          <p:nvPr/>
        </p:nvSpPr>
        <p:spPr>
          <a:xfrm flipH="1">
            <a:off x="7369920" y="1206720"/>
            <a:ext cx="694800" cy="40248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5" name="Shape 2"/>
          <p:cNvSpPr/>
          <p:nvPr/>
        </p:nvSpPr>
        <p:spPr>
          <a:xfrm flipV="1">
            <a:off x="8064720" y="676440"/>
            <a:ext cx="384120" cy="53028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6" name="Shape 3"/>
          <p:cNvSpPr/>
          <p:nvPr/>
        </p:nvSpPr>
        <p:spPr>
          <a:xfrm>
            <a:off x="8064720" y="1206720"/>
            <a:ext cx="567000" cy="38412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7" name="Shape 4"/>
          <p:cNvSpPr/>
          <p:nvPr/>
        </p:nvSpPr>
        <p:spPr>
          <a:xfrm>
            <a:off x="6949440" y="457200"/>
            <a:ext cx="402120" cy="402120"/>
          </a:xfrm>
          <a:prstGeom prst="ellipse">
            <a:avLst/>
          </a:prstGeom>
          <a:solidFill>
            <a:srgbClr val="F2A623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Shape 5"/>
          <p:cNvSpPr/>
          <p:nvPr/>
        </p:nvSpPr>
        <p:spPr>
          <a:xfrm>
            <a:off x="7772400" y="914400"/>
            <a:ext cx="585000" cy="585000"/>
          </a:xfrm>
          <a:prstGeom prst="ellipse">
            <a:avLst/>
          </a:prstGeom>
          <a:solidFill>
            <a:srgbClr val="7F77DD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9" name="Shape 6"/>
          <p:cNvSpPr/>
          <p:nvPr/>
        </p:nvSpPr>
        <p:spPr>
          <a:xfrm>
            <a:off x="7223760" y="1463040"/>
            <a:ext cx="292320" cy="292320"/>
          </a:xfrm>
          <a:prstGeom prst="ellipse">
            <a:avLst/>
          </a:prstGeom>
          <a:solidFill>
            <a:srgbClr val="5DCAA5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Shape 7"/>
          <p:cNvSpPr/>
          <p:nvPr/>
        </p:nvSpPr>
        <p:spPr>
          <a:xfrm>
            <a:off x="8321040" y="548640"/>
            <a:ext cx="255600" cy="255600"/>
          </a:xfrm>
          <a:prstGeom prst="ellipse">
            <a:avLst/>
          </a:prstGeom>
          <a:solidFill>
            <a:srgbClr val="5DCAA5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Shape 8"/>
          <p:cNvSpPr/>
          <p:nvPr/>
        </p:nvSpPr>
        <p:spPr>
          <a:xfrm>
            <a:off x="8412480" y="1371600"/>
            <a:ext cx="438480" cy="438480"/>
          </a:xfrm>
          <a:prstGeom prst="ellipse">
            <a:avLst/>
          </a:prstGeom>
          <a:solidFill>
            <a:srgbClr val="F2A623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Shape 9"/>
          <p:cNvSpPr/>
          <p:nvPr/>
        </p:nvSpPr>
        <p:spPr>
          <a:xfrm>
            <a:off x="640080" y="1417320"/>
            <a:ext cx="914040" cy="914040"/>
          </a:xfrm>
          <a:prstGeom prst="ellipse">
            <a:avLst/>
          </a:prstGeom>
          <a:solidFill>
            <a:srgbClr val="3C348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73" name="Image 0" descr="preencoded.png"/>
          <p:cNvPicPr/>
          <p:nvPr/>
        </p:nvPicPr>
        <p:blipFill>
          <a:blip r:embed="rId3"/>
          <a:stretch/>
        </p:blipFill>
        <p:spPr>
          <a:xfrm>
            <a:off x="859680" y="1636920"/>
            <a:ext cx="475200" cy="475200"/>
          </a:xfrm>
          <a:prstGeom prst="rect">
            <a:avLst/>
          </a:prstGeom>
          <a:ln w="0">
            <a:noFill/>
          </a:ln>
        </p:spPr>
      </p:pic>
      <p:sp>
        <p:nvSpPr>
          <p:cNvPr id="574" name="Text 10"/>
          <p:cNvSpPr/>
          <p:nvPr/>
        </p:nvSpPr>
        <p:spPr>
          <a:xfrm>
            <a:off x="1828800" y="141732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299">
                <a:solidFill>
                  <a:srgbClr val="F2A623"/>
                </a:solidFill>
                <a:latin typeface="Calibri"/>
                <a:ea typeface="Calibri"/>
              </a:rPr>
              <a:t>APPENDIX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5" name="Text 11"/>
          <p:cNvSpPr/>
          <p:nvPr/>
        </p:nvSpPr>
        <p:spPr>
          <a:xfrm>
            <a:off x="1828800" y="1783080"/>
            <a:ext cx="667476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strike="noStrike" spc="-1">
                <a:solidFill>
                  <a:srgbClr val="FFFFFF"/>
                </a:solidFill>
                <a:latin typeface="Cambria"/>
                <a:ea typeface="Cambria"/>
              </a:rPr>
              <a:t>Generative AI fundamentals</a:t>
            </a:r>
            <a:endParaRPr lang="en-US" sz="3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6" name="Text 12"/>
          <p:cNvSpPr/>
          <p:nvPr/>
        </p:nvSpPr>
        <p:spPr>
          <a:xfrm>
            <a:off x="1828800" y="2788920"/>
            <a:ext cx="64004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CECBF6"/>
                </a:solidFill>
                <a:latin typeface="Calibri"/>
                <a:ea typeface="Calibri"/>
              </a:rPr>
              <a:t>Optional background material: a jargon-light primer on what an LLM does and how the agentic loop works, for reference or pre-reading.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Text 0"/>
          <p:cNvSpPr/>
          <p:nvPr/>
        </p:nvSpPr>
        <p:spPr>
          <a:xfrm>
            <a:off x="457200" y="2926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199">
                <a:solidFill>
                  <a:srgbClr val="0F6E56"/>
                </a:solidFill>
                <a:latin typeface="Calibri"/>
                <a:ea typeface="Calibri"/>
              </a:rPr>
              <a:t>APPENDIX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Text 1"/>
          <p:cNvSpPr/>
          <p:nvPr/>
        </p:nvSpPr>
        <p:spPr>
          <a:xfrm>
            <a:off x="457200" y="5486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6215C"/>
                </a:solidFill>
                <a:latin typeface="Cambria"/>
                <a:ea typeface="Cambria"/>
              </a:rPr>
              <a:t>What a large language model actually does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Shape 2"/>
          <p:cNvSpPr/>
          <p:nvPr/>
        </p:nvSpPr>
        <p:spPr>
          <a:xfrm>
            <a:off x="548640" y="1554480"/>
            <a:ext cx="639720" cy="639720"/>
          </a:xfrm>
          <a:prstGeom prst="ellipse">
            <a:avLst/>
          </a:prstGeom>
          <a:solidFill>
            <a:srgbClr val="EEEDF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80" name="Image 0" descr="preencoded.png"/>
          <p:cNvPicPr/>
          <p:nvPr/>
        </p:nvPicPr>
        <p:blipFill>
          <a:blip r:embed="rId3"/>
          <a:stretch/>
        </p:blipFill>
        <p:spPr>
          <a:xfrm>
            <a:off x="702360" y="1708200"/>
            <a:ext cx="332640" cy="332640"/>
          </a:xfrm>
          <a:prstGeom prst="rect">
            <a:avLst/>
          </a:prstGeom>
          <a:ln w="0">
            <a:noFill/>
          </a:ln>
        </p:spPr>
      </p:pic>
      <p:sp>
        <p:nvSpPr>
          <p:cNvPr id="581" name="Text 3"/>
          <p:cNvSpPr/>
          <p:nvPr/>
        </p:nvSpPr>
        <p:spPr>
          <a:xfrm>
            <a:off x="1463040" y="150876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26215C"/>
                </a:solidFill>
                <a:latin typeface="Calibri"/>
                <a:ea typeface="Calibri"/>
              </a:rPr>
              <a:t>Predicts the next chunk of text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Text 4"/>
          <p:cNvSpPr/>
          <p:nvPr/>
        </p:nvSpPr>
        <p:spPr>
          <a:xfrm>
            <a:off x="1463040" y="1874520"/>
            <a:ext cx="73148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433F5C"/>
                </a:solidFill>
                <a:latin typeface="Calibri"/>
                <a:ea typeface="Calibri"/>
              </a:rPr>
              <a:t>Given everything written so far, it estimates the most likely continuation. That is the entire trick — there is no understanding layer underneath.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Shape 5"/>
          <p:cNvSpPr/>
          <p:nvPr/>
        </p:nvSpPr>
        <p:spPr>
          <a:xfrm>
            <a:off x="548640" y="2633400"/>
            <a:ext cx="639720" cy="639720"/>
          </a:xfrm>
          <a:prstGeom prst="ellipse">
            <a:avLst/>
          </a:prstGeom>
          <a:solidFill>
            <a:srgbClr val="FAECE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84" name="Image 1" descr="preencoded.png"/>
          <p:cNvPicPr/>
          <p:nvPr/>
        </p:nvPicPr>
        <p:blipFill>
          <a:blip r:embed="rId4"/>
          <a:stretch/>
        </p:blipFill>
        <p:spPr>
          <a:xfrm>
            <a:off x="702360" y="2787120"/>
            <a:ext cx="332640" cy="332640"/>
          </a:xfrm>
          <a:prstGeom prst="rect">
            <a:avLst/>
          </a:prstGeom>
          <a:ln w="0">
            <a:noFill/>
          </a:ln>
        </p:spPr>
      </p:pic>
      <p:sp>
        <p:nvSpPr>
          <p:cNvPr id="585" name="Text 6"/>
          <p:cNvSpPr/>
          <p:nvPr/>
        </p:nvSpPr>
        <p:spPr>
          <a:xfrm>
            <a:off x="1463040" y="258768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26215C"/>
                </a:solidFill>
                <a:latin typeface="Calibri"/>
                <a:ea typeface="Calibri"/>
              </a:rPr>
              <a:t>No memory by default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Text 7"/>
          <p:cNvSpPr/>
          <p:nvPr/>
        </p:nvSpPr>
        <p:spPr>
          <a:xfrm>
            <a:off x="1463040" y="2953440"/>
            <a:ext cx="73148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433F5C"/>
                </a:solidFill>
                <a:latin typeface="Calibri"/>
                <a:ea typeface="Calibri"/>
              </a:rPr>
              <a:t>Each call is stateless. Nothing persists from one request to the next unless the application explicitly stores and replays it.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Shape 8"/>
          <p:cNvSpPr/>
          <p:nvPr/>
        </p:nvSpPr>
        <p:spPr>
          <a:xfrm>
            <a:off x="548640" y="3712320"/>
            <a:ext cx="639720" cy="639720"/>
          </a:xfrm>
          <a:prstGeom prst="ellipse">
            <a:avLst/>
          </a:prstGeom>
          <a:solidFill>
            <a:srgbClr val="FAEE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88" name="Image 2" descr="preencoded.png"/>
          <p:cNvPicPr/>
          <p:nvPr/>
        </p:nvPicPr>
        <p:blipFill>
          <a:blip r:embed="rId5"/>
          <a:stretch/>
        </p:blipFill>
        <p:spPr>
          <a:xfrm>
            <a:off x="702360" y="3866040"/>
            <a:ext cx="332640" cy="332640"/>
          </a:xfrm>
          <a:prstGeom prst="rect">
            <a:avLst/>
          </a:prstGeom>
          <a:ln w="0">
            <a:noFill/>
          </a:ln>
        </p:spPr>
      </p:pic>
      <p:sp>
        <p:nvSpPr>
          <p:cNvPr id="589" name="Text 9"/>
          <p:cNvSpPr/>
          <p:nvPr/>
        </p:nvSpPr>
        <p:spPr>
          <a:xfrm>
            <a:off x="1463040" y="36666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26215C"/>
                </a:solidFill>
                <a:latin typeface="Calibri"/>
                <a:ea typeface="Calibri"/>
              </a:rPr>
              <a:t>One-shot, not goal-seeking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Text 10"/>
          <p:cNvSpPr/>
          <p:nvPr/>
        </p:nvSpPr>
        <p:spPr>
          <a:xfrm>
            <a:off x="1463040" y="4032360"/>
            <a:ext cx="73148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433F5C"/>
                </a:solidFill>
                <a:latin typeface="Calibri"/>
                <a:ea typeface="Calibri"/>
              </a:rPr>
              <a:t>It answers. On its own, it doesn't plan multiple steps, check its work, or take actions in the outside world.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Text 0"/>
          <p:cNvSpPr/>
          <p:nvPr/>
        </p:nvSpPr>
        <p:spPr>
          <a:xfrm>
            <a:off x="457200" y="2926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199">
                <a:solidFill>
                  <a:srgbClr val="0F6E56"/>
                </a:solidFill>
                <a:latin typeface="Calibri"/>
                <a:ea typeface="Calibri"/>
              </a:rPr>
              <a:t>APPENDIX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Text 1"/>
          <p:cNvSpPr/>
          <p:nvPr/>
        </p:nvSpPr>
        <p:spPr>
          <a:xfrm>
            <a:off x="457200" y="5486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6215C"/>
                </a:solidFill>
                <a:latin typeface="Cambria"/>
                <a:ea typeface="Cambria"/>
              </a:rPr>
              <a:t>Agentic AI = an LLM inside a loop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Shape 2"/>
          <p:cNvSpPr/>
          <p:nvPr/>
        </p:nvSpPr>
        <p:spPr>
          <a:xfrm>
            <a:off x="640080" y="1737360"/>
            <a:ext cx="1828440" cy="1554120"/>
          </a:xfrm>
          <a:prstGeom prst="roundRect">
            <a:avLst>
              <a:gd name="adj" fmla="val 4706"/>
            </a:avLst>
          </a:prstGeom>
          <a:solidFill>
            <a:srgbClr val="2621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4" name="Shape 3"/>
          <p:cNvSpPr/>
          <p:nvPr/>
        </p:nvSpPr>
        <p:spPr>
          <a:xfrm>
            <a:off x="1280160" y="1901880"/>
            <a:ext cx="548280" cy="548280"/>
          </a:xfrm>
          <a:prstGeom prst="ellipse">
            <a:avLst/>
          </a:prstGeom>
          <a:solidFill>
            <a:srgbClr val="3C348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95" name="Image 0" descr="preencoded.png"/>
          <p:cNvPicPr/>
          <p:nvPr/>
        </p:nvPicPr>
        <p:blipFill>
          <a:blip r:embed="rId3"/>
          <a:stretch/>
        </p:blipFill>
        <p:spPr>
          <a:xfrm>
            <a:off x="1411920" y="2033640"/>
            <a:ext cx="284760" cy="284760"/>
          </a:xfrm>
          <a:prstGeom prst="rect">
            <a:avLst/>
          </a:prstGeom>
          <a:ln w="0">
            <a:noFill/>
          </a:ln>
        </p:spPr>
      </p:pic>
      <p:sp>
        <p:nvSpPr>
          <p:cNvPr id="596" name="Text 4"/>
          <p:cNvSpPr/>
          <p:nvPr/>
        </p:nvSpPr>
        <p:spPr>
          <a:xfrm>
            <a:off x="640080" y="251460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  <a:ea typeface="Calibri"/>
              </a:rPr>
              <a:t>Perceive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Text 5"/>
          <p:cNvSpPr/>
          <p:nvPr/>
        </p:nvSpPr>
        <p:spPr>
          <a:xfrm>
            <a:off x="640080" y="283464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CADCFC"/>
                </a:solidFill>
                <a:latin typeface="Calibri"/>
                <a:ea typeface="Calibri"/>
              </a:rPr>
              <a:t>Read the user's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CADCFC"/>
                </a:solidFill>
                <a:latin typeface="Calibri"/>
                <a:ea typeface="Calibri"/>
              </a:rPr>
              <a:t>message + context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Text 6"/>
          <p:cNvSpPr/>
          <p:nvPr/>
        </p:nvSpPr>
        <p:spPr>
          <a:xfrm>
            <a:off x="2468880" y="1737360"/>
            <a:ext cx="319680" cy="155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F2A623"/>
                </a:solidFill>
                <a:latin typeface="Calibri"/>
                <a:ea typeface="Calibri"/>
              </a:rPr>
              <a:t>&gt;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Shape 7"/>
          <p:cNvSpPr/>
          <p:nvPr/>
        </p:nvSpPr>
        <p:spPr>
          <a:xfrm>
            <a:off x="2788920" y="1737360"/>
            <a:ext cx="1828440" cy="1554120"/>
          </a:xfrm>
          <a:prstGeom prst="roundRect">
            <a:avLst>
              <a:gd name="adj" fmla="val 4706"/>
            </a:avLst>
          </a:prstGeom>
          <a:solidFill>
            <a:srgbClr val="2621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0" name="Shape 8"/>
          <p:cNvSpPr/>
          <p:nvPr/>
        </p:nvSpPr>
        <p:spPr>
          <a:xfrm>
            <a:off x="3429000" y="1901880"/>
            <a:ext cx="548280" cy="548280"/>
          </a:xfrm>
          <a:prstGeom prst="ellipse">
            <a:avLst/>
          </a:prstGeom>
          <a:solidFill>
            <a:srgbClr val="3C348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01" name="Image 1" descr="preencoded.png"/>
          <p:cNvPicPr/>
          <p:nvPr/>
        </p:nvPicPr>
        <p:blipFill>
          <a:blip r:embed="rId4"/>
          <a:stretch/>
        </p:blipFill>
        <p:spPr>
          <a:xfrm>
            <a:off x="3560760" y="2033640"/>
            <a:ext cx="284760" cy="284760"/>
          </a:xfrm>
          <a:prstGeom prst="rect">
            <a:avLst/>
          </a:prstGeom>
          <a:ln w="0">
            <a:noFill/>
          </a:ln>
        </p:spPr>
      </p:pic>
      <p:sp>
        <p:nvSpPr>
          <p:cNvPr id="602" name="Text 9"/>
          <p:cNvSpPr/>
          <p:nvPr/>
        </p:nvSpPr>
        <p:spPr>
          <a:xfrm>
            <a:off x="2788920" y="251460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  <a:ea typeface="Calibri"/>
              </a:rPr>
              <a:t>Reason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Text 10"/>
          <p:cNvSpPr/>
          <p:nvPr/>
        </p:nvSpPr>
        <p:spPr>
          <a:xfrm>
            <a:off x="2788920" y="283464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CADCFC"/>
                </a:solidFill>
                <a:latin typeface="Calibri"/>
                <a:ea typeface="Calibri"/>
              </a:rPr>
              <a:t>LLM decides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CADCFC"/>
                </a:solidFill>
                <a:latin typeface="Calibri"/>
                <a:ea typeface="Calibri"/>
              </a:rPr>
              <a:t>what's needed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Text 11"/>
          <p:cNvSpPr/>
          <p:nvPr/>
        </p:nvSpPr>
        <p:spPr>
          <a:xfrm>
            <a:off x="4617720" y="1737360"/>
            <a:ext cx="319680" cy="155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F2A623"/>
                </a:solidFill>
                <a:latin typeface="Calibri"/>
                <a:ea typeface="Calibri"/>
              </a:rPr>
              <a:t>&gt;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Shape 12"/>
          <p:cNvSpPr/>
          <p:nvPr/>
        </p:nvSpPr>
        <p:spPr>
          <a:xfrm>
            <a:off x="4937760" y="1737360"/>
            <a:ext cx="1828440" cy="1554120"/>
          </a:xfrm>
          <a:prstGeom prst="roundRect">
            <a:avLst>
              <a:gd name="adj" fmla="val 4706"/>
            </a:avLst>
          </a:prstGeom>
          <a:solidFill>
            <a:srgbClr val="2621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6" name="Shape 13"/>
          <p:cNvSpPr/>
          <p:nvPr/>
        </p:nvSpPr>
        <p:spPr>
          <a:xfrm>
            <a:off x="5577840" y="1901880"/>
            <a:ext cx="548280" cy="548280"/>
          </a:xfrm>
          <a:prstGeom prst="ellipse">
            <a:avLst/>
          </a:prstGeom>
          <a:solidFill>
            <a:srgbClr val="3C348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07" name="Image 2" descr="preencoded.png"/>
          <p:cNvPicPr/>
          <p:nvPr/>
        </p:nvPicPr>
        <p:blipFill>
          <a:blip r:embed="rId5"/>
          <a:stretch/>
        </p:blipFill>
        <p:spPr>
          <a:xfrm>
            <a:off x="5709600" y="2033640"/>
            <a:ext cx="284760" cy="284760"/>
          </a:xfrm>
          <a:prstGeom prst="rect">
            <a:avLst/>
          </a:prstGeom>
          <a:ln w="0">
            <a:noFill/>
          </a:ln>
        </p:spPr>
      </p:pic>
      <p:sp>
        <p:nvSpPr>
          <p:cNvPr id="608" name="Text 14"/>
          <p:cNvSpPr/>
          <p:nvPr/>
        </p:nvSpPr>
        <p:spPr>
          <a:xfrm>
            <a:off x="4937760" y="251460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  <a:ea typeface="Calibri"/>
              </a:rPr>
              <a:t>Act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Text 15"/>
          <p:cNvSpPr/>
          <p:nvPr/>
        </p:nvSpPr>
        <p:spPr>
          <a:xfrm>
            <a:off x="4937760" y="283464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CADCFC"/>
                </a:solidFill>
                <a:latin typeface="Calibri"/>
                <a:ea typeface="Calibri"/>
              </a:rPr>
              <a:t>Call a tool or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CADCFC"/>
                </a:solidFill>
                <a:latin typeface="Calibri"/>
                <a:ea typeface="Calibri"/>
              </a:rPr>
              <a:t>sub-agent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Text 16"/>
          <p:cNvSpPr/>
          <p:nvPr/>
        </p:nvSpPr>
        <p:spPr>
          <a:xfrm>
            <a:off x="6766560" y="1737360"/>
            <a:ext cx="319680" cy="155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F2A623"/>
                </a:solidFill>
                <a:latin typeface="Calibri"/>
                <a:ea typeface="Calibri"/>
              </a:rPr>
              <a:t>&gt;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Shape 17"/>
          <p:cNvSpPr/>
          <p:nvPr/>
        </p:nvSpPr>
        <p:spPr>
          <a:xfrm>
            <a:off x="7086600" y="1737360"/>
            <a:ext cx="1828440" cy="1554120"/>
          </a:xfrm>
          <a:prstGeom prst="roundRect">
            <a:avLst>
              <a:gd name="adj" fmla="val 4706"/>
            </a:avLst>
          </a:prstGeom>
          <a:solidFill>
            <a:srgbClr val="2621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2" name="Shape 18"/>
          <p:cNvSpPr/>
          <p:nvPr/>
        </p:nvSpPr>
        <p:spPr>
          <a:xfrm>
            <a:off x="7726680" y="1901880"/>
            <a:ext cx="548280" cy="548280"/>
          </a:xfrm>
          <a:prstGeom prst="ellipse">
            <a:avLst/>
          </a:prstGeom>
          <a:solidFill>
            <a:srgbClr val="3C348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13" name="Image 3" descr="preencoded.png"/>
          <p:cNvPicPr/>
          <p:nvPr/>
        </p:nvPicPr>
        <p:blipFill>
          <a:blip r:embed="rId6"/>
          <a:stretch/>
        </p:blipFill>
        <p:spPr>
          <a:xfrm>
            <a:off x="7858440" y="2033640"/>
            <a:ext cx="284760" cy="284760"/>
          </a:xfrm>
          <a:prstGeom prst="rect">
            <a:avLst/>
          </a:prstGeom>
          <a:ln w="0">
            <a:noFill/>
          </a:ln>
        </p:spPr>
      </p:pic>
      <p:sp>
        <p:nvSpPr>
          <p:cNvPr id="614" name="Text 19"/>
          <p:cNvSpPr/>
          <p:nvPr/>
        </p:nvSpPr>
        <p:spPr>
          <a:xfrm>
            <a:off x="7086600" y="251460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  <a:ea typeface="Calibri"/>
              </a:rPr>
              <a:t>Observe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Text 20"/>
          <p:cNvSpPr/>
          <p:nvPr/>
        </p:nvSpPr>
        <p:spPr>
          <a:xfrm>
            <a:off x="7086600" y="283464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CADCFC"/>
                </a:solidFill>
                <a:latin typeface="Calibri"/>
                <a:ea typeface="Calibri"/>
              </a:rPr>
              <a:t>Feed the result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CADCFC"/>
                </a:solidFill>
                <a:latin typeface="Calibri"/>
                <a:ea typeface="Calibri"/>
              </a:rPr>
              <a:t>back in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Shape 21"/>
          <p:cNvSpPr/>
          <p:nvPr/>
        </p:nvSpPr>
        <p:spPr>
          <a:xfrm flipH="1">
            <a:off x="731520" y="3337560"/>
            <a:ext cx="8092440" cy="360"/>
          </a:xfrm>
          <a:prstGeom prst="line">
            <a:avLst/>
          </a:prstGeom>
          <a:ln w="15875">
            <a:solidFill>
              <a:srgbClr val="F2A623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Text 22"/>
          <p:cNvSpPr/>
          <p:nvPr/>
        </p:nvSpPr>
        <p:spPr>
          <a:xfrm>
            <a:off x="640080" y="3456360"/>
            <a:ext cx="8274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strike="noStrike" spc="-1">
                <a:solidFill>
                  <a:srgbClr val="767290"/>
                </a:solidFill>
                <a:latin typeface="Calibri"/>
                <a:ea typeface="Calibri"/>
              </a:rPr>
              <a:t>repeats until the agent has enough information to respond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Text 23"/>
          <p:cNvSpPr/>
          <p:nvPr/>
        </p:nvSpPr>
        <p:spPr>
          <a:xfrm>
            <a:off x="640080" y="397764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26215C"/>
                </a:solidFill>
                <a:latin typeface="Calibri"/>
                <a:ea typeface="Calibri"/>
              </a:rPr>
              <a:t>Add long-term memory, a set of tools, and this loop to a model — and it becomes an agent.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Text 0"/>
          <p:cNvSpPr/>
          <p:nvPr/>
        </p:nvSpPr>
        <p:spPr>
          <a:xfrm>
            <a:off x="457200" y="2926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199">
                <a:solidFill>
                  <a:srgbClr val="0F6E56"/>
                </a:solidFill>
                <a:latin typeface="Calibri"/>
                <a:ea typeface="Calibri"/>
              </a:rPr>
              <a:t>APPENDIX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Text 1"/>
          <p:cNvSpPr/>
          <p:nvPr/>
        </p:nvSpPr>
        <p:spPr>
          <a:xfrm>
            <a:off x="457200" y="5486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6215C"/>
                </a:solidFill>
                <a:latin typeface="Cambria"/>
                <a:ea typeface="Cambria"/>
              </a:rPr>
              <a:t>What changes for the person using it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Shape 2"/>
          <p:cNvSpPr/>
          <p:nvPr/>
        </p:nvSpPr>
        <p:spPr>
          <a:xfrm>
            <a:off x="457200" y="1554480"/>
            <a:ext cx="4023000" cy="3200040"/>
          </a:xfrm>
          <a:prstGeom prst="roundRect">
            <a:avLst>
              <a:gd name="adj" fmla="val 2857"/>
            </a:avLst>
          </a:prstGeom>
          <a:solidFill>
            <a:srgbClr val="F8F7FC"/>
          </a:solidFill>
          <a:ln w="0">
            <a:noFill/>
          </a:ln>
          <a:effectLst>
            <a:outerShdw blurRad="63360" dist="255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Shape 3"/>
          <p:cNvSpPr/>
          <p:nvPr/>
        </p:nvSpPr>
        <p:spPr>
          <a:xfrm>
            <a:off x="777240" y="1828800"/>
            <a:ext cx="548280" cy="548280"/>
          </a:xfrm>
          <a:prstGeom prst="ellipse">
            <a:avLst/>
          </a:prstGeom>
          <a:solidFill>
            <a:srgbClr val="ECEBF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3" name="Image 0" descr="preencoded.png"/>
          <p:cNvPicPr/>
          <p:nvPr/>
        </p:nvPicPr>
        <p:blipFill>
          <a:blip r:embed="rId3"/>
          <a:stretch/>
        </p:blipFill>
        <p:spPr>
          <a:xfrm>
            <a:off x="909000" y="1960560"/>
            <a:ext cx="284760" cy="284760"/>
          </a:xfrm>
          <a:prstGeom prst="rect">
            <a:avLst/>
          </a:prstGeom>
          <a:ln w="0">
            <a:noFill/>
          </a:ln>
        </p:spPr>
      </p:pic>
      <p:sp>
        <p:nvSpPr>
          <p:cNvPr id="624" name="Text 4"/>
          <p:cNvSpPr/>
          <p:nvPr/>
        </p:nvSpPr>
        <p:spPr>
          <a:xfrm>
            <a:off x="1463040" y="1828800"/>
            <a:ext cx="27428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26215C"/>
                </a:solidFill>
                <a:latin typeface="Cambria"/>
                <a:ea typeface="Cambria"/>
              </a:rPr>
              <a:t>Traditional chatbot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Text 5"/>
          <p:cNvSpPr/>
          <p:nvPr/>
        </p:nvSpPr>
        <p:spPr>
          <a:xfrm>
            <a:off x="777240" y="2606040"/>
            <a:ext cx="33829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10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300" b="0" strike="noStrike" spc="-1">
                <a:solidFill>
                  <a:srgbClr val="433F5C"/>
                </a:solidFill>
                <a:latin typeface="Calibri"/>
                <a:ea typeface="Calibri"/>
              </a:rPr>
              <a:t>Forgets everything between sessions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Text 6"/>
          <p:cNvSpPr/>
          <p:nvPr/>
        </p:nvSpPr>
        <p:spPr>
          <a:xfrm>
            <a:off x="777240" y="3246120"/>
            <a:ext cx="33829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10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300" b="0" strike="noStrike" spc="-1">
                <a:solidFill>
                  <a:srgbClr val="433F5C"/>
                </a:solidFill>
                <a:latin typeface="Calibri"/>
                <a:ea typeface="Calibri"/>
              </a:rPr>
              <a:t>Answers one request at a time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Text 7"/>
          <p:cNvSpPr/>
          <p:nvPr/>
        </p:nvSpPr>
        <p:spPr>
          <a:xfrm>
            <a:off x="777240" y="3886200"/>
            <a:ext cx="33829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10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300" b="0" strike="noStrike" spc="-1">
                <a:solidFill>
                  <a:srgbClr val="433F5C"/>
                </a:solidFill>
                <a:latin typeface="Calibri"/>
                <a:ea typeface="Calibri"/>
              </a:rPr>
              <a:t>Same response for every user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Shape 8"/>
          <p:cNvSpPr/>
          <p:nvPr/>
        </p:nvSpPr>
        <p:spPr>
          <a:xfrm>
            <a:off x="4663440" y="1554480"/>
            <a:ext cx="4023000" cy="3200040"/>
          </a:xfrm>
          <a:prstGeom prst="roundRect">
            <a:avLst>
              <a:gd name="adj" fmla="val 2857"/>
            </a:avLst>
          </a:prstGeom>
          <a:solidFill>
            <a:srgbClr val="F8F7FC"/>
          </a:solidFill>
          <a:ln w="0">
            <a:noFill/>
          </a:ln>
          <a:effectLst>
            <a:outerShdw blurRad="63360" dist="255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Shape 9"/>
          <p:cNvSpPr/>
          <p:nvPr/>
        </p:nvSpPr>
        <p:spPr>
          <a:xfrm>
            <a:off x="4983480" y="1828800"/>
            <a:ext cx="548280" cy="548280"/>
          </a:xfrm>
          <a:prstGeom prst="ellipse">
            <a:avLst/>
          </a:prstGeom>
          <a:solidFill>
            <a:srgbClr val="FAEE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30" name="Image 1" descr="preencoded.png"/>
          <p:cNvPicPr/>
          <p:nvPr/>
        </p:nvPicPr>
        <p:blipFill>
          <a:blip r:embed="rId4"/>
          <a:stretch/>
        </p:blipFill>
        <p:spPr>
          <a:xfrm>
            <a:off x="5115240" y="1960560"/>
            <a:ext cx="284760" cy="284760"/>
          </a:xfrm>
          <a:prstGeom prst="rect">
            <a:avLst/>
          </a:prstGeom>
          <a:ln w="0">
            <a:noFill/>
          </a:ln>
        </p:spPr>
      </p:pic>
      <p:sp>
        <p:nvSpPr>
          <p:cNvPr id="631" name="Text 10"/>
          <p:cNvSpPr/>
          <p:nvPr/>
        </p:nvSpPr>
        <p:spPr>
          <a:xfrm>
            <a:off x="5669280" y="1828800"/>
            <a:ext cx="27428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26215C"/>
                </a:solidFill>
                <a:latin typeface="Cambria"/>
                <a:ea typeface="Cambria"/>
              </a:rPr>
              <a:t>Agentic assistant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Text 11"/>
          <p:cNvSpPr/>
          <p:nvPr/>
        </p:nvSpPr>
        <p:spPr>
          <a:xfrm>
            <a:off x="4983480" y="2606040"/>
            <a:ext cx="33829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10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300" b="0" strike="noStrike" spc="-1">
                <a:solidFill>
                  <a:srgbClr val="433F5C"/>
                </a:solidFill>
                <a:latin typeface="Calibri"/>
                <a:ea typeface="Calibri"/>
              </a:rPr>
              <a:t>Recognizes you and shows chat history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Text 12"/>
          <p:cNvSpPr/>
          <p:nvPr/>
        </p:nvSpPr>
        <p:spPr>
          <a:xfrm>
            <a:off x="4983480" y="3246120"/>
            <a:ext cx="33829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10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300" b="0" strike="noStrike" spc="-1">
                <a:solidFill>
                  <a:srgbClr val="433F5C"/>
                </a:solidFill>
                <a:latin typeface="Calibri"/>
                <a:ea typeface="Calibri"/>
              </a:rPr>
              <a:t>Splits multi-part requests across specialist agents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Text 13"/>
          <p:cNvSpPr/>
          <p:nvPr/>
        </p:nvSpPr>
        <p:spPr>
          <a:xfrm>
            <a:off x="4983480" y="3886200"/>
            <a:ext cx="33829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10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300" b="0" strike="noStrike" spc="-1">
                <a:solidFill>
                  <a:srgbClr val="433F5C"/>
                </a:solidFill>
                <a:latin typeface="Calibri"/>
                <a:ea typeface="Calibri"/>
              </a:rPr>
              <a:t>Personalizes answers using long-term memory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Shape 14"/>
          <p:cNvSpPr/>
          <p:nvPr/>
        </p:nvSpPr>
        <p:spPr>
          <a:xfrm>
            <a:off x="4297680" y="2971800"/>
            <a:ext cx="548280" cy="548280"/>
          </a:xfrm>
          <a:prstGeom prst="ellipse">
            <a:avLst/>
          </a:prstGeom>
          <a:solidFill>
            <a:srgbClr val="2621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6" name="Text 15"/>
          <p:cNvSpPr/>
          <p:nvPr/>
        </p:nvSpPr>
        <p:spPr>
          <a:xfrm>
            <a:off x="4297680" y="297180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Calibri"/>
                <a:ea typeface="Calibri"/>
              </a:rPr>
              <a:t>&gt;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1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Shape 0"/>
          <p:cNvSpPr/>
          <p:nvPr/>
        </p:nvSpPr>
        <p:spPr>
          <a:xfrm>
            <a:off x="658080" y="658080"/>
            <a:ext cx="914400" cy="54864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8" name="Shape 1"/>
          <p:cNvSpPr/>
          <p:nvPr/>
        </p:nvSpPr>
        <p:spPr>
          <a:xfrm flipH="1">
            <a:off x="877680" y="1206720"/>
            <a:ext cx="694800" cy="40248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9" name="Shape 2"/>
          <p:cNvSpPr/>
          <p:nvPr/>
        </p:nvSpPr>
        <p:spPr>
          <a:xfrm flipV="1">
            <a:off x="1572480" y="676440"/>
            <a:ext cx="384120" cy="53028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0" name="Shape 3"/>
          <p:cNvSpPr/>
          <p:nvPr/>
        </p:nvSpPr>
        <p:spPr>
          <a:xfrm>
            <a:off x="1572480" y="1206720"/>
            <a:ext cx="567000" cy="38412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1" name="Shape 4"/>
          <p:cNvSpPr/>
          <p:nvPr/>
        </p:nvSpPr>
        <p:spPr>
          <a:xfrm>
            <a:off x="457200" y="457200"/>
            <a:ext cx="402120" cy="402120"/>
          </a:xfrm>
          <a:prstGeom prst="ellipse">
            <a:avLst/>
          </a:prstGeom>
          <a:solidFill>
            <a:srgbClr val="F2A623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Shape 5"/>
          <p:cNvSpPr/>
          <p:nvPr/>
        </p:nvSpPr>
        <p:spPr>
          <a:xfrm>
            <a:off x="1280160" y="914400"/>
            <a:ext cx="585000" cy="585000"/>
          </a:xfrm>
          <a:prstGeom prst="ellipse">
            <a:avLst/>
          </a:prstGeom>
          <a:solidFill>
            <a:srgbClr val="7F77DD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3" name="Shape 6"/>
          <p:cNvSpPr/>
          <p:nvPr/>
        </p:nvSpPr>
        <p:spPr>
          <a:xfrm>
            <a:off x="731520" y="1463040"/>
            <a:ext cx="292320" cy="292320"/>
          </a:xfrm>
          <a:prstGeom prst="ellipse">
            <a:avLst/>
          </a:prstGeom>
          <a:solidFill>
            <a:srgbClr val="5DCAA5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Shape 7"/>
          <p:cNvSpPr/>
          <p:nvPr/>
        </p:nvSpPr>
        <p:spPr>
          <a:xfrm>
            <a:off x="1828800" y="548640"/>
            <a:ext cx="255600" cy="255600"/>
          </a:xfrm>
          <a:prstGeom prst="ellipse">
            <a:avLst/>
          </a:prstGeom>
          <a:solidFill>
            <a:srgbClr val="5DCAA5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Shape 8"/>
          <p:cNvSpPr/>
          <p:nvPr/>
        </p:nvSpPr>
        <p:spPr>
          <a:xfrm>
            <a:off x="1920240" y="1371600"/>
            <a:ext cx="438480" cy="438480"/>
          </a:xfrm>
          <a:prstGeom prst="ellipse">
            <a:avLst/>
          </a:prstGeom>
          <a:solidFill>
            <a:srgbClr val="F2A623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Shape 9"/>
          <p:cNvSpPr/>
          <p:nvPr/>
        </p:nvSpPr>
        <p:spPr>
          <a:xfrm>
            <a:off x="7150320" y="3218400"/>
            <a:ext cx="914400" cy="54864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7" name="Shape 10"/>
          <p:cNvSpPr/>
          <p:nvPr/>
        </p:nvSpPr>
        <p:spPr>
          <a:xfrm flipH="1">
            <a:off x="7369920" y="3767040"/>
            <a:ext cx="694800" cy="40248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8" name="Shape 11"/>
          <p:cNvSpPr/>
          <p:nvPr/>
        </p:nvSpPr>
        <p:spPr>
          <a:xfrm flipV="1">
            <a:off x="8064720" y="3236760"/>
            <a:ext cx="384120" cy="53028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9" name="Shape 12"/>
          <p:cNvSpPr/>
          <p:nvPr/>
        </p:nvSpPr>
        <p:spPr>
          <a:xfrm>
            <a:off x="8064720" y="3767040"/>
            <a:ext cx="567000" cy="38412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0" name="Shape 13"/>
          <p:cNvSpPr/>
          <p:nvPr/>
        </p:nvSpPr>
        <p:spPr>
          <a:xfrm>
            <a:off x="6949440" y="3017520"/>
            <a:ext cx="402120" cy="402120"/>
          </a:xfrm>
          <a:prstGeom prst="ellipse">
            <a:avLst/>
          </a:prstGeom>
          <a:solidFill>
            <a:srgbClr val="F2A623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Shape 14"/>
          <p:cNvSpPr/>
          <p:nvPr/>
        </p:nvSpPr>
        <p:spPr>
          <a:xfrm>
            <a:off x="7772400" y="3474720"/>
            <a:ext cx="585000" cy="585000"/>
          </a:xfrm>
          <a:prstGeom prst="ellipse">
            <a:avLst/>
          </a:prstGeom>
          <a:solidFill>
            <a:srgbClr val="7F77DD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2" name="Shape 15"/>
          <p:cNvSpPr/>
          <p:nvPr/>
        </p:nvSpPr>
        <p:spPr>
          <a:xfrm>
            <a:off x="7223760" y="4023360"/>
            <a:ext cx="292320" cy="292320"/>
          </a:xfrm>
          <a:prstGeom prst="ellipse">
            <a:avLst/>
          </a:prstGeom>
          <a:solidFill>
            <a:srgbClr val="5DCAA5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Shape 16"/>
          <p:cNvSpPr/>
          <p:nvPr/>
        </p:nvSpPr>
        <p:spPr>
          <a:xfrm>
            <a:off x="8321040" y="3108960"/>
            <a:ext cx="255600" cy="255600"/>
          </a:xfrm>
          <a:prstGeom prst="ellipse">
            <a:avLst/>
          </a:prstGeom>
          <a:solidFill>
            <a:srgbClr val="5DCAA5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Shape 17"/>
          <p:cNvSpPr/>
          <p:nvPr/>
        </p:nvSpPr>
        <p:spPr>
          <a:xfrm>
            <a:off x="8412480" y="3931920"/>
            <a:ext cx="438480" cy="438480"/>
          </a:xfrm>
          <a:prstGeom prst="ellipse">
            <a:avLst/>
          </a:prstGeom>
          <a:solidFill>
            <a:srgbClr val="F2A623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Shape 18"/>
          <p:cNvSpPr/>
          <p:nvPr/>
        </p:nvSpPr>
        <p:spPr>
          <a:xfrm>
            <a:off x="4023360" y="1188720"/>
            <a:ext cx="1096920" cy="1096920"/>
          </a:xfrm>
          <a:prstGeom prst="ellipse">
            <a:avLst/>
          </a:prstGeom>
          <a:solidFill>
            <a:srgbClr val="3C348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56" name="Image 0" descr="preencoded.png"/>
          <p:cNvPicPr/>
          <p:nvPr/>
        </p:nvPicPr>
        <p:blipFill>
          <a:blip r:embed="rId3"/>
          <a:stretch/>
        </p:blipFill>
        <p:spPr>
          <a:xfrm>
            <a:off x="4286880" y="1452240"/>
            <a:ext cx="570240" cy="570240"/>
          </a:xfrm>
          <a:prstGeom prst="rect">
            <a:avLst/>
          </a:prstGeom>
          <a:ln w="0">
            <a:noFill/>
          </a:ln>
        </p:spPr>
      </p:pic>
      <p:sp>
        <p:nvSpPr>
          <p:cNvPr id="657" name="Text 19"/>
          <p:cNvSpPr/>
          <p:nvPr/>
        </p:nvSpPr>
        <p:spPr>
          <a:xfrm>
            <a:off x="0" y="2468880"/>
            <a:ext cx="91436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strike="noStrike" spc="-1">
                <a:solidFill>
                  <a:srgbClr val="FFFFFF"/>
                </a:solidFill>
                <a:latin typeface="Cambria"/>
                <a:ea typeface="Cambria"/>
              </a:rPr>
              <a:t>Thank you</a:t>
            </a:r>
            <a:endParaRPr lang="en-US" sz="3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8" name="Text 20"/>
          <p:cNvSpPr/>
          <p:nvPr/>
        </p:nvSpPr>
        <p:spPr>
          <a:xfrm>
            <a:off x="0" y="32461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CADCFC"/>
                </a:solidFill>
                <a:latin typeface="Calibri"/>
                <a:ea typeface="Calibri"/>
              </a:rPr>
              <a:t>Questions &amp; discussion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9" name="Text 21"/>
          <p:cNvSpPr/>
          <p:nvPr/>
        </p:nvSpPr>
        <p:spPr>
          <a:xfrm>
            <a:off x="0" y="420624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97">
                <a:solidFill>
                  <a:srgbClr val="7F77DD"/>
                </a:solidFill>
                <a:latin typeface="Calibri"/>
                <a:ea typeface="Calibri"/>
              </a:rPr>
              <a:t>State · Memory · Context engineering · Multi-agent orchestration · Tools · Events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3487</Words>
  <Application>Microsoft Office PowerPoint</Application>
  <PresentationFormat>On-screen Show (16:9)</PresentationFormat>
  <Paragraphs>374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Cambria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for Conversational Apps</dc:title>
  <dc:subject>PptxGenJS Presentation</dc:subject>
  <dc:creator>Seminar Plan</dc:creator>
  <dc:description/>
  <cp:lastModifiedBy>Sunil Kumar</cp:lastModifiedBy>
  <cp:revision>1</cp:revision>
  <dcterms:created xsi:type="dcterms:W3CDTF">2026-06-17T14:00:03Z</dcterms:created>
  <dcterms:modified xsi:type="dcterms:W3CDTF">2026-06-17T14:03:52Z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29</vt:r8>
  </property>
  <property fmtid="{D5CDD505-2E9C-101B-9397-08002B2CF9AE}" pid="3" name="PresentationFormat">
    <vt:lpwstr>On-screen Show (16:9)</vt:lpwstr>
  </property>
  <property fmtid="{D5CDD505-2E9C-101B-9397-08002B2CF9AE}" pid="4" name="Slides">
    <vt:r8>29</vt:r8>
  </property>
</Properties>
</file>