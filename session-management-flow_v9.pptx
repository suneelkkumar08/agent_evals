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441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26517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Multi-Turn Session Management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 +  Google ADK Supervisor / Sub-Agents  +  Redis Session Store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Channel-aware routing · intent switching · session state design · evaluation strategy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5806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66" y="5856366"/>
            <a:ext cx="284196" cy="2841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5806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154680" y="5806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606" y="5856366"/>
            <a:ext cx="284196" cy="2841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30168" y="5806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Supervisor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760720" y="5806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646" y="5856366"/>
            <a:ext cx="284196" cy="2841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36208" y="5806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366760" y="5806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6686" y="5856366"/>
            <a:ext cx="284196" cy="2841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842248" y="5806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review 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184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1" y="169218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819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lifecycle &amp; identity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194767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sessionId is issued, propagated, and resolved across UI, Spring Boot, and ADK turn by turn.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0" y="16184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501" y="1692189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5819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schema design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32320" y="194767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patterns, data structures, and TTL strategy for state, events, user, and app scope.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090672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77240" y="3291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41" y="336554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25526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362102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slot values like productType live in session.state — not echoed by the client.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090672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00800" y="3291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4501" y="3365541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25526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Channel-aware routing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32320" y="362102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channel/locale data in front of the supervisor before it picks a sub-agent.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764024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77240" y="49651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41" y="5038893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9286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Intent-switch handling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508760" y="529437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supervisor detects a topic change mid-conversation and re-routes correctly.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72200" y="4764024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400800" y="49651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4501" y="5038893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9286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132320" y="529437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eval criteria + custom checks to keep session-state correctness regression-free.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canonical session, three layers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F2F5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225399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Client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only X-Session-Id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331720" y="2606040"/>
            <a:ext cx="457200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88920" y="18288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017520" y="2011680"/>
            <a:ext cx="457200" cy="457200"/>
          </a:xfrm>
          <a:prstGeom prst="ellipse">
            <a:avLst/>
          </a:prstGeom>
          <a:solidFill>
            <a:srgbClr val="F2F5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956" y="207111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2514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Gateway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834640" y="28620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session resolve · channel inject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754880" y="2606040"/>
            <a:ext cx="457200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212080" y="1600200"/>
            <a:ext cx="6355080" cy="2240280"/>
          </a:xfrm>
          <a:prstGeom prst="roundRect">
            <a:avLst>
              <a:gd name="adj" fmla="val 3265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4406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RUNTIME (RUNNER)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40680" y="228600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669280" y="2468880"/>
            <a:ext cx="457200" cy="457200"/>
          </a:xfrm>
          <a:prstGeom prst="ellipse">
            <a:avLst/>
          </a:prstGeom>
          <a:solidFill>
            <a:srgbClr val="161D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716" y="2528316"/>
            <a:ext cx="338328" cy="3383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40680" y="2971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818120" y="182880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800100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Sub-Agent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 flipV="1">
            <a:off x="7269480" y="2057400"/>
            <a:ext cx="502920" cy="8229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818120" y="242316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800100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Sub-Agent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 flipV="1">
            <a:off x="7269480" y="2651760"/>
            <a:ext cx="502920" cy="2286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7818120" y="301752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800100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Sub-Agent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269480" y="2880360"/>
            <a:ext cx="502920" cy="3657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2788920" y="4297680"/>
            <a:ext cx="6949440" cy="1280160"/>
          </a:xfrm>
          <a:prstGeom prst="roundRect">
            <a:avLst>
              <a:gd name="adj" fmla="val 5714"/>
            </a:avLst>
          </a:prstGeom>
          <a:solidFill>
            <a:srgbClr val="161D4D"/>
          </a:solidFill>
          <a:ln w="12700">
            <a:solidFill>
              <a:srgbClr val="161D4D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3017520" y="4709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2900" y="4774540"/>
            <a:ext cx="372161" cy="372161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657600" y="44622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Session Store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3657600" y="486460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adk:session  ·  adk:events (stream)  ·  adk:user  ·  adk:app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3657600" y="517550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TTL · atomic state_delta merge · per-session lock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3749040" y="3383280"/>
            <a:ext cx="914" cy="914400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3886200" y="40050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CRUD</a:t>
            </a:r>
            <a:endParaRPr lang="en-US" sz="750" dirty="0"/>
          </a:p>
        </p:txBody>
      </p:sp>
      <p:sp>
        <p:nvSpPr>
          <p:cNvPr id="39" name="Shape 33"/>
          <p:cNvSpPr/>
          <p:nvPr/>
        </p:nvSpPr>
        <p:spPr>
          <a:xfrm>
            <a:off x="6309360" y="3474720"/>
            <a:ext cx="914" cy="822960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6446520" y="4005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append_event(state_delta)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548640" y="5715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key: (appName, userId, sessionId)  —  the only handle the client ever needs to carry.</a:t>
            </a:r>
            <a:endParaRPr lang="en-US" sz="1050" dirty="0"/>
          </a:p>
        </p:txBody>
      </p:sp>
      <p:sp>
        <p:nvSpPr>
          <p:cNvPr id="42" name="Text 36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on every request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1174" cy="274320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33195" y="1783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33195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46888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identity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1715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reads X-Session-Id (or issues one) + userId from auth — never from the client body.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48102" y="2971800"/>
            <a:ext cx="128016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94406" y="1600200"/>
            <a:ext cx="2081174" cy="274320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78962" y="1783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78962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58998" y="246888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7286" y="3063240"/>
            <a:ext cx="1715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sessionService.getSession(appName, userId, sessionId) from Redis; create one transparently if missing/expired.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3869" y="2971800"/>
            <a:ext cx="128016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40173" y="1600200"/>
            <a:ext cx="2081174" cy="274320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24728" y="1783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24728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04765" y="246888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channel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23053" y="3063240"/>
            <a:ext cx="1715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 synthetic event with temp:channel / temp:locale before invoking the Runner.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9635" y="2971800"/>
            <a:ext cx="128016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285939" y="1600200"/>
            <a:ext cx="2081174" cy="274320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70494" y="1783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70494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50531" y="246888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agent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68819" y="3063240"/>
            <a:ext cx="1715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routes (re-evaluated every turn); sub-agent reads/writes state via ToolContext.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85402" y="2971800"/>
            <a:ext cx="128016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31706" y="1600200"/>
            <a:ext cx="2081174" cy="274320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316261" y="1783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316261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96298" y="246888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+ reply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14586" y="3063240"/>
            <a:ext cx="1715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append_event() merges state_delta atomically into Redis; response + same sessionId returned to the client.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key schema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Pattern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TTL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adk:session:{app}:{user}:{sid}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Conversation-scoped state (e.g. productType, active_intent)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Sliding, ~45 min idle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adk:events:{app}:{user}:{sid}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 turn history for replay / audit; trimmed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adk:user:{app}:{user}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user:-prefixed state — persists across sessions for that 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/ 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adk:app:{app}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app:-prefixed global config shared by all users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6F4F2"/>
          </a:solidFill>
          <a:ln w="12700">
            <a:solidFill>
              <a:srgbClr val="0F766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3"/>
          <p:cNvSpPr/>
          <p:nvPr/>
        </p:nvSpPr>
        <p:spPr>
          <a:xfrm>
            <a:off x="777240" y="55778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5637276"/>
            <a:ext cx="338328" cy="338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54406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go through a Lua script: merge state_delta fields + XADD the event atomically — never a blind read-modify-write of the whole hash.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OWNERSHIP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state lives server-side, not in the client payload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FBEDEB"/>
          </a:solidFill>
          <a:ln w="12700">
            <a:solidFill>
              <a:srgbClr val="B85042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184846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05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Anti-pattern: client echoes state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is expected to resend productType in every request body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across devices and multi-channel sessions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stale or tampered client value silently corrupts the flow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E6F4F2"/>
          </a:solidFill>
          <a:ln w="12700">
            <a:solidFill>
              <a:srgbClr val="0F766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796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184846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105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resolve from session.state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29400" y="233172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carries only the opaque sessionId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/ tools read productType from Redis-backed state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devices, channels, and retries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68680" y="4617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precedence, applied every turn: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68680" y="501091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Explicit new value in this turn's input 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changed it)  →  overwrites stored state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68680" y="537667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Stored session.state 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(set on an earlier turn)  →  used as-is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68680" y="574243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Neither present 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agent asks a clarifying question instead of guessing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productType across two turns — no client echo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"I want to apply for a loan"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788920"/>
            <a:ext cx="4892040" cy="1417320"/>
          </a:xfrm>
          <a:prstGeom prst="roundRect">
            <a:avLst>
              <a:gd name="adj" fmla="val 3871"/>
            </a:avLst>
          </a:prstGeom>
          <a:solidFill>
            <a:srgbClr val="161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29260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/chat  { sessionId, utterance }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state_delta: { productType: "Loan" }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C9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HSET adk:session:... + XADD event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43434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Supervisor's NLU classifies the intent and writes productType into session.state via state_delta — persisted through append_event.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2860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"$20,000"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2788920"/>
            <a:ext cx="4892040" cy="1417320"/>
          </a:xfrm>
          <a:prstGeom prst="roundRect">
            <a:avLst>
              <a:gd name="adj" fmla="val 3871"/>
            </a:avLst>
          </a:prstGeom>
          <a:solidFill>
            <a:srgbClr val="161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29260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/chat  { sessionId, utterance }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ToolContext.state.get("productType")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C9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"Loan"  (resolved from Redis)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92240" y="43434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productType anywhere in this request. The loan tool reads it from ToolContext.state — resolved server-side, not client-supplied.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3383280"/>
            <a:ext cx="182880" cy="914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the supervisor can hand off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transfer_to_agent (AutoFlow)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45059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hands the whole conversation to a sub-agent; it owns later turns until it explicitly hands back.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310896" cy="310896"/>
          </a:xfrm>
          <a:prstGeom prst="ellipse">
            <a:avLst/>
          </a:prstGeom>
          <a:solidFill>
            <a:srgbClr val="F2F5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76" y="3240816"/>
            <a:ext cx="230063" cy="23006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16382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not re-invoked every turn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310896" cy="310896"/>
          </a:xfrm>
          <a:prstGeom prst="ellipse">
            <a:avLst/>
          </a:prstGeom>
          <a:solidFill>
            <a:srgbClr val="F2F5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76" y="3743736"/>
            <a:ext cx="230063" cy="23006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3666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data not refreshed mid-flow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" y="4206240"/>
            <a:ext cx="310896" cy="310896"/>
          </a:xfrm>
          <a:prstGeom prst="ellipse">
            <a:avLst/>
          </a:prstGeom>
          <a:solidFill>
            <a:srgbClr val="F2F5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76" y="4246656"/>
            <a:ext cx="230063" cy="23006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416966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Cross-turn handoff persistence varies by version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22960" y="4709160"/>
            <a:ext cx="310896" cy="310896"/>
          </a:xfrm>
          <a:prstGeom prst="ellipse">
            <a:avLst/>
          </a:prstGeom>
          <a:solidFill>
            <a:srgbClr val="F2F5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76" y="4749576"/>
            <a:ext cx="230063" cy="23006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67258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for long, fully linear sub-flows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263640" y="150876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9738360" y="169164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973836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53796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537960" y="19933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AgentTool delegation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537960" y="245059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are wrapped as tools; supervisor stays the entry point and decides routing fresh on every single turn.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537960" y="3200400"/>
            <a:ext cx="310896" cy="310896"/>
          </a:xfrm>
          <a:prstGeom prst="ellipse">
            <a:avLst/>
          </a:prstGeom>
          <a:solidFill>
            <a:srgbClr val="E6F4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376" y="3240816"/>
            <a:ext cx="230063" cy="23006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49440" y="316382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current channel/locale before every route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537960" y="3703320"/>
            <a:ext cx="310896" cy="310896"/>
          </a:xfrm>
          <a:prstGeom prst="ellipse">
            <a:avLst/>
          </a:prstGeom>
          <a:solidFill>
            <a:srgbClr val="E6F4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376" y="3743736"/>
            <a:ext cx="230063" cy="23006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49440" y="3666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re-evaluates intent every turn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537960" y="4206240"/>
            <a:ext cx="310896" cy="310896"/>
          </a:xfrm>
          <a:prstGeom prst="ellipse">
            <a:avLst/>
          </a:prstGeom>
          <a:solidFill>
            <a:srgbClr val="E6F4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376" y="4246656"/>
            <a:ext cx="230063" cy="23006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949440" y="416966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escalation plumbing needed to switch topics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6537960" y="4709160"/>
            <a:ext cx="310896" cy="310896"/>
          </a:xfrm>
          <a:prstGeom prst="ellipse">
            <a:avLst/>
          </a:prstGeom>
          <a:solidFill>
            <a:srgbClr val="E6F4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376" y="4749576"/>
            <a:ext cx="230063" cy="230063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949440" y="467258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LLM call per turn vs. direct handoff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29"/>
          <p:cNvSpPr/>
          <p:nvPr/>
        </p:nvSpPr>
        <p:spPr>
          <a:xfrm>
            <a:off x="868680" y="54406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"Sub-agent" doesn't mean one flat call.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pattern can wrap a composite agent (Sequential / Loop / nested sub_agents) — internal steps run synchronously within one turn. A multi-turn sub-flow persists progress via namespaced session.state (e.g. loan_flow.step), not suspended execution — that state is the only thing that survives across separate HTTP turns.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41" name="Text 31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CHANNEL-AWARE ROUTING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data reaches the supervisor before it picks a tool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94610" cy="3200400"/>
          </a:xfrm>
          <a:prstGeom prst="roundRect">
            <a:avLst>
              <a:gd name="adj" fmla="val 2819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25905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115" y="20034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97480"/>
            <a:ext cx="2320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13232" y="2971800"/>
            <a:ext cx="2265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appends a synthetic event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3703320"/>
            <a:ext cx="22288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state_delta: { "temp:channel": "ivr", "temp:locale": "en-US" } — through append_event, not a direct state write.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70682" y="3291840"/>
            <a:ext cx="173736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71850" y="1691640"/>
            <a:ext cx="2594610" cy="3200400"/>
          </a:xfrm>
          <a:prstGeom prst="roundRect">
            <a:avLst>
              <a:gd name="adj" fmla="val 2819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49115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325" y="2003450"/>
            <a:ext cx="473659" cy="4736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9010" y="2697480"/>
            <a:ext cx="2320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536442" y="2971800"/>
            <a:ext cx="2265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before_agent_callback reads it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554730" y="3703320"/>
            <a:ext cx="22288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the supervisor's routing call; loads channel/locale into the invocation context.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993892" y="3291840"/>
            <a:ext cx="173736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195060" y="1691640"/>
            <a:ext cx="2594610" cy="3200400"/>
          </a:xfrm>
          <a:prstGeom prst="roundRect">
            <a:avLst>
              <a:gd name="adj" fmla="val 2819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172325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535" y="2003450"/>
            <a:ext cx="473659" cy="47365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32220" y="2697480"/>
            <a:ext cx="2320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359652" y="2971800"/>
            <a:ext cx="2265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list is filtered + prompted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377940" y="3703320"/>
            <a:ext cx="22288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Channel-incompatible sub-agent-tools are removed from the call, and {channel} is referenced in the instruction.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8817102" y="3291840"/>
            <a:ext cx="173736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9018270" y="1691640"/>
            <a:ext cx="2594610" cy="3200400"/>
          </a:xfrm>
          <a:prstGeom prst="roundRect">
            <a:avLst>
              <a:gd name="adj" fmla="val 2819"/>
            </a:avLst>
          </a:prstGeom>
          <a:solidFill>
            <a:srgbClr val="E6F4F2"/>
          </a:solidFill>
          <a:ln w="12700">
            <a:solidFill>
              <a:srgbClr val="0F766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9995535" y="192024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8745" y="2003450"/>
            <a:ext cx="473659" cy="47365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55430" y="2697480"/>
            <a:ext cx="2320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9182862" y="2971800"/>
            <a:ext cx="2265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routes with full context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9201150" y="3703320"/>
            <a:ext cx="22288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turn, same LLM call — routing decision already accounts for channel.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MID-CONVERSATION RE-ROUTING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when the user switches intent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turn, the supervisor compares the new utterance against active_intent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5394960" cy="868680"/>
          </a:xfrm>
          <a:prstGeom prst="roundRect">
            <a:avLst>
              <a:gd name="adj" fmla="val 7368"/>
            </a:avLst>
          </a:prstGeom>
          <a:solidFill>
            <a:srgbClr val="E6F4F2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5328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current 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8437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 called again — e.g. an amount after a loan question.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3447288"/>
            <a:ext cx="5394960" cy="868680"/>
          </a:xfrm>
          <a:prstGeom prst="roundRect">
            <a:avLst>
              <a:gd name="adj" fmla="val 7368"/>
            </a:avLst>
          </a:prstGeom>
          <a:solidFill>
            <a:srgbClr val="F2F5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35570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Expresses a different need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8679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tool called this turn; active_intent updated.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4471416"/>
            <a:ext cx="5394960" cy="868680"/>
          </a:xfrm>
          <a:prstGeom prst="roundRect">
            <a:avLst>
              <a:gd name="adj" fmla="val 7368"/>
            </a:avLst>
          </a:prstGeom>
          <a:solidFill>
            <a:srgbClr val="F1F2F6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45811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ambiguous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892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asks a clarifying question instead of guessing.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554480"/>
            <a:ext cx="4846320" cy="4160520"/>
          </a:xfrm>
          <a:prstGeom prst="roundRect">
            <a:avLst>
              <a:gd name="adj" fmla="val 1758"/>
            </a:avLst>
          </a:prstGeom>
          <a:solidFill>
            <a:srgbClr val="161D4D"/>
          </a:solidFill>
          <a:ln w="12700">
            <a:solidFill>
              <a:srgbClr val="161D4D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4088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316" y="1842516"/>
            <a:ext cx="338328" cy="33832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63524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state per flow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040880" y="23317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flows shouldn't collide with — or be destroyed by — whatever the user asks next.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40880" y="2971800"/>
            <a:ext cx="4297680" cy="246888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269480" y="315468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loan_flow.productType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loan_flow.amount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loan_flow.step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7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billing_flow.accountId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7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billing_flow.step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active_intent  →  "billing_flow"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Concurrency, expiry, and failure handling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8425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state merge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265176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Lua script merges state_delta fields + appends the event in one round trip — safe when parallel sub-agents write concurrently.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79392" y="1600200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480560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996" y="184251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35000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lock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480560" y="265176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NX with a short TTL around a turn's Runner invocation guards against double-submits (double-click, client retry).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010144" y="1600200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11312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0748" y="184251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11312" y="235000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TTL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211312" y="265176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hash + event stream TTL refreshed on every turn; idle conversations expire cleanly instead of accumulating forever.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48640" y="3291840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49808" y="3474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" y="353415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04164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expiry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49808" y="434340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Missing/evicted session ⇒ treated as new; tools defensively check for required slots and re-ask rather than assume.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279392" y="3291840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480560" y="3474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9996" y="3534156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404164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trimming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480560" y="434340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numRecentEvents per turn and trim the Redis stream; offload long-term recall to a memory service, not live state.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8010144" y="3291840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211312" y="3474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0748" y="3534156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11312" y="404164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vs session state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211312" y="434340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preferences use the user: prefix and survive across sessions/devices; everything else resets per conversation.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Evaluations that exercise session state, not just replies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eval — agent quality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eval / pytest / AgentEvaluator, against .evalset.json files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tool_trajectory_avg_score  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right sub-agent-tool, right order (EXACT / IN_ORDER / ANY_ORDER)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response_match_score / final_response_match_v2  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reply quality vs. a reference (ROUGE-1 or LLM-judge)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criteria  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multi_turn_task_success_v1, trajectory_quality_v1, tool_use_quality_v1, paired with simulated user personas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— session infra reliability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029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against the Redis-backed SessionService directly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seeding &amp; assertion  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seed session_input.state, run a turn, diff session.state after — ADK's built-in criteria don't grade state values directly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 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parallel sub-agent writes under load; assert no lost updates from the Lua merge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/ expiry  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simulate eviction mid-flow; assert graceful re-ask, not a crash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matrix for CI regression gating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Validates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Mechanism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Channel-conditioned routing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sub-agent-tool selected per channel (web / IVR / mobile)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expected_tool_use + IN_ORDER / ANY_ORDER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switch mid-flow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re-routes instead of forcing continuation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multi_turn_trajectory_quality_v1 + custom state diff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persistence (productType)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set on turn N is correctly read on turn N+2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session_input.state seeding + post-run assertion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expiry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Graceful reprompt, no crash, no stale-slot leakage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integration test simulating TTL eviction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sub-agent writes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lost updates under parallel state_delta writes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load test against the Lua merge script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6F4F2"/>
          </a:solidFill>
          <a:ln w="12700">
            <a:solidFill>
              <a:srgbClr val="0F766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eval suite into CI: thresholds set in EvalConfig, fail the build below threshold — the same scenarios carry into Arize monitors once shipped.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Arize: watching the same session once it's live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eval (previous slide) gates changes before ship; Arize traces the identical session.id once traffic is live — same identity, continuous signal.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8745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93395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441448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Session-level evals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" y="274320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 scores per session.id for context retention, goal completion, and task progression — validates productType-style slot carry-over on live traffic, not just test cases.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51960" y="16916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453128" y="18745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564" y="193395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53128" y="2441448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tool analytics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53128" y="274320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supervisor tool call traced with channel and active_intent as span metadata; dashboards break down routing distribution and per-tool success rate / latency by channel.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48640" y="35661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49808" y="3749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3808476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9808" y="4315968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&amp; alerting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49808" y="461772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on Slack / PagerDuty fire when context-retention score, intent-switch rate, or tool error rate drifts past threshold — catches regressions no offline evalset covered.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251960" y="35661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453128" y="3749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2564" y="3808476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453128" y="4315968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correlation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453128" y="461772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using_session(session_id, user_id) tags every span with the same (appName, userId, sessionId) used in Redis — one identity across state, traces, and dashboards.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8092440" y="16916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61D4D"/>
          </a:solidFill>
          <a:ln w="12700">
            <a:solidFill>
              <a:srgbClr val="161D4D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8321040" y="1874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WIRE-UP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321040" y="2194560"/>
            <a:ext cx="3108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arize.otel import register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openinference.instrumentation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.google_adk import GoogleADKInstrumentor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openinference.instrumentation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import using_session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register(space_id=..., api_key=...,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project_name="loan-assistant")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GoogleADKInstrumentor().instrument()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7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using_session(session_id=sid,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7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user_id=uid):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7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for ev in runner.run_async(...):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6F4F2"/>
          </a:solidFill>
          <a:ln w="12700">
            <a:solidFill>
              <a:srgbClr val="0F766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session.id, three views: Redis holds the state, ADK eval gates the regression, Arize traces and scores it live.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canonical session, owned by the agent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184846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backs session.state directly — Spring Boot manages identity and transport, not a second copy of business state.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2625700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5603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values resolve server-side every turn; the client only ever carries an opaque sessionId.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20" y="3402940"/>
            <a:ext cx="372161" cy="3721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3375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stays in the loop every turn (AgentTool pattern) so channel data and topic changes are seen before routing.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020" y="4180180"/>
            <a:ext cx="372161" cy="37216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114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eval criteria plus targeted session-state and concurrency tests keep this regression-free in CI.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020" y="4957420"/>
            <a:ext cx="372161" cy="37216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48920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traces the same session.id in production — session-level evals and monitors pick up where CI leaves off.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2238</Words>
  <Application>Microsoft Office PowerPoint</Application>
  <PresentationFormat>Widescreen</PresentationFormat>
  <Paragraphs>291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Multi-Turn Session Management — Spring Boot + ADK</dc:title>
  <dc:subject>PptxGenJS Presentation</dc:subject>
  <dc:creator>Architecture Review</dc:creator>
  <cp:lastModifiedBy>Sunil Kumar</cp:lastModifiedBy>
  <cp:revision>1</cp:revision>
  <dcterms:created xsi:type="dcterms:W3CDTF">2026-06-20T18:55:55Z</dcterms:created>
  <dcterms:modified xsi:type="dcterms:W3CDTF">2026-06-22T15:23:49Z</dcterms:modified>
</cp:coreProperties>
</file>