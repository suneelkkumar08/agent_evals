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brisk - most of the room has used ChatGPT or Copilot. The goal is just to get everyone to the same starting line: an LLM by itself is a very capable but stateless, single-shot text predictor. Everything in Part 2 is about what gets added on top of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bridge to Part 2. Every box in this loop maps to an ADK concept we're about to cover: Perceive = context engineering pulling in state/memory, Reason = the LLM call, Act = tool or sub-agent invocation, Observe = the event/result feeding back into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Optional: if time allows, do a 60-second live contrast here - open a plain chat completion vs. an ADK agent that greets a returning user. Otherwise this slide alone sets up the 'why' for everything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anchor diagram for all of Part 2 - the mini-map at the bottom of the next six slides highlights whichever step is being discussed. Walk across left to right once at a high level before diving into each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point explicit: this is NOT special memory magic. It's a database read of past sessions for this user_id, surfaced as the sidebar. In production this typically backs onto DatabaseSessionService or VertexAiSessionService rather than the in-memory dev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most worth slowing down on. A good check: ask the room 'if I tell the bot my preferred name now, where does that live - state or memory?' (Answer: it could be either, depending on whether the app explicitly writes it to memory at session end.)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ADK AutoFlow / transfer_to_agent mechanism. The orchestrator's working context is dynamically given a description of every sub-agent, which is what lets it reason about 'who should handle this'. Emphasize: the user sent ONE message, but it became two routed sub-tasks behind the scenes.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directly back to slide 11: the boxes labeled 'Order agent' and 'Profile agent' there are examples of the specialists shown here. The orchestrator is intentionally 'dumb' about the actual work - its job is purely classification +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gap between 'the model decided to call a tool' (an agent-layer event) and 'the UI rendered a card' (a front-end decision about how to display that tool's structured result). ADK gives you the structured result; your app decides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'show your work' UI pattern. From a single Runner.run_async() call, ADK streams a sequence of Events - this slide is literally that event stream rendered as a status feed instead of raw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slide from 'seminar concepts' to 'the platform we are actually building'. Session/state from earlier in the talk becomes 'single session system of record' here; multi-agent orchestration becomes 'reusable sub-agent hosting'.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example for the room: a banking orchestrator might use a small/fast model purely for intent classification and routing, then escalate to a larger reasoning model only for the sub-agent step that actually needs judgment, like evaluating a dispute.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closing point for this block: the four ADK building blocks from earlier in the deck (session, context engineering, orchestration, tools/events) are exactly what this platform standardizes and hosts centrally for every domain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`adk web` ahead of time and have a sample multi-agent project already loaded. Pre-seed one session with a memorable fact (e.g. 'I prefer email updates') so the memory recall demo has something concrete to retrieve.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replaces the original four-quadrant canvas to fit a compressed 75-minute / 6-speaker schedule. With only 5-6 people, this works as one pair + one trio. No formal share-back is scheduled — if a pair has something sharp, invite one quick 30-second callout during wrap-up, but don't go around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59168" y="749808"/>
            <a:ext cx="914400" cy="54864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1298448"/>
            <a:ext cx="-694944" cy="402336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73568" y="1298448"/>
            <a:ext cx="384048" cy="-530352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73568" y="1298448"/>
            <a:ext cx="566928" cy="384048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548640"/>
            <a:ext cx="402336" cy="402336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1005840"/>
            <a:ext cx="585216" cy="585216"/>
          </a:xfrm>
          <a:prstGeom prst="ellipse">
            <a:avLst/>
          </a:prstGeom>
          <a:solidFill>
            <a:srgbClr val="7F77DD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1554480"/>
            <a:ext cx="292608" cy="292608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640080"/>
            <a:ext cx="256032" cy="256032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0" y="1463040"/>
            <a:ext cx="438912" cy="438912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493008"/>
            <a:ext cx="914400" cy="54864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4041648"/>
            <a:ext cx="-694944" cy="402336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81328" y="4041648"/>
            <a:ext cx="384048" cy="-530352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4041648"/>
            <a:ext cx="566928" cy="384048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91840"/>
            <a:ext cx="402336" cy="402336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3749040"/>
            <a:ext cx="585216" cy="585216"/>
          </a:xfrm>
          <a:prstGeom prst="ellipse">
            <a:avLst/>
          </a:prstGeom>
          <a:solidFill>
            <a:srgbClr val="7F77DD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297680"/>
            <a:ext cx="292608" cy="292608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37360" y="3383280"/>
            <a:ext cx="256032" cy="256032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4206240"/>
            <a:ext cx="438912" cy="438912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SEMINAR  ·  75 MINUTES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14630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for Conversational Apps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40080" y="2788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Google ADK concepts to real user-experience moments —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technical teams who are new to Gen AI and agentic AI.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3172968" cy="384048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16052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Gen AI experience needed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77640" y="41605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4160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22392" y="4160520"/>
            <a:ext cx="2596896" cy="384048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2392" y="41605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quick exercise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spend 75 minutes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591056" cy="324612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737360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8470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3172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0:08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" y="31546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LLM to agent: the perceive–reason–act loop, explained without jargon.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67128" y="1508760"/>
            <a:ext cx="1591056" cy="324612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34056" y="1737360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184708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58568" y="233172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0:08 – 0:54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258568" y="260604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building blocks ↔ UX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276856" y="31546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state, memory, context engineering, multi-agent routing, tools — plus a live demo trace.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877056" y="1508760"/>
            <a:ext cx="1591056" cy="324612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43984" y="1737360"/>
            <a:ext cx="457200" cy="457200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84708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68496" y="233172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0:54 – 1:04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968496" y="260604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onboarding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3986784" y="31546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sub-agent hosting, sidecar services, and onboarding best practices.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586984" y="1508760"/>
            <a:ext cx="1591056" cy="324612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53912" y="1737360"/>
            <a:ext cx="457200" cy="457200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4708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78424" y="233172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1:04 – 1:10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678424" y="260604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exercise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696712" y="31546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sketch one sub-agent contract for a use case of your choice.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296912" y="1508760"/>
            <a:ext cx="1591056" cy="324612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863840" y="1737360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1847088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88352" y="233172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– 1:15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388352" y="260604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Q&amp;A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7406640" y="31546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takeaways, resources, and a few quick questions.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50608" y="658368"/>
            <a:ext cx="914400" cy="54864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65008" y="1207008"/>
            <a:ext cx="-694944" cy="402336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1207008"/>
            <a:ext cx="384048" cy="-530352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65008" y="1207008"/>
            <a:ext cx="566928" cy="384048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457200"/>
            <a:ext cx="402336" cy="402336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914400"/>
            <a:ext cx="585216" cy="585216"/>
          </a:xfrm>
          <a:prstGeom prst="ellipse">
            <a:avLst/>
          </a:prstGeom>
          <a:solidFill>
            <a:srgbClr val="7F77DD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1463040"/>
            <a:ext cx="292608" cy="292608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1371600"/>
            <a:ext cx="438912" cy="438912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417320"/>
            <a:ext cx="914400" cy="91440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475488" cy="475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2880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828800" y="17830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chatbot to agent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182880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jargon-light tour of generative AI fundamentals — just enough to make Part 2 click.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large language model actually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708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chunk of text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everything written so far, it estimates the most likely continuation. That is the entire trick — there is no understanding layer underneath.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640080" cy="640080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787091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877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by default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63040" y="2953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is stateless. Nothing persists from one request to the next unless the application explicitly stores and replays it.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712464"/>
            <a:ext cx="640080" cy="640080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866083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6667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One-shot, not goal-seeking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63040" y="4032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answers. On its own, it doesn't plan multiple steps, check its work, or take actions in the outside world.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= an LLM inside a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901952"/>
            <a:ext cx="548640" cy="54864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834" y="203362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user's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+ context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68880" y="173736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788920" y="173736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/>
        </p:spPr>
      </p:sp>
      <p:sp>
        <p:nvSpPr>
          <p:cNvPr id="11" name="Shape 8"/>
          <p:cNvSpPr/>
          <p:nvPr/>
        </p:nvSpPr>
        <p:spPr>
          <a:xfrm>
            <a:off x="3429000" y="1901952"/>
            <a:ext cx="548640" cy="54864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674" y="203362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8892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17720" y="173736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937760" y="173736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/>
        </p:spPr>
      </p:sp>
      <p:sp>
        <p:nvSpPr>
          <p:cNvPr id="17" name="Shape 13"/>
          <p:cNvSpPr/>
          <p:nvPr/>
        </p:nvSpPr>
        <p:spPr>
          <a:xfrm>
            <a:off x="5577840" y="1901952"/>
            <a:ext cx="548640" cy="54864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4" y="2033626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3776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93776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 or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766560" y="173736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086600" y="173736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/>
        </p:spPr>
      </p:sp>
      <p:sp>
        <p:nvSpPr>
          <p:cNvPr id="23" name="Shape 18"/>
          <p:cNvSpPr/>
          <p:nvPr/>
        </p:nvSpPr>
        <p:spPr>
          <a:xfrm>
            <a:off x="7726680" y="1901952"/>
            <a:ext cx="548640" cy="54864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354" y="2033626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866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08660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result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823960" y="3337560"/>
            <a:ext cx="-8092440" cy="0"/>
          </a:xfrm>
          <a:prstGeom prst="line">
            <a:avLst/>
          </a:prstGeom>
          <a:noFill/>
          <a:ln w="15875">
            <a:solidFill>
              <a:srgbClr val="F2A623"/>
            </a:solidFill>
            <a:prstDash val="dash"/>
            <a:tailEnd type="triangle"/>
          </a:ln>
        </p:spPr>
      </p:sp>
      <p:sp>
        <p:nvSpPr>
          <p:cNvPr id="28" name="Text 22"/>
          <p:cNvSpPr/>
          <p:nvPr/>
        </p:nvSpPr>
        <p:spPr>
          <a:xfrm>
            <a:off x="640080" y="3456432"/>
            <a:ext cx="8275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until the agent has enough information to respond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long-term memory, a set of tools, and this loop to a model — and it becomes an agent.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the person using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ECEB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chatbot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everything between sessions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one request at a time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886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response for every user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55448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83480" y="1828800"/>
            <a:ext cx="548640" cy="548640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154" y="196047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assistant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83480" y="2606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you and shows chat history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83480" y="3246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multi-part requests across specialist agents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83480" y="3886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Personalizes answers using long-term memory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297680" y="2971800"/>
            <a:ext cx="548640" cy="548640"/>
          </a:xfrm>
          <a:prstGeom prst="ellipse">
            <a:avLst/>
          </a:prstGeom>
          <a:solidFill>
            <a:srgbClr val="26215C"/>
          </a:solidFill>
          <a:ln/>
        </p:spPr>
      </p:sp>
      <p:sp>
        <p:nvSpPr>
          <p:cNvPr id="19" name="Text 15"/>
          <p:cNvSpPr/>
          <p:nvPr/>
        </p:nvSpPr>
        <p:spPr>
          <a:xfrm>
            <a:off x="42976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50608" y="658368"/>
            <a:ext cx="914400" cy="54864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65008" y="1207008"/>
            <a:ext cx="-694944" cy="402336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1207008"/>
            <a:ext cx="384048" cy="-530352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65008" y="1207008"/>
            <a:ext cx="566928" cy="384048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457200"/>
            <a:ext cx="402336" cy="402336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914400"/>
            <a:ext cx="585216" cy="585216"/>
          </a:xfrm>
          <a:prstGeom prst="ellipse">
            <a:avLst/>
          </a:prstGeom>
          <a:solidFill>
            <a:srgbClr val="7F77DD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1463040"/>
            <a:ext cx="292608" cy="292608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1371600"/>
            <a:ext cx="438912" cy="438912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417320"/>
            <a:ext cx="914400" cy="91440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475488" cy="475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2880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828800" y="17830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ADK building blocks, mapped to UX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182880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ADK primitives — and the exact screen moment each one powers.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request, six moving parts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216152" cy="1508760"/>
          </a:xfrm>
          <a:prstGeom prst="roundRect">
            <a:avLst>
              <a:gd name="adj" fmla="val 6015"/>
            </a:avLst>
          </a:prstGeom>
          <a:solidFill>
            <a:srgbClr val="ECEBF4"/>
          </a:solidFill>
          <a:ln w="12700">
            <a:solidFill>
              <a:srgbClr val="ECEB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984248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" y="2651760"/>
            <a:ext cx="110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73352" y="1874520"/>
            <a:ext cx="182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56232" y="1874520"/>
            <a:ext cx="1216152" cy="1508760"/>
          </a:xfrm>
          <a:prstGeom prst="roundRect">
            <a:avLst>
              <a:gd name="adj" fmla="val 6015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096" y="1984248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service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11096" y="2651760"/>
            <a:ext cx="110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past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threads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72384" y="1874520"/>
            <a:ext cx="182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55264" y="1874520"/>
            <a:ext cx="1216152" cy="1508760"/>
          </a:xfrm>
          <a:prstGeom prst="roundRect">
            <a:avLst>
              <a:gd name="adj" fmla="val 6015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984248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651760"/>
            <a:ext cx="110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this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turn's context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71416" y="1874520"/>
            <a:ext cx="182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54296" y="1874520"/>
            <a:ext cx="1216152" cy="1508760"/>
          </a:xfrm>
          <a:prstGeom prst="roundRect">
            <a:avLst>
              <a:gd name="adj" fmla="val 6015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984248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agents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651760"/>
            <a:ext cx="110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intents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tools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70448" y="1874520"/>
            <a:ext cx="182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53328" y="1874520"/>
            <a:ext cx="1216152" cy="1508760"/>
          </a:xfrm>
          <a:prstGeom prst="roundRect">
            <a:avLst>
              <a:gd name="adj" fmla="val 6015"/>
            </a:avLst>
          </a:prstGeom>
          <a:solidFill>
            <a:srgbClr val="ECEBF4"/>
          </a:solidFill>
          <a:ln w="12700">
            <a:solidFill>
              <a:srgbClr val="ECEB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1984248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08192" y="2651760"/>
            <a:ext cx="110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reply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69480" y="1874520"/>
            <a:ext cx="182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52360" y="1874520"/>
            <a:ext cx="1216152" cy="1508760"/>
          </a:xfrm>
          <a:prstGeom prst="roundRect">
            <a:avLst>
              <a:gd name="adj" fmla="val 6015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07224" y="1984248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07224" y="2651760"/>
            <a:ext cx="110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long-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facts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gives continuity within a conversation. Memory gives continuity across conversations.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decides what the model actually sees on any given turn.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41080" y="2628900"/>
            <a:ext cx="0" cy="1417320"/>
          </a:xfrm>
          <a:prstGeom prst="line">
            <a:avLst/>
          </a:prstGeom>
          <a:noFill/>
          <a:ln w="15875">
            <a:solidFill>
              <a:srgbClr val="F2A623"/>
            </a:solidFill>
            <a:prstDash val="dash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818120" y="3429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 personalizes the</a:t>
            </a:r>
            <a:endParaRPr lang="en-US" sz="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Session service steps</a:t>
            </a:r>
            <a:endParaRPr lang="en-US" sz="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 this user returns.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1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service → chat history on login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is a Session: a session ID, user ID, the full event history, and short-term state.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SessionService.list_sessions(user_id) is what populates the chat-history sidebar the moment a user logs in.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SessionService.get_session(session_id) reloads a specific thread when the user clicks into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0" y="1463040"/>
            <a:ext cx="2788920" cy="3017520"/>
          </a:xfrm>
          <a:prstGeom prst="roundRect">
            <a:avLst>
              <a:gd name="adj" fmla="val 3279"/>
            </a:avLst>
          </a:prstGeom>
          <a:solidFill>
            <a:srgbClr val="F8F7F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80760" y="1645920"/>
            <a:ext cx="411480" cy="41148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9515" y="1744675"/>
            <a:ext cx="213970" cy="2139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29400" y="16459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2240280"/>
            <a:ext cx="2423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2240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#48213 status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80760" y="2953512"/>
            <a:ext cx="2423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29535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my password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0760" y="3666744"/>
            <a:ext cx="2423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366674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return shipment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865376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865376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73552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73552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81728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81728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089904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89904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49808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2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vs. memory — the key distinction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8690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state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only for this conversation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scratchpad: partially filled forms, confirmed details, in-progress steps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bot doesn't make you repeat yourself mid-chat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50876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434" y="18690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memory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sessions, via a Memory Bank / MemoryService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37760" y="30175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store of facts and preferences ingested from past sessions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3611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Personalizes a brand-new conversation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continuity within a conversation.   Memory = continuity across conversations.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865376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865376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273552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73552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681728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81728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089904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89904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49808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49808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3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 → intent &amp; sub-intent routing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“Working context” = instructions + relevant state + retrieved memory + tool/agent definitions, compiled fresh for this turn.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orchestrator's context includes descriptions of its sub-agents, so it can decide “I can't do this, but my Order agent can.”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sub-agent gets its own tailored context — not everything the orchestrator sees.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46304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ECEBF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“Check my order status and update my address”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0" y="2011680"/>
            <a:ext cx="0" cy="411480"/>
          </a:xfrm>
          <a:prstGeom prst="line">
            <a:avLst/>
          </a:prstGeom>
          <a:noFill/>
          <a:ln w="12700">
            <a:solidFill>
              <a:srgbClr val="7672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24231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6215C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Orchestrator: decompose + route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926080"/>
            <a:ext cx="-1005840" cy="457200"/>
          </a:xfrm>
          <a:prstGeom prst="line">
            <a:avLst/>
          </a:prstGeom>
          <a:noFill/>
          <a:ln w="12700">
            <a:solidFill>
              <a:srgbClr val="7672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2926080"/>
            <a:ext cx="1005840" cy="457200"/>
          </a:xfrm>
          <a:prstGeom prst="line">
            <a:avLst/>
          </a:prstGeom>
          <a:noFill/>
          <a:ln w="12700">
            <a:solidFill>
              <a:srgbClr val="7672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37760" y="33832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agent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(sub-intent 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33832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agent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(sub-intent 2)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06440" y="3931920"/>
            <a:ext cx="914400" cy="320040"/>
          </a:xfrm>
          <a:prstGeom prst="line">
            <a:avLst/>
          </a:prstGeom>
          <a:noFill/>
          <a:ln w="12700">
            <a:solidFill>
              <a:srgbClr val="7672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26680" y="3931920"/>
            <a:ext cx="-914400" cy="320040"/>
          </a:xfrm>
          <a:prstGeom prst="line">
            <a:avLst/>
          </a:prstGeom>
          <a:noFill/>
          <a:ln w="12700">
            <a:solidFill>
              <a:srgbClr val="7672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0" y="425196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FAEED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4251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merged response to the user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65376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65376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73552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81728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4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orchestration → one assistant, many specialists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749040" y="2674620"/>
            <a:ext cx="-1188720" cy="0"/>
          </a:xfrm>
          <a:prstGeom prst="line">
            <a:avLst/>
          </a:prstGeom>
          <a:noFill/>
          <a:ln w="25400">
            <a:solidFill>
              <a:srgbClr val="EEED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2674620"/>
            <a:ext cx="1188720" cy="0"/>
          </a:xfrm>
          <a:prstGeom prst="line">
            <a:avLst/>
          </a:prstGeom>
          <a:noFill/>
          <a:ln w="25400">
            <a:solidFill>
              <a:srgbClr val="EEED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3063240"/>
            <a:ext cx="0" cy="457200"/>
          </a:xfrm>
          <a:prstGeom prst="line">
            <a:avLst/>
          </a:prstGeom>
          <a:noFill/>
          <a:ln w="25400">
            <a:solidFill>
              <a:srgbClr val="EEED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agent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invoices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14173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agent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status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35204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3611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agent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118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questions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228600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26215C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23408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intent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routes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The root agent's only job is intent classification and routing — it doesn't need to know how to process a refund.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Each specialist owns its own tools, prompt, and slice of state.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To the user, it's still one chat window and one coherent assistant.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8640" y="43708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agent's only job is intent classification and routing — it doesn't need to know how to process a refund.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specialist owns its own tools, prompt, and slice of state.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user, it's still one chat window and one coherent assistant.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65376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65376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73552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3552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81728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9904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9904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9808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5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function calling → actions inside the chat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call is a real function or API invocation — not just generated text.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can render as inline UI: status cards, forms, buttons — not just paragraphs.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an assistant feel like it can do things, not just talk about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3657600" cy="548640"/>
          </a:xfrm>
          <a:prstGeom prst="roundRect">
            <a:avLst>
              <a:gd name="adj" fmla="val 20000"/>
            </a:avLst>
          </a:prstGeom>
          <a:solidFill>
            <a:srgbClr val="ECEBF4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check order #48213?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0" y="224028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F8F7F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57800" y="2468880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257860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9788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#48213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98080" y="24688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0" y="24688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578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delivery: Tue, Jun 17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57800" y="329184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6215C"/>
          </a:solidFill>
          <a:ln/>
        </p:spPr>
      </p:sp>
      <p:sp>
        <p:nvSpPr>
          <p:cNvPr id="17" name="Text 14"/>
          <p:cNvSpPr/>
          <p:nvPr/>
        </p:nvSpPr>
        <p:spPr>
          <a:xfrm>
            <a:off x="5257800" y="3291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shipment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tool_call: get_order_status(order_id="48213")  →  rendered as a card, not a paragraph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865376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65376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73552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73552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81728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81728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089904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9904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49808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6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Runner &amp; events → visible “thinking”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ADK's execution is event-driven — every message, tool call, and agent transfer is an Event.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these events as progress indicators in the UI as they happen.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trust: the user sees the agent's reasoning steps, not just a spinner.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8F7F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57800" y="169164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972" y="1783812"/>
            <a:ext cx="199705" cy="1997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06440" y="1691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knowledge base…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57800" y="22860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972" y="2378172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Transferred to Order agent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257800" y="2880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972" y="297253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06440" y="2880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order system…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257800" y="34747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972" y="3566892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06440" y="3474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your order status —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720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1865376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865376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73552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73552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681728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681728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089904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89904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498080" y="4681728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498080" y="46817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50608" y="658368"/>
            <a:ext cx="914400" cy="54864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65008" y="1207008"/>
            <a:ext cx="-694944" cy="402336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1207008"/>
            <a:ext cx="384048" cy="-530352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65008" y="1207008"/>
            <a:ext cx="566928" cy="384048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457200"/>
            <a:ext cx="402336" cy="402336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914400"/>
            <a:ext cx="585216" cy="585216"/>
          </a:xfrm>
          <a:prstGeom prst="ellipse">
            <a:avLst/>
          </a:prstGeom>
          <a:solidFill>
            <a:srgbClr val="7F77DD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1463040"/>
            <a:ext cx="292608" cy="292608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1371600"/>
            <a:ext cx="438912" cy="438912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417320"/>
            <a:ext cx="914400" cy="91440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475488" cy="475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2880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DEEP DIVE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828800" y="17830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seminar concepts to a production platform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182880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session, context, orchestration, and model selection scale into a horizontal, multi-tenant agent platform.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many teams, every channel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56232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8790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sub-agent hosting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teams build sub-agents against a published contract; the platform owns the runtime, registry, security, and observability.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60020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856232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834" y="198790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session system of record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204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conversation — across every sub-agent and channel — is owned by one central session-management layer.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856232"/>
            <a:ext cx="548640" cy="548640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4" y="198790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Cross-channel delivery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5508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channel-agnostic agent core; a rendering boundary translates output into mobile, web, voice, and messaging payloads.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platform, not a project: without shared infrastructure, every domain team re-solves session storage, routing, safety, and audit logging independently — slower, inconsistent, and harder to govern.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 core, four channel renderers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91640"/>
            <a:ext cx="3520440" cy="845820"/>
          </a:xfrm>
          <a:prstGeom prst="line">
            <a:avLst/>
          </a:prstGeom>
          <a:noFill/>
          <a:ln w="25400">
            <a:solidFill>
              <a:srgbClr val="EEED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691640"/>
            <a:ext cx="-2697480" cy="845820"/>
          </a:xfrm>
          <a:prstGeom prst="line">
            <a:avLst/>
          </a:prstGeom>
          <a:noFill/>
          <a:ln w="25400">
            <a:solidFill>
              <a:srgbClr val="EEED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3566160"/>
            <a:ext cx="3520440" cy="-1028700"/>
          </a:xfrm>
          <a:prstGeom prst="line">
            <a:avLst/>
          </a:prstGeom>
          <a:noFill/>
          <a:ln w="25400">
            <a:solidFill>
              <a:srgbClr val="EEED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9480" y="3566160"/>
            <a:ext cx="-2697480" cy="-1028700"/>
          </a:xfrm>
          <a:prstGeom prst="line">
            <a:avLst/>
          </a:prstGeom>
          <a:noFill/>
          <a:ln w="25400">
            <a:solidFill>
              <a:srgbClr val="EEED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88720"/>
            <a:ext cx="1005840" cy="10058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1430122"/>
            <a:ext cx="523037" cy="5230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66560" y="1188720"/>
            <a:ext cx="1005840" cy="10058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962" y="143012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1005840" cy="10058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3304642"/>
            <a:ext cx="523037" cy="5230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IVR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766560" y="3063240"/>
            <a:ext cx="1005840" cy="10058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962" y="3304642"/>
            <a:ext cx="523037" cy="52303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(SMS/WhatsApp)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886200" y="21488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26215C"/>
          </a:solidFill>
          <a:ln/>
        </p:spPr>
      </p:sp>
      <p:sp>
        <p:nvSpPr>
          <p:cNvPr id="21" name="Text 15"/>
          <p:cNvSpPr/>
          <p:nvPr/>
        </p:nvSpPr>
        <p:spPr>
          <a:xfrm>
            <a:off x="388620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Channel-agnostic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rendering sidecar converts one internal response schema into the JSON/SSML/text payload each channel expects — domain teams never implement channel-specific logic.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pairing: the right model for each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64482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72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classification → escalation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801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model classifies &amp; answers simple turns; complex or judgment-heavy steps escalate to a stronger model.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66928" cy="566928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51350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3408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with verification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670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 answers first; a verifier escalates only uncertain cases to a costlier model — cuts large-model usage substantially.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38218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2095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Compliance-driven routing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538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or regulated-data signals force routing to an approved private model, independent of task complexity.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EEDFE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data point: tiered routing has reduced LLM usage by 37–46% and improved latency by 32–38% on simpler queries in production deployments.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horizontal services every sub-agent inherits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91056" cy="301752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75564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86537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233172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+ prompt eng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offline evals in CI, plus online evals against live traffic.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67128" y="1554480"/>
            <a:ext cx="1591056" cy="301752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34056" y="1755648"/>
            <a:ext cx="457200" cy="457200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186537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233172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guardrails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258568" y="2880360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input/output policy enforcement, ~200–300ms budget.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877056" y="1554480"/>
            <a:ext cx="1591056" cy="301752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43984" y="1755648"/>
            <a:ext cx="457200" cy="457200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86537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50208" y="233172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968496" y="2880360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— tool call, hand-off, state change — logged as an audit record.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586984" y="1554480"/>
            <a:ext cx="1591056" cy="301752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53912" y="1755648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653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0136" y="233172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JSON rendering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678424" y="2880360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response schema → mobile / web / voice / messaging payloads.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296912" y="1554480"/>
            <a:ext cx="1591056" cy="301752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863840" y="1755648"/>
            <a:ext cx="457200" cy="457200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186537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70064" y="233172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observability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388352" y="2880360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Cross-portfolio dashboards: cost, latency, quality, by sub-agent and model.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Necessity: if each domain team builds its own version of these, the enterprise ends up with as many safety bars and audit formats as it has teams — unauditable at scale.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holds itself 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8690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agents as distributed systems, not prompts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1363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orchestration, tools, memory, policy, observability layers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38496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least-privilege tool access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50876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434" y="18690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&amp; governance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incrementally; prove observability before expanding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937760" y="31363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change control for prompts, tools, model versions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937760" y="38496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every agent with owner, purpose, risk classification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50608" y="658368"/>
            <a:ext cx="914400" cy="54864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65008" y="1207008"/>
            <a:ext cx="-694944" cy="402336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1207008"/>
            <a:ext cx="384048" cy="-530352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65008" y="1207008"/>
            <a:ext cx="566928" cy="384048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457200"/>
            <a:ext cx="402336" cy="402336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914400"/>
            <a:ext cx="585216" cy="585216"/>
          </a:xfrm>
          <a:prstGeom prst="ellipse">
            <a:avLst/>
          </a:prstGeom>
          <a:solidFill>
            <a:srgbClr val="7F77DD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1463040"/>
            <a:ext cx="292608" cy="292608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1371600"/>
            <a:ext cx="438912" cy="438912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417320"/>
            <a:ext cx="914400" cy="91440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475488" cy="475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2880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828800" y="17830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run, then sketch your own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182880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ADK trace, followed by a quick hands-on exercise.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SHOWCASE · PART OF SME4'S SECTION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show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0171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trace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multi-part question through adk web and open the trace view to show intent decomposition and the sub-agent transfer in real 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6002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874520"/>
            <a:ext cx="594360" cy="59436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806" y="20171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in action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30632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user, new session: ask a related question and watch the agent recall a fact from the earlier conversation.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874520"/>
            <a:ext cx="594360" cy="594360"/>
          </a:xfrm>
          <a:prstGeom prst="ellipse">
            <a:avLst/>
          </a:prstGeom>
          <a:solidFill>
            <a:srgbClr val="FAEED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446" y="201716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history on login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30632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list_sessions(user_id) populate the sidebar with the user's past threads as soon as they sign in.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live demo isn't possible: pre-recorded trace screenshots covering the same three moments.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EXERCISE · 6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 one sub-agent contract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4" y="15032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716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pick a use case and fill in just three fields below. No share-back needed — have it ready if you'd like to mention one.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143000" y="2057400"/>
            <a:ext cx="2066544" cy="365760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0574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74136" y="2057400"/>
            <a:ext cx="3090672" cy="365760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10" name="Text 7"/>
          <p:cNvSpPr/>
          <p:nvPr/>
        </p:nvSpPr>
        <p:spPr>
          <a:xfrm>
            <a:off x="3374136" y="205740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support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29400" y="2057400"/>
            <a:ext cx="2212848" cy="365760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20574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assistant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8F7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792" y="2898648"/>
            <a:ext cx="146304" cy="146304"/>
          </a:xfrm>
          <a:prstGeom prst="ellipse">
            <a:avLst/>
          </a:prstGeom>
          <a:solidFill>
            <a:srgbClr val="EEEDFE"/>
          </a:solidFill>
          <a:ln w="19050">
            <a:solidFill>
              <a:srgbClr val="2621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270662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name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337560" y="270662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call it? (e.g. password_reset_agent, leave_request_agent)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8F7FC"/>
          </a:solidFill>
          <a:ln/>
        </p:spPr>
      </p:sp>
      <p:sp>
        <p:nvSpPr>
          <p:cNvPr id="18" name="Shape 15"/>
          <p:cNvSpPr/>
          <p:nvPr/>
        </p:nvSpPr>
        <p:spPr>
          <a:xfrm>
            <a:off x="621792" y="3630168"/>
            <a:ext cx="146304" cy="146304"/>
          </a:xfrm>
          <a:prstGeom prst="ellipse">
            <a:avLst/>
          </a:prstGeom>
          <a:solidFill>
            <a:srgbClr val="E1F5EE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343814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tools it owns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337560" y="343814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 APIs or actions does it actually need to call?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8F7FC"/>
          </a:solidFill>
          <a:ln/>
        </p:spPr>
      </p:sp>
      <p:sp>
        <p:nvSpPr>
          <p:cNvPr id="22" name="Shape 19"/>
          <p:cNvSpPr/>
          <p:nvPr/>
        </p:nvSpPr>
        <p:spPr>
          <a:xfrm>
            <a:off x="621792" y="4361688"/>
            <a:ext cx="146304" cy="146304"/>
          </a:xfrm>
          <a:prstGeom prst="ellipse">
            <a:avLst/>
          </a:prstGeom>
          <a:solidFill>
            <a:srgbClr val="EEEDFE"/>
          </a:solidFill>
          <a:ln w="19050">
            <a:solidFill>
              <a:srgbClr val="2621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416966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it reads &amp; writes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337560" y="416966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it needs from session state, one thing it updates.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892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the sub-agent contract from the platform onboarding section — same three questions, applied to your own use case.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82" y="1459382"/>
            <a:ext cx="190195" cy="1901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≠ memory ≠ context — each one solves a different continuity problem.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93392"/>
            <a:ext cx="365760" cy="36576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" y="2081174"/>
            <a:ext cx="190195" cy="1901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99339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means deciding what the model actually sees, fresh, on every turn.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2615184"/>
            <a:ext cx="365760" cy="36576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" y="2702966"/>
            <a:ext cx="190195" cy="1901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15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turns one giant prompt into specialists with clear ownership.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3236976"/>
            <a:ext cx="365760" cy="36576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" y="3324758"/>
            <a:ext cx="190195" cy="1901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23697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plus an observable event trail separate an agent that can act and be audited from a chatbot that can only talk.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3858768"/>
            <a:ext cx="365760" cy="36576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" y="3946550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85876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scales across an enterprise without a shared platform: one hosting model, one session system, the same guardrails and observability inherited by every team that onboards.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457200" y="45262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/>
        </p:spPr>
      </p:sp>
      <p:sp>
        <p:nvSpPr>
          <p:cNvPr id="20" name="Shape 13"/>
          <p:cNvSpPr/>
          <p:nvPr/>
        </p:nvSpPr>
        <p:spPr>
          <a:xfrm>
            <a:off x="576072" y="45994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44" y="4691604"/>
            <a:ext cx="199705" cy="19970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452628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Resources:  </a:t>
            </a:r>
            <a:pPr indent="0" marL="0">
              <a:buNone/>
            </a:pPr>
            <a:r>
              <a:rPr lang="en-US" sz="1050" dirty="0">
                <a:solidFill>
                  <a:srgbClr val="43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google.github.io/adk-docs (Sessions, State &amp; Memory)   ·   Google Cloud blog: “Remember this — agent state and memory with ADK”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58368"/>
            <a:ext cx="914400" cy="54864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72768" y="1207008"/>
            <a:ext cx="-694944" cy="402336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2768" y="1207008"/>
            <a:ext cx="384048" cy="-530352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207008"/>
            <a:ext cx="566928" cy="384048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402336" cy="402336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914400"/>
            <a:ext cx="585216" cy="585216"/>
          </a:xfrm>
          <a:prstGeom prst="ellipse">
            <a:avLst/>
          </a:prstGeom>
          <a:solidFill>
            <a:srgbClr val="7F77DD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463040"/>
            <a:ext cx="292608" cy="292608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548640"/>
            <a:ext cx="256032" cy="256032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20240" y="1371600"/>
            <a:ext cx="438912" cy="438912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50608" y="3218688"/>
            <a:ext cx="914400" cy="54864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65008" y="3767328"/>
            <a:ext cx="-694944" cy="402336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3767328"/>
            <a:ext cx="384048" cy="-530352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3767328"/>
            <a:ext cx="566928" cy="384048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3017520"/>
            <a:ext cx="402336" cy="402336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3474720"/>
            <a:ext cx="585216" cy="585216"/>
          </a:xfrm>
          <a:prstGeom prst="ellipse">
            <a:avLst/>
          </a:prstGeom>
          <a:solidFill>
            <a:srgbClr val="7F77DD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4023360"/>
            <a:ext cx="292608" cy="292608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3108960"/>
            <a:ext cx="256032" cy="256032"/>
          </a:xfrm>
          <a:prstGeom prst="ellipse">
            <a:avLst/>
          </a:prstGeom>
          <a:solidFill>
            <a:srgbClr val="5DCAA5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0" y="3931920"/>
            <a:ext cx="438912" cy="438912"/>
          </a:xfrm>
          <a:prstGeom prst="ellipse">
            <a:avLst/>
          </a:prstGeom>
          <a:solidFill>
            <a:srgbClr val="F2A623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23360" y="1188720"/>
            <a:ext cx="1097280" cy="109728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707" y="1452067"/>
            <a:ext cx="570586" cy="57058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0" y="2468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Memory · Context engineering · Multi-agent orchestration · Tools · Events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Conversational Apps</dc:title>
  <dc:subject>PptxGenJS Presentation</dc:subject>
  <dc:creator>Seminar Plan</dc:creator>
  <cp:lastModifiedBy>Seminar Plan</cp:lastModifiedBy>
  <cp:revision>1</cp:revision>
  <dcterms:created xsi:type="dcterms:W3CDTF">2026-06-16T15:17:53Z</dcterms:created>
  <dcterms:modified xsi:type="dcterms:W3CDTF">2026-06-16T15:17:53Z</dcterms:modified>
</cp:coreProperties>
</file>