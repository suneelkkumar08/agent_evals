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2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2901ADE-61C5-42EA-8C32-6FDFC46BBB3F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597D18D-7139-415A-9302-1E9EE09162CB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BB51226-9B13-4685-B201-A40462976B89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69695C2-7ED6-48D5-9B52-AAE6A617343E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Host framing: deterministic means 'if X, say Y' - a fixed decision tree. Agentic flips this to 'given this goal and these capabilities, figure out the right sequence of actions.' Use the two-screen hook here if time allows: a static FAQ bot vs. an assistant that greets a returning user by name.</a:t>
            </a:r>
          </a:p>
        </p:txBody>
      </p:sp>
      <p:sp>
        <p:nvSpPr>
          <p:cNvPr id="86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D2C4679-346A-49FE-88AB-5BA5C53719FD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This is the bridge into Part 2. Close with the running example that carries through the rest of the deck: a banking user looking at transactions who pivots mid-conversation to applying for a new card - that single scenario is what every later building-block slide maps back to. Stats are sourced - full citations on the references slide at the end of the deck; cite the source name if asked, e.g. 'that's from McKinsey's 2025 Global Banking Annual Review survey of 30,021 consumers.'</a:t>
            </a:r>
          </a:p>
        </p:txBody>
      </p:sp>
      <p:sp>
        <p:nvSpPr>
          <p:cNvPr id="87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BB20AE1-8B59-4DBF-9D1C-CAF4D2EB887B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0DCE369-4B1A-41A0-A7CC-67AB987D9185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This is the 30,000-foot view before we zoom into ADK specifics. Treat the agent as a distributed system, not a single prompt: each layer here can be reasoned about, tested, and changed independently. Everything in the next two parts maps back into one of these six layers.</a:t>
            </a:r>
          </a:p>
        </p:txBody>
      </p:sp>
      <p:sp>
        <p:nvSpPr>
          <p:cNvPr id="87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E2970A8-1DFD-41BC-AE55-4DC0D807739A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7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2C6968A-0320-4030-B69B-749CD8F77325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8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This is the anchor diagram for all of Part 3 - the mini-map at the bottom of the next six slides highlights whichever step is being discussed. Walk across left to right once at a high level before diving into each box. Note the rightmost box is labeled 'Session store (Redis)', not 'Memory bank' - this matches our actual implementation: Redis extends session state across restarts/instances, but it is NOT the long-term Memory Bank, which remains unbuilt. Don't let the room conflate the two.</a:t>
            </a:r>
          </a:p>
        </p:txBody>
      </p:sp>
      <p:sp>
        <p:nvSpPr>
          <p:cNvPr id="88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5F574A5-F524-4DFB-9861-CC61E3DDC87F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9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This slide replaces the production/future-state picture with where we honestly are today. InMemorySessionService gives real value (turn continuity, per-user isolation, recency, routing trail, event-sourced writes) even though list_sessions() can't yet repopulate a chat-history sidebar across logins - that requires swapping to a persistent backend. Our planned path is a Redis-backed SessionService (see the architecture slide later) rather than Database/VertexAI - it gets us cross-restart session persistence without a full DB migration, though it's still short-term storage, not the long-term Memory Bank. Emphasize: nothing about the tool code needs to change when that swap happens, because state writes already go through the correct event-sourced mechanism.</a:t>
            </a:r>
          </a:p>
        </p:txBody>
      </p:sp>
      <p:sp>
        <p:nvSpPr>
          <p:cNvPr id="887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01B2F3C-1406-4455-9D35-C639CFAD19CD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10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This is the slide most worth slowing down on. A good check: ask the room 'if I tell the bot my preferred name now, where does that live - state or memory?' (Answer: it could be either, depending on whether the app explicitly writes it to memory at session end.)</a:t>
            </a:r>
          </a:p>
        </p:txBody>
      </p:sp>
      <p:sp>
        <p:nvSpPr>
          <p:cNvPr id="890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2E8C5A8-6FDF-4079-AF96-D351FD5273A6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This is the ADK AutoFlow / transfer_to_agent mechanism. The orchestrator's working context is dynamically given a description of every sub-agent, which is what lets it reason about 'who should handle this'. Emphasize: the user sent ONE message, but it became two routed sub-tasks behind the scenes.</a:t>
            </a:r>
          </a:p>
        </p:txBody>
      </p:sp>
      <p:sp>
        <p:nvSpPr>
          <p:cNvPr id="893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2AB4D0D-D773-4B23-9BBE-A870AC702EEB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Tie this directly back to slide 11: the boxes labeled 'Order agent' and 'Profile agent' there are examples of the specialists shown here. The orchestrator is intentionally 'dumb' about the actual work - its job is purely classification + handoff.</a:t>
            </a:r>
          </a:p>
        </p:txBody>
      </p:sp>
      <p:sp>
        <p:nvSpPr>
          <p:cNvPr id="896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3205B35-FDE4-4FB6-B885-68265DCBFB86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Point out the gap between 'the model decided to call a tool' (an agent-layer event) and 'the UI rendered a card' (a front-end decision about how to display that tool's structured result). ADK gives you the structured result; your app decides the presentation. Be explicit about MCP status: the server is real and provisioning tools for sub-agents today; the Gateway (central auth, access policy, audit trail, discovery) is a planned next step, not built yet - don't let the room assume governance exists that doesn't.</a:t>
            </a:r>
          </a:p>
        </p:txBody>
      </p:sp>
      <p:sp>
        <p:nvSpPr>
          <p:cNvPr id="899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BFB31ED-9F51-4DA6-B53E-E14ACD29C116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Concrete inventory for the room - these are the actual tools behind the banking example. FAQAnswers needs no account context (general knowledge), while AccountHelper and BalanceChecker both require account_id and are scoped per-customer. Worth noting live: BalanceChecker is the highest-volume tool in practice, which is exactly the kind of signal the enhanced evals/observability framework (coming up in the platform section) is built to track per-tool.</a:t>
            </a:r>
          </a:p>
        </p:txBody>
      </p:sp>
      <p:sp>
        <p:nvSpPr>
          <p:cNvPr id="902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2204178-F6E6-4108-B524-49E1686414F5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Frame this as the 'show your work' UI pattern. From a single Runner.run_async() call, ADK streams a sequence of Events - this slide is literally that event stream rendered as a status feed instead of raw JSON.</a:t>
            </a:r>
          </a:p>
        </p:txBody>
      </p:sp>
      <p:sp>
        <p:nvSpPr>
          <p:cNvPr id="905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9B723D-FBB0-4159-9D6F-4288471B9EB3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8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3AF638D-0950-4108-9E94-0C64330A904A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17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This is the bridge slide from 'seminar concepts' to 'the platform we are actually building'. Session/state from earlier in the talk becomes 'single session system of record' here; multi-agent orchestration becomes 'reusable sub-agent hosting'.</a:t>
            </a:r>
          </a:p>
        </p:txBody>
      </p:sp>
      <p:sp>
        <p:nvSpPr>
          <p:cNvPr id="911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3139E72-9A90-4D59-8C8B-4537B09039E1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18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4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45DF38C-75FD-4CEF-9DFD-65938CECE152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19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Concrete example for the room: a banking orchestrator might use a small/fast model purely for intent classification and routing, then escalate to a larger reasoning model only for the sub-agent step that actually needs judgment, like evaluating a dispute.</a:t>
            </a:r>
          </a:p>
        </p:txBody>
      </p:sp>
      <p:sp>
        <p:nvSpPr>
          <p:cNvPr id="917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0FCCF21-9F77-441F-9238-0C83B37D18FA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20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0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2D4C941-623B-49D9-9555-0167B4ED917B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This is the deep-dive behind the brief 'Evals + prompt eng' card on the previous slide. Walk left to right: tool-call metrics catch 'did it use the right tool correctly', trajectory metrics catch 'was the overall route and hand-off sensible', outcome metrics catch 'did it actually solve the user's problem'. The framing that lands best with a technical audience: a trajectory can pass every tool-call check and still fail task completion - that's why all three layers run together, not just the first one. Concretely for our banking example: BalanceChecker passing its parameter-correctness check doesn't tell you whether the orchestrator routed the right sub-intent to it in the first place, or whether the final answer to the customer was actually correct.</a:t>
            </a:r>
          </a:p>
        </p:txBody>
      </p:sp>
      <p:sp>
        <p:nvSpPr>
          <p:cNvPr id="923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D8B0104-D4B6-4F58-A7A8-669143321329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Good closing point for this block: the four ADK building blocks from earlier in the deck (session, context engineering, orchestration, tools/events) are exactly what this platform standardizes and hosts centrally for every domain team.</a:t>
            </a:r>
          </a:p>
        </p:txBody>
      </p:sp>
      <p:sp>
        <p:nvSpPr>
          <p:cNvPr id="926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C51580E-A91D-4245-AA2B-7684CB7F79F9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9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066CCCC-62D7-421F-B85C-45BC22F0587E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Run `adk web` ahead of time and have a sample multi-agent project already loaded. For the second demo, pre-seed a session in Redis and literally kill/restart the app process to show the session resume - this is honest proof the session store works, without overclaiming memory recall we haven't built. The third card is intentionally NOT a live demo - say so explicitly, so the room doesn't assume cross-session memory exists today.</a:t>
            </a:r>
          </a:p>
        </p:txBody>
      </p:sp>
      <p:sp>
        <p:nvSpPr>
          <p:cNvPr id="932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4500417-6FA9-485A-9482-601652E147B7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5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D6D6C73-FA66-4FD1-BB8D-274FC8072DB5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8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ABC02F9-51C3-4B4E-B45B-BD3FB1C06CCD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27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Background reference only. If the room seems to already understand LLM basics, skip this slide entirely. An LLM by itself is a stateless, single-shot text predictor - everything in the main session is about what gets added on top of this.</a:t>
            </a:r>
          </a:p>
        </p:txBody>
      </p:sp>
      <p:sp>
        <p:nvSpPr>
          <p:cNvPr id="941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112EF0F-0AF4-4306-839A-46A9AEE841D6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28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Background reference only. Every box in this loop maps to an ADK concept covered in the main session: Perceive = context engineering pulling in state/memory, Reason = the LLM call, Act = tool or sub-agent invocation, Observe = the event/result feeding back into state.</a:t>
            </a:r>
          </a:p>
        </p:txBody>
      </p:sp>
      <p:sp>
        <p:nvSpPr>
          <p:cNvPr id="944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1202743-D0D6-4DD8-ABC6-B3C5E2E3FA86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29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Background reference only - this is the same deterministic-vs-agentic contrast used to open the main session, shown here again with extra detail in case a deeper audience Q&amp;A calls for it.</a:t>
            </a:r>
          </a:p>
        </p:txBody>
      </p:sp>
      <p:sp>
        <p:nvSpPr>
          <p:cNvPr id="947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386B066-2559-4439-8B31-B6B0E5112F69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30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Keep this slide available for Q&amp;A or for anyone who wants to verify a number afterward - not necessarily presented live unless someone asks for sources during the talk.</a:t>
            </a:r>
          </a:p>
        </p:txBody>
      </p:sp>
      <p:sp>
        <p:nvSpPr>
          <p:cNvPr id="950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5BE30B5-469E-44D7-A734-6003AEDC5CE5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31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Be honest on the scale question - the architecture pattern is proven industry-wide, but explicitly distinguish that from our own implementation maturity, which still has named gaps (Redis session store, Memory Bank) covered earlier in the deck. Don't oversell.</a:t>
            </a:r>
          </a:p>
        </p:txBody>
      </p:sp>
      <p:sp>
        <p:nvSpPr>
          <p:cNvPr id="953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52E0A99-AEF1-4F08-8C3F-5099382EDD64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32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The MCP Gateway answer is a good moment to reinforce the earlier slide - today's resilience is per-sub-agent and basic; centralized retry/circuit-breaking is explicitly future work, not implemented yet.</a:t>
            </a:r>
          </a:p>
        </p:txBody>
      </p:sp>
      <p:sp>
        <p:nvSpPr>
          <p:cNvPr id="956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EABCE65-EDB0-4D65-A11C-86E532FE0759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33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The compliance question is a good moment for an honest caveat: we have the architectural building blocks (traceability, evals) that a compliance review would need, but have NOT yet done a formal audit against EU AI Act provisions specifically. Don't claim compliance we haven't verified.</a:t>
            </a:r>
          </a:p>
        </p:txBody>
      </p:sp>
      <p:sp>
        <p:nvSpPr>
          <p:cNvPr id="959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ACAE2CE-92D3-4A09-9683-024365201174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34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2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3BD4EBE-3C7A-4BFA-A880-47F8F6B921B8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35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38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11" Type="http://schemas.openxmlformats.org/officeDocument/2006/relationships/image" Target="../media/image12.png"/><Relationship Id="rId5" Type="http://schemas.openxmlformats.org/officeDocument/2006/relationships/image" Target="../media/image39.png"/><Relationship Id="rId10" Type="http://schemas.openxmlformats.org/officeDocument/2006/relationships/image" Target="../media/image42.png"/><Relationship Id="rId4" Type="http://schemas.openxmlformats.org/officeDocument/2006/relationships/image" Target="../media/image18.png"/><Relationship Id="rId9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4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1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7058880" y="749520"/>
            <a:ext cx="914400" cy="548640"/>
          </a:xfrm>
          <a:prstGeom prst="line">
            <a:avLst/>
          </a:prstGeom>
          <a:ln w="9525">
            <a:solidFill>
              <a:srgbClr val="FFFFFF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 flipH="1">
            <a:off x="7278480" y="1298160"/>
            <a:ext cx="694800" cy="402480"/>
          </a:xfrm>
          <a:prstGeom prst="line">
            <a:avLst/>
          </a:prstGeom>
          <a:ln w="9525">
            <a:solidFill>
              <a:srgbClr val="FFFFFF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 flipV="1">
            <a:off x="7973280" y="767880"/>
            <a:ext cx="384120" cy="530280"/>
          </a:xfrm>
          <a:prstGeom prst="line">
            <a:avLst/>
          </a:prstGeom>
          <a:ln w="9525">
            <a:solidFill>
              <a:srgbClr val="FFFFFF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7973280" y="1298160"/>
            <a:ext cx="567000" cy="384120"/>
          </a:xfrm>
          <a:prstGeom prst="line">
            <a:avLst/>
          </a:prstGeom>
          <a:ln w="9525">
            <a:solidFill>
              <a:srgbClr val="FFFFFF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6858000" y="548640"/>
            <a:ext cx="402120" cy="402120"/>
          </a:xfrm>
          <a:prstGeom prst="ellipse">
            <a:avLst/>
          </a:prstGeom>
          <a:solidFill>
            <a:srgbClr val="F2A623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7680960" y="1005840"/>
            <a:ext cx="585000" cy="585000"/>
          </a:xfrm>
          <a:prstGeom prst="ellipse">
            <a:avLst/>
          </a:prstGeom>
          <a:solidFill>
            <a:srgbClr val="7F77DD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7132320" y="1554480"/>
            <a:ext cx="292320" cy="292320"/>
          </a:xfrm>
          <a:prstGeom prst="ellipse">
            <a:avLst/>
          </a:prstGeom>
          <a:solidFill>
            <a:srgbClr val="5DCAA5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8229600" y="640080"/>
            <a:ext cx="255600" cy="255600"/>
          </a:xfrm>
          <a:prstGeom prst="ellipse">
            <a:avLst/>
          </a:prstGeom>
          <a:solidFill>
            <a:srgbClr val="5DCAA5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8321040" y="1463040"/>
            <a:ext cx="438480" cy="438480"/>
          </a:xfrm>
          <a:prstGeom prst="ellipse">
            <a:avLst/>
          </a:prstGeom>
          <a:solidFill>
            <a:srgbClr val="F2A623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566640" y="3492720"/>
            <a:ext cx="914400" cy="548640"/>
          </a:xfrm>
          <a:prstGeom prst="line">
            <a:avLst/>
          </a:prstGeom>
          <a:ln w="9525">
            <a:solidFill>
              <a:srgbClr val="FFFFFF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 flipH="1">
            <a:off x="786240" y="4041360"/>
            <a:ext cx="694800" cy="402480"/>
          </a:xfrm>
          <a:prstGeom prst="line">
            <a:avLst/>
          </a:prstGeom>
          <a:ln w="9525">
            <a:solidFill>
              <a:srgbClr val="FFFFFF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 flipV="1">
            <a:off x="1481040" y="3511080"/>
            <a:ext cx="384120" cy="530280"/>
          </a:xfrm>
          <a:prstGeom prst="line">
            <a:avLst/>
          </a:prstGeom>
          <a:ln w="9525">
            <a:solidFill>
              <a:srgbClr val="FFFFFF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1481040" y="4041360"/>
            <a:ext cx="567000" cy="384120"/>
          </a:xfrm>
          <a:prstGeom prst="line">
            <a:avLst/>
          </a:prstGeom>
          <a:ln w="9525">
            <a:solidFill>
              <a:srgbClr val="FFFFFF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365760" y="3291840"/>
            <a:ext cx="402120" cy="402120"/>
          </a:xfrm>
          <a:prstGeom prst="ellipse">
            <a:avLst/>
          </a:prstGeom>
          <a:solidFill>
            <a:srgbClr val="F2A623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1188720" y="3749040"/>
            <a:ext cx="585000" cy="585000"/>
          </a:xfrm>
          <a:prstGeom prst="ellipse">
            <a:avLst/>
          </a:prstGeom>
          <a:solidFill>
            <a:srgbClr val="7F77DD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640080" y="4297680"/>
            <a:ext cx="292320" cy="292320"/>
          </a:xfrm>
          <a:prstGeom prst="ellipse">
            <a:avLst/>
          </a:prstGeom>
          <a:solidFill>
            <a:srgbClr val="5DCAA5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1737360" y="3383280"/>
            <a:ext cx="255600" cy="255600"/>
          </a:xfrm>
          <a:prstGeom prst="ellipse">
            <a:avLst/>
          </a:prstGeom>
          <a:solidFill>
            <a:srgbClr val="5DCAA5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Shape 17"/>
          <p:cNvSpPr/>
          <p:nvPr/>
        </p:nvSpPr>
        <p:spPr>
          <a:xfrm>
            <a:off x="1828800" y="4206240"/>
            <a:ext cx="438480" cy="438480"/>
          </a:xfrm>
          <a:prstGeom prst="ellipse">
            <a:avLst/>
          </a:prstGeom>
          <a:solidFill>
            <a:srgbClr val="F2A623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Text 18"/>
          <p:cNvSpPr/>
          <p:nvPr/>
        </p:nvSpPr>
        <p:spPr>
          <a:xfrm>
            <a:off x="640080" y="105156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299">
                <a:solidFill>
                  <a:srgbClr val="F2A623"/>
                </a:solidFill>
                <a:latin typeface="Calibri"/>
                <a:ea typeface="Calibri"/>
              </a:rPr>
              <a:t>TECHNICAL SEMINAR  ·  75 MINUTES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Text 19"/>
          <p:cNvSpPr/>
          <p:nvPr/>
        </p:nvSpPr>
        <p:spPr>
          <a:xfrm>
            <a:off x="640080" y="1463040"/>
            <a:ext cx="7863480" cy="137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4200" b="1" strike="noStrike" spc="-1">
                <a:solidFill>
                  <a:srgbClr val="FFFFFF"/>
                </a:solidFill>
                <a:latin typeface="Cambria"/>
                <a:ea typeface="Cambria"/>
              </a:rPr>
              <a:t>Agentic AI for Conversational Apps</a:t>
            </a:r>
            <a:endParaRPr lang="en-US" sz="4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Text 20"/>
          <p:cNvSpPr/>
          <p:nvPr/>
        </p:nvSpPr>
        <p:spPr>
          <a:xfrm>
            <a:off x="640080" y="2788920"/>
            <a:ext cx="73148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0" strike="noStrike" spc="-1">
                <a:solidFill>
                  <a:srgbClr val="CADCFC"/>
                </a:solidFill>
                <a:latin typeface="Calibri"/>
                <a:ea typeface="Calibri"/>
              </a:rPr>
              <a:t>Mapping Google ADK concepts to real user-experience moments —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0" strike="noStrike" spc="-1">
                <a:solidFill>
                  <a:srgbClr val="CADCFC"/>
                </a:solidFill>
                <a:latin typeface="Calibri"/>
                <a:ea typeface="Calibri"/>
              </a:rPr>
              <a:t>built for technical teams who are new to Gen AI and agentic AI.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Shape 21"/>
          <p:cNvSpPr/>
          <p:nvPr/>
        </p:nvSpPr>
        <p:spPr>
          <a:xfrm>
            <a:off x="640080" y="4160520"/>
            <a:ext cx="3172680" cy="383760"/>
          </a:xfrm>
          <a:prstGeom prst="roundRect">
            <a:avLst>
              <a:gd name="adj" fmla="val 50000"/>
            </a:avLst>
          </a:prstGeom>
          <a:solidFill>
            <a:srgbClr val="3C3489"/>
          </a:solidFill>
          <a:ln w="12700">
            <a:solidFill>
              <a:srgbClr val="3C348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Text 22"/>
          <p:cNvSpPr/>
          <p:nvPr/>
        </p:nvSpPr>
        <p:spPr>
          <a:xfrm>
            <a:off x="640080" y="4160520"/>
            <a:ext cx="31726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CECBF6"/>
                </a:solidFill>
                <a:latin typeface="Calibri"/>
                <a:ea typeface="Calibri"/>
              </a:rPr>
              <a:t>No prior Gen AI experience needed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Shape 23"/>
          <p:cNvSpPr/>
          <p:nvPr/>
        </p:nvSpPr>
        <p:spPr>
          <a:xfrm>
            <a:off x="3977640" y="4160520"/>
            <a:ext cx="1279800" cy="383760"/>
          </a:xfrm>
          <a:prstGeom prst="roundRect">
            <a:avLst>
              <a:gd name="adj" fmla="val 50000"/>
            </a:avLst>
          </a:prstGeom>
          <a:solidFill>
            <a:srgbClr val="3C3489"/>
          </a:solidFill>
          <a:ln w="12700">
            <a:solidFill>
              <a:srgbClr val="3C348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Text 24"/>
          <p:cNvSpPr/>
          <p:nvPr/>
        </p:nvSpPr>
        <p:spPr>
          <a:xfrm>
            <a:off x="3977640" y="4160520"/>
            <a:ext cx="12798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CECBF6"/>
                </a:solidFill>
                <a:latin typeface="Calibri"/>
                <a:ea typeface="Calibri"/>
              </a:rPr>
              <a:t>Google ADK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Shape 25"/>
          <p:cNvSpPr/>
          <p:nvPr/>
        </p:nvSpPr>
        <p:spPr>
          <a:xfrm>
            <a:off x="5422320" y="4160520"/>
            <a:ext cx="2267280" cy="383760"/>
          </a:xfrm>
          <a:prstGeom prst="roundRect">
            <a:avLst>
              <a:gd name="adj" fmla="val 50000"/>
            </a:avLst>
          </a:prstGeom>
          <a:solidFill>
            <a:srgbClr val="3C3489"/>
          </a:solidFill>
          <a:ln w="12700">
            <a:solidFill>
              <a:srgbClr val="3C348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Text 26"/>
          <p:cNvSpPr/>
          <p:nvPr/>
        </p:nvSpPr>
        <p:spPr>
          <a:xfrm>
            <a:off x="5422320" y="4160520"/>
            <a:ext cx="22672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CECBF6"/>
                </a:solidFill>
                <a:latin typeface="Calibri"/>
                <a:ea typeface="Calibri"/>
              </a:rPr>
              <a:t>Live ADK demo included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0"/>
          <p:cNvSpPr/>
          <p:nvPr/>
        </p:nvSpPr>
        <p:spPr>
          <a:xfrm>
            <a:off x="457200" y="2926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199">
                <a:solidFill>
                  <a:srgbClr val="0F6E56"/>
                </a:solidFill>
                <a:latin typeface="Calibri"/>
                <a:ea typeface="Calibri"/>
              </a:rPr>
              <a:t>SESSION ROADMAP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1"/>
          <p:cNvSpPr/>
          <p:nvPr/>
        </p:nvSpPr>
        <p:spPr>
          <a:xfrm>
            <a:off x="457200" y="54864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26215C"/>
                </a:solidFill>
                <a:latin typeface="Cambria"/>
                <a:ea typeface="Cambria"/>
              </a:rPr>
              <a:t>How we'll spend 75 minutes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Shape 2"/>
          <p:cNvSpPr/>
          <p:nvPr/>
        </p:nvSpPr>
        <p:spPr>
          <a:xfrm>
            <a:off x="457200" y="1508760"/>
            <a:ext cx="1325520" cy="3245760"/>
          </a:xfrm>
          <a:prstGeom prst="roundRect">
            <a:avLst>
              <a:gd name="adj" fmla="val 5517"/>
            </a:avLst>
          </a:prstGeom>
          <a:solidFill>
            <a:srgbClr val="F8F7FC"/>
          </a:solidFill>
          <a:ln w="0">
            <a:noFill/>
          </a:ln>
          <a:effectLst>
            <a:outerShdw blurRad="63360" dist="255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Shape 3"/>
          <p:cNvSpPr/>
          <p:nvPr/>
        </p:nvSpPr>
        <p:spPr>
          <a:xfrm>
            <a:off x="891720" y="1737360"/>
            <a:ext cx="456840" cy="456840"/>
          </a:xfrm>
          <a:prstGeom prst="ellipse">
            <a:avLst/>
          </a:prstGeom>
          <a:solidFill>
            <a:srgbClr val="EEEDF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9" name="Image 0" descr="preencoded.png"/>
          <p:cNvPicPr/>
          <p:nvPr/>
        </p:nvPicPr>
        <p:blipFill>
          <a:blip r:embed="rId3"/>
          <a:stretch/>
        </p:blipFill>
        <p:spPr>
          <a:xfrm>
            <a:off x="1001160" y="184716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40" name="Text 4"/>
          <p:cNvSpPr/>
          <p:nvPr/>
        </p:nvSpPr>
        <p:spPr>
          <a:xfrm>
            <a:off x="548640" y="2331720"/>
            <a:ext cx="1142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-1">
                <a:solidFill>
                  <a:srgbClr val="767290"/>
                </a:solidFill>
                <a:latin typeface="Calibri"/>
                <a:ea typeface="Calibri"/>
              </a:rPr>
              <a:t>0:00 – 0:07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5"/>
          <p:cNvSpPr/>
          <p:nvPr/>
        </p:nvSpPr>
        <p:spPr>
          <a:xfrm>
            <a:off x="548640" y="2606040"/>
            <a:ext cx="11426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26215C"/>
                </a:solidFill>
                <a:latin typeface="Calibri"/>
                <a:ea typeface="Calibri"/>
              </a:rPr>
              <a:t>Why agentic, why now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 6"/>
          <p:cNvSpPr/>
          <p:nvPr/>
        </p:nvSpPr>
        <p:spPr>
          <a:xfrm>
            <a:off x="567000" y="3154680"/>
            <a:ext cx="1105920" cy="146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433F5C"/>
                </a:solidFill>
                <a:latin typeface="Calibri"/>
                <a:ea typeface="Calibri"/>
              </a:rPr>
              <a:t>The shift from deterministic chatbots to agentic AI, and why it matters for this use case.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Shape 7"/>
          <p:cNvSpPr/>
          <p:nvPr/>
        </p:nvSpPr>
        <p:spPr>
          <a:xfrm>
            <a:off x="1892880" y="1508760"/>
            <a:ext cx="1325520" cy="3245760"/>
          </a:xfrm>
          <a:prstGeom prst="roundRect">
            <a:avLst>
              <a:gd name="adj" fmla="val 5517"/>
            </a:avLst>
          </a:prstGeom>
          <a:solidFill>
            <a:srgbClr val="F8F7FC"/>
          </a:solidFill>
          <a:ln w="0">
            <a:noFill/>
          </a:ln>
          <a:effectLst>
            <a:outerShdw blurRad="63360" dist="255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Shape 8"/>
          <p:cNvSpPr/>
          <p:nvPr/>
        </p:nvSpPr>
        <p:spPr>
          <a:xfrm>
            <a:off x="2327040" y="1737360"/>
            <a:ext cx="456840" cy="456840"/>
          </a:xfrm>
          <a:prstGeom prst="ellipse">
            <a:avLst/>
          </a:prstGeom>
          <a:solidFill>
            <a:srgbClr val="FAEED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5" name="Image 1" descr="preencoded.png"/>
          <p:cNvPicPr/>
          <p:nvPr/>
        </p:nvPicPr>
        <p:blipFill>
          <a:blip r:embed="rId4"/>
          <a:stretch/>
        </p:blipFill>
        <p:spPr>
          <a:xfrm>
            <a:off x="2436840" y="184716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46" name="Text 9"/>
          <p:cNvSpPr/>
          <p:nvPr/>
        </p:nvSpPr>
        <p:spPr>
          <a:xfrm>
            <a:off x="1984320" y="2331720"/>
            <a:ext cx="1142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-1">
                <a:solidFill>
                  <a:srgbClr val="767290"/>
                </a:solidFill>
                <a:latin typeface="Calibri"/>
                <a:ea typeface="Calibri"/>
              </a:rPr>
              <a:t>0:07 – 0:13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10"/>
          <p:cNvSpPr/>
          <p:nvPr/>
        </p:nvSpPr>
        <p:spPr>
          <a:xfrm>
            <a:off x="1984320" y="2606040"/>
            <a:ext cx="11426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26215C"/>
                </a:solidFill>
                <a:latin typeface="Calibri"/>
                <a:ea typeface="Calibri"/>
              </a:rPr>
              <a:t>Overall architecture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11"/>
          <p:cNvSpPr/>
          <p:nvPr/>
        </p:nvSpPr>
        <p:spPr>
          <a:xfrm>
            <a:off x="2002680" y="3154680"/>
            <a:ext cx="1105920" cy="146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433F5C"/>
                </a:solidFill>
                <a:latin typeface="Calibri"/>
                <a:ea typeface="Calibri"/>
              </a:rPr>
              <a:t>Zooming out: the full stack this seminar's concepts live inside.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Shape 12"/>
          <p:cNvSpPr/>
          <p:nvPr/>
        </p:nvSpPr>
        <p:spPr>
          <a:xfrm>
            <a:off x="3328560" y="1508760"/>
            <a:ext cx="1325520" cy="3245760"/>
          </a:xfrm>
          <a:prstGeom prst="roundRect">
            <a:avLst>
              <a:gd name="adj" fmla="val 5517"/>
            </a:avLst>
          </a:prstGeom>
          <a:solidFill>
            <a:srgbClr val="F8F7FC"/>
          </a:solidFill>
          <a:ln w="0">
            <a:noFill/>
          </a:ln>
          <a:effectLst>
            <a:outerShdw blurRad="63360" dist="255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Shape 13"/>
          <p:cNvSpPr/>
          <p:nvPr/>
        </p:nvSpPr>
        <p:spPr>
          <a:xfrm>
            <a:off x="3762720" y="1737360"/>
            <a:ext cx="456840" cy="456840"/>
          </a:xfrm>
          <a:prstGeom prst="ellipse">
            <a:avLst/>
          </a:prstGeom>
          <a:solidFill>
            <a:srgbClr val="EEEDF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1" name="Image 2" descr="preencoded.png"/>
          <p:cNvPicPr/>
          <p:nvPr/>
        </p:nvPicPr>
        <p:blipFill>
          <a:blip r:embed="rId5"/>
          <a:stretch/>
        </p:blipFill>
        <p:spPr>
          <a:xfrm>
            <a:off x="3872520" y="184716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52" name="Text 14"/>
          <p:cNvSpPr/>
          <p:nvPr/>
        </p:nvSpPr>
        <p:spPr>
          <a:xfrm>
            <a:off x="3420000" y="2331720"/>
            <a:ext cx="1142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-1">
                <a:solidFill>
                  <a:srgbClr val="767290"/>
                </a:solidFill>
                <a:latin typeface="Calibri"/>
                <a:ea typeface="Calibri"/>
              </a:rPr>
              <a:t>0:13 – 0:55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15"/>
          <p:cNvSpPr/>
          <p:nvPr/>
        </p:nvSpPr>
        <p:spPr>
          <a:xfrm>
            <a:off x="3420000" y="2606040"/>
            <a:ext cx="11426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26215C"/>
                </a:solidFill>
                <a:latin typeface="Calibri"/>
                <a:ea typeface="Calibri"/>
              </a:rPr>
              <a:t>ADK building blocks ↔ UX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16"/>
          <p:cNvSpPr/>
          <p:nvPr/>
        </p:nvSpPr>
        <p:spPr>
          <a:xfrm>
            <a:off x="3438000" y="3154680"/>
            <a:ext cx="1105920" cy="146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433F5C"/>
                </a:solidFill>
                <a:latin typeface="Calibri"/>
                <a:ea typeface="Calibri"/>
              </a:rPr>
              <a:t>Session, state, memory, context engineering, multi-agent routing, tools.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Shape 17"/>
          <p:cNvSpPr/>
          <p:nvPr/>
        </p:nvSpPr>
        <p:spPr>
          <a:xfrm>
            <a:off x="4763880" y="1508760"/>
            <a:ext cx="1325520" cy="3245760"/>
          </a:xfrm>
          <a:prstGeom prst="roundRect">
            <a:avLst>
              <a:gd name="adj" fmla="val 5517"/>
            </a:avLst>
          </a:prstGeom>
          <a:solidFill>
            <a:srgbClr val="F8F7FC"/>
          </a:solidFill>
          <a:ln w="0">
            <a:noFill/>
          </a:ln>
          <a:effectLst>
            <a:outerShdw blurRad="63360" dist="255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Shape 18"/>
          <p:cNvSpPr/>
          <p:nvPr/>
        </p:nvSpPr>
        <p:spPr>
          <a:xfrm>
            <a:off x="5198400" y="1737360"/>
            <a:ext cx="456840" cy="456840"/>
          </a:xfrm>
          <a:prstGeom prst="ellipse">
            <a:avLst/>
          </a:prstGeom>
          <a:solidFill>
            <a:srgbClr val="FAEED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7" name="Image 3" descr="preencoded.png"/>
          <p:cNvPicPr/>
          <p:nvPr/>
        </p:nvPicPr>
        <p:blipFill>
          <a:blip r:embed="rId6"/>
          <a:stretch/>
        </p:blipFill>
        <p:spPr>
          <a:xfrm>
            <a:off x="5308200" y="184716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58" name="Text 19"/>
          <p:cNvSpPr/>
          <p:nvPr/>
        </p:nvSpPr>
        <p:spPr>
          <a:xfrm>
            <a:off x="4855320" y="2331720"/>
            <a:ext cx="1142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-1">
                <a:solidFill>
                  <a:srgbClr val="767290"/>
                </a:solidFill>
                <a:latin typeface="Calibri"/>
                <a:ea typeface="Calibri"/>
              </a:rPr>
              <a:t>0:55 – 1:05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20"/>
          <p:cNvSpPr/>
          <p:nvPr/>
        </p:nvSpPr>
        <p:spPr>
          <a:xfrm>
            <a:off x="4855320" y="2606040"/>
            <a:ext cx="11426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26215C"/>
                </a:solidFill>
                <a:latin typeface="Calibri"/>
                <a:ea typeface="Calibri"/>
              </a:rPr>
              <a:t>Platform onboarding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21"/>
          <p:cNvSpPr/>
          <p:nvPr/>
        </p:nvSpPr>
        <p:spPr>
          <a:xfrm>
            <a:off x="4873680" y="3154680"/>
            <a:ext cx="1105920" cy="146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433F5C"/>
                </a:solidFill>
                <a:latin typeface="Calibri"/>
                <a:ea typeface="Calibri"/>
              </a:rPr>
              <a:t>Reusable sub-agent hosting, sidecar services, and onboarding best practices.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22"/>
          <p:cNvSpPr/>
          <p:nvPr/>
        </p:nvSpPr>
        <p:spPr>
          <a:xfrm>
            <a:off x="6199560" y="1508760"/>
            <a:ext cx="1325520" cy="3245760"/>
          </a:xfrm>
          <a:prstGeom prst="roundRect">
            <a:avLst>
              <a:gd name="adj" fmla="val 5517"/>
            </a:avLst>
          </a:prstGeom>
          <a:solidFill>
            <a:srgbClr val="F8F7FC"/>
          </a:solidFill>
          <a:ln w="0">
            <a:noFill/>
          </a:ln>
          <a:effectLst>
            <a:outerShdw blurRad="63360" dist="255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23"/>
          <p:cNvSpPr/>
          <p:nvPr/>
        </p:nvSpPr>
        <p:spPr>
          <a:xfrm>
            <a:off x="6634080" y="1737360"/>
            <a:ext cx="456840" cy="456840"/>
          </a:xfrm>
          <a:prstGeom prst="ellipse">
            <a:avLst/>
          </a:prstGeom>
          <a:solidFill>
            <a:srgbClr val="E1F5E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3" name="Image 4" descr="preencoded.png"/>
          <p:cNvPicPr/>
          <p:nvPr/>
        </p:nvPicPr>
        <p:blipFill>
          <a:blip r:embed="rId7"/>
          <a:stretch/>
        </p:blipFill>
        <p:spPr>
          <a:xfrm>
            <a:off x="6743880" y="184716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64" name="Text 24"/>
          <p:cNvSpPr/>
          <p:nvPr/>
        </p:nvSpPr>
        <p:spPr>
          <a:xfrm>
            <a:off x="6291000" y="2331720"/>
            <a:ext cx="1142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-1">
                <a:solidFill>
                  <a:srgbClr val="767290"/>
                </a:solidFill>
                <a:latin typeface="Calibri"/>
                <a:ea typeface="Calibri"/>
              </a:rPr>
              <a:t>1:05 – 1:12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25"/>
          <p:cNvSpPr/>
          <p:nvPr/>
        </p:nvSpPr>
        <p:spPr>
          <a:xfrm>
            <a:off x="6291000" y="2606040"/>
            <a:ext cx="11426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26215C"/>
                </a:solidFill>
                <a:latin typeface="Calibri"/>
                <a:ea typeface="Calibri"/>
              </a:rPr>
              <a:t>Live demo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 26"/>
          <p:cNvSpPr/>
          <p:nvPr/>
        </p:nvSpPr>
        <p:spPr>
          <a:xfrm>
            <a:off x="6309360" y="3154680"/>
            <a:ext cx="1105920" cy="146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433F5C"/>
                </a:solidFill>
                <a:latin typeface="Calibri"/>
                <a:ea typeface="Calibri"/>
              </a:rPr>
              <a:t>A real ADK agent, traced end to end on the running banking example.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27"/>
          <p:cNvSpPr/>
          <p:nvPr/>
        </p:nvSpPr>
        <p:spPr>
          <a:xfrm>
            <a:off x="7635240" y="1508760"/>
            <a:ext cx="1325520" cy="3245760"/>
          </a:xfrm>
          <a:prstGeom prst="roundRect">
            <a:avLst>
              <a:gd name="adj" fmla="val 5517"/>
            </a:avLst>
          </a:prstGeom>
          <a:solidFill>
            <a:srgbClr val="F8F7FC"/>
          </a:solidFill>
          <a:ln w="0">
            <a:noFill/>
          </a:ln>
          <a:effectLst>
            <a:outerShdw blurRad="63360" dist="255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28"/>
          <p:cNvSpPr/>
          <p:nvPr/>
        </p:nvSpPr>
        <p:spPr>
          <a:xfrm>
            <a:off x="8069760" y="1737360"/>
            <a:ext cx="456840" cy="456840"/>
          </a:xfrm>
          <a:prstGeom prst="ellipse">
            <a:avLst/>
          </a:prstGeom>
          <a:solidFill>
            <a:srgbClr val="E1F5E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9" name="Image 5" descr="preencoded.png"/>
          <p:cNvPicPr/>
          <p:nvPr/>
        </p:nvPicPr>
        <p:blipFill>
          <a:blip r:embed="rId8"/>
          <a:stretch/>
        </p:blipFill>
        <p:spPr>
          <a:xfrm>
            <a:off x="8179200" y="184716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70" name="Text 29"/>
          <p:cNvSpPr/>
          <p:nvPr/>
        </p:nvSpPr>
        <p:spPr>
          <a:xfrm>
            <a:off x="7726680" y="2331720"/>
            <a:ext cx="1142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-1">
                <a:solidFill>
                  <a:srgbClr val="767290"/>
                </a:solidFill>
                <a:latin typeface="Calibri"/>
                <a:ea typeface="Calibri"/>
              </a:rPr>
              <a:t>1:12 – 1:15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30"/>
          <p:cNvSpPr/>
          <p:nvPr/>
        </p:nvSpPr>
        <p:spPr>
          <a:xfrm>
            <a:off x="7726680" y="2606040"/>
            <a:ext cx="11426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26215C"/>
                </a:solidFill>
                <a:latin typeface="Calibri"/>
                <a:ea typeface="Calibri"/>
              </a:rPr>
              <a:t>Wrap-up &amp; Q&amp;A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31"/>
          <p:cNvSpPr/>
          <p:nvPr/>
        </p:nvSpPr>
        <p:spPr>
          <a:xfrm>
            <a:off x="7745040" y="3154680"/>
            <a:ext cx="1105920" cy="146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433F5C"/>
                </a:solidFill>
                <a:latin typeface="Calibri"/>
                <a:ea typeface="Calibri"/>
              </a:rPr>
              <a:t>Key takeaways, resources, and a few quick questions.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1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0"/>
          <p:cNvSpPr/>
          <p:nvPr/>
        </p:nvSpPr>
        <p:spPr>
          <a:xfrm>
            <a:off x="7150320" y="658080"/>
            <a:ext cx="914400" cy="548640"/>
          </a:xfrm>
          <a:prstGeom prst="line">
            <a:avLst/>
          </a:prstGeom>
          <a:ln w="9525">
            <a:solidFill>
              <a:srgbClr val="FFFFFF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Shape 1"/>
          <p:cNvSpPr/>
          <p:nvPr/>
        </p:nvSpPr>
        <p:spPr>
          <a:xfrm flipH="1">
            <a:off x="7369920" y="1206720"/>
            <a:ext cx="694800" cy="402480"/>
          </a:xfrm>
          <a:prstGeom prst="line">
            <a:avLst/>
          </a:prstGeom>
          <a:ln w="9525">
            <a:solidFill>
              <a:srgbClr val="FFFFFF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Shape 2"/>
          <p:cNvSpPr/>
          <p:nvPr/>
        </p:nvSpPr>
        <p:spPr>
          <a:xfrm flipV="1">
            <a:off x="8064720" y="676440"/>
            <a:ext cx="384120" cy="530280"/>
          </a:xfrm>
          <a:prstGeom prst="line">
            <a:avLst/>
          </a:prstGeom>
          <a:ln w="9525">
            <a:solidFill>
              <a:srgbClr val="FFFFFF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Shape 3"/>
          <p:cNvSpPr/>
          <p:nvPr/>
        </p:nvSpPr>
        <p:spPr>
          <a:xfrm>
            <a:off x="8064720" y="1206720"/>
            <a:ext cx="567000" cy="384120"/>
          </a:xfrm>
          <a:prstGeom prst="line">
            <a:avLst/>
          </a:prstGeom>
          <a:ln w="9525">
            <a:solidFill>
              <a:srgbClr val="FFFFFF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Shape 4"/>
          <p:cNvSpPr/>
          <p:nvPr/>
        </p:nvSpPr>
        <p:spPr>
          <a:xfrm>
            <a:off x="6949440" y="457200"/>
            <a:ext cx="402120" cy="402120"/>
          </a:xfrm>
          <a:prstGeom prst="ellipse">
            <a:avLst/>
          </a:prstGeom>
          <a:solidFill>
            <a:srgbClr val="F2A623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5"/>
          <p:cNvSpPr/>
          <p:nvPr/>
        </p:nvSpPr>
        <p:spPr>
          <a:xfrm>
            <a:off x="7772400" y="914400"/>
            <a:ext cx="585000" cy="585000"/>
          </a:xfrm>
          <a:prstGeom prst="ellipse">
            <a:avLst/>
          </a:prstGeom>
          <a:solidFill>
            <a:srgbClr val="7F77DD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Shape 6"/>
          <p:cNvSpPr/>
          <p:nvPr/>
        </p:nvSpPr>
        <p:spPr>
          <a:xfrm>
            <a:off x="7223760" y="1463040"/>
            <a:ext cx="292320" cy="292320"/>
          </a:xfrm>
          <a:prstGeom prst="ellipse">
            <a:avLst/>
          </a:prstGeom>
          <a:solidFill>
            <a:srgbClr val="5DCAA5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7"/>
          <p:cNvSpPr/>
          <p:nvPr/>
        </p:nvSpPr>
        <p:spPr>
          <a:xfrm>
            <a:off x="8321040" y="548640"/>
            <a:ext cx="255600" cy="255600"/>
          </a:xfrm>
          <a:prstGeom prst="ellipse">
            <a:avLst/>
          </a:prstGeom>
          <a:solidFill>
            <a:srgbClr val="5DCAA5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Shape 8"/>
          <p:cNvSpPr/>
          <p:nvPr/>
        </p:nvSpPr>
        <p:spPr>
          <a:xfrm>
            <a:off x="8412480" y="1371600"/>
            <a:ext cx="438480" cy="438480"/>
          </a:xfrm>
          <a:prstGeom prst="ellipse">
            <a:avLst/>
          </a:prstGeom>
          <a:solidFill>
            <a:srgbClr val="F2A623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9"/>
          <p:cNvSpPr/>
          <p:nvPr/>
        </p:nvSpPr>
        <p:spPr>
          <a:xfrm>
            <a:off x="640080" y="1417320"/>
            <a:ext cx="914040" cy="914040"/>
          </a:xfrm>
          <a:prstGeom prst="ellipse">
            <a:avLst/>
          </a:prstGeom>
          <a:solidFill>
            <a:srgbClr val="3C348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3" name="Image 0" descr="preencoded.png"/>
          <p:cNvPicPr/>
          <p:nvPr/>
        </p:nvPicPr>
        <p:blipFill>
          <a:blip r:embed="rId3"/>
          <a:stretch/>
        </p:blipFill>
        <p:spPr>
          <a:xfrm>
            <a:off x="859680" y="1636920"/>
            <a:ext cx="475200" cy="475200"/>
          </a:xfrm>
          <a:prstGeom prst="rect">
            <a:avLst/>
          </a:prstGeom>
          <a:ln w="0">
            <a:noFill/>
          </a:ln>
        </p:spPr>
      </p:pic>
      <p:sp>
        <p:nvSpPr>
          <p:cNvPr id="84" name="Text 10"/>
          <p:cNvSpPr/>
          <p:nvPr/>
        </p:nvSpPr>
        <p:spPr>
          <a:xfrm>
            <a:off x="1828800" y="1417320"/>
            <a:ext cx="6400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299">
                <a:solidFill>
                  <a:srgbClr val="F2A623"/>
                </a:solidFill>
                <a:latin typeface="Calibri"/>
                <a:ea typeface="Calibri"/>
              </a:rPr>
              <a:t>PART 1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Text 11"/>
          <p:cNvSpPr/>
          <p:nvPr/>
        </p:nvSpPr>
        <p:spPr>
          <a:xfrm>
            <a:off x="1828800" y="1783080"/>
            <a:ext cx="667476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strike="noStrike" spc="-1">
                <a:solidFill>
                  <a:srgbClr val="FFFFFF"/>
                </a:solidFill>
                <a:latin typeface="Cambria"/>
                <a:ea typeface="Cambria"/>
              </a:rPr>
              <a:t>Why shift from deterministic to agentic</a:t>
            </a:r>
            <a:endParaRPr lang="en-US" sz="3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Text 12"/>
          <p:cNvSpPr/>
          <p:nvPr/>
        </p:nvSpPr>
        <p:spPr>
          <a:xfrm>
            <a:off x="1828800" y="2788920"/>
            <a:ext cx="64004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CECBF6"/>
                </a:solidFill>
                <a:latin typeface="Calibri"/>
                <a:ea typeface="Calibri"/>
              </a:rPr>
              <a:t>Setting up the rest of the session: what's actually changing, and why it matters now.</a:t>
            </a:r>
            <a:endParaRPr lang="en-US" sz="15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0"/>
          <p:cNvSpPr/>
          <p:nvPr/>
        </p:nvSpPr>
        <p:spPr>
          <a:xfrm>
            <a:off x="457200" y="2926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199">
                <a:solidFill>
                  <a:srgbClr val="0F6E56"/>
                </a:solidFill>
                <a:latin typeface="Calibri"/>
                <a:ea typeface="Calibri"/>
              </a:rPr>
              <a:t>INTRODUCTION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1"/>
          <p:cNvSpPr/>
          <p:nvPr/>
        </p:nvSpPr>
        <p:spPr>
          <a:xfrm>
            <a:off x="457200" y="54864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26215C"/>
                </a:solidFill>
                <a:latin typeface="Cambria"/>
                <a:ea typeface="Cambria"/>
              </a:rPr>
              <a:t>From a fixed decision tree to a reasoning loop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2"/>
          <p:cNvSpPr/>
          <p:nvPr/>
        </p:nvSpPr>
        <p:spPr>
          <a:xfrm>
            <a:off x="457200" y="1554480"/>
            <a:ext cx="4023000" cy="3200040"/>
          </a:xfrm>
          <a:prstGeom prst="roundRect">
            <a:avLst>
              <a:gd name="adj" fmla="val 2857"/>
            </a:avLst>
          </a:prstGeom>
          <a:solidFill>
            <a:srgbClr val="F8F7FC"/>
          </a:solidFill>
          <a:ln w="0">
            <a:noFill/>
          </a:ln>
          <a:effectLst>
            <a:outerShdw blurRad="63360" dist="255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Shape 3"/>
          <p:cNvSpPr/>
          <p:nvPr/>
        </p:nvSpPr>
        <p:spPr>
          <a:xfrm>
            <a:off x="777240" y="1828800"/>
            <a:ext cx="548280" cy="548280"/>
          </a:xfrm>
          <a:prstGeom prst="ellipse">
            <a:avLst/>
          </a:prstGeom>
          <a:solidFill>
            <a:srgbClr val="ECEBF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1" name="Image 0" descr="preencoded.png"/>
          <p:cNvPicPr/>
          <p:nvPr/>
        </p:nvPicPr>
        <p:blipFill>
          <a:blip r:embed="rId3"/>
          <a:stretch/>
        </p:blipFill>
        <p:spPr>
          <a:xfrm>
            <a:off x="909000" y="1960560"/>
            <a:ext cx="284760" cy="284760"/>
          </a:xfrm>
          <a:prstGeom prst="rect">
            <a:avLst/>
          </a:prstGeom>
          <a:ln w="0">
            <a:noFill/>
          </a:ln>
        </p:spPr>
      </p:pic>
      <p:sp>
        <p:nvSpPr>
          <p:cNvPr id="92" name="Text 4"/>
          <p:cNvSpPr/>
          <p:nvPr/>
        </p:nvSpPr>
        <p:spPr>
          <a:xfrm>
            <a:off x="1463040" y="1828800"/>
            <a:ext cx="27428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26215C"/>
                </a:solidFill>
                <a:latin typeface="Cambria"/>
                <a:ea typeface="Cambria"/>
              </a:rPr>
              <a:t>Deterministic chatbot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5"/>
          <p:cNvSpPr/>
          <p:nvPr/>
        </p:nvSpPr>
        <p:spPr>
          <a:xfrm>
            <a:off x="777240" y="2606040"/>
            <a:ext cx="338292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08000"/>
              </a:lnSpc>
              <a:buClr>
                <a:srgbClr val="433F5C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433F5C"/>
                </a:solidFill>
                <a:latin typeface="Calibri"/>
                <a:ea typeface="Calibri"/>
              </a:rPr>
              <a:t>Fixed path: for a given input, there's one pre-mapped output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6"/>
          <p:cNvSpPr/>
          <p:nvPr/>
        </p:nvSpPr>
        <p:spPr>
          <a:xfrm>
            <a:off x="777240" y="3319200"/>
            <a:ext cx="338292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08000"/>
              </a:lnSpc>
              <a:buClr>
                <a:srgbClr val="433F5C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433F5C"/>
                </a:solidFill>
                <a:latin typeface="Calibri"/>
                <a:ea typeface="Calibri"/>
              </a:rPr>
              <a:t>Fails outside known intents — falls back to “I didn't understand” or a human handoff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7"/>
          <p:cNvSpPr/>
          <p:nvPr/>
        </p:nvSpPr>
        <p:spPr>
          <a:xfrm>
            <a:off x="777240" y="4032360"/>
            <a:ext cx="338292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08000"/>
              </a:lnSpc>
              <a:buClr>
                <a:srgbClr val="433F5C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433F5C"/>
                </a:solidFill>
                <a:latin typeface="Calibri"/>
                <a:ea typeface="Calibri"/>
              </a:rPr>
              <a:t>Same answer for every user, no memory of past interactions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hape 8"/>
          <p:cNvSpPr/>
          <p:nvPr/>
        </p:nvSpPr>
        <p:spPr>
          <a:xfrm>
            <a:off x="4663440" y="1554480"/>
            <a:ext cx="4023000" cy="3200040"/>
          </a:xfrm>
          <a:prstGeom prst="roundRect">
            <a:avLst>
              <a:gd name="adj" fmla="val 2857"/>
            </a:avLst>
          </a:prstGeom>
          <a:solidFill>
            <a:srgbClr val="F8F7FC"/>
          </a:solidFill>
          <a:ln w="0">
            <a:noFill/>
          </a:ln>
          <a:effectLst>
            <a:outerShdw blurRad="63360" dist="255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Shape 9"/>
          <p:cNvSpPr/>
          <p:nvPr/>
        </p:nvSpPr>
        <p:spPr>
          <a:xfrm>
            <a:off x="4983480" y="1828800"/>
            <a:ext cx="548280" cy="548280"/>
          </a:xfrm>
          <a:prstGeom prst="ellipse">
            <a:avLst/>
          </a:prstGeom>
          <a:solidFill>
            <a:srgbClr val="FAEED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8" name="Image 1" descr="preencoded.png"/>
          <p:cNvPicPr/>
          <p:nvPr/>
        </p:nvPicPr>
        <p:blipFill>
          <a:blip r:embed="rId4"/>
          <a:stretch/>
        </p:blipFill>
        <p:spPr>
          <a:xfrm>
            <a:off x="5115240" y="1960560"/>
            <a:ext cx="284760" cy="284760"/>
          </a:xfrm>
          <a:prstGeom prst="rect">
            <a:avLst/>
          </a:prstGeom>
          <a:ln w="0">
            <a:noFill/>
          </a:ln>
        </p:spPr>
      </p:pic>
      <p:sp>
        <p:nvSpPr>
          <p:cNvPr id="99" name="Text 10"/>
          <p:cNvSpPr/>
          <p:nvPr/>
        </p:nvSpPr>
        <p:spPr>
          <a:xfrm>
            <a:off x="5669280" y="1828800"/>
            <a:ext cx="27428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26215C"/>
                </a:solidFill>
                <a:latin typeface="Cambria"/>
                <a:ea typeface="Cambria"/>
              </a:rPr>
              <a:t>Agentic assistant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11"/>
          <p:cNvSpPr/>
          <p:nvPr/>
        </p:nvSpPr>
        <p:spPr>
          <a:xfrm>
            <a:off x="4983480" y="2606040"/>
            <a:ext cx="338292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08000"/>
              </a:lnSpc>
              <a:buClr>
                <a:srgbClr val="433F5C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433F5C"/>
                </a:solidFill>
                <a:latin typeface="Calibri"/>
                <a:ea typeface="Calibri"/>
              </a:rPr>
              <a:t>Given a goal, tools, and memory, it reasons at runtime about what to do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 12"/>
          <p:cNvSpPr/>
          <p:nvPr/>
        </p:nvSpPr>
        <p:spPr>
          <a:xfrm>
            <a:off x="4983480" y="3319200"/>
            <a:ext cx="338292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08000"/>
              </a:lnSpc>
              <a:buClr>
                <a:srgbClr val="433F5C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433F5C"/>
                </a:solidFill>
                <a:latin typeface="Calibri"/>
                <a:ea typeface="Calibri"/>
              </a:rPr>
              <a:t>Handles multi-part and novel requests, not just pre-mapped ones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13"/>
          <p:cNvSpPr/>
          <p:nvPr/>
        </p:nvSpPr>
        <p:spPr>
          <a:xfrm>
            <a:off x="4983480" y="4032360"/>
            <a:ext cx="338292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08000"/>
              </a:lnSpc>
              <a:buClr>
                <a:srgbClr val="433F5C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433F5C"/>
                </a:solidFill>
                <a:latin typeface="Calibri"/>
                <a:ea typeface="Calibri"/>
              </a:rPr>
              <a:t>Personalizes using memory and can take real actions, not just answer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Shape 14"/>
          <p:cNvSpPr/>
          <p:nvPr/>
        </p:nvSpPr>
        <p:spPr>
          <a:xfrm>
            <a:off x="4297680" y="2971800"/>
            <a:ext cx="548280" cy="548280"/>
          </a:xfrm>
          <a:prstGeom prst="ellipse">
            <a:avLst/>
          </a:prstGeom>
          <a:solidFill>
            <a:srgbClr val="26215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Text 15"/>
          <p:cNvSpPr/>
          <p:nvPr/>
        </p:nvSpPr>
        <p:spPr>
          <a:xfrm>
            <a:off x="4297680" y="297180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FFFFFF"/>
                </a:solidFill>
                <a:latin typeface="Calibri"/>
                <a:ea typeface="Calibri"/>
              </a:rPr>
              <a:t>&gt;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 0"/>
          <p:cNvSpPr/>
          <p:nvPr/>
        </p:nvSpPr>
        <p:spPr>
          <a:xfrm>
            <a:off x="457200" y="2926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199">
                <a:solidFill>
                  <a:srgbClr val="0F6E56"/>
                </a:solidFill>
                <a:latin typeface="Calibri"/>
                <a:ea typeface="Calibri"/>
              </a:rPr>
              <a:t>INTRODUCTION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1"/>
          <p:cNvSpPr/>
          <p:nvPr/>
        </p:nvSpPr>
        <p:spPr>
          <a:xfrm>
            <a:off x="457200" y="54864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26215C"/>
                </a:solidFill>
                <a:latin typeface="Cambria"/>
                <a:ea typeface="Cambria"/>
              </a:rPr>
              <a:t>Why this shift matters right now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2"/>
          <p:cNvSpPr/>
          <p:nvPr/>
        </p:nvSpPr>
        <p:spPr>
          <a:xfrm>
            <a:off x="548640" y="1463040"/>
            <a:ext cx="566640" cy="566640"/>
          </a:xfrm>
          <a:prstGeom prst="ellipse">
            <a:avLst/>
          </a:prstGeom>
          <a:solidFill>
            <a:srgbClr val="EEEDF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8" name="Image 0" descr="preencoded.png"/>
          <p:cNvPicPr/>
          <p:nvPr/>
        </p:nvPicPr>
        <p:blipFill>
          <a:blip r:embed="rId3"/>
          <a:stretch/>
        </p:blipFill>
        <p:spPr>
          <a:xfrm>
            <a:off x="684720" y="1599120"/>
            <a:ext cx="294480" cy="294480"/>
          </a:xfrm>
          <a:prstGeom prst="rect">
            <a:avLst/>
          </a:prstGeom>
          <a:ln w="0">
            <a:noFill/>
          </a:ln>
        </p:spPr>
      </p:pic>
      <p:sp>
        <p:nvSpPr>
          <p:cNvPr id="109" name="Text 3"/>
          <p:cNvSpPr/>
          <p:nvPr/>
        </p:nvSpPr>
        <p:spPr>
          <a:xfrm>
            <a:off x="1371600" y="1408320"/>
            <a:ext cx="512028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26215C"/>
                </a:solidFill>
                <a:latin typeface="Calibri"/>
                <a:ea typeface="Calibri"/>
              </a:rPr>
              <a:t>Richer, generative use cases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4"/>
          <p:cNvSpPr/>
          <p:nvPr/>
        </p:nvSpPr>
        <p:spPr>
          <a:xfrm>
            <a:off x="1371600" y="1728360"/>
            <a:ext cx="51202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433F5C"/>
                </a:solidFill>
                <a:latin typeface="Calibri"/>
                <a:ea typeface="Calibri"/>
              </a:rPr>
              <a:t>One message can now carry multiple intents — e.g. reviewing a transaction and applying for a new card in the same conversation — without the user starting over.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Shape 5"/>
          <p:cNvSpPr/>
          <p:nvPr/>
        </p:nvSpPr>
        <p:spPr>
          <a:xfrm>
            <a:off x="6629400" y="1444680"/>
            <a:ext cx="2057040" cy="767880"/>
          </a:xfrm>
          <a:prstGeom prst="roundRect">
            <a:avLst>
              <a:gd name="adj" fmla="val 9524"/>
            </a:avLst>
          </a:prstGeom>
          <a:solidFill>
            <a:srgbClr val="F8F7F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6"/>
          <p:cNvSpPr/>
          <p:nvPr/>
        </p:nvSpPr>
        <p:spPr>
          <a:xfrm>
            <a:off x="6766560" y="1444680"/>
            <a:ext cx="1782720" cy="76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50" b="1" strike="noStrike" spc="-1">
                <a:solidFill>
                  <a:srgbClr val="26215C"/>
                </a:solidFill>
                <a:latin typeface="Calibri"/>
                <a:ea typeface="Calibri"/>
              </a:rPr>
              <a:t>99% plan to deploy AI agents; only 11% have¹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Shape 7"/>
          <p:cNvSpPr/>
          <p:nvPr/>
        </p:nvSpPr>
        <p:spPr>
          <a:xfrm>
            <a:off x="548640" y="2377440"/>
            <a:ext cx="566640" cy="566640"/>
          </a:xfrm>
          <a:prstGeom prst="ellipse">
            <a:avLst/>
          </a:prstGeom>
          <a:solidFill>
            <a:srgbClr val="FAEED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4" name="Image 1" descr="preencoded.png"/>
          <p:cNvPicPr/>
          <p:nvPr/>
        </p:nvPicPr>
        <p:blipFill>
          <a:blip r:embed="rId4"/>
          <a:stretch/>
        </p:blipFill>
        <p:spPr>
          <a:xfrm>
            <a:off x="684720" y="2513520"/>
            <a:ext cx="294480" cy="294480"/>
          </a:xfrm>
          <a:prstGeom prst="rect">
            <a:avLst/>
          </a:prstGeom>
          <a:ln w="0">
            <a:noFill/>
          </a:ln>
        </p:spPr>
      </p:pic>
      <p:sp>
        <p:nvSpPr>
          <p:cNvPr id="115" name="Text 8"/>
          <p:cNvSpPr/>
          <p:nvPr/>
        </p:nvSpPr>
        <p:spPr>
          <a:xfrm>
            <a:off x="1371600" y="2322720"/>
            <a:ext cx="512028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26215C"/>
                </a:solidFill>
                <a:latin typeface="Calibri"/>
                <a:ea typeface="Calibri"/>
              </a:rPr>
              <a:t>Customer expectations have shifted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9"/>
          <p:cNvSpPr/>
          <p:nvPr/>
        </p:nvSpPr>
        <p:spPr>
          <a:xfrm>
            <a:off x="1371600" y="2642760"/>
            <a:ext cx="51202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433F5C"/>
                </a:solidFill>
                <a:latin typeface="Calibri"/>
                <a:ea typeface="Calibri"/>
              </a:rPr>
              <a:t>People compare every assistant to the best generative AI products they already use — an FAQ-only bot now feels outdated by comparison.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Shape 10"/>
          <p:cNvSpPr/>
          <p:nvPr/>
        </p:nvSpPr>
        <p:spPr>
          <a:xfrm>
            <a:off x="6629400" y="2359080"/>
            <a:ext cx="2057040" cy="767880"/>
          </a:xfrm>
          <a:prstGeom prst="roundRect">
            <a:avLst>
              <a:gd name="adj" fmla="val 9524"/>
            </a:avLst>
          </a:prstGeom>
          <a:solidFill>
            <a:srgbClr val="F8F7F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11"/>
          <p:cNvSpPr/>
          <p:nvPr/>
        </p:nvSpPr>
        <p:spPr>
          <a:xfrm>
            <a:off x="6766560" y="2359080"/>
            <a:ext cx="1782720" cy="76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50" b="1" strike="noStrike" spc="-1">
                <a:solidFill>
                  <a:srgbClr val="854F0B"/>
                </a:solidFill>
                <a:latin typeface="Calibri"/>
                <a:ea typeface="Calibri"/>
              </a:rPr>
              <a:t>62% trust their bank most for gen AI — vs. 19% for big tech²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Shape 12"/>
          <p:cNvSpPr/>
          <p:nvPr/>
        </p:nvSpPr>
        <p:spPr>
          <a:xfrm>
            <a:off x="548640" y="3291840"/>
            <a:ext cx="566640" cy="566640"/>
          </a:xfrm>
          <a:prstGeom prst="ellipse">
            <a:avLst/>
          </a:prstGeom>
          <a:solidFill>
            <a:srgbClr val="FAECE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0" name="Image 2" descr="preencoded.png"/>
          <p:cNvPicPr/>
          <p:nvPr/>
        </p:nvPicPr>
        <p:blipFill>
          <a:blip r:embed="rId5"/>
          <a:stretch/>
        </p:blipFill>
        <p:spPr>
          <a:xfrm>
            <a:off x="684720" y="3427920"/>
            <a:ext cx="294480" cy="294480"/>
          </a:xfrm>
          <a:prstGeom prst="rect">
            <a:avLst/>
          </a:prstGeom>
          <a:ln w="0">
            <a:noFill/>
          </a:ln>
        </p:spPr>
      </p:pic>
      <p:sp>
        <p:nvSpPr>
          <p:cNvPr id="121" name="Text 13"/>
          <p:cNvSpPr/>
          <p:nvPr/>
        </p:nvSpPr>
        <p:spPr>
          <a:xfrm>
            <a:off x="1371600" y="3237120"/>
            <a:ext cx="512028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26215C"/>
                </a:solidFill>
                <a:latin typeface="Calibri"/>
                <a:ea typeface="Calibri"/>
              </a:rPr>
              <a:t>Meeting industry standards for external experiences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 14"/>
          <p:cNvSpPr/>
          <p:nvPr/>
        </p:nvSpPr>
        <p:spPr>
          <a:xfrm>
            <a:off x="1371600" y="3557160"/>
            <a:ext cx="51202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433F5C"/>
                </a:solidFill>
                <a:latin typeface="Calibri"/>
                <a:ea typeface="Calibri"/>
              </a:rPr>
              <a:t>Customer- and partner-facing conversations carry real brand and trust risk, and regulated industries need every agent action to be traceable and auditable.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Shape 15"/>
          <p:cNvSpPr/>
          <p:nvPr/>
        </p:nvSpPr>
        <p:spPr>
          <a:xfrm>
            <a:off x="6629400" y="3273480"/>
            <a:ext cx="2057040" cy="767880"/>
          </a:xfrm>
          <a:prstGeom prst="roundRect">
            <a:avLst>
              <a:gd name="adj" fmla="val 9524"/>
            </a:avLst>
          </a:prstGeom>
          <a:solidFill>
            <a:srgbClr val="F8F7F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 16"/>
          <p:cNvSpPr/>
          <p:nvPr/>
        </p:nvSpPr>
        <p:spPr>
          <a:xfrm>
            <a:off x="6766560" y="3273480"/>
            <a:ext cx="1782720" cy="76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50" b="1" strike="noStrike" spc="-1">
                <a:solidFill>
                  <a:srgbClr val="D85A30"/>
                </a:solidFill>
                <a:latin typeface="Calibri"/>
                <a:ea typeface="Calibri"/>
              </a:rPr>
              <a:t>EU AI Act high-risk rules apply from Aug 2026³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Shape 17"/>
          <p:cNvSpPr/>
          <p:nvPr/>
        </p:nvSpPr>
        <p:spPr>
          <a:xfrm>
            <a:off x="457200" y="4251960"/>
            <a:ext cx="8229240" cy="456840"/>
          </a:xfrm>
          <a:prstGeom prst="roundRect">
            <a:avLst>
              <a:gd name="adj" fmla="val 16000"/>
            </a:avLst>
          </a:prstGeom>
          <a:solidFill>
            <a:srgbClr val="EEEDF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 18"/>
          <p:cNvSpPr/>
          <p:nvPr/>
        </p:nvSpPr>
        <p:spPr>
          <a:xfrm>
            <a:off x="640080" y="425196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26215C"/>
                </a:solidFill>
                <a:latin typeface="Calibri"/>
                <a:ea typeface="Calibri"/>
              </a:rPr>
              <a:t>We'll use Google's Agent Development Kit (ADK) as our reference framework — a consistent vocabulary for every concept in today's session.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 19"/>
          <p:cNvSpPr/>
          <p:nvPr/>
        </p:nvSpPr>
        <p:spPr>
          <a:xfrm>
            <a:off x="457200" y="477324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i="1" strike="noStrike" spc="-1">
                <a:solidFill>
                  <a:srgbClr val="767290"/>
                </a:solidFill>
                <a:latin typeface="Calibri"/>
                <a:ea typeface="Calibri"/>
              </a:rPr>
              <a:t>¹ KPMG, via Neurons Lab (2026)   ¹¹ McKinsey Global Banking Annual Review Survey (2025)   ¹¹¹ EU AI Act, high-risk provisions — full references on the last slide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1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hape 0"/>
          <p:cNvSpPr/>
          <p:nvPr/>
        </p:nvSpPr>
        <p:spPr>
          <a:xfrm>
            <a:off x="7150320" y="658080"/>
            <a:ext cx="914400" cy="548640"/>
          </a:xfrm>
          <a:prstGeom prst="line">
            <a:avLst/>
          </a:prstGeom>
          <a:ln w="9525">
            <a:solidFill>
              <a:srgbClr val="FFFFFF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Shape 1"/>
          <p:cNvSpPr/>
          <p:nvPr/>
        </p:nvSpPr>
        <p:spPr>
          <a:xfrm flipH="1">
            <a:off x="7369920" y="1206720"/>
            <a:ext cx="694800" cy="402480"/>
          </a:xfrm>
          <a:prstGeom prst="line">
            <a:avLst/>
          </a:prstGeom>
          <a:ln w="9525">
            <a:solidFill>
              <a:srgbClr val="FFFFFF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Shape 2"/>
          <p:cNvSpPr/>
          <p:nvPr/>
        </p:nvSpPr>
        <p:spPr>
          <a:xfrm flipV="1">
            <a:off x="8064720" y="676440"/>
            <a:ext cx="384120" cy="530280"/>
          </a:xfrm>
          <a:prstGeom prst="line">
            <a:avLst/>
          </a:prstGeom>
          <a:ln w="9525">
            <a:solidFill>
              <a:srgbClr val="FFFFFF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Shape 3"/>
          <p:cNvSpPr/>
          <p:nvPr/>
        </p:nvSpPr>
        <p:spPr>
          <a:xfrm>
            <a:off x="8064720" y="1206720"/>
            <a:ext cx="567000" cy="384120"/>
          </a:xfrm>
          <a:prstGeom prst="line">
            <a:avLst/>
          </a:prstGeom>
          <a:ln w="9525">
            <a:solidFill>
              <a:srgbClr val="FFFFFF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Shape 4"/>
          <p:cNvSpPr/>
          <p:nvPr/>
        </p:nvSpPr>
        <p:spPr>
          <a:xfrm>
            <a:off x="6949440" y="457200"/>
            <a:ext cx="402120" cy="402120"/>
          </a:xfrm>
          <a:prstGeom prst="ellipse">
            <a:avLst/>
          </a:prstGeom>
          <a:solidFill>
            <a:srgbClr val="F2A623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Shape 5"/>
          <p:cNvSpPr/>
          <p:nvPr/>
        </p:nvSpPr>
        <p:spPr>
          <a:xfrm>
            <a:off x="7772400" y="914400"/>
            <a:ext cx="585000" cy="585000"/>
          </a:xfrm>
          <a:prstGeom prst="ellipse">
            <a:avLst/>
          </a:prstGeom>
          <a:solidFill>
            <a:srgbClr val="7F77DD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Shape 6"/>
          <p:cNvSpPr/>
          <p:nvPr/>
        </p:nvSpPr>
        <p:spPr>
          <a:xfrm>
            <a:off x="7223760" y="1463040"/>
            <a:ext cx="292320" cy="292320"/>
          </a:xfrm>
          <a:prstGeom prst="ellipse">
            <a:avLst/>
          </a:prstGeom>
          <a:solidFill>
            <a:srgbClr val="5DCAA5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Shape 7"/>
          <p:cNvSpPr/>
          <p:nvPr/>
        </p:nvSpPr>
        <p:spPr>
          <a:xfrm>
            <a:off x="8321040" y="548640"/>
            <a:ext cx="255600" cy="255600"/>
          </a:xfrm>
          <a:prstGeom prst="ellipse">
            <a:avLst/>
          </a:prstGeom>
          <a:solidFill>
            <a:srgbClr val="5DCAA5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Shape 8"/>
          <p:cNvSpPr/>
          <p:nvPr/>
        </p:nvSpPr>
        <p:spPr>
          <a:xfrm>
            <a:off x="8412480" y="1371600"/>
            <a:ext cx="438480" cy="438480"/>
          </a:xfrm>
          <a:prstGeom prst="ellipse">
            <a:avLst/>
          </a:prstGeom>
          <a:solidFill>
            <a:srgbClr val="F2A623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Shape 9"/>
          <p:cNvSpPr/>
          <p:nvPr/>
        </p:nvSpPr>
        <p:spPr>
          <a:xfrm>
            <a:off x="640080" y="1417320"/>
            <a:ext cx="914040" cy="914040"/>
          </a:xfrm>
          <a:prstGeom prst="ellipse">
            <a:avLst/>
          </a:prstGeom>
          <a:solidFill>
            <a:srgbClr val="3C348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8" name="Image 0" descr="preencoded.png"/>
          <p:cNvPicPr/>
          <p:nvPr/>
        </p:nvPicPr>
        <p:blipFill>
          <a:blip r:embed="rId3"/>
          <a:stretch/>
        </p:blipFill>
        <p:spPr>
          <a:xfrm>
            <a:off x="859680" y="1636920"/>
            <a:ext cx="475200" cy="475200"/>
          </a:xfrm>
          <a:prstGeom prst="rect">
            <a:avLst/>
          </a:prstGeom>
          <a:ln w="0">
            <a:noFill/>
          </a:ln>
        </p:spPr>
      </p:pic>
      <p:sp>
        <p:nvSpPr>
          <p:cNvPr id="139" name="Text 10"/>
          <p:cNvSpPr/>
          <p:nvPr/>
        </p:nvSpPr>
        <p:spPr>
          <a:xfrm>
            <a:off x="1828800" y="1417320"/>
            <a:ext cx="6400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299">
                <a:solidFill>
                  <a:srgbClr val="F2A623"/>
                </a:solidFill>
                <a:latin typeface="Calibri"/>
                <a:ea typeface="Calibri"/>
              </a:rPr>
              <a:t>PART 2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Text 11"/>
          <p:cNvSpPr/>
          <p:nvPr/>
        </p:nvSpPr>
        <p:spPr>
          <a:xfrm>
            <a:off x="1828800" y="1783080"/>
            <a:ext cx="667476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strike="noStrike" spc="-1">
                <a:solidFill>
                  <a:srgbClr val="FFFFFF"/>
                </a:solidFill>
                <a:latin typeface="Cambria"/>
                <a:ea typeface="Cambria"/>
              </a:rPr>
              <a:t>Overall Agentic AI Architecture</a:t>
            </a:r>
            <a:endParaRPr lang="en-US" sz="3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Text 12"/>
          <p:cNvSpPr/>
          <p:nvPr/>
        </p:nvSpPr>
        <p:spPr>
          <a:xfrm>
            <a:off x="1828800" y="2788920"/>
            <a:ext cx="64004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CECBF6"/>
                </a:solidFill>
                <a:latin typeface="Calibri"/>
                <a:ea typeface="Calibri"/>
              </a:rPr>
              <a:t>Zooming out before we zoom in: the full stack this seminar's concepts live inside.</a:t>
            </a:r>
            <a:endParaRPr lang="en-US" sz="15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 0"/>
          <p:cNvSpPr/>
          <p:nvPr/>
        </p:nvSpPr>
        <p:spPr>
          <a:xfrm>
            <a:off x="457200" y="2926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199">
                <a:solidFill>
                  <a:srgbClr val="0F6E56"/>
                </a:solidFill>
                <a:latin typeface="Calibri"/>
                <a:ea typeface="Calibri"/>
              </a:rPr>
              <a:t>ARCHITECTURE OVERVIEW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1"/>
          <p:cNvSpPr/>
          <p:nvPr/>
        </p:nvSpPr>
        <p:spPr>
          <a:xfrm>
            <a:off x="457200" y="54864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26215C"/>
                </a:solidFill>
                <a:latin typeface="Cambria"/>
                <a:ea typeface="Cambria"/>
              </a:rPr>
              <a:t>The full stack, top to bottom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Shape 2"/>
          <p:cNvSpPr/>
          <p:nvPr/>
        </p:nvSpPr>
        <p:spPr>
          <a:xfrm>
            <a:off x="457200" y="1325880"/>
            <a:ext cx="8229240" cy="475200"/>
          </a:xfrm>
          <a:prstGeom prst="roundRect">
            <a:avLst>
              <a:gd name="adj" fmla="val 13462"/>
            </a:avLst>
          </a:prstGeom>
          <a:solidFill>
            <a:srgbClr val="ECEBF4"/>
          </a:solidFill>
          <a:ln w="12700">
            <a:solidFill>
              <a:srgbClr val="ECEBF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 3"/>
          <p:cNvSpPr/>
          <p:nvPr/>
        </p:nvSpPr>
        <p:spPr>
          <a:xfrm>
            <a:off x="685800" y="1325880"/>
            <a:ext cx="237708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767290"/>
                </a:solidFill>
                <a:latin typeface="Calibri"/>
                <a:ea typeface="Calibri"/>
              </a:rPr>
              <a:t>Channel / interface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 4"/>
          <p:cNvSpPr/>
          <p:nvPr/>
        </p:nvSpPr>
        <p:spPr>
          <a:xfrm>
            <a:off x="3154680" y="1325880"/>
            <a:ext cx="53031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433F5C"/>
                </a:solidFill>
                <a:latin typeface="Calibri"/>
                <a:ea typeface="Calibri"/>
              </a:rPr>
              <a:t>Mobile, web, voice, messaging — renders a channel-agnostic payload natively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Shape 5"/>
          <p:cNvSpPr/>
          <p:nvPr/>
        </p:nvSpPr>
        <p:spPr>
          <a:xfrm>
            <a:off x="457200" y="1874520"/>
            <a:ext cx="8229240" cy="475200"/>
          </a:xfrm>
          <a:prstGeom prst="roundRect">
            <a:avLst>
              <a:gd name="adj" fmla="val 13462"/>
            </a:avLst>
          </a:prstGeom>
          <a:solidFill>
            <a:srgbClr val="E1F5EE"/>
          </a:solidFill>
          <a:ln w="12700">
            <a:solidFill>
              <a:srgbClr val="E1F5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 6"/>
          <p:cNvSpPr/>
          <p:nvPr/>
        </p:nvSpPr>
        <p:spPr>
          <a:xfrm>
            <a:off x="685800" y="1874520"/>
            <a:ext cx="237708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0F6E56"/>
                </a:solidFill>
                <a:latin typeface="Calibri"/>
                <a:ea typeface="Calibri"/>
              </a:rPr>
              <a:t>Session management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 7"/>
          <p:cNvSpPr/>
          <p:nvPr/>
        </p:nvSpPr>
        <p:spPr>
          <a:xfrm>
            <a:off x="3154680" y="1874520"/>
            <a:ext cx="53031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433F5C"/>
                </a:solidFill>
                <a:latin typeface="Calibri"/>
                <a:ea typeface="Calibri"/>
              </a:rPr>
              <a:t>Single source of truth for state &amp; history, across every channel and sub-agent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Shape 8"/>
          <p:cNvSpPr/>
          <p:nvPr/>
        </p:nvSpPr>
        <p:spPr>
          <a:xfrm>
            <a:off x="457200" y="2423160"/>
            <a:ext cx="8229240" cy="475200"/>
          </a:xfrm>
          <a:prstGeom prst="roundRect">
            <a:avLst>
              <a:gd name="adj" fmla="val 13462"/>
            </a:avLst>
          </a:prstGeom>
          <a:solidFill>
            <a:srgbClr val="EEEDFE"/>
          </a:solidFill>
          <a:ln w="12700">
            <a:solidFill>
              <a:srgbClr val="EEED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 9"/>
          <p:cNvSpPr/>
          <p:nvPr/>
        </p:nvSpPr>
        <p:spPr>
          <a:xfrm>
            <a:off x="685800" y="2423160"/>
            <a:ext cx="237708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26215C"/>
                </a:solidFill>
                <a:latin typeface="Calibri"/>
                <a:ea typeface="Calibri"/>
              </a:rPr>
              <a:t>Orchestration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10"/>
          <p:cNvSpPr/>
          <p:nvPr/>
        </p:nvSpPr>
        <p:spPr>
          <a:xfrm>
            <a:off x="3154680" y="2423160"/>
            <a:ext cx="53031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433F5C"/>
                </a:solidFill>
                <a:latin typeface="Calibri"/>
                <a:ea typeface="Calibri"/>
              </a:rPr>
              <a:t>Intent routing, context engineering, model-pairing decisions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hape 11"/>
          <p:cNvSpPr/>
          <p:nvPr/>
        </p:nvSpPr>
        <p:spPr>
          <a:xfrm>
            <a:off x="457200" y="2971800"/>
            <a:ext cx="8229240" cy="475200"/>
          </a:xfrm>
          <a:prstGeom prst="roundRect">
            <a:avLst>
              <a:gd name="adj" fmla="val 13462"/>
            </a:avLst>
          </a:prstGeom>
          <a:solidFill>
            <a:srgbClr val="EEEDFE"/>
          </a:solidFill>
          <a:ln w="12700">
            <a:solidFill>
              <a:srgbClr val="EEED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 12"/>
          <p:cNvSpPr/>
          <p:nvPr/>
        </p:nvSpPr>
        <p:spPr>
          <a:xfrm>
            <a:off x="685800" y="2971800"/>
            <a:ext cx="237708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26215C"/>
                </a:solidFill>
                <a:latin typeface="Calibri"/>
                <a:ea typeface="Calibri"/>
              </a:rPr>
              <a:t>Domain sub-agents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 13"/>
          <p:cNvSpPr/>
          <p:nvPr/>
        </p:nvSpPr>
        <p:spPr>
          <a:xfrm>
            <a:off x="3154680" y="2971800"/>
            <a:ext cx="53031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433F5C"/>
                </a:solidFill>
                <a:latin typeface="Calibri"/>
                <a:ea typeface="Calibri"/>
              </a:rPr>
              <a:t>Business logic and tools — built by enterprise teams, hosted by the platform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Shape 14"/>
          <p:cNvSpPr/>
          <p:nvPr/>
        </p:nvSpPr>
        <p:spPr>
          <a:xfrm>
            <a:off x="457200" y="3520440"/>
            <a:ext cx="8229240" cy="475200"/>
          </a:xfrm>
          <a:prstGeom prst="roundRect">
            <a:avLst>
              <a:gd name="adj" fmla="val 13462"/>
            </a:avLst>
          </a:prstGeom>
          <a:solidFill>
            <a:srgbClr val="FAEEDA"/>
          </a:solidFill>
          <a:ln w="12700">
            <a:solidFill>
              <a:srgbClr val="FAEED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15"/>
          <p:cNvSpPr/>
          <p:nvPr/>
        </p:nvSpPr>
        <p:spPr>
          <a:xfrm>
            <a:off x="685800" y="3520440"/>
            <a:ext cx="237708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854F0B"/>
                </a:solidFill>
                <a:latin typeface="Calibri"/>
                <a:ea typeface="Calibri"/>
              </a:rPr>
              <a:t>Sidecar services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 16"/>
          <p:cNvSpPr/>
          <p:nvPr/>
        </p:nvSpPr>
        <p:spPr>
          <a:xfrm>
            <a:off x="3154680" y="3520440"/>
            <a:ext cx="53031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433F5C"/>
                </a:solidFill>
                <a:latin typeface="Calibri"/>
                <a:ea typeface="Calibri"/>
              </a:rPr>
              <a:t>Evals, guardrails, traceability, observability — shared by every sub-agent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Shape 17"/>
          <p:cNvSpPr/>
          <p:nvPr/>
        </p:nvSpPr>
        <p:spPr>
          <a:xfrm>
            <a:off x="457200" y="4069080"/>
            <a:ext cx="8229240" cy="475200"/>
          </a:xfrm>
          <a:prstGeom prst="roundRect">
            <a:avLst>
              <a:gd name="adj" fmla="val 13462"/>
            </a:avLst>
          </a:prstGeom>
          <a:solidFill>
            <a:srgbClr val="E1F5EE"/>
          </a:solidFill>
          <a:ln w="12700">
            <a:solidFill>
              <a:srgbClr val="E1F5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 18"/>
          <p:cNvSpPr/>
          <p:nvPr/>
        </p:nvSpPr>
        <p:spPr>
          <a:xfrm>
            <a:off x="685800" y="4069080"/>
            <a:ext cx="237708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0F6E56"/>
                </a:solidFill>
                <a:latin typeface="Calibri"/>
                <a:ea typeface="Calibri"/>
              </a:rPr>
              <a:t>Model layer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 19"/>
          <p:cNvSpPr/>
          <p:nvPr/>
        </p:nvSpPr>
        <p:spPr>
          <a:xfrm>
            <a:off x="3154680" y="4069080"/>
            <a:ext cx="53031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433F5C"/>
                </a:solidFill>
                <a:latin typeface="Calibri"/>
                <a:ea typeface="Calibri"/>
              </a:rPr>
              <a:t>Multiple LLMs/SLMs, abstracted behind a routing interface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 20"/>
          <p:cNvSpPr/>
          <p:nvPr/>
        </p:nvSpPr>
        <p:spPr>
          <a:xfrm>
            <a:off x="457200" y="467244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strike="noStrike" spc="-1">
                <a:solidFill>
                  <a:srgbClr val="767290"/>
                </a:solidFill>
                <a:latin typeface="Calibri"/>
                <a:ea typeface="Calibri"/>
              </a:rPr>
              <a:t>This seminar lives mostly in the middle three layers — session, orchestration, and sub-agents — with sidecar services covered as their own section.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1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0"/>
          <p:cNvSpPr/>
          <p:nvPr/>
        </p:nvSpPr>
        <p:spPr>
          <a:xfrm>
            <a:off x="7150320" y="658080"/>
            <a:ext cx="914400" cy="548640"/>
          </a:xfrm>
          <a:prstGeom prst="line">
            <a:avLst/>
          </a:prstGeom>
          <a:ln w="9525">
            <a:solidFill>
              <a:srgbClr val="FFFFFF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Shape 1"/>
          <p:cNvSpPr/>
          <p:nvPr/>
        </p:nvSpPr>
        <p:spPr>
          <a:xfrm flipH="1">
            <a:off x="7369920" y="1206720"/>
            <a:ext cx="694800" cy="402480"/>
          </a:xfrm>
          <a:prstGeom prst="line">
            <a:avLst/>
          </a:prstGeom>
          <a:ln w="9525">
            <a:solidFill>
              <a:srgbClr val="FFFFFF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Shape 2"/>
          <p:cNvSpPr/>
          <p:nvPr/>
        </p:nvSpPr>
        <p:spPr>
          <a:xfrm flipV="1">
            <a:off x="8064720" y="676440"/>
            <a:ext cx="384120" cy="530280"/>
          </a:xfrm>
          <a:prstGeom prst="line">
            <a:avLst/>
          </a:prstGeom>
          <a:ln w="9525">
            <a:solidFill>
              <a:srgbClr val="FFFFFF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Shape 3"/>
          <p:cNvSpPr/>
          <p:nvPr/>
        </p:nvSpPr>
        <p:spPr>
          <a:xfrm>
            <a:off x="8064720" y="1206720"/>
            <a:ext cx="567000" cy="384120"/>
          </a:xfrm>
          <a:prstGeom prst="line">
            <a:avLst/>
          </a:prstGeom>
          <a:ln w="9525">
            <a:solidFill>
              <a:srgbClr val="FFFFFF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Shape 4"/>
          <p:cNvSpPr/>
          <p:nvPr/>
        </p:nvSpPr>
        <p:spPr>
          <a:xfrm>
            <a:off x="6949440" y="457200"/>
            <a:ext cx="402120" cy="402120"/>
          </a:xfrm>
          <a:prstGeom prst="ellipse">
            <a:avLst/>
          </a:prstGeom>
          <a:solidFill>
            <a:srgbClr val="F2A623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Shape 5"/>
          <p:cNvSpPr/>
          <p:nvPr/>
        </p:nvSpPr>
        <p:spPr>
          <a:xfrm>
            <a:off x="7772400" y="914400"/>
            <a:ext cx="585000" cy="585000"/>
          </a:xfrm>
          <a:prstGeom prst="ellipse">
            <a:avLst/>
          </a:prstGeom>
          <a:solidFill>
            <a:srgbClr val="7F77DD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Shape 6"/>
          <p:cNvSpPr/>
          <p:nvPr/>
        </p:nvSpPr>
        <p:spPr>
          <a:xfrm>
            <a:off x="7223760" y="1463040"/>
            <a:ext cx="292320" cy="292320"/>
          </a:xfrm>
          <a:prstGeom prst="ellipse">
            <a:avLst/>
          </a:prstGeom>
          <a:solidFill>
            <a:srgbClr val="5DCAA5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Shape 7"/>
          <p:cNvSpPr/>
          <p:nvPr/>
        </p:nvSpPr>
        <p:spPr>
          <a:xfrm>
            <a:off x="8321040" y="548640"/>
            <a:ext cx="255600" cy="255600"/>
          </a:xfrm>
          <a:prstGeom prst="ellipse">
            <a:avLst/>
          </a:prstGeom>
          <a:solidFill>
            <a:srgbClr val="5DCAA5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Shape 8"/>
          <p:cNvSpPr/>
          <p:nvPr/>
        </p:nvSpPr>
        <p:spPr>
          <a:xfrm>
            <a:off x="8412480" y="1371600"/>
            <a:ext cx="438480" cy="438480"/>
          </a:xfrm>
          <a:prstGeom prst="ellipse">
            <a:avLst/>
          </a:prstGeom>
          <a:solidFill>
            <a:srgbClr val="F2A623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Shape 9"/>
          <p:cNvSpPr/>
          <p:nvPr/>
        </p:nvSpPr>
        <p:spPr>
          <a:xfrm>
            <a:off x="640080" y="1417320"/>
            <a:ext cx="914040" cy="914040"/>
          </a:xfrm>
          <a:prstGeom prst="ellipse">
            <a:avLst/>
          </a:prstGeom>
          <a:solidFill>
            <a:srgbClr val="3C348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73" name="Image 0" descr="preencoded.png"/>
          <p:cNvPicPr/>
          <p:nvPr/>
        </p:nvPicPr>
        <p:blipFill>
          <a:blip r:embed="rId3"/>
          <a:stretch/>
        </p:blipFill>
        <p:spPr>
          <a:xfrm>
            <a:off x="859680" y="1636920"/>
            <a:ext cx="475200" cy="475200"/>
          </a:xfrm>
          <a:prstGeom prst="rect">
            <a:avLst/>
          </a:prstGeom>
          <a:ln w="0">
            <a:noFill/>
          </a:ln>
        </p:spPr>
      </p:pic>
      <p:sp>
        <p:nvSpPr>
          <p:cNvPr id="174" name="Text 10"/>
          <p:cNvSpPr/>
          <p:nvPr/>
        </p:nvSpPr>
        <p:spPr>
          <a:xfrm>
            <a:off x="1828800" y="1417320"/>
            <a:ext cx="6400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299">
                <a:solidFill>
                  <a:srgbClr val="F2A623"/>
                </a:solidFill>
                <a:latin typeface="Calibri"/>
                <a:ea typeface="Calibri"/>
              </a:rPr>
              <a:t>PART 3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Text 11"/>
          <p:cNvSpPr/>
          <p:nvPr/>
        </p:nvSpPr>
        <p:spPr>
          <a:xfrm>
            <a:off x="1828800" y="1783080"/>
            <a:ext cx="667476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strike="noStrike" spc="-1">
                <a:solidFill>
                  <a:srgbClr val="FFFFFF"/>
                </a:solidFill>
                <a:latin typeface="Cambria"/>
                <a:ea typeface="Cambria"/>
              </a:rPr>
              <a:t>ADK building blocks, mapped to UX</a:t>
            </a:r>
            <a:endParaRPr lang="en-US" sz="3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Text 12"/>
          <p:cNvSpPr/>
          <p:nvPr/>
        </p:nvSpPr>
        <p:spPr>
          <a:xfrm>
            <a:off x="1828800" y="2788920"/>
            <a:ext cx="64004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CECBF6"/>
                </a:solidFill>
                <a:latin typeface="Calibri"/>
                <a:ea typeface="Calibri"/>
              </a:rPr>
              <a:t>Six ADK primitives — and the exact screen moment each one powers.</a:t>
            </a:r>
            <a:endParaRPr lang="en-US" sz="15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ext 0"/>
          <p:cNvSpPr/>
          <p:nvPr/>
        </p:nvSpPr>
        <p:spPr>
          <a:xfrm>
            <a:off x="457200" y="2926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199">
                <a:solidFill>
                  <a:srgbClr val="0F6E56"/>
                </a:solidFill>
                <a:latin typeface="Calibri"/>
                <a:ea typeface="Calibri"/>
              </a:rPr>
              <a:t>ADK OVERVIEW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 1"/>
          <p:cNvSpPr/>
          <p:nvPr/>
        </p:nvSpPr>
        <p:spPr>
          <a:xfrm>
            <a:off x="457200" y="54864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26215C"/>
                </a:solidFill>
                <a:latin typeface="Cambria"/>
                <a:ea typeface="Cambria"/>
              </a:rPr>
              <a:t>One request, six moving parts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Shape 2"/>
          <p:cNvSpPr/>
          <p:nvPr/>
        </p:nvSpPr>
        <p:spPr>
          <a:xfrm>
            <a:off x="457200" y="1874520"/>
            <a:ext cx="1215720" cy="1508400"/>
          </a:xfrm>
          <a:prstGeom prst="roundRect">
            <a:avLst>
              <a:gd name="adj" fmla="val 6015"/>
            </a:avLst>
          </a:prstGeom>
          <a:solidFill>
            <a:srgbClr val="ECEBF4"/>
          </a:solidFill>
          <a:ln w="12700">
            <a:solidFill>
              <a:srgbClr val="ECEBF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 3"/>
          <p:cNvSpPr/>
          <p:nvPr/>
        </p:nvSpPr>
        <p:spPr>
          <a:xfrm>
            <a:off x="511920" y="1984320"/>
            <a:ext cx="11059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767290"/>
                </a:solidFill>
                <a:latin typeface="Calibri"/>
                <a:ea typeface="Calibri"/>
              </a:rPr>
              <a:t>Login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Text 4"/>
          <p:cNvSpPr/>
          <p:nvPr/>
        </p:nvSpPr>
        <p:spPr>
          <a:xfrm>
            <a:off x="511920" y="2651760"/>
            <a:ext cx="11059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433F5C"/>
                </a:solidFill>
                <a:latin typeface="Calibri"/>
                <a:ea typeface="Calibri"/>
              </a:rPr>
              <a:t>Opens the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433F5C"/>
                </a:solidFill>
                <a:latin typeface="Calibri"/>
                <a:ea typeface="Calibri"/>
              </a:rPr>
              <a:t>chat app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 5"/>
          <p:cNvSpPr/>
          <p:nvPr/>
        </p:nvSpPr>
        <p:spPr>
          <a:xfrm>
            <a:off x="1673280" y="1874520"/>
            <a:ext cx="182520" cy="150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767290"/>
                </a:solidFill>
                <a:latin typeface="Calibri"/>
                <a:ea typeface="Calibri"/>
              </a:rPr>
              <a:t>&gt;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Shape 6"/>
          <p:cNvSpPr/>
          <p:nvPr/>
        </p:nvSpPr>
        <p:spPr>
          <a:xfrm>
            <a:off x="1856160" y="1874520"/>
            <a:ext cx="1215720" cy="1508400"/>
          </a:xfrm>
          <a:prstGeom prst="roundRect">
            <a:avLst>
              <a:gd name="adj" fmla="val 6015"/>
            </a:avLst>
          </a:prstGeom>
          <a:solidFill>
            <a:srgbClr val="E1F5EE"/>
          </a:solidFill>
          <a:ln w="12700">
            <a:solidFill>
              <a:srgbClr val="E1F5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 7"/>
          <p:cNvSpPr/>
          <p:nvPr/>
        </p:nvSpPr>
        <p:spPr>
          <a:xfrm>
            <a:off x="1911240" y="1984320"/>
            <a:ext cx="11059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0F6E56"/>
                </a:solidFill>
                <a:latin typeface="Calibri"/>
                <a:ea typeface="Calibri"/>
              </a:rPr>
              <a:t>Session service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 8"/>
          <p:cNvSpPr/>
          <p:nvPr/>
        </p:nvSpPr>
        <p:spPr>
          <a:xfrm>
            <a:off x="1911240" y="2651760"/>
            <a:ext cx="11059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433F5C"/>
                </a:solidFill>
                <a:latin typeface="Calibri"/>
                <a:ea typeface="Calibri"/>
              </a:rPr>
              <a:t>Tracks this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433F5C"/>
                </a:solidFill>
                <a:latin typeface="Calibri"/>
                <a:ea typeface="Calibri"/>
              </a:rPr>
              <a:t>conversation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 9"/>
          <p:cNvSpPr/>
          <p:nvPr/>
        </p:nvSpPr>
        <p:spPr>
          <a:xfrm>
            <a:off x="3072240" y="1874520"/>
            <a:ext cx="182520" cy="150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767290"/>
                </a:solidFill>
                <a:latin typeface="Calibri"/>
                <a:ea typeface="Calibri"/>
              </a:rPr>
              <a:t>&gt;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Shape 10"/>
          <p:cNvSpPr/>
          <p:nvPr/>
        </p:nvSpPr>
        <p:spPr>
          <a:xfrm>
            <a:off x="3255120" y="1874520"/>
            <a:ext cx="1215720" cy="1508400"/>
          </a:xfrm>
          <a:prstGeom prst="roundRect">
            <a:avLst>
              <a:gd name="adj" fmla="val 6015"/>
            </a:avLst>
          </a:prstGeom>
          <a:solidFill>
            <a:srgbClr val="EEEDFE"/>
          </a:solidFill>
          <a:ln w="12700">
            <a:solidFill>
              <a:srgbClr val="EEED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 11"/>
          <p:cNvSpPr/>
          <p:nvPr/>
        </p:nvSpPr>
        <p:spPr>
          <a:xfrm>
            <a:off x="3310200" y="1984320"/>
            <a:ext cx="11059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26215C"/>
                </a:solidFill>
                <a:latin typeface="Calibri"/>
                <a:ea typeface="Calibri"/>
              </a:rPr>
              <a:t>Context engineering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 12"/>
          <p:cNvSpPr/>
          <p:nvPr/>
        </p:nvSpPr>
        <p:spPr>
          <a:xfrm>
            <a:off x="3310200" y="2651760"/>
            <a:ext cx="11059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433F5C"/>
                </a:solidFill>
                <a:latin typeface="Calibri"/>
                <a:ea typeface="Calibri"/>
              </a:rPr>
              <a:t>Builds this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433F5C"/>
                </a:solidFill>
                <a:latin typeface="Calibri"/>
                <a:ea typeface="Calibri"/>
              </a:rPr>
              <a:t>turn's context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 13"/>
          <p:cNvSpPr/>
          <p:nvPr/>
        </p:nvSpPr>
        <p:spPr>
          <a:xfrm>
            <a:off x="4471560" y="1874520"/>
            <a:ext cx="182520" cy="150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767290"/>
                </a:solidFill>
                <a:latin typeface="Calibri"/>
                <a:ea typeface="Calibri"/>
              </a:rPr>
              <a:t>&gt;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Shape 14"/>
          <p:cNvSpPr/>
          <p:nvPr/>
        </p:nvSpPr>
        <p:spPr>
          <a:xfrm>
            <a:off x="4654440" y="1874520"/>
            <a:ext cx="1215720" cy="1508400"/>
          </a:xfrm>
          <a:prstGeom prst="roundRect">
            <a:avLst>
              <a:gd name="adj" fmla="val 6015"/>
            </a:avLst>
          </a:prstGeom>
          <a:solidFill>
            <a:srgbClr val="EEEDFE"/>
          </a:solidFill>
          <a:ln w="12700">
            <a:solidFill>
              <a:srgbClr val="EEED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 15"/>
          <p:cNvSpPr/>
          <p:nvPr/>
        </p:nvSpPr>
        <p:spPr>
          <a:xfrm>
            <a:off x="4709160" y="1984320"/>
            <a:ext cx="11059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26215C"/>
                </a:solidFill>
                <a:latin typeface="Calibri"/>
                <a:ea typeface="Calibri"/>
              </a:rPr>
              <a:t>Orchestrator + agents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 16"/>
          <p:cNvSpPr/>
          <p:nvPr/>
        </p:nvSpPr>
        <p:spPr>
          <a:xfrm>
            <a:off x="4709160" y="2651760"/>
            <a:ext cx="11059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433F5C"/>
                </a:solidFill>
                <a:latin typeface="Calibri"/>
                <a:ea typeface="Calibri"/>
              </a:rPr>
              <a:t>Route intents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433F5C"/>
                </a:solidFill>
                <a:latin typeface="Calibri"/>
                <a:ea typeface="Calibri"/>
              </a:rPr>
              <a:t>to tools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Text 17"/>
          <p:cNvSpPr/>
          <p:nvPr/>
        </p:nvSpPr>
        <p:spPr>
          <a:xfrm>
            <a:off x="5870520" y="1874520"/>
            <a:ext cx="182520" cy="150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767290"/>
                </a:solidFill>
                <a:latin typeface="Calibri"/>
                <a:ea typeface="Calibri"/>
              </a:rPr>
              <a:t>&gt;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Shape 18"/>
          <p:cNvSpPr/>
          <p:nvPr/>
        </p:nvSpPr>
        <p:spPr>
          <a:xfrm>
            <a:off x="6053400" y="1874520"/>
            <a:ext cx="1215720" cy="1508400"/>
          </a:xfrm>
          <a:prstGeom prst="roundRect">
            <a:avLst>
              <a:gd name="adj" fmla="val 6015"/>
            </a:avLst>
          </a:prstGeom>
          <a:solidFill>
            <a:srgbClr val="ECEBF4"/>
          </a:solidFill>
          <a:ln w="12700">
            <a:solidFill>
              <a:srgbClr val="ECEBF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 19"/>
          <p:cNvSpPr/>
          <p:nvPr/>
        </p:nvSpPr>
        <p:spPr>
          <a:xfrm>
            <a:off x="6108120" y="1984320"/>
            <a:ext cx="11059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767290"/>
                </a:solidFill>
                <a:latin typeface="Calibri"/>
                <a:ea typeface="Calibri"/>
              </a:rPr>
              <a:t>Chat UI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 20"/>
          <p:cNvSpPr/>
          <p:nvPr/>
        </p:nvSpPr>
        <p:spPr>
          <a:xfrm>
            <a:off x="6108120" y="2651760"/>
            <a:ext cx="11059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433F5C"/>
                </a:solidFill>
                <a:latin typeface="Calibri"/>
                <a:ea typeface="Calibri"/>
              </a:rPr>
              <a:t>Streams reply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433F5C"/>
                </a:solidFill>
                <a:latin typeface="Calibri"/>
                <a:ea typeface="Calibri"/>
              </a:rPr>
              <a:t>+ actions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 21"/>
          <p:cNvSpPr/>
          <p:nvPr/>
        </p:nvSpPr>
        <p:spPr>
          <a:xfrm>
            <a:off x="7269480" y="1874520"/>
            <a:ext cx="182520" cy="150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767290"/>
                </a:solidFill>
                <a:latin typeface="Calibri"/>
                <a:ea typeface="Calibri"/>
              </a:rPr>
              <a:t>&gt;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Shape 22"/>
          <p:cNvSpPr/>
          <p:nvPr/>
        </p:nvSpPr>
        <p:spPr>
          <a:xfrm>
            <a:off x="7452360" y="1874520"/>
            <a:ext cx="1215720" cy="1508400"/>
          </a:xfrm>
          <a:prstGeom prst="roundRect">
            <a:avLst>
              <a:gd name="adj" fmla="val 6015"/>
            </a:avLst>
          </a:prstGeom>
          <a:solidFill>
            <a:srgbClr val="E1F5EE"/>
          </a:solidFill>
          <a:ln w="12700">
            <a:solidFill>
              <a:srgbClr val="E1F5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 23"/>
          <p:cNvSpPr/>
          <p:nvPr/>
        </p:nvSpPr>
        <p:spPr>
          <a:xfrm>
            <a:off x="7507080" y="1984320"/>
            <a:ext cx="11059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0F6E56"/>
                </a:solidFill>
                <a:latin typeface="Calibri"/>
                <a:ea typeface="Calibri"/>
              </a:rPr>
              <a:t>Session store (Redis)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 24"/>
          <p:cNvSpPr/>
          <p:nvPr/>
        </p:nvSpPr>
        <p:spPr>
          <a:xfrm>
            <a:off x="7507080" y="2651760"/>
            <a:ext cx="11059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433F5C"/>
                </a:solidFill>
                <a:latin typeface="Calibri"/>
                <a:ea typeface="Calibri"/>
              </a:rPr>
              <a:t>Short-term state,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433F5C"/>
                </a:solidFill>
                <a:latin typeface="Calibri"/>
                <a:ea typeface="Calibri"/>
              </a:rPr>
              <a:t>across restarts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 25"/>
          <p:cNvSpPr/>
          <p:nvPr/>
        </p:nvSpPr>
        <p:spPr>
          <a:xfrm>
            <a:off x="457200" y="361188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i="1" strike="noStrike" spc="-1">
                <a:solidFill>
                  <a:srgbClr val="433F5C"/>
                </a:solidFill>
                <a:latin typeface="Calibri"/>
                <a:ea typeface="Calibri"/>
              </a:rPr>
              <a:t>State gives continuity within a conversation. A Redis-backed session store extends that across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i="1" strike="noStrike" spc="-1">
                <a:solidFill>
                  <a:srgbClr val="433F5C"/>
                </a:solidFill>
                <a:latin typeface="Calibri"/>
                <a:ea typeface="Calibri"/>
              </a:rPr>
              <a:t>restarts and instances — it is still short-term, not the long-term Memory Bank, which isn't built yet.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Text 0"/>
          <p:cNvSpPr/>
          <p:nvPr/>
        </p:nvSpPr>
        <p:spPr>
          <a:xfrm>
            <a:off x="457200" y="2926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199">
                <a:solidFill>
                  <a:srgbClr val="0F6E56"/>
                </a:solidFill>
                <a:latin typeface="Calibri"/>
                <a:ea typeface="Calibri"/>
              </a:rPr>
              <a:t>BUILDING BLOCK 1 OF 6 · CURRENT IMPLEMENTATION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ext 1"/>
          <p:cNvSpPr/>
          <p:nvPr/>
        </p:nvSpPr>
        <p:spPr>
          <a:xfrm>
            <a:off x="457200" y="54864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26215C"/>
                </a:solidFill>
                <a:latin typeface="Cambria"/>
                <a:ea typeface="Cambria"/>
              </a:rPr>
              <a:t>Session service today: InMemorySessionService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Shape 2"/>
          <p:cNvSpPr/>
          <p:nvPr/>
        </p:nvSpPr>
        <p:spPr>
          <a:xfrm>
            <a:off x="457200" y="1325880"/>
            <a:ext cx="8229240" cy="511560"/>
          </a:xfrm>
          <a:prstGeom prst="roundRect">
            <a:avLst>
              <a:gd name="adj" fmla="val 12500"/>
            </a:avLst>
          </a:prstGeom>
          <a:solidFill>
            <a:srgbClr val="FAECE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Shape 3"/>
          <p:cNvSpPr/>
          <p:nvPr/>
        </p:nvSpPr>
        <p:spPr>
          <a:xfrm>
            <a:off x="567000" y="1380600"/>
            <a:ext cx="402120" cy="40212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7" name="Image 0" descr="preencoded.png"/>
          <p:cNvPicPr/>
          <p:nvPr/>
        </p:nvPicPr>
        <p:blipFill>
          <a:blip r:embed="rId3"/>
          <a:stretch/>
        </p:blipFill>
        <p:spPr>
          <a:xfrm>
            <a:off x="663480" y="1477440"/>
            <a:ext cx="208800" cy="208800"/>
          </a:xfrm>
          <a:prstGeom prst="rect">
            <a:avLst/>
          </a:prstGeom>
          <a:ln w="0">
            <a:noFill/>
          </a:ln>
        </p:spPr>
      </p:pic>
      <p:sp>
        <p:nvSpPr>
          <p:cNvPr id="208" name="Text 4"/>
          <p:cNvSpPr/>
          <p:nvPr/>
        </p:nvSpPr>
        <p:spPr>
          <a:xfrm>
            <a:off x="1097280" y="1325880"/>
            <a:ext cx="749772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D85A30"/>
                </a:solidFill>
                <a:latin typeface="Calibri"/>
                <a:ea typeface="Calibri"/>
              </a:rPr>
              <a:t>Not yet built: </a:t>
            </a:r>
            <a:r>
              <a:rPr lang="en-US" sz="1000" b="0" strike="noStrike" spc="-1">
                <a:solidFill>
                  <a:srgbClr val="433F5C"/>
                </a:solidFill>
                <a:latin typeface="Calibri"/>
                <a:ea typeface="Calibri"/>
              </a:rPr>
              <a:t>long-term memory, and list_sessions() can't surface past threads — state lives only as long as the process runs. Planned next step: a Redis-backed session store (still short-term, not Memory Bank).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Shape 5"/>
          <p:cNvSpPr/>
          <p:nvPr/>
        </p:nvSpPr>
        <p:spPr>
          <a:xfrm>
            <a:off x="457200" y="1920240"/>
            <a:ext cx="2651400" cy="1298160"/>
          </a:xfrm>
          <a:prstGeom prst="roundRect">
            <a:avLst>
              <a:gd name="adj" fmla="val 6338"/>
            </a:avLst>
          </a:prstGeom>
          <a:solidFill>
            <a:srgbClr val="F8F7FC"/>
          </a:solidFill>
          <a:ln w="0">
            <a:noFill/>
          </a:ln>
          <a:effectLst>
            <a:outerShdw blurRad="50760" dist="25560" dir="54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Shape 6"/>
          <p:cNvSpPr/>
          <p:nvPr/>
        </p:nvSpPr>
        <p:spPr>
          <a:xfrm>
            <a:off x="621720" y="2066400"/>
            <a:ext cx="365400" cy="365400"/>
          </a:xfrm>
          <a:prstGeom prst="ellipse">
            <a:avLst/>
          </a:prstGeom>
          <a:solidFill>
            <a:srgbClr val="EEEDF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1" name="Image 1" descr="preencoded.png"/>
          <p:cNvPicPr/>
          <p:nvPr/>
        </p:nvPicPr>
        <p:blipFill>
          <a:blip r:embed="rId4"/>
          <a:stretch/>
        </p:blipFill>
        <p:spPr>
          <a:xfrm>
            <a:off x="709560" y="2154240"/>
            <a:ext cx="189720" cy="189720"/>
          </a:xfrm>
          <a:prstGeom prst="rect">
            <a:avLst/>
          </a:prstGeom>
          <a:ln w="0">
            <a:noFill/>
          </a:ln>
        </p:spPr>
      </p:pic>
      <p:sp>
        <p:nvSpPr>
          <p:cNvPr id="212" name="Text 7"/>
          <p:cNvSpPr/>
          <p:nvPr/>
        </p:nvSpPr>
        <p:spPr>
          <a:xfrm>
            <a:off x="1078920" y="2039040"/>
            <a:ext cx="186516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92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26215C"/>
                </a:solidFill>
                <a:latin typeface="Calibri"/>
                <a:ea typeface="Calibri"/>
              </a:rPr>
              <a:t>Create on first message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 8"/>
          <p:cNvSpPr/>
          <p:nvPr/>
        </p:nvSpPr>
        <p:spPr>
          <a:xfrm>
            <a:off x="621720" y="2487240"/>
            <a:ext cx="23223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433F5C"/>
                </a:solidFill>
                <a:latin typeface="Calibri"/>
                <a:ea typeface="Calibri"/>
              </a:rPr>
              <a:t>A Session (id, user_id, app_name) is created the moment the user submits their first message — not waiting for a full turn to complete.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Shape 9"/>
          <p:cNvSpPr/>
          <p:nvPr/>
        </p:nvSpPr>
        <p:spPr>
          <a:xfrm>
            <a:off x="3246120" y="1920240"/>
            <a:ext cx="2651400" cy="1298160"/>
          </a:xfrm>
          <a:prstGeom prst="roundRect">
            <a:avLst>
              <a:gd name="adj" fmla="val 6338"/>
            </a:avLst>
          </a:prstGeom>
          <a:solidFill>
            <a:srgbClr val="F8F7FC"/>
          </a:solidFill>
          <a:ln w="0">
            <a:noFill/>
          </a:ln>
          <a:effectLst>
            <a:outerShdw blurRad="50760" dist="25560" dir="54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Shape 10"/>
          <p:cNvSpPr/>
          <p:nvPr/>
        </p:nvSpPr>
        <p:spPr>
          <a:xfrm>
            <a:off x="3410640" y="2066400"/>
            <a:ext cx="365400" cy="365400"/>
          </a:xfrm>
          <a:prstGeom prst="ellipse">
            <a:avLst/>
          </a:prstGeom>
          <a:solidFill>
            <a:srgbClr val="E1F5E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6" name="Image 2" descr="preencoded.png"/>
          <p:cNvPicPr/>
          <p:nvPr/>
        </p:nvPicPr>
        <p:blipFill>
          <a:blip r:embed="rId5"/>
          <a:stretch/>
        </p:blipFill>
        <p:spPr>
          <a:xfrm>
            <a:off x="3498480" y="2154240"/>
            <a:ext cx="189720" cy="189720"/>
          </a:xfrm>
          <a:prstGeom prst="rect">
            <a:avLst/>
          </a:prstGeom>
          <a:ln w="0">
            <a:noFill/>
          </a:ln>
        </p:spPr>
      </p:pic>
      <p:sp>
        <p:nvSpPr>
          <p:cNvPr id="217" name="Text 11"/>
          <p:cNvSpPr/>
          <p:nvPr/>
        </p:nvSpPr>
        <p:spPr>
          <a:xfrm>
            <a:off x="3867840" y="2039040"/>
            <a:ext cx="186516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92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26215C"/>
                </a:solidFill>
                <a:latin typeface="Calibri"/>
                <a:ea typeface="Calibri"/>
              </a:rPr>
              <a:t>Turn-to-turn continuity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Text 12"/>
          <p:cNvSpPr/>
          <p:nvPr/>
        </p:nvSpPr>
        <p:spPr>
          <a:xfrm>
            <a:off x="3410640" y="2487240"/>
            <a:ext cx="23223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433F5C"/>
                </a:solidFill>
                <a:latin typeface="Calibri"/>
                <a:ea typeface="Calibri"/>
              </a:rPr>
              <a:t>current_intent, active_transaction, and similar scratchpad keys persist for the lifetime of this conversation, so the agent doesn't re-ask what it just learned.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Shape 13"/>
          <p:cNvSpPr/>
          <p:nvPr/>
        </p:nvSpPr>
        <p:spPr>
          <a:xfrm>
            <a:off x="6035040" y="1920240"/>
            <a:ext cx="2651400" cy="1298160"/>
          </a:xfrm>
          <a:prstGeom prst="roundRect">
            <a:avLst>
              <a:gd name="adj" fmla="val 6338"/>
            </a:avLst>
          </a:prstGeom>
          <a:solidFill>
            <a:srgbClr val="F8F7FC"/>
          </a:solidFill>
          <a:ln w="0">
            <a:noFill/>
          </a:ln>
          <a:effectLst>
            <a:outerShdw blurRad="50760" dist="25560" dir="54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Shape 14"/>
          <p:cNvSpPr/>
          <p:nvPr/>
        </p:nvSpPr>
        <p:spPr>
          <a:xfrm>
            <a:off x="6199560" y="2066400"/>
            <a:ext cx="365400" cy="365400"/>
          </a:xfrm>
          <a:prstGeom prst="ellipse">
            <a:avLst/>
          </a:prstGeom>
          <a:solidFill>
            <a:srgbClr val="EEEDF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1" name="Image 3" descr="preencoded.png"/>
          <p:cNvPicPr/>
          <p:nvPr/>
        </p:nvPicPr>
        <p:blipFill>
          <a:blip r:embed="rId6"/>
          <a:stretch/>
        </p:blipFill>
        <p:spPr>
          <a:xfrm>
            <a:off x="6287400" y="2154240"/>
            <a:ext cx="189720" cy="189720"/>
          </a:xfrm>
          <a:prstGeom prst="rect">
            <a:avLst/>
          </a:prstGeom>
          <a:ln w="0">
            <a:noFill/>
          </a:ln>
        </p:spPr>
      </p:pic>
      <p:sp>
        <p:nvSpPr>
          <p:cNvPr id="222" name="Text 15"/>
          <p:cNvSpPr/>
          <p:nvPr/>
        </p:nvSpPr>
        <p:spPr>
          <a:xfrm>
            <a:off x="6656760" y="2039040"/>
            <a:ext cx="186516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92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26215C"/>
                </a:solidFill>
                <a:latin typeface="Calibri"/>
                <a:ea typeface="Calibri"/>
              </a:rPr>
              <a:t>Per-user scoping in-process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Text 16"/>
          <p:cNvSpPr/>
          <p:nvPr/>
        </p:nvSpPr>
        <p:spPr>
          <a:xfrm>
            <a:off x="6199560" y="2487240"/>
            <a:ext cx="23223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433F5C"/>
                </a:solidFill>
                <a:latin typeface="Calibri"/>
                <a:ea typeface="Calibri"/>
              </a:rPr>
              <a:t>user_id keeps concurrent customers' sessions fully isolated, even though all of it lives in the same process memory today.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Shape 17"/>
          <p:cNvSpPr/>
          <p:nvPr/>
        </p:nvSpPr>
        <p:spPr>
          <a:xfrm>
            <a:off x="457200" y="3310200"/>
            <a:ext cx="2651400" cy="1298160"/>
          </a:xfrm>
          <a:prstGeom prst="roundRect">
            <a:avLst>
              <a:gd name="adj" fmla="val 6338"/>
            </a:avLst>
          </a:prstGeom>
          <a:solidFill>
            <a:srgbClr val="F8F7FC"/>
          </a:solidFill>
          <a:ln w="0">
            <a:noFill/>
          </a:ln>
          <a:effectLst>
            <a:outerShdw blurRad="50760" dist="25560" dir="54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Shape 18"/>
          <p:cNvSpPr/>
          <p:nvPr/>
        </p:nvSpPr>
        <p:spPr>
          <a:xfrm>
            <a:off x="621720" y="3456360"/>
            <a:ext cx="365400" cy="365400"/>
          </a:xfrm>
          <a:prstGeom prst="ellipse">
            <a:avLst/>
          </a:prstGeom>
          <a:solidFill>
            <a:srgbClr val="FAEED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6" name="Image 4" descr="preencoded.png"/>
          <p:cNvPicPr/>
          <p:nvPr/>
        </p:nvPicPr>
        <p:blipFill>
          <a:blip r:embed="rId7"/>
          <a:stretch/>
        </p:blipFill>
        <p:spPr>
          <a:xfrm>
            <a:off x="709560" y="3544200"/>
            <a:ext cx="189720" cy="189720"/>
          </a:xfrm>
          <a:prstGeom prst="rect">
            <a:avLst/>
          </a:prstGeom>
          <a:ln w="0">
            <a:noFill/>
          </a:ln>
        </p:spPr>
      </p:pic>
      <p:sp>
        <p:nvSpPr>
          <p:cNvPr id="227" name="Text 19"/>
          <p:cNvSpPr/>
          <p:nvPr/>
        </p:nvSpPr>
        <p:spPr>
          <a:xfrm>
            <a:off x="1078920" y="3429000"/>
            <a:ext cx="186516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92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26215C"/>
                </a:solidFill>
                <a:latin typeface="Calibri"/>
                <a:ea typeface="Calibri"/>
              </a:rPr>
              <a:t>Recency via lastUpdateTime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Text 20"/>
          <p:cNvSpPr/>
          <p:nvPr/>
        </p:nvSpPr>
        <p:spPr>
          <a:xfrm>
            <a:off x="621720" y="3877200"/>
            <a:ext cx="23223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433F5C"/>
                </a:solidFill>
                <a:latin typeface="Calibri"/>
                <a:ea typeface="Calibri"/>
              </a:rPr>
              <a:t>Every session carries a timestamp — usable today to detect “still mid-conversation” within the same process run.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Shape 21"/>
          <p:cNvSpPr/>
          <p:nvPr/>
        </p:nvSpPr>
        <p:spPr>
          <a:xfrm>
            <a:off x="3246120" y="3310200"/>
            <a:ext cx="2651400" cy="1298160"/>
          </a:xfrm>
          <a:prstGeom prst="roundRect">
            <a:avLst>
              <a:gd name="adj" fmla="val 6338"/>
            </a:avLst>
          </a:prstGeom>
          <a:solidFill>
            <a:srgbClr val="F8F7FC"/>
          </a:solidFill>
          <a:ln w="0">
            <a:noFill/>
          </a:ln>
          <a:effectLst>
            <a:outerShdw blurRad="50760" dist="25560" dir="54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Shape 22"/>
          <p:cNvSpPr/>
          <p:nvPr/>
        </p:nvSpPr>
        <p:spPr>
          <a:xfrm>
            <a:off x="3410640" y="3456360"/>
            <a:ext cx="365400" cy="365400"/>
          </a:xfrm>
          <a:prstGeom prst="ellipse">
            <a:avLst/>
          </a:prstGeom>
          <a:solidFill>
            <a:srgbClr val="FAECE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1" name="Image 5" descr="preencoded.png"/>
          <p:cNvPicPr/>
          <p:nvPr/>
        </p:nvPicPr>
        <p:blipFill>
          <a:blip r:embed="rId8"/>
          <a:stretch/>
        </p:blipFill>
        <p:spPr>
          <a:xfrm>
            <a:off x="3498480" y="3544200"/>
            <a:ext cx="189720" cy="189720"/>
          </a:xfrm>
          <a:prstGeom prst="rect">
            <a:avLst/>
          </a:prstGeom>
          <a:ln w="0">
            <a:noFill/>
          </a:ln>
        </p:spPr>
      </p:pic>
      <p:sp>
        <p:nvSpPr>
          <p:cNvPr id="232" name="Text 23"/>
          <p:cNvSpPr/>
          <p:nvPr/>
        </p:nvSpPr>
        <p:spPr>
          <a:xfrm>
            <a:off x="3867840" y="3429000"/>
            <a:ext cx="186516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92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26215C"/>
                </a:solidFill>
                <a:latin typeface="Calibri"/>
                <a:ea typeface="Calibri"/>
              </a:rPr>
              <a:t>Routing trail in events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Text 24"/>
          <p:cNvSpPr/>
          <p:nvPr/>
        </p:nvSpPr>
        <p:spPr>
          <a:xfrm>
            <a:off x="3410640" y="3877200"/>
            <a:ext cx="23223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433F5C"/>
                </a:solidFill>
                <a:latin typeface="Calibri"/>
                <a:ea typeface="Calibri"/>
              </a:rPr>
              <a:t>Each hand-off between sub-agents (e.g. Transactions → Card Application) is logged as an event in the session — a real, inspectable trace of how the request was handled.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Shape 25"/>
          <p:cNvSpPr/>
          <p:nvPr/>
        </p:nvSpPr>
        <p:spPr>
          <a:xfrm>
            <a:off x="6035040" y="3310200"/>
            <a:ext cx="2651400" cy="1298160"/>
          </a:xfrm>
          <a:prstGeom prst="roundRect">
            <a:avLst>
              <a:gd name="adj" fmla="val 6338"/>
            </a:avLst>
          </a:prstGeom>
          <a:solidFill>
            <a:srgbClr val="F8F7FC"/>
          </a:solidFill>
          <a:ln w="0">
            <a:noFill/>
          </a:ln>
          <a:effectLst>
            <a:outerShdw blurRad="50760" dist="25560" dir="54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Shape 26"/>
          <p:cNvSpPr/>
          <p:nvPr/>
        </p:nvSpPr>
        <p:spPr>
          <a:xfrm>
            <a:off x="6199560" y="3456360"/>
            <a:ext cx="365400" cy="365400"/>
          </a:xfrm>
          <a:prstGeom prst="ellipse">
            <a:avLst/>
          </a:prstGeom>
          <a:solidFill>
            <a:srgbClr val="E1F5E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6" name="Image 6" descr="preencoded.png"/>
          <p:cNvPicPr/>
          <p:nvPr/>
        </p:nvPicPr>
        <p:blipFill>
          <a:blip r:embed="rId9"/>
          <a:stretch/>
        </p:blipFill>
        <p:spPr>
          <a:xfrm>
            <a:off x="6287400" y="3544200"/>
            <a:ext cx="189720" cy="189720"/>
          </a:xfrm>
          <a:prstGeom prst="rect">
            <a:avLst/>
          </a:prstGeom>
          <a:ln w="0">
            <a:noFill/>
          </a:ln>
        </p:spPr>
      </p:pic>
      <p:sp>
        <p:nvSpPr>
          <p:cNvPr id="237" name="Text 27"/>
          <p:cNvSpPr/>
          <p:nvPr/>
        </p:nvSpPr>
        <p:spPr>
          <a:xfrm>
            <a:off x="6656760" y="3429000"/>
            <a:ext cx="186516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92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26215C"/>
                </a:solidFill>
                <a:latin typeface="Calibri"/>
                <a:ea typeface="Calibri"/>
              </a:rPr>
              <a:t>Event-sourced state writes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Text 28"/>
          <p:cNvSpPr/>
          <p:nvPr/>
        </p:nvSpPr>
        <p:spPr>
          <a:xfrm>
            <a:off x="6199560" y="3877200"/>
            <a:ext cx="23223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433F5C"/>
                </a:solidFill>
                <a:latin typeface="Calibri"/>
                <a:ea typeface="Calibri"/>
              </a:rPr>
              <a:t>Tools already write state_delta the right way — so when persistence lands, no tool code has to change.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Shape 29"/>
          <p:cNvSpPr/>
          <p:nvPr/>
        </p:nvSpPr>
        <p:spPr>
          <a:xfrm>
            <a:off x="457200" y="4681800"/>
            <a:ext cx="1298160" cy="328680"/>
          </a:xfrm>
          <a:prstGeom prst="roundRect">
            <a:avLst>
              <a:gd name="adj" fmla="val 13889"/>
            </a:avLst>
          </a:prstGeom>
          <a:solidFill>
            <a:srgbClr val="ECEBF4"/>
          </a:solidFill>
          <a:ln w="6350">
            <a:solidFill>
              <a:srgbClr val="ECEBF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Text 30"/>
          <p:cNvSpPr/>
          <p:nvPr/>
        </p:nvSpPr>
        <p:spPr>
          <a:xfrm>
            <a:off x="457200" y="4681800"/>
            <a:ext cx="12981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767290"/>
                </a:solidFill>
                <a:latin typeface="Calibri"/>
                <a:ea typeface="Calibri"/>
              </a:rPr>
              <a:t>Login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Shape 31"/>
          <p:cNvSpPr/>
          <p:nvPr/>
        </p:nvSpPr>
        <p:spPr>
          <a:xfrm>
            <a:off x="1865520" y="4681800"/>
            <a:ext cx="1298160" cy="328680"/>
          </a:xfrm>
          <a:prstGeom prst="roundRect">
            <a:avLst>
              <a:gd name="adj" fmla="val 13889"/>
            </a:avLst>
          </a:prstGeom>
          <a:solidFill>
            <a:srgbClr val="F2A623"/>
          </a:solidFill>
          <a:ln w="6350">
            <a:solidFill>
              <a:srgbClr val="F2A62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Text 32"/>
          <p:cNvSpPr/>
          <p:nvPr/>
        </p:nvSpPr>
        <p:spPr>
          <a:xfrm>
            <a:off x="1865520" y="4681800"/>
            <a:ext cx="12981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854F0B"/>
                </a:solidFill>
                <a:latin typeface="Calibri"/>
                <a:ea typeface="Calibri"/>
              </a:rPr>
              <a:t>History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Shape 33"/>
          <p:cNvSpPr/>
          <p:nvPr/>
        </p:nvSpPr>
        <p:spPr>
          <a:xfrm>
            <a:off x="3273480" y="4681800"/>
            <a:ext cx="1298160" cy="328680"/>
          </a:xfrm>
          <a:prstGeom prst="roundRect">
            <a:avLst>
              <a:gd name="adj" fmla="val 13889"/>
            </a:avLst>
          </a:prstGeom>
          <a:solidFill>
            <a:srgbClr val="EEEDFE"/>
          </a:solidFill>
          <a:ln w="6350">
            <a:solidFill>
              <a:srgbClr val="EEED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Text 34"/>
          <p:cNvSpPr/>
          <p:nvPr/>
        </p:nvSpPr>
        <p:spPr>
          <a:xfrm>
            <a:off x="3273480" y="4681800"/>
            <a:ext cx="12981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26215C"/>
                </a:solidFill>
                <a:latin typeface="Calibri"/>
                <a:ea typeface="Calibri"/>
              </a:rPr>
              <a:t>Context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Shape 35"/>
          <p:cNvSpPr/>
          <p:nvPr/>
        </p:nvSpPr>
        <p:spPr>
          <a:xfrm>
            <a:off x="4681800" y="4681800"/>
            <a:ext cx="1298160" cy="328680"/>
          </a:xfrm>
          <a:prstGeom prst="roundRect">
            <a:avLst>
              <a:gd name="adj" fmla="val 13889"/>
            </a:avLst>
          </a:prstGeom>
          <a:solidFill>
            <a:srgbClr val="EEEDFE"/>
          </a:solidFill>
          <a:ln w="6350">
            <a:solidFill>
              <a:srgbClr val="EEED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Text 36"/>
          <p:cNvSpPr/>
          <p:nvPr/>
        </p:nvSpPr>
        <p:spPr>
          <a:xfrm>
            <a:off x="4681800" y="4681800"/>
            <a:ext cx="12981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26215C"/>
                </a:solidFill>
                <a:latin typeface="Calibri"/>
                <a:ea typeface="Calibri"/>
              </a:rPr>
              <a:t>Agents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Shape 37"/>
          <p:cNvSpPr/>
          <p:nvPr/>
        </p:nvSpPr>
        <p:spPr>
          <a:xfrm>
            <a:off x="6089760" y="4681800"/>
            <a:ext cx="1298160" cy="328680"/>
          </a:xfrm>
          <a:prstGeom prst="roundRect">
            <a:avLst>
              <a:gd name="adj" fmla="val 13889"/>
            </a:avLst>
          </a:prstGeom>
          <a:solidFill>
            <a:srgbClr val="ECEBF4"/>
          </a:solidFill>
          <a:ln w="6350">
            <a:solidFill>
              <a:srgbClr val="ECEBF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Text 38"/>
          <p:cNvSpPr/>
          <p:nvPr/>
        </p:nvSpPr>
        <p:spPr>
          <a:xfrm>
            <a:off x="6089760" y="4681800"/>
            <a:ext cx="12981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767290"/>
                </a:solidFill>
                <a:latin typeface="Calibri"/>
                <a:ea typeface="Calibri"/>
              </a:rPr>
              <a:t>Chat UI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Shape 39"/>
          <p:cNvSpPr/>
          <p:nvPr/>
        </p:nvSpPr>
        <p:spPr>
          <a:xfrm>
            <a:off x="7498080" y="4681800"/>
            <a:ext cx="1298160" cy="328680"/>
          </a:xfrm>
          <a:prstGeom prst="roundRect">
            <a:avLst>
              <a:gd name="adj" fmla="val 13889"/>
            </a:avLst>
          </a:prstGeom>
          <a:solidFill>
            <a:srgbClr val="E1F5EE"/>
          </a:solidFill>
          <a:ln w="6350">
            <a:solidFill>
              <a:srgbClr val="E1F5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Text 40"/>
          <p:cNvSpPr/>
          <p:nvPr/>
        </p:nvSpPr>
        <p:spPr>
          <a:xfrm>
            <a:off x="7498080" y="4681800"/>
            <a:ext cx="12981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0F6E56"/>
                </a:solidFill>
                <a:latin typeface="Calibri"/>
                <a:ea typeface="Calibri"/>
              </a:rPr>
              <a:t>Session Store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Text 0"/>
          <p:cNvSpPr/>
          <p:nvPr/>
        </p:nvSpPr>
        <p:spPr>
          <a:xfrm>
            <a:off x="457200" y="2926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199">
                <a:solidFill>
                  <a:srgbClr val="0F6E56"/>
                </a:solidFill>
                <a:latin typeface="Calibri"/>
                <a:ea typeface="Calibri"/>
              </a:rPr>
              <a:t>BUILDING BLOCK 2 OF 6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Text 1"/>
          <p:cNvSpPr/>
          <p:nvPr/>
        </p:nvSpPr>
        <p:spPr>
          <a:xfrm>
            <a:off x="457200" y="54864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26215C"/>
                </a:solidFill>
                <a:latin typeface="Cambria"/>
                <a:ea typeface="Cambria"/>
              </a:rPr>
              <a:t>State vs. memory — the key distinction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Shape 2"/>
          <p:cNvSpPr/>
          <p:nvPr/>
        </p:nvSpPr>
        <p:spPr>
          <a:xfrm>
            <a:off x="457200" y="1508760"/>
            <a:ext cx="4023000" cy="2514240"/>
          </a:xfrm>
          <a:prstGeom prst="roundRect">
            <a:avLst>
              <a:gd name="adj" fmla="val 3636"/>
            </a:avLst>
          </a:prstGeom>
          <a:solidFill>
            <a:srgbClr val="F8F7FC"/>
          </a:solidFill>
          <a:ln w="0">
            <a:noFill/>
          </a:ln>
          <a:effectLst>
            <a:outerShdw blurRad="63360" dist="255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Shape 3"/>
          <p:cNvSpPr/>
          <p:nvPr/>
        </p:nvSpPr>
        <p:spPr>
          <a:xfrm>
            <a:off x="731520" y="1737360"/>
            <a:ext cx="548280" cy="548280"/>
          </a:xfrm>
          <a:prstGeom prst="ellipse">
            <a:avLst/>
          </a:prstGeom>
          <a:solidFill>
            <a:srgbClr val="E1F5E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5" name="Image 0" descr="preencoded.png"/>
          <p:cNvPicPr/>
          <p:nvPr/>
        </p:nvPicPr>
        <p:blipFill>
          <a:blip r:embed="rId3"/>
          <a:stretch/>
        </p:blipFill>
        <p:spPr>
          <a:xfrm>
            <a:off x="863280" y="1869120"/>
            <a:ext cx="284760" cy="284760"/>
          </a:xfrm>
          <a:prstGeom prst="rect">
            <a:avLst/>
          </a:prstGeom>
          <a:ln w="0">
            <a:noFill/>
          </a:ln>
        </p:spPr>
      </p:pic>
      <p:sp>
        <p:nvSpPr>
          <p:cNvPr id="256" name="Text 4"/>
          <p:cNvSpPr/>
          <p:nvPr/>
        </p:nvSpPr>
        <p:spPr>
          <a:xfrm>
            <a:off x="1417320" y="1737360"/>
            <a:ext cx="21942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26215C"/>
                </a:solidFill>
                <a:latin typeface="Cambria"/>
                <a:ea typeface="Cambria"/>
              </a:rPr>
              <a:t>Session state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Text 5"/>
          <p:cNvSpPr/>
          <p:nvPr/>
        </p:nvSpPr>
        <p:spPr>
          <a:xfrm>
            <a:off x="731520" y="2423160"/>
            <a:ext cx="3474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05000"/>
              </a:lnSpc>
              <a:buClr>
                <a:srgbClr val="433F5C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433F5C"/>
                </a:solidFill>
                <a:latin typeface="Calibri"/>
                <a:ea typeface="Calibri"/>
              </a:rPr>
              <a:t>Lives only for this conversation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Text 6"/>
          <p:cNvSpPr/>
          <p:nvPr/>
        </p:nvSpPr>
        <p:spPr>
          <a:xfrm>
            <a:off x="731520" y="3017520"/>
            <a:ext cx="3474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05000"/>
              </a:lnSpc>
              <a:buClr>
                <a:srgbClr val="433F5C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433F5C"/>
                </a:solidFill>
                <a:latin typeface="Calibri"/>
                <a:ea typeface="Calibri"/>
              </a:rPr>
              <a:t>A scratchpad: partially filled forms, confirmed details, in-progress steps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Text 7"/>
          <p:cNvSpPr/>
          <p:nvPr/>
        </p:nvSpPr>
        <p:spPr>
          <a:xfrm>
            <a:off x="731520" y="3611880"/>
            <a:ext cx="3474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05000"/>
              </a:lnSpc>
              <a:buClr>
                <a:srgbClr val="433F5C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433F5C"/>
                </a:solidFill>
                <a:latin typeface="Calibri"/>
                <a:ea typeface="Calibri"/>
              </a:rPr>
              <a:t>Why the bot doesn't make you repeat yourself mid-chat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Shape 8"/>
          <p:cNvSpPr/>
          <p:nvPr/>
        </p:nvSpPr>
        <p:spPr>
          <a:xfrm>
            <a:off x="4663440" y="1508760"/>
            <a:ext cx="4023000" cy="2514240"/>
          </a:xfrm>
          <a:prstGeom prst="roundRect">
            <a:avLst>
              <a:gd name="adj" fmla="val 3636"/>
            </a:avLst>
          </a:prstGeom>
          <a:solidFill>
            <a:srgbClr val="F8F7FC"/>
          </a:solidFill>
          <a:ln w="0">
            <a:noFill/>
          </a:ln>
          <a:effectLst>
            <a:outerShdw blurRad="63360" dist="255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Shape 9"/>
          <p:cNvSpPr/>
          <p:nvPr/>
        </p:nvSpPr>
        <p:spPr>
          <a:xfrm>
            <a:off x="4937760" y="1737360"/>
            <a:ext cx="548280" cy="548280"/>
          </a:xfrm>
          <a:prstGeom prst="ellipse">
            <a:avLst/>
          </a:prstGeom>
          <a:solidFill>
            <a:srgbClr val="EEEDF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2" name="Image 1" descr="preencoded.png"/>
          <p:cNvPicPr/>
          <p:nvPr/>
        </p:nvPicPr>
        <p:blipFill>
          <a:blip r:embed="rId4"/>
          <a:stretch/>
        </p:blipFill>
        <p:spPr>
          <a:xfrm>
            <a:off x="5069520" y="1869120"/>
            <a:ext cx="284760" cy="284760"/>
          </a:xfrm>
          <a:prstGeom prst="rect">
            <a:avLst/>
          </a:prstGeom>
          <a:ln w="0">
            <a:noFill/>
          </a:ln>
        </p:spPr>
      </p:pic>
      <p:sp>
        <p:nvSpPr>
          <p:cNvPr id="263" name="Text 10"/>
          <p:cNvSpPr/>
          <p:nvPr/>
        </p:nvSpPr>
        <p:spPr>
          <a:xfrm>
            <a:off x="5623560" y="1737360"/>
            <a:ext cx="21942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26215C"/>
                </a:solidFill>
                <a:latin typeface="Cambria"/>
                <a:ea typeface="Cambria"/>
              </a:rPr>
              <a:t>Long-term memory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Shape 11"/>
          <p:cNvSpPr/>
          <p:nvPr/>
        </p:nvSpPr>
        <p:spPr>
          <a:xfrm>
            <a:off x="7726680" y="1874520"/>
            <a:ext cx="868320" cy="292320"/>
          </a:xfrm>
          <a:prstGeom prst="roundRect">
            <a:avLst>
              <a:gd name="adj" fmla="val 50000"/>
            </a:avLst>
          </a:prstGeom>
          <a:solidFill>
            <a:srgbClr val="FAECE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Text 12"/>
          <p:cNvSpPr/>
          <p:nvPr/>
        </p:nvSpPr>
        <p:spPr>
          <a:xfrm>
            <a:off x="7726680" y="1874520"/>
            <a:ext cx="8683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D85A30"/>
                </a:solidFill>
                <a:latin typeface="Calibri"/>
                <a:ea typeface="Calibri"/>
              </a:rPr>
              <a:t>Not built yet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Text 13"/>
          <p:cNvSpPr/>
          <p:nvPr/>
        </p:nvSpPr>
        <p:spPr>
          <a:xfrm>
            <a:off x="4937760" y="2423160"/>
            <a:ext cx="3474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05000"/>
              </a:lnSpc>
              <a:buClr>
                <a:srgbClr val="433F5C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433F5C"/>
                </a:solidFill>
                <a:latin typeface="Calibri"/>
                <a:ea typeface="Calibri"/>
              </a:rPr>
              <a:t>Persists across sessions, via a Memory Bank / MemoryService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Text 14"/>
          <p:cNvSpPr/>
          <p:nvPr/>
        </p:nvSpPr>
        <p:spPr>
          <a:xfrm>
            <a:off x="4937760" y="3017520"/>
            <a:ext cx="3474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05000"/>
              </a:lnSpc>
              <a:buClr>
                <a:srgbClr val="433F5C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433F5C"/>
                </a:solidFill>
                <a:latin typeface="Calibri"/>
                <a:ea typeface="Calibri"/>
              </a:rPr>
              <a:t>A searchable store of facts and preferences ingested from past sessions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Text 15"/>
          <p:cNvSpPr/>
          <p:nvPr/>
        </p:nvSpPr>
        <p:spPr>
          <a:xfrm>
            <a:off x="4937760" y="3611880"/>
            <a:ext cx="3474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05000"/>
              </a:lnSpc>
              <a:buClr>
                <a:srgbClr val="433F5C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433F5C"/>
                </a:solidFill>
                <a:latin typeface="Calibri"/>
                <a:ea typeface="Calibri"/>
              </a:rPr>
              <a:t>Personalizes a brand-new conversation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Text 16"/>
          <p:cNvSpPr/>
          <p:nvPr/>
        </p:nvSpPr>
        <p:spPr>
          <a:xfrm>
            <a:off x="457200" y="416052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26215C"/>
                </a:solidFill>
                <a:latin typeface="Calibri"/>
                <a:ea typeface="Calibri"/>
              </a:rPr>
              <a:t>State = continuity within a conversation.   Memory = continuity across conversations.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Shape 17"/>
          <p:cNvSpPr/>
          <p:nvPr/>
        </p:nvSpPr>
        <p:spPr>
          <a:xfrm>
            <a:off x="457200" y="4681800"/>
            <a:ext cx="1298160" cy="328680"/>
          </a:xfrm>
          <a:prstGeom prst="roundRect">
            <a:avLst>
              <a:gd name="adj" fmla="val 13889"/>
            </a:avLst>
          </a:prstGeom>
          <a:solidFill>
            <a:srgbClr val="ECEBF4"/>
          </a:solidFill>
          <a:ln w="6350">
            <a:solidFill>
              <a:srgbClr val="ECEBF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Text 18"/>
          <p:cNvSpPr/>
          <p:nvPr/>
        </p:nvSpPr>
        <p:spPr>
          <a:xfrm>
            <a:off x="457200" y="4681800"/>
            <a:ext cx="12981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767290"/>
                </a:solidFill>
                <a:latin typeface="Calibri"/>
                <a:ea typeface="Calibri"/>
              </a:rPr>
              <a:t>Login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Shape 19"/>
          <p:cNvSpPr/>
          <p:nvPr/>
        </p:nvSpPr>
        <p:spPr>
          <a:xfrm>
            <a:off x="1865520" y="4681800"/>
            <a:ext cx="1298160" cy="328680"/>
          </a:xfrm>
          <a:prstGeom prst="roundRect">
            <a:avLst>
              <a:gd name="adj" fmla="val 13889"/>
            </a:avLst>
          </a:prstGeom>
          <a:solidFill>
            <a:srgbClr val="F2A623"/>
          </a:solidFill>
          <a:ln w="6350">
            <a:solidFill>
              <a:srgbClr val="F2A62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Text 20"/>
          <p:cNvSpPr/>
          <p:nvPr/>
        </p:nvSpPr>
        <p:spPr>
          <a:xfrm>
            <a:off x="1865520" y="4681800"/>
            <a:ext cx="12981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854F0B"/>
                </a:solidFill>
                <a:latin typeface="Calibri"/>
                <a:ea typeface="Calibri"/>
              </a:rPr>
              <a:t>History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Shape 21"/>
          <p:cNvSpPr/>
          <p:nvPr/>
        </p:nvSpPr>
        <p:spPr>
          <a:xfrm>
            <a:off x="3273480" y="4681800"/>
            <a:ext cx="1298160" cy="328680"/>
          </a:xfrm>
          <a:prstGeom prst="roundRect">
            <a:avLst>
              <a:gd name="adj" fmla="val 13889"/>
            </a:avLst>
          </a:prstGeom>
          <a:solidFill>
            <a:srgbClr val="EEEDFE"/>
          </a:solidFill>
          <a:ln w="6350">
            <a:solidFill>
              <a:srgbClr val="EEED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Text 22"/>
          <p:cNvSpPr/>
          <p:nvPr/>
        </p:nvSpPr>
        <p:spPr>
          <a:xfrm>
            <a:off x="3273480" y="4681800"/>
            <a:ext cx="12981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26215C"/>
                </a:solidFill>
                <a:latin typeface="Calibri"/>
                <a:ea typeface="Calibri"/>
              </a:rPr>
              <a:t>Context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Shape 23"/>
          <p:cNvSpPr/>
          <p:nvPr/>
        </p:nvSpPr>
        <p:spPr>
          <a:xfrm>
            <a:off x="4681800" y="4681800"/>
            <a:ext cx="1298160" cy="328680"/>
          </a:xfrm>
          <a:prstGeom prst="roundRect">
            <a:avLst>
              <a:gd name="adj" fmla="val 13889"/>
            </a:avLst>
          </a:prstGeom>
          <a:solidFill>
            <a:srgbClr val="EEEDFE"/>
          </a:solidFill>
          <a:ln w="6350">
            <a:solidFill>
              <a:srgbClr val="EEED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Text 24"/>
          <p:cNvSpPr/>
          <p:nvPr/>
        </p:nvSpPr>
        <p:spPr>
          <a:xfrm>
            <a:off x="4681800" y="4681800"/>
            <a:ext cx="12981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26215C"/>
                </a:solidFill>
                <a:latin typeface="Calibri"/>
                <a:ea typeface="Calibri"/>
              </a:rPr>
              <a:t>Agents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Shape 25"/>
          <p:cNvSpPr/>
          <p:nvPr/>
        </p:nvSpPr>
        <p:spPr>
          <a:xfrm>
            <a:off x="6089760" y="4681800"/>
            <a:ext cx="1298160" cy="328680"/>
          </a:xfrm>
          <a:prstGeom prst="roundRect">
            <a:avLst>
              <a:gd name="adj" fmla="val 13889"/>
            </a:avLst>
          </a:prstGeom>
          <a:solidFill>
            <a:srgbClr val="ECEBF4"/>
          </a:solidFill>
          <a:ln w="6350">
            <a:solidFill>
              <a:srgbClr val="ECEBF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Text 26"/>
          <p:cNvSpPr/>
          <p:nvPr/>
        </p:nvSpPr>
        <p:spPr>
          <a:xfrm>
            <a:off x="6089760" y="4681800"/>
            <a:ext cx="12981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767290"/>
                </a:solidFill>
                <a:latin typeface="Calibri"/>
                <a:ea typeface="Calibri"/>
              </a:rPr>
              <a:t>Chat UI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Shape 27"/>
          <p:cNvSpPr/>
          <p:nvPr/>
        </p:nvSpPr>
        <p:spPr>
          <a:xfrm>
            <a:off x="7498080" y="4681800"/>
            <a:ext cx="1298160" cy="328680"/>
          </a:xfrm>
          <a:prstGeom prst="roundRect">
            <a:avLst>
              <a:gd name="adj" fmla="val 13889"/>
            </a:avLst>
          </a:prstGeom>
          <a:solidFill>
            <a:srgbClr val="F2A623"/>
          </a:solidFill>
          <a:ln w="6350">
            <a:solidFill>
              <a:srgbClr val="F2A62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Text 28"/>
          <p:cNvSpPr/>
          <p:nvPr/>
        </p:nvSpPr>
        <p:spPr>
          <a:xfrm>
            <a:off x="7498080" y="4681800"/>
            <a:ext cx="12981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854F0B"/>
                </a:solidFill>
                <a:latin typeface="Calibri"/>
                <a:ea typeface="Calibri"/>
              </a:rPr>
              <a:t>Session Store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Text 0"/>
          <p:cNvSpPr/>
          <p:nvPr/>
        </p:nvSpPr>
        <p:spPr>
          <a:xfrm>
            <a:off x="457200" y="2926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199">
                <a:solidFill>
                  <a:srgbClr val="0F6E56"/>
                </a:solidFill>
                <a:latin typeface="Calibri"/>
                <a:ea typeface="Calibri"/>
              </a:rPr>
              <a:t>BUILDING BLOCK 3 OF 6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Text 1"/>
          <p:cNvSpPr/>
          <p:nvPr/>
        </p:nvSpPr>
        <p:spPr>
          <a:xfrm>
            <a:off x="457200" y="54864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26215C"/>
                </a:solidFill>
                <a:latin typeface="Cambria"/>
                <a:ea typeface="Cambria"/>
              </a:rPr>
              <a:t>Context engineering → intent &amp; sub-intent routing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Text 2"/>
          <p:cNvSpPr/>
          <p:nvPr/>
        </p:nvSpPr>
        <p:spPr>
          <a:xfrm>
            <a:off x="457200" y="1508760"/>
            <a:ext cx="411444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15000"/>
              </a:lnSpc>
              <a:buClr>
                <a:srgbClr val="433F5C"/>
              </a:buClr>
              <a:buFont typeface="Symbol" charset="2"/>
              <a:buChar char=""/>
            </a:pPr>
            <a:r>
              <a:rPr lang="en-US" sz="1300" b="0" strike="noStrike" spc="-1">
                <a:solidFill>
                  <a:srgbClr val="433F5C"/>
                </a:solidFill>
                <a:latin typeface="Calibri"/>
                <a:ea typeface="Calibri"/>
              </a:rPr>
              <a:t>“Working context” = instructions + relevant state + retrieved memory + tool/agent definitions, compiled fresh for this turn.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Text 3"/>
          <p:cNvSpPr/>
          <p:nvPr/>
        </p:nvSpPr>
        <p:spPr>
          <a:xfrm>
            <a:off x="457200" y="2286000"/>
            <a:ext cx="411444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15000"/>
              </a:lnSpc>
              <a:buClr>
                <a:srgbClr val="433F5C"/>
              </a:buClr>
              <a:buFont typeface="Symbol" charset="2"/>
              <a:buChar char=""/>
            </a:pPr>
            <a:r>
              <a:rPr lang="en-US" sz="1300" b="0" strike="noStrike" spc="-1">
                <a:solidFill>
                  <a:srgbClr val="433F5C"/>
                </a:solidFill>
                <a:latin typeface="Calibri"/>
                <a:ea typeface="Calibri"/>
              </a:rPr>
              <a:t>The orchestrator's context includes descriptions of its sub-agents, so it can decide “I can't do this, but my Order agent can.”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Text 4"/>
          <p:cNvSpPr/>
          <p:nvPr/>
        </p:nvSpPr>
        <p:spPr>
          <a:xfrm>
            <a:off x="457200" y="3063240"/>
            <a:ext cx="411444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15000"/>
              </a:lnSpc>
              <a:buClr>
                <a:srgbClr val="433F5C"/>
              </a:buClr>
              <a:buFont typeface="Symbol" charset="2"/>
              <a:buChar char=""/>
            </a:pPr>
            <a:r>
              <a:rPr lang="en-US" sz="1300" b="0" strike="noStrike" spc="-1">
                <a:solidFill>
                  <a:srgbClr val="433F5C"/>
                </a:solidFill>
                <a:latin typeface="Calibri"/>
                <a:ea typeface="Calibri"/>
              </a:rPr>
              <a:t>Each sub-agent gets its own tailored context — not everything the orchestrator sees.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Shape 5"/>
          <p:cNvSpPr/>
          <p:nvPr/>
        </p:nvSpPr>
        <p:spPr>
          <a:xfrm>
            <a:off x="4937760" y="1463040"/>
            <a:ext cx="3657240" cy="548280"/>
          </a:xfrm>
          <a:prstGeom prst="roundRect">
            <a:avLst>
              <a:gd name="adj" fmla="val 13333"/>
            </a:avLst>
          </a:prstGeom>
          <a:solidFill>
            <a:srgbClr val="ECEBF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Text 6"/>
          <p:cNvSpPr/>
          <p:nvPr/>
        </p:nvSpPr>
        <p:spPr>
          <a:xfrm>
            <a:off x="5029200" y="1463040"/>
            <a:ext cx="34743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i="1" strike="noStrike" spc="-1">
                <a:solidFill>
                  <a:srgbClr val="433F5C"/>
                </a:solidFill>
                <a:latin typeface="Calibri"/>
                <a:ea typeface="Calibri"/>
              </a:rPr>
              <a:t>“Check my order status and update my address”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Shape 7"/>
          <p:cNvSpPr/>
          <p:nvPr/>
        </p:nvSpPr>
        <p:spPr>
          <a:xfrm>
            <a:off x="6766560" y="2011680"/>
            <a:ext cx="360" cy="411480"/>
          </a:xfrm>
          <a:prstGeom prst="line">
            <a:avLst/>
          </a:prstGeom>
          <a:ln w="12700">
            <a:solidFill>
              <a:srgbClr val="76729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Shape 8"/>
          <p:cNvSpPr/>
          <p:nvPr/>
        </p:nvSpPr>
        <p:spPr>
          <a:xfrm>
            <a:off x="5852160" y="2423160"/>
            <a:ext cx="1828440" cy="502560"/>
          </a:xfrm>
          <a:prstGeom prst="roundRect">
            <a:avLst>
              <a:gd name="adj" fmla="val 14545"/>
            </a:avLst>
          </a:prstGeom>
          <a:solidFill>
            <a:srgbClr val="26215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1" name="Text 9"/>
          <p:cNvSpPr/>
          <p:nvPr/>
        </p:nvSpPr>
        <p:spPr>
          <a:xfrm>
            <a:off x="5852160" y="2423160"/>
            <a:ext cx="18284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FFFFFF"/>
                </a:solidFill>
                <a:latin typeface="Calibri"/>
                <a:ea typeface="Calibri"/>
              </a:rPr>
              <a:t>Orchestrator: decompose + route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Shape 10"/>
          <p:cNvSpPr/>
          <p:nvPr/>
        </p:nvSpPr>
        <p:spPr>
          <a:xfrm flipH="1">
            <a:off x="5212080" y="2926080"/>
            <a:ext cx="1005840" cy="457200"/>
          </a:xfrm>
          <a:prstGeom prst="line">
            <a:avLst/>
          </a:prstGeom>
          <a:ln w="12700">
            <a:solidFill>
              <a:srgbClr val="76729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Shape 11"/>
          <p:cNvSpPr/>
          <p:nvPr/>
        </p:nvSpPr>
        <p:spPr>
          <a:xfrm>
            <a:off x="7315200" y="2926080"/>
            <a:ext cx="1005840" cy="457200"/>
          </a:xfrm>
          <a:prstGeom prst="line">
            <a:avLst/>
          </a:prstGeom>
          <a:ln w="12700">
            <a:solidFill>
              <a:srgbClr val="76729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Shape 12"/>
          <p:cNvSpPr/>
          <p:nvPr/>
        </p:nvSpPr>
        <p:spPr>
          <a:xfrm>
            <a:off x="4937760" y="3383280"/>
            <a:ext cx="1737000" cy="548280"/>
          </a:xfrm>
          <a:prstGeom prst="roundRect">
            <a:avLst>
              <a:gd name="adj" fmla="val 13333"/>
            </a:avLst>
          </a:prstGeom>
          <a:solidFill>
            <a:srgbClr val="E1F5E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Text 13"/>
          <p:cNvSpPr/>
          <p:nvPr/>
        </p:nvSpPr>
        <p:spPr>
          <a:xfrm>
            <a:off x="4937760" y="3383280"/>
            <a:ext cx="17370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0F6E56"/>
                </a:solidFill>
                <a:latin typeface="Calibri"/>
                <a:ea typeface="Calibri"/>
              </a:rPr>
              <a:t>Order agent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0F6E56"/>
                </a:solidFill>
                <a:latin typeface="Calibri"/>
                <a:ea typeface="Calibri"/>
              </a:rPr>
              <a:t>(sub-intent 1)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Shape 14"/>
          <p:cNvSpPr/>
          <p:nvPr/>
        </p:nvSpPr>
        <p:spPr>
          <a:xfrm>
            <a:off x="6858000" y="3383280"/>
            <a:ext cx="1737000" cy="548280"/>
          </a:xfrm>
          <a:prstGeom prst="roundRect">
            <a:avLst>
              <a:gd name="adj" fmla="val 13333"/>
            </a:avLst>
          </a:prstGeom>
          <a:solidFill>
            <a:srgbClr val="E1F5E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Text 15"/>
          <p:cNvSpPr/>
          <p:nvPr/>
        </p:nvSpPr>
        <p:spPr>
          <a:xfrm>
            <a:off x="6858000" y="3383280"/>
            <a:ext cx="17370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0F6E56"/>
                </a:solidFill>
                <a:latin typeface="Calibri"/>
                <a:ea typeface="Calibri"/>
              </a:rPr>
              <a:t>Profile agent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0F6E56"/>
                </a:solidFill>
                <a:latin typeface="Calibri"/>
                <a:ea typeface="Calibri"/>
              </a:rPr>
              <a:t>(sub-intent 2)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Shape 16"/>
          <p:cNvSpPr/>
          <p:nvPr/>
        </p:nvSpPr>
        <p:spPr>
          <a:xfrm>
            <a:off x="5806440" y="3931920"/>
            <a:ext cx="914400" cy="320040"/>
          </a:xfrm>
          <a:prstGeom prst="line">
            <a:avLst/>
          </a:prstGeom>
          <a:ln w="12700">
            <a:solidFill>
              <a:srgbClr val="7672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Shape 17"/>
          <p:cNvSpPr/>
          <p:nvPr/>
        </p:nvSpPr>
        <p:spPr>
          <a:xfrm flipH="1">
            <a:off x="6812280" y="3931920"/>
            <a:ext cx="914400" cy="320040"/>
          </a:xfrm>
          <a:prstGeom prst="line">
            <a:avLst/>
          </a:prstGeom>
          <a:ln w="12700">
            <a:solidFill>
              <a:srgbClr val="76729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Shape 18"/>
          <p:cNvSpPr/>
          <p:nvPr/>
        </p:nvSpPr>
        <p:spPr>
          <a:xfrm>
            <a:off x="5486400" y="4251960"/>
            <a:ext cx="2559960" cy="502560"/>
          </a:xfrm>
          <a:prstGeom prst="roundRect">
            <a:avLst>
              <a:gd name="adj" fmla="val 14545"/>
            </a:avLst>
          </a:prstGeom>
          <a:solidFill>
            <a:srgbClr val="FAEED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Text 19"/>
          <p:cNvSpPr/>
          <p:nvPr/>
        </p:nvSpPr>
        <p:spPr>
          <a:xfrm>
            <a:off x="5486400" y="4251960"/>
            <a:ext cx="25599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854F0B"/>
                </a:solidFill>
                <a:latin typeface="Calibri"/>
                <a:ea typeface="Calibri"/>
              </a:rPr>
              <a:t>One merged response to the user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Shape 20"/>
          <p:cNvSpPr/>
          <p:nvPr/>
        </p:nvSpPr>
        <p:spPr>
          <a:xfrm>
            <a:off x="457200" y="4681800"/>
            <a:ext cx="1298160" cy="328680"/>
          </a:xfrm>
          <a:prstGeom prst="roundRect">
            <a:avLst>
              <a:gd name="adj" fmla="val 13889"/>
            </a:avLst>
          </a:prstGeom>
          <a:solidFill>
            <a:srgbClr val="ECEBF4"/>
          </a:solidFill>
          <a:ln w="6350">
            <a:solidFill>
              <a:srgbClr val="ECEBF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Text 21"/>
          <p:cNvSpPr/>
          <p:nvPr/>
        </p:nvSpPr>
        <p:spPr>
          <a:xfrm>
            <a:off x="457200" y="4681800"/>
            <a:ext cx="12981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767290"/>
                </a:solidFill>
                <a:latin typeface="Calibri"/>
                <a:ea typeface="Calibri"/>
              </a:rPr>
              <a:t>Login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Shape 22"/>
          <p:cNvSpPr/>
          <p:nvPr/>
        </p:nvSpPr>
        <p:spPr>
          <a:xfrm>
            <a:off x="1865520" y="4681800"/>
            <a:ext cx="1298160" cy="328680"/>
          </a:xfrm>
          <a:prstGeom prst="roundRect">
            <a:avLst>
              <a:gd name="adj" fmla="val 13889"/>
            </a:avLst>
          </a:prstGeom>
          <a:solidFill>
            <a:srgbClr val="E1F5EE"/>
          </a:solidFill>
          <a:ln w="6350">
            <a:solidFill>
              <a:srgbClr val="E1F5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Text 23"/>
          <p:cNvSpPr/>
          <p:nvPr/>
        </p:nvSpPr>
        <p:spPr>
          <a:xfrm>
            <a:off x="1865520" y="4681800"/>
            <a:ext cx="12981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0F6E56"/>
                </a:solidFill>
                <a:latin typeface="Calibri"/>
                <a:ea typeface="Calibri"/>
              </a:rPr>
              <a:t>History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Shape 24"/>
          <p:cNvSpPr/>
          <p:nvPr/>
        </p:nvSpPr>
        <p:spPr>
          <a:xfrm>
            <a:off x="3273480" y="4681800"/>
            <a:ext cx="1298160" cy="328680"/>
          </a:xfrm>
          <a:prstGeom prst="roundRect">
            <a:avLst>
              <a:gd name="adj" fmla="val 13889"/>
            </a:avLst>
          </a:prstGeom>
          <a:solidFill>
            <a:srgbClr val="F2A623"/>
          </a:solidFill>
          <a:ln w="6350">
            <a:solidFill>
              <a:srgbClr val="F2A62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Text 25"/>
          <p:cNvSpPr/>
          <p:nvPr/>
        </p:nvSpPr>
        <p:spPr>
          <a:xfrm>
            <a:off x="3273480" y="4681800"/>
            <a:ext cx="12981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854F0B"/>
                </a:solidFill>
                <a:latin typeface="Calibri"/>
                <a:ea typeface="Calibri"/>
              </a:rPr>
              <a:t>Context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Shape 26"/>
          <p:cNvSpPr/>
          <p:nvPr/>
        </p:nvSpPr>
        <p:spPr>
          <a:xfrm>
            <a:off x="4681800" y="4681800"/>
            <a:ext cx="1298160" cy="328680"/>
          </a:xfrm>
          <a:prstGeom prst="roundRect">
            <a:avLst>
              <a:gd name="adj" fmla="val 13889"/>
            </a:avLst>
          </a:prstGeom>
          <a:solidFill>
            <a:srgbClr val="EEEDFE"/>
          </a:solidFill>
          <a:ln w="6350">
            <a:solidFill>
              <a:srgbClr val="EEED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Text 27"/>
          <p:cNvSpPr/>
          <p:nvPr/>
        </p:nvSpPr>
        <p:spPr>
          <a:xfrm>
            <a:off x="4681800" y="4681800"/>
            <a:ext cx="12981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26215C"/>
                </a:solidFill>
                <a:latin typeface="Calibri"/>
                <a:ea typeface="Calibri"/>
              </a:rPr>
              <a:t>Agents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Shape 28"/>
          <p:cNvSpPr/>
          <p:nvPr/>
        </p:nvSpPr>
        <p:spPr>
          <a:xfrm>
            <a:off x="6089760" y="4681800"/>
            <a:ext cx="1298160" cy="328680"/>
          </a:xfrm>
          <a:prstGeom prst="roundRect">
            <a:avLst>
              <a:gd name="adj" fmla="val 13889"/>
            </a:avLst>
          </a:prstGeom>
          <a:solidFill>
            <a:srgbClr val="ECEBF4"/>
          </a:solidFill>
          <a:ln w="6350">
            <a:solidFill>
              <a:srgbClr val="ECEBF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Text 29"/>
          <p:cNvSpPr/>
          <p:nvPr/>
        </p:nvSpPr>
        <p:spPr>
          <a:xfrm>
            <a:off x="6089760" y="4681800"/>
            <a:ext cx="12981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767290"/>
                </a:solidFill>
                <a:latin typeface="Calibri"/>
                <a:ea typeface="Calibri"/>
              </a:rPr>
              <a:t>Chat UI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Shape 30"/>
          <p:cNvSpPr/>
          <p:nvPr/>
        </p:nvSpPr>
        <p:spPr>
          <a:xfrm>
            <a:off x="7498080" y="4681800"/>
            <a:ext cx="1298160" cy="328680"/>
          </a:xfrm>
          <a:prstGeom prst="roundRect">
            <a:avLst>
              <a:gd name="adj" fmla="val 13889"/>
            </a:avLst>
          </a:prstGeom>
          <a:solidFill>
            <a:srgbClr val="E1F5EE"/>
          </a:solidFill>
          <a:ln w="6350">
            <a:solidFill>
              <a:srgbClr val="E1F5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Text 31"/>
          <p:cNvSpPr/>
          <p:nvPr/>
        </p:nvSpPr>
        <p:spPr>
          <a:xfrm>
            <a:off x="7498080" y="4681800"/>
            <a:ext cx="12981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0F6E56"/>
                </a:solidFill>
                <a:latin typeface="Calibri"/>
                <a:ea typeface="Calibri"/>
              </a:rPr>
              <a:t>Session Store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Text 0"/>
          <p:cNvSpPr/>
          <p:nvPr/>
        </p:nvSpPr>
        <p:spPr>
          <a:xfrm>
            <a:off x="457200" y="2926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199">
                <a:solidFill>
                  <a:srgbClr val="0F6E56"/>
                </a:solidFill>
                <a:latin typeface="Calibri"/>
                <a:ea typeface="Calibri"/>
              </a:rPr>
              <a:t>BUILDING BLOCK 4 OF 6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Text 1"/>
          <p:cNvSpPr/>
          <p:nvPr/>
        </p:nvSpPr>
        <p:spPr>
          <a:xfrm>
            <a:off x="457200" y="54864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26215C"/>
                </a:solidFill>
                <a:latin typeface="Cambria"/>
                <a:ea typeface="Cambria"/>
              </a:rPr>
              <a:t>Multi-agent orchestration → one assistant, many specialists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Shape 2"/>
          <p:cNvSpPr/>
          <p:nvPr/>
        </p:nvSpPr>
        <p:spPr>
          <a:xfrm flipH="1">
            <a:off x="2560320" y="2674440"/>
            <a:ext cx="1188720" cy="360"/>
          </a:xfrm>
          <a:prstGeom prst="line">
            <a:avLst/>
          </a:prstGeom>
          <a:ln w="25400">
            <a:solidFill>
              <a:srgbClr val="EEED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Shape 3"/>
          <p:cNvSpPr/>
          <p:nvPr/>
        </p:nvSpPr>
        <p:spPr>
          <a:xfrm>
            <a:off x="5394960" y="2674440"/>
            <a:ext cx="1188720" cy="360"/>
          </a:xfrm>
          <a:prstGeom prst="line">
            <a:avLst/>
          </a:prstGeom>
          <a:ln w="25400">
            <a:solidFill>
              <a:srgbClr val="EEED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Shape 4"/>
          <p:cNvSpPr/>
          <p:nvPr/>
        </p:nvSpPr>
        <p:spPr>
          <a:xfrm>
            <a:off x="4572000" y="3063240"/>
            <a:ext cx="360" cy="457200"/>
          </a:xfrm>
          <a:prstGeom prst="line">
            <a:avLst/>
          </a:prstGeom>
          <a:ln w="25400">
            <a:solidFill>
              <a:srgbClr val="EEED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Shape 5"/>
          <p:cNvSpPr/>
          <p:nvPr/>
        </p:nvSpPr>
        <p:spPr>
          <a:xfrm>
            <a:off x="548640" y="1417320"/>
            <a:ext cx="2011320" cy="731160"/>
          </a:xfrm>
          <a:prstGeom prst="roundRect">
            <a:avLst>
              <a:gd name="adj" fmla="val 10000"/>
            </a:avLst>
          </a:prstGeom>
          <a:solidFill>
            <a:srgbClr val="E1F5EE"/>
          </a:solidFill>
          <a:ln w="0">
            <a:noFill/>
          </a:ln>
          <a:effectLst>
            <a:outerShdw blurRad="50760" dist="12600" dir="54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Text 6"/>
          <p:cNvSpPr/>
          <p:nvPr/>
        </p:nvSpPr>
        <p:spPr>
          <a:xfrm>
            <a:off x="548640" y="150876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0F6E56"/>
                </a:solidFill>
                <a:latin typeface="Calibri"/>
                <a:ea typeface="Calibri"/>
              </a:rPr>
              <a:t>Billing agent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Text 7"/>
          <p:cNvSpPr/>
          <p:nvPr/>
        </p:nvSpPr>
        <p:spPr>
          <a:xfrm>
            <a:off x="548640" y="182880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767290"/>
                </a:solidFill>
                <a:latin typeface="Calibri"/>
                <a:ea typeface="Calibri"/>
              </a:rPr>
              <a:t>Refunds, invoices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Shape 8"/>
          <p:cNvSpPr/>
          <p:nvPr/>
        </p:nvSpPr>
        <p:spPr>
          <a:xfrm>
            <a:off x="6583680" y="1417320"/>
            <a:ext cx="2011320" cy="731160"/>
          </a:xfrm>
          <a:prstGeom prst="roundRect">
            <a:avLst>
              <a:gd name="adj" fmla="val 10000"/>
            </a:avLst>
          </a:prstGeom>
          <a:solidFill>
            <a:srgbClr val="E1F5EE"/>
          </a:solidFill>
          <a:ln w="0">
            <a:noFill/>
          </a:ln>
          <a:effectLst>
            <a:outerShdw blurRad="50760" dist="12600" dir="54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Text 9"/>
          <p:cNvSpPr/>
          <p:nvPr/>
        </p:nvSpPr>
        <p:spPr>
          <a:xfrm>
            <a:off x="6583680" y="150876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0F6E56"/>
                </a:solidFill>
                <a:latin typeface="Calibri"/>
                <a:ea typeface="Calibri"/>
              </a:rPr>
              <a:t>Order tracking agent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Text 10"/>
          <p:cNvSpPr/>
          <p:nvPr/>
        </p:nvSpPr>
        <p:spPr>
          <a:xfrm>
            <a:off x="6583680" y="182880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767290"/>
                </a:solidFill>
                <a:latin typeface="Calibri"/>
                <a:ea typeface="Calibri"/>
              </a:rPr>
              <a:t>Shipping status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Shape 11"/>
          <p:cNvSpPr/>
          <p:nvPr/>
        </p:nvSpPr>
        <p:spPr>
          <a:xfrm>
            <a:off x="3611880" y="3520440"/>
            <a:ext cx="1919880" cy="731160"/>
          </a:xfrm>
          <a:prstGeom prst="roundRect">
            <a:avLst>
              <a:gd name="adj" fmla="val 10000"/>
            </a:avLst>
          </a:prstGeom>
          <a:solidFill>
            <a:srgbClr val="E1F5EE"/>
          </a:solidFill>
          <a:ln w="0">
            <a:noFill/>
          </a:ln>
          <a:effectLst>
            <a:outerShdw blurRad="50760" dist="12600" dir="54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Text 12"/>
          <p:cNvSpPr/>
          <p:nvPr/>
        </p:nvSpPr>
        <p:spPr>
          <a:xfrm>
            <a:off x="3611880" y="3611880"/>
            <a:ext cx="19198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0F6E56"/>
                </a:solidFill>
                <a:latin typeface="Calibri"/>
                <a:ea typeface="Calibri"/>
              </a:rPr>
              <a:t>FAQ agent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Text 13"/>
          <p:cNvSpPr/>
          <p:nvPr/>
        </p:nvSpPr>
        <p:spPr>
          <a:xfrm>
            <a:off x="3611880" y="393192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767290"/>
                </a:solidFill>
                <a:latin typeface="Calibri"/>
                <a:ea typeface="Calibri"/>
              </a:rPr>
              <a:t>General questions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Shape 14"/>
          <p:cNvSpPr/>
          <p:nvPr/>
        </p:nvSpPr>
        <p:spPr>
          <a:xfrm>
            <a:off x="3749040" y="2286000"/>
            <a:ext cx="1645560" cy="776880"/>
          </a:xfrm>
          <a:prstGeom prst="roundRect">
            <a:avLst>
              <a:gd name="adj" fmla="val 9412"/>
            </a:avLst>
          </a:prstGeom>
          <a:solidFill>
            <a:srgbClr val="26215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9" name="Text 15"/>
          <p:cNvSpPr/>
          <p:nvPr/>
        </p:nvSpPr>
        <p:spPr>
          <a:xfrm>
            <a:off x="3749040" y="2340720"/>
            <a:ext cx="16455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FFFFFF"/>
                </a:solidFill>
                <a:latin typeface="Calibri"/>
                <a:ea typeface="Calibri"/>
              </a:rPr>
              <a:t>Orchestrator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FFFFFF"/>
                </a:solidFill>
                <a:latin typeface="Calibri"/>
                <a:ea typeface="Calibri"/>
              </a:rPr>
              <a:t>agent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Text 16"/>
          <p:cNvSpPr/>
          <p:nvPr/>
        </p:nvSpPr>
        <p:spPr>
          <a:xfrm>
            <a:off x="3749040" y="2697480"/>
            <a:ext cx="16455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CADCFC"/>
                </a:solidFill>
                <a:latin typeface="Calibri"/>
                <a:ea typeface="Calibri"/>
              </a:rPr>
              <a:t>Classifies intent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CADCFC"/>
                </a:solidFill>
                <a:latin typeface="Calibri"/>
                <a:ea typeface="Calibri"/>
              </a:rPr>
              <a:t>&amp; routes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Text 17"/>
          <p:cNvSpPr/>
          <p:nvPr/>
        </p:nvSpPr>
        <p:spPr>
          <a:xfrm>
            <a:off x="548640" y="4434840"/>
            <a:ext cx="804636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The root agent's only job is intent classification and routing — it doesn't need to know how to process a refund.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Each specialist owns its own tools, prompt, and slice of state.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To the user, it's still one chat window and one coherent assistant.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Text 18"/>
          <p:cNvSpPr/>
          <p:nvPr/>
        </p:nvSpPr>
        <p:spPr>
          <a:xfrm>
            <a:off x="548640" y="4370760"/>
            <a:ext cx="81378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05000"/>
              </a:lnSpc>
              <a:buClr>
                <a:srgbClr val="433F5C"/>
              </a:buClr>
              <a:buFont typeface="Symbol" charset="2"/>
              <a:buChar char=""/>
            </a:pPr>
            <a:r>
              <a:rPr lang="en-US" sz="1150" b="0" strike="noStrike" spc="-1">
                <a:solidFill>
                  <a:srgbClr val="433F5C"/>
                </a:solidFill>
                <a:latin typeface="Calibri"/>
                <a:ea typeface="Calibri"/>
              </a:rPr>
              <a:t>The root agent's only job is intent classification and routing — it doesn't need to know how to process a refund.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5000"/>
              </a:lnSpc>
              <a:buClr>
                <a:srgbClr val="433F5C"/>
              </a:buClr>
              <a:buFont typeface="Symbol" charset="2"/>
              <a:buChar char=""/>
            </a:pPr>
            <a:r>
              <a:rPr lang="en-US" sz="1150" b="0" strike="noStrike" spc="-1">
                <a:solidFill>
                  <a:srgbClr val="433F5C"/>
                </a:solidFill>
                <a:latin typeface="Calibri"/>
                <a:ea typeface="Calibri"/>
              </a:rPr>
              <a:t>Each specialist owns its own tools, prompt, and slice of state.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5000"/>
              </a:lnSpc>
              <a:buClr>
                <a:srgbClr val="433F5C"/>
              </a:buClr>
              <a:buFont typeface="Symbol" charset="2"/>
              <a:buChar char=""/>
            </a:pPr>
            <a:r>
              <a:rPr lang="en-US" sz="1150" b="0" strike="noStrike" spc="-1">
                <a:solidFill>
                  <a:srgbClr val="433F5C"/>
                </a:solidFill>
                <a:latin typeface="Calibri"/>
                <a:ea typeface="Calibri"/>
              </a:rPr>
              <a:t>To the user, it's still one chat window and one coherent assistant.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Shape 19"/>
          <p:cNvSpPr/>
          <p:nvPr/>
        </p:nvSpPr>
        <p:spPr>
          <a:xfrm>
            <a:off x="457200" y="4681800"/>
            <a:ext cx="1298160" cy="328680"/>
          </a:xfrm>
          <a:prstGeom prst="roundRect">
            <a:avLst>
              <a:gd name="adj" fmla="val 13889"/>
            </a:avLst>
          </a:prstGeom>
          <a:solidFill>
            <a:srgbClr val="ECEBF4"/>
          </a:solidFill>
          <a:ln w="6350">
            <a:solidFill>
              <a:srgbClr val="ECEBF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Text 20"/>
          <p:cNvSpPr/>
          <p:nvPr/>
        </p:nvSpPr>
        <p:spPr>
          <a:xfrm>
            <a:off x="457200" y="4681800"/>
            <a:ext cx="12981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767290"/>
                </a:solidFill>
                <a:latin typeface="Calibri"/>
                <a:ea typeface="Calibri"/>
              </a:rPr>
              <a:t>Login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Shape 21"/>
          <p:cNvSpPr/>
          <p:nvPr/>
        </p:nvSpPr>
        <p:spPr>
          <a:xfrm>
            <a:off x="1865520" y="4681800"/>
            <a:ext cx="1298160" cy="328680"/>
          </a:xfrm>
          <a:prstGeom prst="roundRect">
            <a:avLst>
              <a:gd name="adj" fmla="val 13889"/>
            </a:avLst>
          </a:prstGeom>
          <a:solidFill>
            <a:srgbClr val="E1F5EE"/>
          </a:solidFill>
          <a:ln w="6350">
            <a:solidFill>
              <a:srgbClr val="E1F5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Text 22"/>
          <p:cNvSpPr/>
          <p:nvPr/>
        </p:nvSpPr>
        <p:spPr>
          <a:xfrm>
            <a:off x="1865520" y="4681800"/>
            <a:ext cx="12981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0F6E56"/>
                </a:solidFill>
                <a:latin typeface="Calibri"/>
                <a:ea typeface="Calibri"/>
              </a:rPr>
              <a:t>History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Shape 23"/>
          <p:cNvSpPr/>
          <p:nvPr/>
        </p:nvSpPr>
        <p:spPr>
          <a:xfrm>
            <a:off x="3273480" y="4681800"/>
            <a:ext cx="1298160" cy="328680"/>
          </a:xfrm>
          <a:prstGeom prst="roundRect">
            <a:avLst>
              <a:gd name="adj" fmla="val 13889"/>
            </a:avLst>
          </a:prstGeom>
          <a:solidFill>
            <a:srgbClr val="EEEDFE"/>
          </a:solidFill>
          <a:ln w="6350">
            <a:solidFill>
              <a:srgbClr val="EEED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Text 24"/>
          <p:cNvSpPr/>
          <p:nvPr/>
        </p:nvSpPr>
        <p:spPr>
          <a:xfrm>
            <a:off x="3273480" y="4681800"/>
            <a:ext cx="12981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26215C"/>
                </a:solidFill>
                <a:latin typeface="Calibri"/>
                <a:ea typeface="Calibri"/>
              </a:rPr>
              <a:t>Context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Shape 25"/>
          <p:cNvSpPr/>
          <p:nvPr/>
        </p:nvSpPr>
        <p:spPr>
          <a:xfrm>
            <a:off x="4681800" y="4681800"/>
            <a:ext cx="1298160" cy="328680"/>
          </a:xfrm>
          <a:prstGeom prst="roundRect">
            <a:avLst>
              <a:gd name="adj" fmla="val 13889"/>
            </a:avLst>
          </a:prstGeom>
          <a:solidFill>
            <a:srgbClr val="F2A623"/>
          </a:solidFill>
          <a:ln w="6350">
            <a:solidFill>
              <a:srgbClr val="F2A62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Text 26"/>
          <p:cNvSpPr/>
          <p:nvPr/>
        </p:nvSpPr>
        <p:spPr>
          <a:xfrm>
            <a:off x="4681800" y="4681800"/>
            <a:ext cx="12981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854F0B"/>
                </a:solidFill>
                <a:latin typeface="Calibri"/>
                <a:ea typeface="Calibri"/>
              </a:rPr>
              <a:t>Agents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Shape 27"/>
          <p:cNvSpPr/>
          <p:nvPr/>
        </p:nvSpPr>
        <p:spPr>
          <a:xfrm>
            <a:off x="6089760" y="4681800"/>
            <a:ext cx="1298160" cy="328680"/>
          </a:xfrm>
          <a:prstGeom prst="roundRect">
            <a:avLst>
              <a:gd name="adj" fmla="val 13889"/>
            </a:avLst>
          </a:prstGeom>
          <a:solidFill>
            <a:srgbClr val="ECEBF4"/>
          </a:solidFill>
          <a:ln w="6350">
            <a:solidFill>
              <a:srgbClr val="ECEBF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Text 28"/>
          <p:cNvSpPr/>
          <p:nvPr/>
        </p:nvSpPr>
        <p:spPr>
          <a:xfrm>
            <a:off x="6089760" y="4681800"/>
            <a:ext cx="12981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767290"/>
                </a:solidFill>
                <a:latin typeface="Calibri"/>
                <a:ea typeface="Calibri"/>
              </a:rPr>
              <a:t>Chat UI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Shape 29"/>
          <p:cNvSpPr/>
          <p:nvPr/>
        </p:nvSpPr>
        <p:spPr>
          <a:xfrm>
            <a:off x="7498080" y="4681800"/>
            <a:ext cx="1298160" cy="328680"/>
          </a:xfrm>
          <a:prstGeom prst="roundRect">
            <a:avLst>
              <a:gd name="adj" fmla="val 13889"/>
            </a:avLst>
          </a:prstGeom>
          <a:solidFill>
            <a:srgbClr val="E1F5EE"/>
          </a:solidFill>
          <a:ln w="6350">
            <a:solidFill>
              <a:srgbClr val="E1F5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Text 30"/>
          <p:cNvSpPr/>
          <p:nvPr/>
        </p:nvSpPr>
        <p:spPr>
          <a:xfrm>
            <a:off x="7498080" y="4681800"/>
            <a:ext cx="12981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0F6E56"/>
                </a:solidFill>
                <a:latin typeface="Calibri"/>
                <a:ea typeface="Calibri"/>
              </a:rPr>
              <a:t>Session Store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Text 0"/>
          <p:cNvSpPr/>
          <p:nvPr/>
        </p:nvSpPr>
        <p:spPr>
          <a:xfrm>
            <a:off x="457200" y="2926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199">
                <a:solidFill>
                  <a:srgbClr val="0F6E56"/>
                </a:solidFill>
                <a:latin typeface="Calibri"/>
                <a:ea typeface="Calibri"/>
              </a:rPr>
              <a:t>BUILDING BLOCK 5 OF 6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Text 1"/>
          <p:cNvSpPr/>
          <p:nvPr/>
        </p:nvSpPr>
        <p:spPr>
          <a:xfrm>
            <a:off x="457200" y="54864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26215C"/>
                </a:solidFill>
                <a:latin typeface="Cambria"/>
                <a:ea typeface="Cambria"/>
              </a:rPr>
              <a:t>Tools &amp; function calling → actions inside the chat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Text 2"/>
          <p:cNvSpPr/>
          <p:nvPr/>
        </p:nvSpPr>
        <p:spPr>
          <a:xfrm>
            <a:off x="457200" y="1417320"/>
            <a:ext cx="429732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15000"/>
              </a:lnSpc>
              <a:buClr>
                <a:srgbClr val="433F5C"/>
              </a:buClr>
              <a:buFont typeface="Symbol" charset="2"/>
              <a:buChar char=""/>
            </a:pPr>
            <a:r>
              <a:rPr lang="en-US" sz="1300" b="0" strike="noStrike" spc="-1">
                <a:solidFill>
                  <a:srgbClr val="433F5C"/>
                </a:solidFill>
                <a:latin typeface="Calibri"/>
                <a:ea typeface="Calibri"/>
              </a:rPr>
              <a:t>A tool call is a real function or API invocation — not just generated text.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Text 3"/>
          <p:cNvSpPr/>
          <p:nvPr/>
        </p:nvSpPr>
        <p:spPr>
          <a:xfrm>
            <a:off x="457200" y="2148840"/>
            <a:ext cx="429732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15000"/>
              </a:lnSpc>
              <a:buClr>
                <a:srgbClr val="433F5C"/>
              </a:buClr>
              <a:buFont typeface="Symbol" charset="2"/>
              <a:buChar char=""/>
            </a:pPr>
            <a:r>
              <a:rPr lang="en-US" sz="1300" b="0" strike="noStrike" spc="-1">
                <a:solidFill>
                  <a:srgbClr val="433F5C"/>
                </a:solidFill>
                <a:latin typeface="Calibri"/>
                <a:ea typeface="Calibri"/>
              </a:rPr>
              <a:t>Results can render as inline UI: status cards, forms, buttons — not just paragraphs.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Text 4"/>
          <p:cNvSpPr/>
          <p:nvPr/>
        </p:nvSpPr>
        <p:spPr>
          <a:xfrm>
            <a:off x="457200" y="2880360"/>
            <a:ext cx="429732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15000"/>
              </a:lnSpc>
              <a:buClr>
                <a:srgbClr val="433F5C"/>
              </a:buClr>
              <a:buFont typeface="Symbol" charset="2"/>
              <a:buChar char=""/>
            </a:pPr>
            <a:r>
              <a:rPr lang="en-US" sz="1300" b="0" strike="noStrike" spc="-1">
                <a:solidFill>
                  <a:srgbClr val="433F5C"/>
                </a:solidFill>
                <a:latin typeface="Calibri"/>
                <a:ea typeface="Calibri"/>
              </a:rPr>
              <a:t>This is what makes an assistant feel like it can do things, not just talk about them.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Shape 5"/>
          <p:cNvSpPr/>
          <p:nvPr/>
        </p:nvSpPr>
        <p:spPr>
          <a:xfrm>
            <a:off x="457200" y="3703320"/>
            <a:ext cx="4297320" cy="868320"/>
          </a:xfrm>
          <a:prstGeom prst="roundRect">
            <a:avLst>
              <a:gd name="adj" fmla="val 8421"/>
            </a:avLst>
          </a:prstGeom>
          <a:solidFill>
            <a:srgbClr val="E1F5E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Shape 6"/>
          <p:cNvSpPr/>
          <p:nvPr/>
        </p:nvSpPr>
        <p:spPr>
          <a:xfrm>
            <a:off x="594360" y="3803760"/>
            <a:ext cx="365400" cy="3654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52" name="Image 0" descr="preencoded.png"/>
          <p:cNvPicPr/>
          <p:nvPr/>
        </p:nvPicPr>
        <p:blipFill>
          <a:blip r:embed="rId3"/>
          <a:stretch/>
        </p:blipFill>
        <p:spPr>
          <a:xfrm>
            <a:off x="682200" y="3891600"/>
            <a:ext cx="189720" cy="189720"/>
          </a:xfrm>
          <a:prstGeom prst="rect">
            <a:avLst/>
          </a:prstGeom>
          <a:ln w="0">
            <a:noFill/>
          </a:ln>
        </p:spPr>
      </p:pic>
      <p:sp>
        <p:nvSpPr>
          <p:cNvPr id="353" name="Text 7"/>
          <p:cNvSpPr/>
          <p:nvPr/>
        </p:nvSpPr>
        <p:spPr>
          <a:xfrm>
            <a:off x="1097280" y="3749040"/>
            <a:ext cx="35658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0F6E56"/>
                </a:solidFill>
                <a:latin typeface="Calibri"/>
                <a:ea typeface="Calibri"/>
              </a:rPr>
              <a:t>Today: </a:t>
            </a:r>
            <a:r>
              <a:rPr lang="en-US" sz="950" b="0" strike="noStrike" spc="-1">
                <a:solidFill>
                  <a:srgbClr val="433F5C"/>
                </a:solidFill>
                <a:latin typeface="Calibri"/>
                <a:ea typeface="Calibri"/>
              </a:rPr>
              <a:t>an MCP server provisions our tools, and sub-agents call it directly to use them.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Text 8"/>
          <p:cNvSpPr/>
          <p:nvPr/>
        </p:nvSpPr>
        <p:spPr>
          <a:xfrm>
            <a:off x="1097280" y="4114800"/>
            <a:ext cx="35658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D85A30"/>
                </a:solidFill>
                <a:latin typeface="Calibri"/>
                <a:ea typeface="Calibri"/>
              </a:rPr>
              <a:t>Not yet built: </a:t>
            </a:r>
            <a:r>
              <a:rPr lang="en-US" sz="950" b="0" strike="noStrike" spc="-1">
                <a:solidFill>
                  <a:srgbClr val="433F5C"/>
                </a:solidFill>
                <a:latin typeface="Calibri"/>
                <a:ea typeface="Calibri"/>
              </a:rPr>
              <a:t>an MCP Gateway for central auth, access policy, and audit across sub-agents.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Shape 9"/>
          <p:cNvSpPr/>
          <p:nvPr/>
        </p:nvSpPr>
        <p:spPr>
          <a:xfrm>
            <a:off x="5029200" y="1325880"/>
            <a:ext cx="3657240" cy="502560"/>
          </a:xfrm>
          <a:prstGeom prst="roundRect">
            <a:avLst>
              <a:gd name="adj" fmla="val 21818"/>
            </a:avLst>
          </a:prstGeom>
          <a:solidFill>
            <a:srgbClr val="ECEBF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Text 10"/>
          <p:cNvSpPr/>
          <p:nvPr/>
        </p:nvSpPr>
        <p:spPr>
          <a:xfrm>
            <a:off x="5212080" y="1325880"/>
            <a:ext cx="32914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433F5C"/>
                </a:solidFill>
                <a:latin typeface="Calibri"/>
                <a:ea typeface="Calibri"/>
              </a:rPr>
              <a:t>Can you check order #48213?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Shape 11"/>
          <p:cNvSpPr/>
          <p:nvPr/>
        </p:nvSpPr>
        <p:spPr>
          <a:xfrm>
            <a:off x="5029200" y="2011680"/>
            <a:ext cx="3657240" cy="1508400"/>
          </a:xfrm>
          <a:prstGeom prst="roundRect">
            <a:avLst>
              <a:gd name="adj" fmla="val 7273"/>
            </a:avLst>
          </a:prstGeom>
          <a:solidFill>
            <a:srgbClr val="F8F7FC"/>
          </a:solidFill>
          <a:ln w="0">
            <a:noFill/>
          </a:ln>
          <a:effectLst>
            <a:outerShdw blurRad="76320" dist="25560" dir="54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Shape 12"/>
          <p:cNvSpPr/>
          <p:nvPr/>
        </p:nvSpPr>
        <p:spPr>
          <a:xfrm>
            <a:off x="5257800" y="2221920"/>
            <a:ext cx="420120" cy="420120"/>
          </a:xfrm>
          <a:prstGeom prst="ellipse">
            <a:avLst/>
          </a:prstGeom>
          <a:solidFill>
            <a:srgbClr val="E1F5E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59" name="Image 1" descr="preencoded.png"/>
          <p:cNvPicPr/>
          <p:nvPr/>
        </p:nvPicPr>
        <p:blipFill>
          <a:blip r:embed="rId4"/>
          <a:stretch/>
        </p:blipFill>
        <p:spPr>
          <a:xfrm>
            <a:off x="5358600" y="2323080"/>
            <a:ext cx="218520" cy="218520"/>
          </a:xfrm>
          <a:prstGeom prst="rect">
            <a:avLst/>
          </a:prstGeom>
          <a:ln w="0">
            <a:noFill/>
          </a:ln>
        </p:spPr>
      </p:pic>
      <p:sp>
        <p:nvSpPr>
          <p:cNvPr id="360" name="Text 13"/>
          <p:cNvSpPr/>
          <p:nvPr/>
        </p:nvSpPr>
        <p:spPr>
          <a:xfrm>
            <a:off x="5870520" y="2203560"/>
            <a:ext cx="23770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26215C"/>
                </a:solidFill>
                <a:latin typeface="Calibri"/>
                <a:ea typeface="Calibri"/>
              </a:rPr>
              <a:t>Order #48213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Shape 14"/>
          <p:cNvSpPr/>
          <p:nvPr/>
        </p:nvSpPr>
        <p:spPr>
          <a:xfrm>
            <a:off x="7498080" y="2221920"/>
            <a:ext cx="959760" cy="273960"/>
          </a:xfrm>
          <a:prstGeom prst="roundRect">
            <a:avLst>
              <a:gd name="adj" fmla="val 50000"/>
            </a:avLst>
          </a:prstGeom>
          <a:solidFill>
            <a:srgbClr val="E1F5E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Text 15"/>
          <p:cNvSpPr/>
          <p:nvPr/>
        </p:nvSpPr>
        <p:spPr>
          <a:xfrm>
            <a:off x="7498080" y="2221920"/>
            <a:ext cx="9597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0F6E56"/>
                </a:solidFill>
                <a:latin typeface="Calibri"/>
                <a:ea typeface="Calibri"/>
              </a:rPr>
              <a:t>Shipped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Text 16"/>
          <p:cNvSpPr/>
          <p:nvPr/>
        </p:nvSpPr>
        <p:spPr>
          <a:xfrm>
            <a:off x="5257800" y="2606040"/>
            <a:ext cx="3200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433F5C"/>
                </a:solidFill>
                <a:latin typeface="Calibri"/>
                <a:ea typeface="Calibri"/>
              </a:rPr>
              <a:t>Estimated delivery: Tue, Jun 17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Shape 17"/>
          <p:cNvSpPr/>
          <p:nvPr/>
        </p:nvSpPr>
        <p:spPr>
          <a:xfrm>
            <a:off x="5257800" y="2971800"/>
            <a:ext cx="1554120" cy="365400"/>
          </a:xfrm>
          <a:prstGeom prst="roundRect">
            <a:avLst>
              <a:gd name="adj" fmla="val 20000"/>
            </a:avLst>
          </a:prstGeom>
          <a:solidFill>
            <a:srgbClr val="26215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5" name="Text 18"/>
          <p:cNvSpPr/>
          <p:nvPr/>
        </p:nvSpPr>
        <p:spPr>
          <a:xfrm>
            <a:off x="5257800" y="2971800"/>
            <a:ext cx="15541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FFFFFF"/>
                </a:solidFill>
                <a:latin typeface="Calibri"/>
                <a:ea typeface="Calibri"/>
              </a:rPr>
              <a:t>Track shipment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Text 19"/>
          <p:cNvSpPr/>
          <p:nvPr/>
        </p:nvSpPr>
        <p:spPr>
          <a:xfrm>
            <a:off x="5029200" y="365760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strike="noStrike" spc="-1">
                <a:solidFill>
                  <a:srgbClr val="767290"/>
                </a:solidFill>
                <a:latin typeface="Calibri"/>
                <a:ea typeface="Calibri"/>
              </a:rPr>
              <a:t>tool_call: get_order_status(order_id="48213")  →  rendered as a card, not a paragraph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Text 20"/>
          <p:cNvSpPr/>
          <p:nvPr/>
        </p:nvSpPr>
        <p:spPr>
          <a:xfrm>
            <a:off x="5029200" y="393192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strike="noStrike" spc="-1">
                <a:solidFill>
                  <a:srgbClr val="767290"/>
                </a:solidFill>
                <a:latin typeface="Calibri"/>
                <a:ea typeface="Calibri"/>
              </a:rPr>
              <a:t>This tool call is provisioned through our MCP server today — no central gateway sits in front of it yet.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Shape 21"/>
          <p:cNvSpPr/>
          <p:nvPr/>
        </p:nvSpPr>
        <p:spPr>
          <a:xfrm>
            <a:off x="457200" y="4681800"/>
            <a:ext cx="1298160" cy="328680"/>
          </a:xfrm>
          <a:prstGeom prst="roundRect">
            <a:avLst>
              <a:gd name="adj" fmla="val 13889"/>
            </a:avLst>
          </a:prstGeom>
          <a:solidFill>
            <a:srgbClr val="ECEBF4"/>
          </a:solidFill>
          <a:ln w="6350">
            <a:solidFill>
              <a:srgbClr val="ECEBF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Text 22"/>
          <p:cNvSpPr/>
          <p:nvPr/>
        </p:nvSpPr>
        <p:spPr>
          <a:xfrm>
            <a:off x="457200" y="4681800"/>
            <a:ext cx="12981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767290"/>
                </a:solidFill>
                <a:latin typeface="Calibri"/>
                <a:ea typeface="Calibri"/>
              </a:rPr>
              <a:t>Login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Shape 23"/>
          <p:cNvSpPr/>
          <p:nvPr/>
        </p:nvSpPr>
        <p:spPr>
          <a:xfrm>
            <a:off x="1865520" y="4681800"/>
            <a:ext cx="1298160" cy="328680"/>
          </a:xfrm>
          <a:prstGeom prst="roundRect">
            <a:avLst>
              <a:gd name="adj" fmla="val 13889"/>
            </a:avLst>
          </a:prstGeom>
          <a:solidFill>
            <a:srgbClr val="E1F5EE"/>
          </a:solidFill>
          <a:ln w="6350">
            <a:solidFill>
              <a:srgbClr val="E1F5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Text 24"/>
          <p:cNvSpPr/>
          <p:nvPr/>
        </p:nvSpPr>
        <p:spPr>
          <a:xfrm>
            <a:off x="1865520" y="4681800"/>
            <a:ext cx="12981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0F6E56"/>
                </a:solidFill>
                <a:latin typeface="Calibri"/>
                <a:ea typeface="Calibri"/>
              </a:rPr>
              <a:t>History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Shape 25"/>
          <p:cNvSpPr/>
          <p:nvPr/>
        </p:nvSpPr>
        <p:spPr>
          <a:xfrm>
            <a:off x="3273480" y="4681800"/>
            <a:ext cx="1298160" cy="328680"/>
          </a:xfrm>
          <a:prstGeom prst="roundRect">
            <a:avLst>
              <a:gd name="adj" fmla="val 13889"/>
            </a:avLst>
          </a:prstGeom>
          <a:solidFill>
            <a:srgbClr val="EEEDFE"/>
          </a:solidFill>
          <a:ln w="6350">
            <a:solidFill>
              <a:srgbClr val="EEED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Text 26"/>
          <p:cNvSpPr/>
          <p:nvPr/>
        </p:nvSpPr>
        <p:spPr>
          <a:xfrm>
            <a:off x="3273480" y="4681800"/>
            <a:ext cx="12981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26215C"/>
                </a:solidFill>
                <a:latin typeface="Calibri"/>
                <a:ea typeface="Calibri"/>
              </a:rPr>
              <a:t>Context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Shape 27"/>
          <p:cNvSpPr/>
          <p:nvPr/>
        </p:nvSpPr>
        <p:spPr>
          <a:xfrm>
            <a:off x="4681800" y="4681800"/>
            <a:ext cx="1298160" cy="328680"/>
          </a:xfrm>
          <a:prstGeom prst="roundRect">
            <a:avLst>
              <a:gd name="adj" fmla="val 13889"/>
            </a:avLst>
          </a:prstGeom>
          <a:solidFill>
            <a:srgbClr val="F2A623"/>
          </a:solidFill>
          <a:ln w="6350">
            <a:solidFill>
              <a:srgbClr val="F2A62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Text 28"/>
          <p:cNvSpPr/>
          <p:nvPr/>
        </p:nvSpPr>
        <p:spPr>
          <a:xfrm>
            <a:off x="4681800" y="4681800"/>
            <a:ext cx="12981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854F0B"/>
                </a:solidFill>
                <a:latin typeface="Calibri"/>
                <a:ea typeface="Calibri"/>
              </a:rPr>
              <a:t>Agents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Shape 29"/>
          <p:cNvSpPr/>
          <p:nvPr/>
        </p:nvSpPr>
        <p:spPr>
          <a:xfrm>
            <a:off x="6089760" y="4681800"/>
            <a:ext cx="1298160" cy="328680"/>
          </a:xfrm>
          <a:prstGeom prst="roundRect">
            <a:avLst>
              <a:gd name="adj" fmla="val 13889"/>
            </a:avLst>
          </a:prstGeom>
          <a:solidFill>
            <a:srgbClr val="F2A623"/>
          </a:solidFill>
          <a:ln w="6350">
            <a:solidFill>
              <a:srgbClr val="F2A62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Text 30"/>
          <p:cNvSpPr/>
          <p:nvPr/>
        </p:nvSpPr>
        <p:spPr>
          <a:xfrm>
            <a:off x="6089760" y="4681800"/>
            <a:ext cx="12981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854F0B"/>
                </a:solidFill>
                <a:latin typeface="Calibri"/>
                <a:ea typeface="Calibri"/>
              </a:rPr>
              <a:t>Chat UI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Shape 31"/>
          <p:cNvSpPr/>
          <p:nvPr/>
        </p:nvSpPr>
        <p:spPr>
          <a:xfrm>
            <a:off x="7498080" y="4681800"/>
            <a:ext cx="1298160" cy="328680"/>
          </a:xfrm>
          <a:prstGeom prst="roundRect">
            <a:avLst>
              <a:gd name="adj" fmla="val 13889"/>
            </a:avLst>
          </a:prstGeom>
          <a:solidFill>
            <a:srgbClr val="E1F5EE"/>
          </a:solidFill>
          <a:ln w="6350">
            <a:solidFill>
              <a:srgbClr val="E1F5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Text 32"/>
          <p:cNvSpPr/>
          <p:nvPr/>
        </p:nvSpPr>
        <p:spPr>
          <a:xfrm>
            <a:off x="7498080" y="4681800"/>
            <a:ext cx="12981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0F6E56"/>
                </a:solidFill>
                <a:latin typeface="Calibri"/>
                <a:ea typeface="Calibri"/>
              </a:rPr>
              <a:t>Session Store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Text 0"/>
          <p:cNvSpPr/>
          <p:nvPr/>
        </p:nvSpPr>
        <p:spPr>
          <a:xfrm>
            <a:off x="457200" y="2926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199">
                <a:solidFill>
                  <a:srgbClr val="0F6E56"/>
                </a:solidFill>
                <a:latin typeface="Calibri"/>
                <a:ea typeface="Calibri"/>
              </a:rPr>
              <a:t>BUILDING BLOCK 5 OF 6 · CURRENT IMPLEMENTATION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Text 1"/>
          <p:cNvSpPr/>
          <p:nvPr/>
        </p:nvSpPr>
        <p:spPr>
          <a:xfrm>
            <a:off x="457200" y="54864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26215C"/>
                </a:solidFill>
                <a:latin typeface="Cambria"/>
                <a:ea typeface="Cambria"/>
              </a:rPr>
              <a:t>Tools our MCP server provisions today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Shape 2"/>
          <p:cNvSpPr/>
          <p:nvPr/>
        </p:nvSpPr>
        <p:spPr>
          <a:xfrm>
            <a:off x="457200" y="1417320"/>
            <a:ext cx="2651400" cy="2788560"/>
          </a:xfrm>
          <a:prstGeom prst="roundRect">
            <a:avLst>
              <a:gd name="adj" fmla="val 3103"/>
            </a:avLst>
          </a:prstGeom>
          <a:solidFill>
            <a:srgbClr val="F8F7FC"/>
          </a:solidFill>
          <a:ln w="0">
            <a:noFill/>
          </a:ln>
          <a:effectLst>
            <a:outerShdw blurRad="50760" dist="25560" dir="54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Shape 3"/>
          <p:cNvSpPr/>
          <p:nvPr/>
        </p:nvSpPr>
        <p:spPr>
          <a:xfrm>
            <a:off x="685800" y="1600200"/>
            <a:ext cx="502560" cy="502560"/>
          </a:xfrm>
          <a:prstGeom prst="ellipse">
            <a:avLst/>
          </a:prstGeom>
          <a:solidFill>
            <a:srgbClr val="EEEDF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84" name="Image 0" descr="preencoded.png"/>
          <p:cNvPicPr/>
          <p:nvPr/>
        </p:nvPicPr>
        <p:blipFill>
          <a:blip r:embed="rId3"/>
          <a:stretch/>
        </p:blipFill>
        <p:spPr>
          <a:xfrm>
            <a:off x="806400" y="1720800"/>
            <a:ext cx="261000" cy="261000"/>
          </a:xfrm>
          <a:prstGeom prst="rect">
            <a:avLst/>
          </a:prstGeom>
          <a:ln w="0">
            <a:noFill/>
          </a:ln>
        </p:spPr>
      </p:pic>
      <p:sp>
        <p:nvSpPr>
          <p:cNvPr id="385" name="Text 4"/>
          <p:cNvSpPr/>
          <p:nvPr/>
        </p:nvSpPr>
        <p:spPr>
          <a:xfrm>
            <a:off x="1298520" y="1581840"/>
            <a:ext cx="1645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strike="noStrike" spc="-1">
                <a:solidFill>
                  <a:srgbClr val="26215C"/>
                </a:solidFill>
                <a:latin typeface="Calibri"/>
                <a:ea typeface="Calibri"/>
              </a:rPr>
              <a:t>FAQAnswers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Text 5"/>
          <p:cNvSpPr/>
          <p:nvPr/>
        </p:nvSpPr>
        <p:spPr>
          <a:xfrm>
            <a:off x="1298520" y="1856160"/>
            <a:ext cx="1645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i="1" strike="noStrike" spc="-1">
                <a:solidFill>
                  <a:srgbClr val="767290"/>
                </a:solidFill>
                <a:latin typeface="Calibri"/>
                <a:ea typeface="Calibri"/>
              </a:rPr>
              <a:t>used by FAQ agent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Text 6"/>
          <p:cNvSpPr/>
          <p:nvPr/>
        </p:nvSpPr>
        <p:spPr>
          <a:xfrm>
            <a:off x="685800" y="2221920"/>
            <a:ext cx="219420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433F5C"/>
                </a:solidFill>
                <a:latin typeface="Calibri"/>
                <a:ea typeface="Calibri"/>
              </a:rPr>
              <a:t>Answers general policy and product questions from a curated knowledge base — no account context required.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Shape 7"/>
          <p:cNvSpPr/>
          <p:nvPr/>
        </p:nvSpPr>
        <p:spPr>
          <a:xfrm>
            <a:off x="685800" y="3200400"/>
            <a:ext cx="2194560" cy="360"/>
          </a:xfrm>
          <a:prstGeom prst="line">
            <a:avLst/>
          </a:prstGeom>
          <a:ln w="12700">
            <a:solidFill>
              <a:srgbClr val="ECEBF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Text 8"/>
          <p:cNvSpPr/>
          <p:nvPr/>
        </p:nvSpPr>
        <p:spPr>
          <a:xfrm>
            <a:off x="685800" y="3291840"/>
            <a:ext cx="21942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strike="noStrike" spc="-1">
                <a:solidFill>
                  <a:srgbClr val="767290"/>
                </a:solidFill>
                <a:latin typeface="Consolas"/>
                <a:ea typeface="Consolas"/>
              </a:rPr>
              <a:t>in:  </a:t>
            </a:r>
            <a:r>
              <a:rPr lang="en-US" sz="850" b="0" strike="noStrike" spc="-1">
                <a:solidFill>
                  <a:srgbClr val="433F5C"/>
                </a:solidFill>
                <a:latin typeface="Consolas"/>
                <a:ea typeface="Consolas"/>
              </a:rPr>
              <a:t>query: string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Text 9"/>
          <p:cNvSpPr/>
          <p:nvPr/>
        </p:nvSpPr>
        <p:spPr>
          <a:xfrm>
            <a:off x="685800" y="3566160"/>
            <a:ext cx="21942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850" b="1" strike="noStrike" spc="-1">
                <a:solidFill>
                  <a:srgbClr val="767290"/>
                </a:solidFill>
                <a:latin typeface="Consolas"/>
                <a:ea typeface="Consolas"/>
              </a:rPr>
              <a:t>out: </a:t>
            </a:r>
            <a:r>
              <a:rPr lang="en-US" sz="850" b="0" strike="noStrike" spc="-1">
                <a:solidFill>
                  <a:srgbClr val="433F5C"/>
                </a:solidFill>
                <a:latin typeface="Consolas"/>
                <a:ea typeface="Consolas"/>
              </a:rPr>
              <a:t>answer, source_doc_id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Shape 10"/>
          <p:cNvSpPr/>
          <p:nvPr/>
        </p:nvSpPr>
        <p:spPr>
          <a:xfrm>
            <a:off x="3246120" y="1417320"/>
            <a:ext cx="2651400" cy="2788560"/>
          </a:xfrm>
          <a:prstGeom prst="roundRect">
            <a:avLst>
              <a:gd name="adj" fmla="val 3103"/>
            </a:avLst>
          </a:prstGeom>
          <a:solidFill>
            <a:srgbClr val="F8F7FC"/>
          </a:solidFill>
          <a:ln w="0">
            <a:noFill/>
          </a:ln>
          <a:effectLst>
            <a:outerShdw blurRad="50760" dist="25560" dir="54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Shape 11"/>
          <p:cNvSpPr/>
          <p:nvPr/>
        </p:nvSpPr>
        <p:spPr>
          <a:xfrm>
            <a:off x="3474720" y="1600200"/>
            <a:ext cx="502560" cy="502560"/>
          </a:xfrm>
          <a:prstGeom prst="ellipse">
            <a:avLst/>
          </a:prstGeom>
          <a:solidFill>
            <a:srgbClr val="E1F5E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93" name="Image 1" descr="preencoded.png"/>
          <p:cNvPicPr/>
          <p:nvPr/>
        </p:nvPicPr>
        <p:blipFill>
          <a:blip r:embed="rId4"/>
          <a:stretch/>
        </p:blipFill>
        <p:spPr>
          <a:xfrm>
            <a:off x="3595320" y="1720800"/>
            <a:ext cx="261000" cy="261000"/>
          </a:xfrm>
          <a:prstGeom prst="rect">
            <a:avLst/>
          </a:prstGeom>
          <a:ln w="0">
            <a:noFill/>
          </a:ln>
        </p:spPr>
      </p:pic>
      <p:sp>
        <p:nvSpPr>
          <p:cNvPr id="394" name="Text 12"/>
          <p:cNvSpPr/>
          <p:nvPr/>
        </p:nvSpPr>
        <p:spPr>
          <a:xfrm>
            <a:off x="4087440" y="1581840"/>
            <a:ext cx="1645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strike="noStrike" spc="-1">
                <a:solidFill>
                  <a:srgbClr val="26215C"/>
                </a:solidFill>
                <a:latin typeface="Calibri"/>
                <a:ea typeface="Calibri"/>
              </a:rPr>
              <a:t>AccountHelper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Text 13"/>
          <p:cNvSpPr/>
          <p:nvPr/>
        </p:nvSpPr>
        <p:spPr>
          <a:xfrm>
            <a:off x="4087440" y="1856160"/>
            <a:ext cx="1645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i="1" strike="noStrike" spc="-1">
                <a:solidFill>
                  <a:srgbClr val="767290"/>
                </a:solidFill>
                <a:latin typeface="Calibri"/>
                <a:ea typeface="Calibri"/>
              </a:rPr>
              <a:t>used by Transactions agent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Text 14"/>
          <p:cNvSpPr/>
          <p:nvPr/>
        </p:nvSpPr>
        <p:spPr>
          <a:xfrm>
            <a:off x="3474720" y="2221920"/>
            <a:ext cx="219420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433F5C"/>
                </a:solidFill>
                <a:latin typeface="Calibri"/>
                <a:ea typeface="Calibri"/>
              </a:rPr>
              <a:t>Looks up account profile details and recent activity needed to ground a request in this customer's real data.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Shape 15"/>
          <p:cNvSpPr/>
          <p:nvPr/>
        </p:nvSpPr>
        <p:spPr>
          <a:xfrm>
            <a:off x="3474720" y="3200400"/>
            <a:ext cx="2194560" cy="360"/>
          </a:xfrm>
          <a:prstGeom prst="line">
            <a:avLst/>
          </a:prstGeom>
          <a:ln w="12700">
            <a:solidFill>
              <a:srgbClr val="ECEBF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Text 16"/>
          <p:cNvSpPr/>
          <p:nvPr/>
        </p:nvSpPr>
        <p:spPr>
          <a:xfrm>
            <a:off x="3474720" y="3291840"/>
            <a:ext cx="21942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strike="noStrike" spc="-1">
                <a:solidFill>
                  <a:srgbClr val="767290"/>
                </a:solidFill>
                <a:latin typeface="Consolas"/>
                <a:ea typeface="Consolas"/>
              </a:rPr>
              <a:t>in:  </a:t>
            </a:r>
            <a:r>
              <a:rPr lang="en-US" sz="850" b="0" strike="noStrike" spc="-1">
                <a:solidFill>
                  <a:srgbClr val="433F5C"/>
                </a:solidFill>
                <a:latin typeface="Consolas"/>
                <a:ea typeface="Consolas"/>
              </a:rPr>
              <a:t>account_id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Text 17"/>
          <p:cNvSpPr/>
          <p:nvPr/>
        </p:nvSpPr>
        <p:spPr>
          <a:xfrm>
            <a:off x="3474720" y="3566160"/>
            <a:ext cx="21942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850" b="1" strike="noStrike" spc="-1">
                <a:solidFill>
                  <a:srgbClr val="767290"/>
                </a:solidFill>
                <a:latin typeface="Consolas"/>
                <a:ea typeface="Consolas"/>
              </a:rPr>
              <a:t>out: </a:t>
            </a:r>
            <a:r>
              <a:rPr lang="en-US" sz="850" b="0" strike="noStrike" spc="-1">
                <a:solidFill>
                  <a:srgbClr val="433F5C"/>
                </a:solidFill>
                <a:latin typeface="Consolas"/>
                <a:ea typeface="Consolas"/>
              </a:rPr>
              <a:t>profile, recent_activity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Shape 18"/>
          <p:cNvSpPr/>
          <p:nvPr/>
        </p:nvSpPr>
        <p:spPr>
          <a:xfrm>
            <a:off x="6035040" y="1417320"/>
            <a:ext cx="2651400" cy="2788560"/>
          </a:xfrm>
          <a:prstGeom prst="roundRect">
            <a:avLst>
              <a:gd name="adj" fmla="val 3103"/>
            </a:avLst>
          </a:prstGeom>
          <a:solidFill>
            <a:srgbClr val="F8F7FC"/>
          </a:solidFill>
          <a:ln w="0">
            <a:noFill/>
          </a:ln>
          <a:effectLst>
            <a:outerShdw blurRad="50760" dist="25560" dir="54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Shape 19"/>
          <p:cNvSpPr/>
          <p:nvPr/>
        </p:nvSpPr>
        <p:spPr>
          <a:xfrm>
            <a:off x="6263640" y="1600200"/>
            <a:ext cx="502560" cy="502560"/>
          </a:xfrm>
          <a:prstGeom prst="ellipse">
            <a:avLst/>
          </a:prstGeom>
          <a:solidFill>
            <a:srgbClr val="FAEED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02" name="Image 2" descr="preencoded.png"/>
          <p:cNvPicPr/>
          <p:nvPr/>
        </p:nvPicPr>
        <p:blipFill>
          <a:blip r:embed="rId5"/>
          <a:stretch/>
        </p:blipFill>
        <p:spPr>
          <a:xfrm>
            <a:off x="6384240" y="1720800"/>
            <a:ext cx="261000" cy="261000"/>
          </a:xfrm>
          <a:prstGeom prst="rect">
            <a:avLst/>
          </a:prstGeom>
          <a:ln w="0">
            <a:noFill/>
          </a:ln>
        </p:spPr>
      </p:pic>
      <p:sp>
        <p:nvSpPr>
          <p:cNvPr id="403" name="Text 20"/>
          <p:cNvSpPr/>
          <p:nvPr/>
        </p:nvSpPr>
        <p:spPr>
          <a:xfrm>
            <a:off x="6876360" y="1581840"/>
            <a:ext cx="1645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strike="noStrike" spc="-1">
                <a:solidFill>
                  <a:srgbClr val="26215C"/>
                </a:solidFill>
                <a:latin typeface="Calibri"/>
                <a:ea typeface="Calibri"/>
              </a:rPr>
              <a:t>BalanceChecker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Text 21"/>
          <p:cNvSpPr/>
          <p:nvPr/>
        </p:nvSpPr>
        <p:spPr>
          <a:xfrm>
            <a:off x="6876360" y="1856160"/>
            <a:ext cx="1645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i="1" strike="noStrike" spc="-1">
                <a:solidFill>
                  <a:srgbClr val="767290"/>
                </a:solidFill>
                <a:latin typeface="Calibri"/>
                <a:ea typeface="Calibri"/>
              </a:rPr>
              <a:t>used by Transactions agent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Text 22"/>
          <p:cNvSpPr/>
          <p:nvPr/>
        </p:nvSpPr>
        <p:spPr>
          <a:xfrm>
            <a:off x="6263640" y="2221920"/>
            <a:ext cx="219420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433F5C"/>
                </a:solidFill>
                <a:latin typeface="Calibri"/>
                <a:ea typeface="Calibri"/>
              </a:rPr>
              <a:t>Returns the current balance and pending holds for a specific account — the most frequently called tool in this flow.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Shape 23"/>
          <p:cNvSpPr/>
          <p:nvPr/>
        </p:nvSpPr>
        <p:spPr>
          <a:xfrm>
            <a:off x="6263640" y="3200400"/>
            <a:ext cx="2194560" cy="360"/>
          </a:xfrm>
          <a:prstGeom prst="line">
            <a:avLst/>
          </a:prstGeom>
          <a:ln w="12700">
            <a:solidFill>
              <a:srgbClr val="ECEBF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Text 24"/>
          <p:cNvSpPr/>
          <p:nvPr/>
        </p:nvSpPr>
        <p:spPr>
          <a:xfrm>
            <a:off x="6263640" y="3291840"/>
            <a:ext cx="21942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strike="noStrike" spc="-1">
                <a:solidFill>
                  <a:srgbClr val="767290"/>
                </a:solidFill>
                <a:latin typeface="Consolas"/>
                <a:ea typeface="Consolas"/>
              </a:rPr>
              <a:t>in:  </a:t>
            </a:r>
            <a:r>
              <a:rPr lang="en-US" sz="850" b="0" strike="noStrike" spc="-1">
                <a:solidFill>
                  <a:srgbClr val="433F5C"/>
                </a:solidFill>
                <a:latin typeface="Consolas"/>
                <a:ea typeface="Consolas"/>
              </a:rPr>
              <a:t>account_id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Text 25"/>
          <p:cNvSpPr/>
          <p:nvPr/>
        </p:nvSpPr>
        <p:spPr>
          <a:xfrm>
            <a:off x="6263640" y="3566160"/>
            <a:ext cx="21942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850" b="1" strike="noStrike" spc="-1">
                <a:solidFill>
                  <a:srgbClr val="767290"/>
                </a:solidFill>
                <a:latin typeface="Consolas"/>
                <a:ea typeface="Consolas"/>
              </a:rPr>
              <a:t>out: </a:t>
            </a:r>
            <a:r>
              <a:rPr lang="en-US" sz="850" b="0" strike="noStrike" spc="-1">
                <a:solidFill>
                  <a:srgbClr val="433F5C"/>
                </a:solidFill>
                <a:latin typeface="Consolas"/>
                <a:ea typeface="Consolas"/>
              </a:rPr>
              <a:t>available_balance, pending_holds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Text 26"/>
          <p:cNvSpPr/>
          <p:nvPr/>
        </p:nvSpPr>
        <p:spPr>
          <a:xfrm>
            <a:off x="457200" y="4297680"/>
            <a:ext cx="82292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950" b="0" i="1" strike="noStrike" spc="-1">
                <a:solidFill>
                  <a:srgbClr val="767290"/>
                </a:solidFill>
                <a:latin typeface="Calibri"/>
                <a:ea typeface="Calibri"/>
              </a:rPr>
              <a:t>All three are registered on the same MCP server and called directly by their owning sub-agent — this is the concrete inventory behind the orchestration example used throughout today's session.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Shape 27"/>
          <p:cNvSpPr/>
          <p:nvPr/>
        </p:nvSpPr>
        <p:spPr>
          <a:xfrm>
            <a:off x="457200" y="4681800"/>
            <a:ext cx="1298160" cy="328680"/>
          </a:xfrm>
          <a:prstGeom prst="roundRect">
            <a:avLst>
              <a:gd name="adj" fmla="val 13889"/>
            </a:avLst>
          </a:prstGeom>
          <a:solidFill>
            <a:srgbClr val="ECEBF4"/>
          </a:solidFill>
          <a:ln w="6350">
            <a:solidFill>
              <a:srgbClr val="ECEBF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Text 28"/>
          <p:cNvSpPr/>
          <p:nvPr/>
        </p:nvSpPr>
        <p:spPr>
          <a:xfrm>
            <a:off x="457200" y="4681800"/>
            <a:ext cx="12981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767290"/>
                </a:solidFill>
                <a:latin typeface="Calibri"/>
                <a:ea typeface="Calibri"/>
              </a:rPr>
              <a:t>Login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Shape 29"/>
          <p:cNvSpPr/>
          <p:nvPr/>
        </p:nvSpPr>
        <p:spPr>
          <a:xfrm>
            <a:off x="1865520" y="4681800"/>
            <a:ext cx="1298160" cy="328680"/>
          </a:xfrm>
          <a:prstGeom prst="roundRect">
            <a:avLst>
              <a:gd name="adj" fmla="val 13889"/>
            </a:avLst>
          </a:prstGeom>
          <a:solidFill>
            <a:srgbClr val="E1F5EE"/>
          </a:solidFill>
          <a:ln w="6350">
            <a:solidFill>
              <a:srgbClr val="E1F5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Text 30"/>
          <p:cNvSpPr/>
          <p:nvPr/>
        </p:nvSpPr>
        <p:spPr>
          <a:xfrm>
            <a:off x="1865520" y="4681800"/>
            <a:ext cx="12981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0F6E56"/>
                </a:solidFill>
                <a:latin typeface="Calibri"/>
                <a:ea typeface="Calibri"/>
              </a:rPr>
              <a:t>History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Shape 31"/>
          <p:cNvSpPr/>
          <p:nvPr/>
        </p:nvSpPr>
        <p:spPr>
          <a:xfrm>
            <a:off x="3273480" y="4681800"/>
            <a:ext cx="1298160" cy="328680"/>
          </a:xfrm>
          <a:prstGeom prst="roundRect">
            <a:avLst>
              <a:gd name="adj" fmla="val 13889"/>
            </a:avLst>
          </a:prstGeom>
          <a:solidFill>
            <a:srgbClr val="EEEDFE"/>
          </a:solidFill>
          <a:ln w="6350">
            <a:solidFill>
              <a:srgbClr val="EEED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Text 32"/>
          <p:cNvSpPr/>
          <p:nvPr/>
        </p:nvSpPr>
        <p:spPr>
          <a:xfrm>
            <a:off x="3273480" y="4681800"/>
            <a:ext cx="12981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26215C"/>
                </a:solidFill>
                <a:latin typeface="Calibri"/>
                <a:ea typeface="Calibri"/>
              </a:rPr>
              <a:t>Context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Shape 33"/>
          <p:cNvSpPr/>
          <p:nvPr/>
        </p:nvSpPr>
        <p:spPr>
          <a:xfrm>
            <a:off x="4681800" y="4681800"/>
            <a:ext cx="1298160" cy="328680"/>
          </a:xfrm>
          <a:prstGeom prst="roundRect">
            <a:avLst>
              <a:gd name="adj" fmla="val 13889"/>
            </a:avLst>
          </a:prstGeom>
          <a:solidFill>
            <a:srgbClr val="F2A623"/>
          </a:solidFill>
          <a:ln w="6350">
            <a:solidFill>
              <a:srgbClr val="F2A62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Text 34"/>
          <p:cNvSpPr/>
          <p:nvPr/>
        </p:nvSpPr>
        <p:spPr>
          <a:xfrm>
            <a:off x="4681800" y="4681800"/>
            <a:ext cx="12981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854F0B"/>
                </a:solidFill>
                <a:latin typeface="Calibri"/>
                <a:ea typeface="Calibri"/>
              </a:rPr>
              <a:t>Agents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Shape 35"/>
          <p:cNvSpPr/>
          <p:nvPr/>
        </p:nvSpPr>
        <p:spPr>
          <a:xfrm>
            <a:off x="6089760" y="4681800"/>
            <a:ext cx="1298160" cy="328680"/>
          </a:xfrm>
          <a:prstGeom prst="roundRect">
            <a:avLst>
              <a:gd name="adj" fmla="val 13889"/>
            </a:avLst>
          </a:prstGeom>
          <a:solidFill>
            <a:srgbClr val="F2A623"/>
          </a:solidFill>
          <a:ln w="6350">
            <a:solidFill>
              <a:srgbClr val="F2A62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Text 36"/>
          <p:cNvSpPr/>
          <p:nvPr/>
        </p:nvSpPr>
        <p:spPr>
          <a:xfrm>
            <a:off x="6089760" y="4681800"/>
            <a:ext cx="12981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854F0B"/>
                </a:solidFill>
                <a:latin typeface="Calibri"/>
                <a:ea typeface="Calibri"/>
              </a:rPr>
              <a:t>Chat UI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Shape 37"/>
          <p:cNvSpPr/>
          <p:nvPr/>
        </p:nvSpPr>
        <p:spPr>
          <a:xfrm>
            <a:off x="7498080" y="4681800"/>
            <a:ext cx="1298160" cy="328680"/>
          </a:xfrm>
          <a:prstGeom prst="roundRect">
            <a:avLst>
              <a:gd name="adj" fmla="val 13889"/>
            </a:avLst>
          </a:prstGeom>
          <a:solidFill>
            <a:srgbClr val="E1F5EE"/>
          </a:solidFill>
          <a:ln w="6350">
            <a:solidFill>
              <a:srgbClr val="E1F5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Text 38"/>
          <p:cNvSpPr/>
          <p:nvPr/>
        </p:nvSpPr>
        <p:spPr>
          <a:xfrm>
            <a:off x="7498080" y="4681800"/>
            <a:ext cx="12981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0F6E56"/>
                </a:solidFill>
                <a:latin typeface="Calibri"/>
                <a:ea typeface="Calibri"/>
              </a:rPr>
              <a:t>Session Store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Text 0"/>
          <p:cNvSpPr/>
          <p:nvPr/>
        </p:nvSpPr>
        <p:spPr>
          <a:xfrm>
            <a:off x="457200" y="2926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199">
                <a:solidFill>
                  <a:srgbClr val="0F6E56"/>
                </a:solidFill>
                <a:latin typeface="Calibri"/>
                <a:ea typeface="Calibri"/>
              </a:rPr>
              <a:t>BUILDING BLOCK 6 OF 6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Text 1"/>
          <p:cNvSpPr/>
          <p:nvPr/>
        </p:nvSpPr>
        <p:spPr>
          <a:xfrm>
            <a:off x="457200" y="54864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26215C"/>
                </a:solidFill>
                <a:latin typeface="Cambria"/>
                <a:ea typeface="Cambria"/>
              </a:rPr>
              <a:t>Runner &amp; events → visible “thinking” steps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Text 2"/>
          <p:cNvSpPr/>
          <p:nvPr/>
        </p:nvSpPr>
        <p:spPr>
          <a:xfrm>
            <a:off x="457200" y="1554480"/>
            <a:ext cx="429732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20000"/>
              </a:lnSpc>
              <a:buClr>
                <a:srgbClr val="433F5C"/>
              </a:buClr>
              <a:buFont typeface="Symbol" charset="2"/>
              <a:buChar char=""/>
            </a:pPr>
            <a:r>
              <a:rPr lang="en-US" sz="1400" b="0" strike="noStrike" spc="-1">
                <a:solidFill>
                  <a:srgbClr val="433F5C"/>
                </a:solidFill>
                <a:latin typeface="Calibri"/>
                <a:ea typeface="Calibri"/>
              </a:rPr>
              <a:t>ADK's execution is event-driven — every message, tool call, and agent transfer is an Event.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Text 3"/>
          <p:cNvSpPr/>
          <p:nvPr/>
        </p:nvSpPr>
        <p:spPr>
          <a:xfrm>
            <a:off x="457200" y="2423160"/>
            <a:ext cx="429732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20000"/>
              </a:lnSpc>
              <a:buClr>
                <a:srgbClr val="433F5C"/>
              </a:buClr>
              <a:buFont typeface="Symbol" charset="2"/>
              <a:buChar char=""/>
            </a:pPr>
            <a:r>
              <a:rPr lang="en-US" sz="1400" b="0" strike="noStrike" spc="-1">
                <a:solidFill>
                  <a:srgbClr val="433F5C"/>
                </a:solidFill>
                <a:latin typeface="Calibri"/>
                <a:ea typeface="Calibri"/>
              </a:rPr>
              <a:t>Surface these events as progress indicators in the UI as they happen.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Text 4"/>
          <p:cNvSpPr/>
          <p:nvPr/>
        </p:nvSpPr>
        <p:spPr>
          <a:xfrm>
            <a:off x="457200" y="3291840"/>
            <a:ext cx="429732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20000"/>
              </a:lnSpc>
              <a:buClr>
                <a:srgbClr val="433F5C"/>
              </a:buClr>
              <a:buFont typeface="Symbol" charset="2"/>
              <a:buChar char=""/>
            </a:pPr>
            <a:r>
              <a:rPr lang="en-US" sz="1400" b="0" strike="noStrike" spc="-1">
                <a:solidFill>
                  <a:srgbClr val="433F5C"/>
                </a:solidFill>
                <a:latin typeface="Calibri"/>
                <a:ea typeface="Calibri"/>
              </a:rPr>
              <a:t>Builds trust: the user sees the agent's reasoning steps, not just a spinner.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Shape 5"/>
          <p:cNvSpPr/>
          <p:nvPr/>
        </p:nvSpPr>
        <p:spPr>
          <a:xfrm>
            <a:off x="5029200" y="1463040"/>
            <a:ext cx="3657240" cy="2742840"/>
          </a:xfrm>
          <a:prstGeom prst="roundRect">
            <a:avLst>
              <a:gd name="adj" fmla="val 4000"/>
            </a:avLst>
          </a:prstGeom>
          <a:solidFill>
            <a:srgbClr val="F8F7FC"/>
          </a:solidFill>
          <a:ln w="0">
            <a:noFill/>
          </a:ln>
          <a:effectLst>
            <a:outerShdw blurRad="76320" dist="25560" dir="54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Shape 6"/>
          <p:cNvSpPr/>
          <p:nvPr/>
        </p:nvSpPr>
        <p:spPr>
          <a:xfrm>
            <a:off x="5257800" y="1691640"/>
            <a:ext cx="383760" cy="38376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29" name="Image 0" descr="preencoded.png"/>
          <p:cNvPicPr/>
          <p:nvPr/>
        </p:nvPicPr>
        <p:blipFill>
          <a:blip r:embed="rId3"/>
          <a:stretch/>
        </p:blipFill>
        <p:spPr>
          <a:xfrm>
            <a:off x="5349960" y="1783800"/>
            <a:ext cx="199440" cy="199440"/>
          </a:xfrm>
          <a:prstGeom prst="rect">
            <a:avLst/>
          </a:prstGeom>
          <a:ln w="0">
            <a:noFill/>
          </a:ln>
        </p:spPr>
      </p:pic>
      <p:sp>
        <p:nvSpPr>
          <p:cNvPr id="430" name="Text 7"/>
          <p:cNvSpPr/>
          <p:nvPr/>
        </p:nvSpPr>
        <p:spPr>
          <a:xfrm>
            <a:off x="5806440" y="1691640"/>
            <a:ext cx="26514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strike="noStrike" spc="-1">
                <a:solidFill>
                  <a:srgbClr val="767290"/>
                </a:solidFill>
                <a:latin typeface="Calibri"/>
                <a:ea typeface="Calibri"/>
              </a:rPr>
              <a:t>Searching knowledge base…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Shape 8"/>
          <p:cNvSpPr/>
          <p:nvPr/>
        </p:nvSpPr>
        <p:spPr>
          <a:xfrm>
            <a:off x="5257800" y="2286000"/>
            <a:ext cx="383760" cy="38376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32" name="Image 1" descr="preencoded.png"/>
          <p:cNvPicPr/>
          <p:nvPr/>
        </p:nvPicPr>
        <p:blipFill>
          <a:blip r:embed="rId4"/>
          <a:stretch/>
        </p:blipFill>
        <p:spPr>
          <a:xfrm>
            <a:off x="5349960" y="2378160"/>
            <a:ext cx="199440" cy="199440"/>
          </a:xfrm>
          <a:prstGeom prst="rect">
            <a:avLst/>
          </a:prstGeom>
          <a:ln w="0">
            <a:noFill/>
          </a:ln>
        </p:spPr>
      </p:pic>
      <p:sp>
        <p:nvSpPr>
          <p:cNvPr id="433" name="Text 9"/>
          <p:cNvSpPr/>
          <p:nvPr/>
        </p:nvSpPr>
        <p:spPr>
          <a:xfrm>
            <a:off x="5806440" y="2286000"/>
            <a:ext cx="26514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strike="noStrike" spc="-1">
                <a:solidFill>
                  <a:srgbClr val="767290"/>
                </a:solidFill>
                <a:latin typeface="Calibri"/>
                <a:ea typeface="Calibri"/>
              </a:rPr>
              <a:t>Transferred to Order agent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Shape 10"/>
          <p:cNvSpPr/>
          <p:nvPr/>
        </p:nvSpPr>
        <p:spPr>
          <a:xfrm>
            <a:off x="5257800" y="2880360"/>
            <a:ext cx="383760" cy="38376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35" name="Image 2" descr="preencoded.png"/>
          <p:cNvPicPr/>
          <p:nvPr/>
        </p:nvPicPr>
        <p:blipFill>
          <a:blip r:embed="rId5"/>
          <a:stretch/>
        </p:blipFill>
        <p:spPr>
          <a:xfrm>
            <a:off x="5349960" y="2972520"/>
            <a:ext cx="199440" cy="199440"/>
          </a:xfrm>
          <a:prstGeom prst="rect">
            <a:avLst/>
          </a:prstGeom>
          <a:ln w="0">
            <a:noFill/>
          </a:ln>
        </p:spPr>
      </p:pic>
      <p:sp>
        <p:nvSpPr>
          <p:cNvPr id="436" name="Text 11"/>
          <p:cNvSpPr/>
          <p:nvPr/>
        </p:nvSpPr>
        <p:spPr>
          <a:xfrm>
            <a:off x="5806440" y="2880360"/>
            <a:ext cx="26514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strike="noStrike" spc="-1">
                <a:solidFill>
                  <a:srgbClr val="767290"/>
                </a:solidFill>
                <a:latin typeface="Calibri"/>
                <a:ea typeface="Calibri"/>
              </a:rPr>
              <a:t>Checking order system…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Shape 12"/>
          <p:cNvSpPr/>
          <p:nvPr/>
        </p:nvSpPr>
        <p:spPr>
          <a:xfrm>
            <a:off x="5257800" y="3474720"/>
            <a:ext cx="383760" cy="38376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38" name="Image 3" descr="preencoded.png"/>
          <p:cNvPicPr/>
          <p:nvPr/>
        </p:nvPicPr>
        <p:blipFill>
          <a:blip r:embed="rId6"/>
          <a:stretch/>
        </p:blipFill>
        <p:spPr>
          <a:xfrm>
            <a:off x="5349960" y="3566880"/>
            <a:ext cx="199440" cy="199440"/>
          </a:xfrm>
          <a:prstGeom prst="rect">
            <a:avLst/>
          </a:prstGeom>
          <a:ln w="0">
            <a:noFill/>
          </a:ln>
        </p:spPr>
      </p:pic>
      <p:sp>
        <p:nvSpPr>
          <p:cNvPr id="439" name="Text 13"/>
          <p:cNvSpPr/>
          <p:nvPr/>
        </p:nvSpPr>
        <p:spPr>
          <a:xfrm>
            <a:off x="5806440" y="3474720"/>
            <a:ext cx="26514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26215C"/>
                </a:solidFill>
                <a:latin typeface="Calibri"/>
                <a:ea typeface="Calibri"/>
              </a:rPr>
              <a:t>Here's your order status —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Shape 14"/>
          <p:cNvSpPr/>
          <p:nvPr/>
        </p:nvSpPr>
        <p:spPr>
          <a:xfrm>
            <a:off x="457200" y="4681800"/>
            <a:ext cx="1298160" cy="328680"/>
          </a:xfrm>
          <a:prstGeom prst="roundRect">
            <a:avLst>
              <a:gd name="adj" fmla="val 13889"/>
            </a:avLst>
          </a:prstGeom>
          <a:solidFill>
            <a:srgbClr val="ECEBF4"/>
          </a:solidFill>
          <a:ln w="6350">
            <a:solidFill>
              <a:srgbClr val="ECEBF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Text 15"/>
          <p:cNvSpPr/>
          <p:nvPr/>
        </p:nvSpPr>
        <p:spPr>
          <a:xfrm>
            <a:off x="457200" y="4681800"/>
            <a:ext cx="12981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767290"/>
                </a:solidFill>
                <a:latin typeface="Calibri"/>
                <a:ea typeface="Calibri"/>
              </a:rPr>
              <a:t>Login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Shape 16"/>
          <p:cNvSpPr/>
          <p:nvPr/>
        </p:nvSpPr>
        <p:spPr>
          <a:xfrm>
            <a:off x="1865520" y="4681800"/>
            <a:ext cx="1298160" cy="328680"/>
          </a:xfrm>
          <a:prstGeom prst="roundRect">
            <a:avLst>
              <a:gd name="adj" fmla="val 13889"/>
            </a:avLst>
          </a:prstGeom>
          <a:solidFill>
            <a:srgbClr val="E1F5EE"/>
          </a:solidFill>
          <a:ln w="6350">
            <a:solidFill>
              <a:srgbClr val="E1F5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Text 17"/>
          <p:cNvSpPr/>
          <p:nvPr/>
        </p:nvSpPr>
        <p:spPr>
          <a:xfrm>
            <a:off x="1865520" y="4681800"/>
            <a:ext cx="12981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0F6E56"/>
                </a:solidFill>
                <a:latin typeface="Calibri"/>
                <a:ea typeface="Calibri"/>
              </a:rPr>
              <a:t>History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Shape 18"/>
          <p:cNvSpPr/>
          <p:nvPr/>
        </p:nvSpPr>
        <p:spPr>
          <a:xfrm>
            <a:off x="3273480" y="4681800"/>
            <a:ext cx="1298160" cy="328680"/>
          </a:xfrm>
          <a:prstGeom prst="roundRect">
            <a:avLst>
              <a:gd name="adj" fmla="val 13889"/>
            </a:avLst>
          </a:prstGeom>
          <a:solidFill>
            <a:srgbClr val="EEEDFE"/>
          </a:solidFill>
          <a:ln w="6350">
            <a:solidFill>
              <a:srgbClr val="EEED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Text 19"/>
          <p:cNvSpPr/>
          <p:nvPr/>
        </p:nvSpPr>
        <p:spPr>
          <a:xfrm>
            <a:off x="3273480" y="4681800"/>
            <a:ext cx="12981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26215C"/>
                </a:solidFill>
                <a:latin typeface="Calibri"/>
                <a:ea typeface="Calibri"/>
              </a:rPr>
              <a:t>Context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Shape 20"/>
          <p:cNvSpPr/>
          <p:nvPr/>
        </p:nvSpPr>
        <p:spPr>
          <a:xfrm>
            <a:off x="4681800" y="4681800"/>
            <a:ext cx="1298160" cy="328680"/>
          </a:xfrm>
          <a:prstGeom prst="roundRect">
            <a:avLst>
              <a:gd name="adj" fmla="val 13889"/>
            </a:avLst>
          </a:prstGeom>
          <a:solidFill>
            <a:srgbClr val="EEEDFE"/>
          </a:solidFill>
          <a:ln w="6350">
            <a:solidFill>
              <a:srgbClr val="EEED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Text 21"/>
          <p:cNvSpPr/>
          <p:nvPr/>
        </p:nvSpPr>
        <p:spPr>
          <a:xfrm>
            <a:off x="4681800" y="4681800"/>
            <a:ext cx="12981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26215C"/>
                </a:solidFill>
                <a:latin typeface="Calibri"/>
                <a:ea typeface="Calibri"/>
              </a:rPr>
              <a:t>Agents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Shape 22"/>
          <p:cNvSpPr/>
          <p:nvPr/>
        </p:nvSpPr>
        <p:spPr>
          <a:xfrm>
            <a:off x="6089760" y="4681800"/>
            <a:ext cx="1298160" cy="328680"/>
          </a:xfrm>
          <a:prstGeom prst="roundRect">
            <a:avLst>
              <a:gd name="adj" fmla="val 13889"/>
            </a:avLst>
          </a:prstGeom>
          <a:solidFill>
            <a:srgbClr val="F2A623"/>
          </a:solidFill>
          <a:ln w="6350">
            <a:solidFill>
              <a:srgbClr val="F2A62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Text 23"/>
          <p:cNvSpPr/>
          <p:nvPr/>
        </p:nvSpPr>
        <p:spPr>
          <a:xfrm>
            <a:off x="6089760" y="4681800"/>
            <a:ext cx="12981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854F0B"/>
                </a:solidFill>
                <a:latin typeface="Calibri"/>
                <a:ea typeface="Calibri"/>
              </a:rPr>
              <a:t>Chat UI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Shape 24"/>
          <p:cNvSpPr/>
          <p:nvPr/>
        </p:nvSpPr>
        <p:spPr>
          <a:xfrm>
            <a:off x="7498080" y="4681800"/>
            <a:ext cx="1298160" cy="328680"/>
          </a:xfrm>
          <a:prstGeom prst="roundRect">
            <a:avLst>
              <a:gd name="adj" fmla="val 13889"/>
            </a:avLst>
          </a:prstGeom>
          <a:solidFill>
            <a:srgbClr val="E1F5EE"/>
          </a:solidFill>
          <a:ln w="6350">
            <a:solidFill>
              <a:srgbClr val="E1F5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Text 25"/>
          <p:cNvSpPr/>
          <p:nvPr/>
        </p:nvSpPr>
        <p:spPr>
          <a:xfrm>
            <a:off x="7498080" y="4681800"/>
            <a:ext cx="12981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0F6E56"/>
                </a:solidFill>
                <a:latin typeface="Calibri"/>
                <a:ea typeface="Calibri"/>
              </a:rPr>
              <a:t>Session Store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1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Shape 0"/>
          <p:cNvSpPr/>
          <p:nvPr/>
        </p:nvSpPr>
        <p:spPr>
          <a:xfrm>
            <a:off x="7150320" y="658080"/>
            <a:ext cx="914400" cy="548640"/>
          </a:xfrm>
          <a:prstGeom prst="line">
            <a:avLst/>
          </a:prstGeom>
          <a:ln w="9525">
            <a:solidFill>
              <a:srgbClr val="FFFFFF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3" name="Shape 1"/>
          <p:cNvSpPr/>
          <p:nvPr/>
        </p:nvSpPr>
        <p:spPr>
          <a:xfrm flipH="1">
            <a:off x="7369920" y="1206720"/>
            <a:ext cx="694800" cy="402480"/>
          </a:xfrm>
          <a:prstGeom prst="line">
            <a:avLst/>
          </a:prstGeom>
          <a:ln w="9525">
            <a:solidFill>
              <a:srgbClr val="FFFFFF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4" name="Shape 2"/>
          <p:cNvSpPr/>
          <p:nvPr/>
        </p:nvSpPr>
        <p:spPr>
          <a:xfrm flipV="1">
            <a:off x="8064720" y="676440"/>
            <a:ext cx="384120" cy="530280"/>
          </a:xfrm>
          <a:prstGeom prst="line">
            <a:avLst/>
          </a:prstGeom>
          <a:ln w="9525">
            <a:solidFill>
              <a:srgbClr val="FFFFFF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5" name="Shape 3"/>
          <p:cNvSpPr/>
          <p:nvPr/>
        </p:nvSpPr>
        <p:spPr>
          <a:xfrm>
            <a:off x="8064720" y="1206720"/>
            <a:ext cx="567000" cy="384120"/>
          </a:xfrm>
          <a:prstGeom prst="line">
            <a:avLst/>
          </a:prstGeom>
          <a:ln w="9525">
            <a:solidFill>
              <a:srgbClr val="FFFFFF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6" name="Shape 4"/>
          <p:cNvSpPr/>
          <p:nvPr/>
        </p:nvSpPr>
        <p:spPr>
          <a:xfrm>
            <a:off x="6949440" y="457200"/>
            <a:ext cx="402120" cy="402120"/>
          </a:xfrm>
          <a:prstGeom prst="ellipse">
            <a:avLst/>
          </a:prstGeom>
          <a:solidFill>
            <a:srgbClr val="F2A623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Shape 5"/>
          <p:cNvSpPr/>
          <p:nvPr/>
        </p:nvSpPr>
        <p:spPr>
          <a:xfrm>
            <a:off x="7772400" y="914400"/>
            <a:ext cx="585000" cy="585000"/>
          </a:xfrm>
          <a:prstGeom prst="ellipse">
            <a:avLst/>
          </a:prstGeom>
          <a:solidFill>
            <a:srgbClr val="7F77DD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8" name="Shape 6"/>
          <p:cNvSpPr/>
          <p:nvPr/>
        </p:nvSpPr>
        <p:spPr>
          <a:xfrm>
            <a:off x="7223760" y="1463040"/>
            <a:ext cx="292320" cy="292320"/>
          </a:xfrm>
          <a:prstGeom prst="ellipse">
            <a:avLst/>
          </a:prstGeom>
          <a:solidFill>
            <a:srgbClr val="5DCAA5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Shape 7"/>
          <p:cNvSpPr/>
          <p:nvPr/>
        </p:nvSpPr>
        <p:spPr>
          <a:xfrm>
            <a:off x="8321040" y="548640"/>
            <a:ext cx="255600" cy="255600"/>
          </a:xfrm>
          <a:prstGeom prst="ellipse">
            <a:avLst/>
          </a:prstGeom>
          <a:solidFill>
            <a:srgbClr val="5DCAA5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Shape 8"/>
          <p:cNvSpPr/>
          <p:nvPr/>
        </p:nvSpPr>
        <p:spPr>
          <a:xfrm>
            <a:off x="8412480" y="1371600"/>
            <a:ext cx="438480" cy="438480"/>
          </a:xfrm>
          <a:prstGeom prst="ellipse">
            <a:avLst/>
          </a:prstGeom>
          <a:solidFill>
            <a:srgbClr val="F2A623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Shape 9"/>
          <p:cNvSpPr/>
          <p:nvPr/>
        </p:nvSpPr>
        <p:spPr>
          <a:xfrm>
            <a:off x="640080" y="1417320"/>
            <a:ext cx="914040" cy="914040"/>
          </a:xfrm>
          <a:prstGeom prst="ellipse">
            <a:avLst/>
          </a:prstGeom>
          <a:solidFill>
            <a:srgbClr val="3C348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62" name="Image 0" descr="preencoded.png"/>
          <p:cNvPicPr/>
          <p:nvPr/>
        </p:nvPicPr>
        <p:blipFill>
          <a:blip r:embed="rId3"/>
          <a:stretch/>
        </p:blipFill>
        <p:spPr>
          <a:xfrm>
            <a:off x="859680" y="1636920"/>
            <a:ext cx="475200" cy="475200"/>
          </a:xfrm>
          <a:prstGeom prst="rect">
            <a:avLst/>
          </a:prstGeom>
          <a:ln w="0">
            <a:noFill/>
          </a:ln>
        </p:spPr>
      </p:pic>
      <p:sp>
        <p:nvSpPr>
          <p:cNvPr id="463" name="Text 10"/>
          <p:cNvSpPr/>
          <p:nvPr/>
        </p:nvSpPr>
        <p:spPr>
          <a:xfrm>
            <a:off x="1828800" y="1417320"/>
            <a:ext cx="6400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299">
                <a:solidFill>
                  <a:srgbClr val="F2A623"/>
                </a:solidFill>
                <a:latin typeface="Calibri"/>
                <a:ea typeface="Calibri"/>
              </a:rPr>
              <a:t>PLATFORM DEEP DIVE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4" name="Text 11"/>
          <p:cNvSpPr/>
          <p:nvPr/>
        </p:nvSpPr>
        <p:spPr>
          <a:xfrm>
            <a:off x="1828800" y="1783080"/>
            <a:ext cx="667476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strike="noStrike" spc="-1">
                <a:solidFill>
                  <a:srgbClr val="FFFFFF"/>
                </a:solidFill>
                <a:latin typeface="Cambria"/>
                <a:ea typeface="Cambria"/>
              </a:rPr>
              <a:t>From seminar concepts to a production platform</a:t>
            </a:r>
            <a:endParaRPr lang="en-US" sz="3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5" name="Text 12"/>
          <p:cNvSpPr/>
          <p:nvPr/>
        </p:nvSpPr>
        <p:spPr>
          <a:xfrm>
            <a:off x="1828800" y="2788920"/>
            <a:ext cx="64004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CECBF6"/>
                </a:solidFill>
                <a:latin typeface="Calibri"/>
                <a:ea typeface="Calibri"/>
              </a:rPr>
              <a:t>How session, context, orchestration, and model selection scale into a horizontal, multi-tenant agent platform.</a:t>
            </a:r>
            <a:endParaRPr lang="en-US" sz="15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Text 0"/>
          <p:cNvSpPr/>
          <p:nvPr/>
        </p:nvSpPr>
        <p:spPr>
          <a:xfrm>
            <a:off x="457200" y="2926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199">
                <a:solidFill>
                  <a:srgbClr val="0F6E56"/>
                </a:solidFill>
                <a:latin typeface="Calibri"/>
                <a:ea typeface="Calibri"/>
              </a:rPr>
              <a:t>PLATFORM ARCHITECTURE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Text 1"/>
          <p:cNvSpPr/>
          <p:nvPr/>
        </p:nvSpPr>
        <p:spPr>
          <a:xfrm>
            <a:off x="457200" y="54864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26215C"/>
                </a:solidFill>
                <a:latin typeface="Cambria"/>
                <a:ea typeface="Cambria"/>
              </a:rPr>
              <a:t>One platform, many teams, every channel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Shape 2"/>
          <p:cNvSpPr/>
          <p:nvPr/>
        </p:nvSpPr>
        <p:spPr>
          <a:xfrm>
            <a:off x="457200" y="1600200"/>
            <a:ext cx="2651400" cy="2651400"/>
          </a:xfrm>
          <a:prstGeom prst="roundRect">
            <a:avLst>
              <a:gd name="adj" fmla="val 3448"/>
            </a:avLst>
          </a:prstGeom>
          <a:solidFill>
            <a:srgbClr val="F8F7FC"/>
          </a:solidFill>
          <a:ln w="0">
            <a:noFill/>
          </a:ln>
          <a:effectLst>
            <a:outerShdw blurRad="63360" dist="255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Shape 3"/>
          <p:cNvSpPr/>
          <p:nvPr/>
        </p:nvSpPr>
        <p:spPr>
          <a:xfrm>
            <a:off x="731520" y="1856160"/>
            <a:ext cx="548280" cy="548280"/>
          </a:xfrm>
          <a:prstGeom prst="ellipse">
            <a:avLst/>
          </a:prstGeom>
          <a:solidFill>
            <a:srgbClr val="EEEDF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70" name="Image 0" descr="preencoded.png"/>
          <p:cNvPicPr/>
          <p:nvPr/>
        </p:nvPicPr>
        <p:blipFill>
          <a:blip r:embed="rId3"/>
          <a:stretch/>
        </p:blipFill>
        <p:spPr>
          <a:xfrm>
            <a:off x="863280" y="1987920"/>
            <a:ext cx="284760" cy="284760"/>
          </a:xfrm>
          <a:prstGeom prst="rect">
            <a:avLst/>
          </a:prstGeom>
          <a:ln w="0">
            <a:noFill/>
          </a:ln>
        </p:spPr>
      </p:pic>
      <p:sp>
        <p:nvSpPr>
          <p:cNvPr id="471" name="Text 4"/>
          <p:cNvSpPr/>
          <p:nvPr/>
        </p:nvSpPr>
        <p:spPr>
          <a:xfrm>
            <a:off x="685800" y="2514600"/>
            <a:ext cx="21942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450" b="1" strike="noStrike" spc="-1">
                <a:solidFill>
                  <a:srgbClr val="26215C"/>
                </a:solidFill>
                <a:latin typeface="Cambria"/>
                <a:ea typeface="Cambria"/>
              </a:rPr>
              <a:t>Reusable sub-agent hosting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Text 5"/>
          <p:cNvSpPr/>
          <p:nvPr/>
        </p:nvSpPr>
        <p:spPr>
          <a:xfrm>
            <a:off x="685800" y="3017520"/>
            <a:ext cx="219420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433F5C"/>
                </a:solidFill>
                <a:latin typeface="Calibri"/>
                <a:ea typeface="Calibri"/>
              </a:rPr>
              <a:t>Domain teams build sub-agents against a published contract; the platform owns the runtime, registry, security, and observability.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Shape 6"/>
          <p:cNvSpPr/>
          <p:nvPr/>
        </p:nvSpPr>
        <p:spPr>
          <a:xfrm>
            <a:off x="3291840" y="1600200"/>
            <a:ext cx="2651400" cy="2651400"/>
          </a:xfrm>
          <a:prstGeom prst="roundRect">
            <a:avLst>
              <a:gd name="adj" fmla="val 3448"/>
            </a:avLst>
          </a:prstGeom>
          <a:solidFill>
            <a:srgbClr val="F8F7FC"/>
          </a:solidFill>
          <a:ln w="0">
            <a:noFill/>
          </a:ln>
          <a:effectLst>
            <a:outerShdw blurRad="63360" dist="255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Shape 7"/>
          <p:cNvSpPr/>
          <p:nvPr/>
        </p:nvSpPr>
        <p:spPr>
          <a:xfrm>
            <a:off x="3566160" y="1856160"/>
            <a:ext cx="548280" cy="548280"/>
          </a:xfrm>
          <a:prstGeom prst="ellipse">
            <a:avLst/>
          </a:prstGeom>
          <a:solidFill>
            <a:srgbClr val="E1F5E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75" name="Image 1" descr="preencoded.png"/>
          <p:cNvPicPr/>
          <p:nvPr/>
        </p:nvPicPr>
        <p:blipFill>
          <a:blip r:embed="rId4"/>
          <a:stretch/>
        </p:blipFill>
        <p:spPr>
          <a:xfrm>
            <a:off x="3697920" y="1987920"/>
            <a:ext cx="284760" cy="284760"/>
          </a:xfrm>
          <a:prstGeom prst="rect">
            <a:avLst/>
          </a:prstGeom>
          <a:ln w="0">
            <a:noFill/>
          </a:ln>
        </p:spPr>
      </p:pic>
      <p:sp>
        <p:nvSpPr>
          <p:cNvPr id="476" name="Text 8"/>
          <p:cNvSpPr/>
          <p:nvPr/>
        </p:nvSpPr>
        <p:spPr>
          <a:xfrm>
            <a:off x="3520440" y="2514600"/>
            <a:ext cx="21942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450" b="1" strike="noStrike" spc="-1">
                <a:solidFill>
                  <a:srgbClr val="26215C"/>
                </a:solidFill>
                <a:latin typeface="Cambria"/>
                <a:ea typeface="Cambria"/>
              </a:rPr>
              <a:t>Single session system of record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Text 9"/>
          <p:cNvSpPr/>
          <p:nvPr/>
        </p:nvSpPr>
        <p:spPr>
          <a:xfrm>
            <a:off x="3520440" y="3017520"/>
            <a:ext cx="219420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433F5C"/>
                </a:solidFill>
                <a:latin typeface="Calibri"/>
                <a:ea typeface="Calibri"/>
              </a:rPr>
              <a:t>Every customer conversation — across every sub-agent and channel — is owned by one central session-management layer.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Shape 10"/>
          <p:cNvSpPr/>
          <p:nvPr/>
        </p:nvSpPr>
        <p:spPr>
          <a:xfrm>
            <a:off x="6126480" y="1600200"/>
            <a:ext cx="2651400" cy="2651400"/>
          </a:xfrm>
          <a:prstGeom prst="roundRect">
            <a:avLst>
              <a:gd name="adj" fmla="val 3448"/>
            </a:avLst>
          </a:prstGeom>
          <a:solidFill>
            <a:srgbClr val="F8F7FC"/>
          </a:solidFill>
          <a:ln w="0">
            <a:noFill/>
          </a:ln>
          <a:effectLst>
            <a:outerShdw blurRad="63360" dist="255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Shape 11"/>
          <p:cNvSpPr/>
          <p:nvPr/>
        </p:nvSpPr>
        <p:spPr>
          <a:xfrm>
            <a:off x="6400800" y="1856160"/>
            <a:ext cx="548280" cy="548280"/>
          </a:xfrm>
          <a:prstGeom prst="ellipse">
            <a:avLst/>
          </a:prstGeom>
          <a:solidFill>
            <a:srgbClr val="FAEED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80" name="Image 2" descr="preencoded.png"/>
          <p:cNvPicPr/>
          <p:nvPr/>
        </p:nvPicPr>
        <p:blipFill>
          <a:blip r:embed="rId5"/>
          <a:stretch/>
        </p:blipFill>
        <p:spPr>
          <a:xfrm>
            <a:off x="6532560" y="1987920"/>
            <a:ext cx="284760" cy="284760"/>
          </a:xfrm>
          <a:prstGeom prst="rect">
            <a:avLst/>
          </a:prstGeom>
          <a:ln w="0">
            <a:noFill/>
          </a:ln>
        </p:spPr>
      </p:pic>
      <p:sp>
        <p:nvSpPr>
          <p:cNvPr id="481" name="Text 12"/>
          <p:cNvSpPr/>
          <p:nvPr/>
        </p:nvSpPr>
        <p:spPr>
          <a:xfrm>
            <a:off x="6355080" y="2514600"/>
            <a:ext cx="21942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450" b="1" strike="noStrike" spc="-1">
                <a:solidFill>
                  <a:srgbClr val="26215C"/>
                </a:solidFill>
                <a:latin typeface="Cambria"/>
                <a:ea typeface="Cambria"/>
              </a:rPr>
              <a:t>Cross-channel delivery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Text 13"/>
          <p:cNvSpPr/>
          <p:nvPr/>
        </p:nvSpPr>
        <p:spPr>
          <a:xfrm>
            <a:off x="6355080" y="3017520"/>
            <a:ext cx="219420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433F5C"/>
                </a:solidFill>
                <a:latin typeface="Calibri"/>
                <a:ea typeface="Calibri"/>
              </a:rPr>
              <a:t>One channel-agnostic agent core; a rendering boundary translates output into mobile, web, voice, and messaging payloads.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Text 14"/>
          <p:cNvSpPr/>
          <p:nvPr/>
        </p:nvSpPr>
        <p:spPr>
          <a:xfrm>
            <a:off x="457200" y="443484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i="1" strike="noStrike" spc="-1">
                <a:solidFill>
                  <a:srgbClr val="767290"/>
                </a:solidFill>
                <a:latin typeface="Calibri"/>
                <a:ea typeface="Calibri"/>
              </a:rPr>
              <a:t>Why a platform, not a project: without shared infrastructure, every domain team re-solves session storage, routing, safety, and audit logging independently — slower, inconsistent, and harder to govern.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Text 0"/>
          <p:cNvSpPr/>
          <p:nvPr/>
        </p:nvSpPr>
        <p:spPr>
          <a:xfrm>
            <a:off x="457200" y="2926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199">
                <a:solidFill>
                  <a:srgbClr val="0F6E56"/>
                </a:solidFill>
                <a:latin typeface="Calibri"/>
                <a:ea typeface="Calibri"/>
              </a:rPr>
              <a:t>PLATFORM ARCHITECTURE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Text 1"/>
          <p:cNvSpPr/>
          <p:nvPr/>
        </p:nvSpPr>
        <p:spPr>
          <a:xfrm>
            <a:off x="457200" y="54864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26215C"/>
                </a:solidFill>
                <a:latin typeface="Cambria"/>
                <a:ea typeface="Cambria"/>
              </a:rPr>
              <a:t>One agent core, four channel renderers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Shape 2"/>
          <p:cNvSpPr/>
          <p:nvPr/>
        </p:nvSpPr>
        <p:spPr>
          <a:xfrm>
            <a:off x="1051560" y="1691640"/>
            <a:ext cx="3520440" cy="845640"/>
          </a:xfrm>
          <a:prstGeom prst="line">
            <a:avLst/>
          </a:prstGeom>
          <a:ln w="25400">
            <a:solidFill>
              <a:srgbClr val="EEED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Shape 3"/>
          <p:cNvSpPr/>
          <p:nvPr/>
        </p:nvSpPr>
        <p:spPr>
          <a:xfrm flipH="1">
            <a:off x="4572000" y="1691640"/>
            <a:ext cx="2697480" cy="845640"/>
          </a:xfrm>
          <a:prstGeom prst="line">
            <a:avLst/>
          </a:prstGeom>
          <a:ln w="25400">
            <a:solidFill>
              <a:srgbClr val="EEED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Shape 4"/>
          <p:cNvSpPr/>
          <p:nvPr/>
        </p:nvSpPr>
        <p:spPr>
          <a:xfrm flipV="1">
            <a:off x="1051560" y="2537280"/>
            <a:ext cx="3520440" cy="1028880"/>
          </a:xfrm>
          <a:prstGeom prst="line">
            <a:avLst/>
          </a:prstGeom>
          <a:ln w="25400">
            <a:solidFill>
              <a:srgbClr val="EEED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Shape 5"/>
          <p:cNvSpPr/>
          <p:nvPr/>
        </p:nvSpPr>
        <p:spPr>
          <a:xfrm flipH="1" flipV="1">
            <a:off x="4572000" y="2537280"/>
            <a:ext cx="2697480" cy="1028880"/>
          </a:xfrm>
          <a:prstGeom prst="line">
            <a:avLst/>
          </a:prstGeom>
          <a:ln w="25400">
            <a:solidFill>
              <a:srgbClr val="EEEDF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Shape 6"/>
          <p:cNvSpPr/>
          <p:nvPr/>
        </p:nvSpPr>
        <p:spPr>
          <a:xfrm>
            <a:off x="548640" y="1188720"/>
            <a:ext cx="1005480" cy="1005480"/>
          </a:xfrm>
          <a:prstGeom prst="ellipse">
            <a:avLst/>
          </a:prstGeom>
          <a:solidFill>
            <a:srgbClr val="E1F5E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91" name="Image 0" descr="preencoded.png"/>
          <p:cNvPicPr/>
          <p:nvPr/>
        </p:nvPicPr>
        <p:blipFill>
          <a:blip r:embed="rId3"/>
          <a:stretch/>
        </p:blipFill>
        <p:spPr>
          <a:xfrm>
            <a:off x="790200" y="1430280"/>
            <a:ext cx="522720" cy="522720"/>
          </a:xfrm>
          <a:prstGeom prst="rect">
            <a:avLst/>
          </a:prstGeom>
          <a:ln w="0">
            <a:noFill/>
          </a:ln>
        </p:spPr>
      </p:pic>
      <p:sp>
        <p:nvSpPr>
          <p:cNvPr id="492" name="Text 7"/>
          <p:cNvSpPr/>
          <p:nvPr/>
        </p:nvSpPr>
        <p:spPr>
          <a:xfrm>
            <a:off x="182880" y="2240280"/>
            <a:ext cx="17370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050" b="1" strike="noStrike" spc="-1">
                <a:solidFill>
                  <a:srgbClr val="0F6E56"/>
                </a:solidFill>
                <a:latin typeface="Calibri"/>
                <a:ea typeface="Calibri"/>
              </a:rPr>
              <a:t>Mobile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Shape 8"/>
          <p:cNvSpPr/>
          <p:nvPr/>
        </p:nvSpPr>
        <p:spPr>
          <a:xfrm>
            <a:off x="6766560" y="1188720"/>
            <a:ext cx="1005480" cy="1005480"/>
          </a:xfrm>
          <a:prstGeom prst="ellipse">
            <a:avLst/>
          </a:prstGeom>
          <a:solidFill>
            <a:srgbClr val="E1F5E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94" name="Image 1" descr="preencoded.png"/>
          <p:cNvPicPr/>
          <p:nvPr/>
        </p:nvPicPr>
        <p:blipFill>
          <a:blip r:embed="rId4"/>
          <a:stretch/>
        </p:blipFill>
        <p:spPr>
          <a:xfrm>
            <a:off x="7008120" y="1430280"/>
            <a:ext cx="522720" cy="522720"/>
          </a:xfrm>
          <a:prstGeom prst="rect">
            <a:avLst/>
          </a:prstGeom>
          <a:ln w="0">
            <a:noFill/>
          </a:ln>
        </p:spPr>
      </p:pic>
      <p:sp>
        <p:nvSpPr>
          <p:cNvPr id="495" name="Text 9"/>
          <p:cNvSpPr/>
          <p:nvPr/>
        </p:nvSpPr>
        <p:spPr>
          <a:xfrm>
            <a:off x="6400800" y="2240280"/>
            <a:ext cx="17370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050" b="1" strike="noStrike" spc="-1">
                <a:solidFill>
                  <a:srgbClr val="0F6E56"/>
                </a:solidFill>
                <a:latin typeface="Calibri"/>
                <a:ea typeface="Calibri"/>
              </a:rPr>
              <a:t>Web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Shape 10"/>
          <p:cNvSpPr/>
          <p:nvPr/>
        </p:nvSpPr>
        <p:spPr>
          <a:xfrm>
            <a:off x="548640" y="3063240"/>
            <a:ext cx="1005480" cy="1005480"/>
          </a:xfrm>
          <a:prstGeom prst="ellipse">
            <a:avLst/>
          </a:prstGeom>
          <a:solidFill>
            <a:srgbClr val="E1F5E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97" name="Image 2" descr="preencoded.png"/>
          <p:cNvPicPr/>
          <p:nvPr/>
        </p:nvPicPr>
        <p:blipFill>
          <a:blip r:embed="rId5"/>
          <a:stretch/>
        </p:blipFill>
        <p:spPr>
          <a:xfrm>
            <a:off x="790200" y="3304800"/>
            <a:ext cx="522720" cy="522720"/>
          </a:xfrm>
          <a:prstGeom prst="rect">
            <a:avLst/>
          </a:prstGeom>
          <a:ln w="0">
            <a:noFill/>
          </a:ln>
        </p:spPr>
      </p:pic>
      <p:sp>
        <p:nvSpPr>
          <p:cNvPr id="498" name="Text 11"/>
          <p:cNvSpPr/>
          <p:nvPr/>
        </p:nvSpPr>
        <p:spPr>
          <a:xfrm>
            <a:off x="182880" y="4114800"/>
            <a:ext cx="17370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050" b="1" strike="noStrike" spc="-1">
                <a:solidFill>
                  <a:srgbClr val="0F6E56"/>
                </a:solidFill>
                <a:latin typeface="Calibri"/>
                <a:ea typeface="Calibri"/>
              </a:rPr>
              <a:t>Voice / IVR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9" name="Shape 12"/>
          <p:cNvSpPr/>
          <p:nvPr/>
        </p:nvSpPr>
        <p:spPr>
          <a:xfrm>
            <a:off x="6766560" y="3063240"/>
            <a:ext cx="1005480" cy="1005480"/>
          </a:xfrm>
          <a:prstGeom prst="ellipse">
            <a:avLst/>
          </a:prstGeom>
          <a:solidFill>
            <a:srgbClr val="E1F5E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00" name="Image 3" descr="preencoded.png"/>
          <p:cNvPicPr/>
          <p:nvPr/>
        </p:nvPicPr>
        <p:blipFill>
          <a:blip r:embed="rId6"/>
          <a:stretch/>
        </p:blipFill>
        <p:spPr>
          <a:xfrm>
            <a:off x="7008120" y="3304800"/>
            <a:ext cx="522720" cy="522720"/>
          </a:xfrm>
          <a:prstGeom prst="rect">
            <a:avLst/>
          </a:prstGeom>
          <a:ln w="0">
            <a:noFill/>
          </a:ln>
        </p:spPr>
      </p:pic>
      <p:sp>
        <p:nvSpPr>
          <p:cNvPr id="501" name="Text 13"/>
          <p:cNvSpPr/>
          <p:nvPr/>
        </p:nvSpPr>
        <p:spPr>
          <a:xfrm>
            <a:off x="6400800" y="4114800"/>
            <a:ext cx="17370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050" b="1" strike="noStrike" spc="-1">
                <a:solidFill>
                  <a:srgbClr val="0F6E56"/>
                </a:solidFill>
                <a:latin typeface="Calibri"/>
                <a:ea typeface="Calibri"/>
              </a:rPr>
              <a:t>Messaging (SMS/WhatsApp)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Shape 14"/>
          <p:cNvSpPr/>
          <p:nvPr/>
        </p:nvSpPr>
        <p:spPr>
          <a:xfrm>
            <a:off x="3886200" y="2148840"/>
            <a:ext cx="1371240" cy="776880"/>
          </a:xfrm>
          <a:prstGeom prst="roundRect">
            <a:avLst>
              <a:gd name="adj" fmla="val 9412"/>
            </a:avLst>
          </a:prstGeom>
          <a:solidFill>
            <a:srgbClr val="26215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3" name="Text 15"/>
          <p:cNvSpPr/>
          <p:nvPr/>
        </p:nvSpPr>
        <p:spPr>
          <a:xfrm>
            <a:off x="3886200" y="2240280"/>
            <a:ext cx="137124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FFFFFF"/>
                </a:solidFill>
                <a:latin typeface="Calibri"/>
                <a:ea typeface="Calibri"/>
              </a:rPr>
              <a:t>Channel-agnostic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FFFFFF"/>
                </a:solidFill>
                <a:latin typeface="Calibri"/>
                <a:ea typeface="Calibri"/>
              </a:rPr>
              <a:t>agent core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Text 16"/>
          <p:cNvSpPr/>
          <p:nvPr/>
        </p:nvSpPr>
        <p:spPr>
          <a:xfrm>
            <a:off x="457200" y="470916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50" b="0" i="1" strike="noStrike" spc="-1">
                <a:solidFill>
                  <a:srgbClr val="767290"/>
                </a:solidFill>
                <a:latin typeface="Calibri"/>
                <a:ea typeface="Calibri"/>
              </a:rPr>
              <a:t>A shared rendering sidecar converts one internal response schema into the JSON/SSML/text payload each channel expects — domain teams never implement channel-specific logic.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Text 0"/>
          <p:cNvSpPr/>
          <p:nvPr/>
        </p:nvSpPr>
        <p:spPr>
          <a:xfrm>
            <a:off x="457200" y="2926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199">
                <a:solidFill>
                  <a:srgbClr val="0F6E56"/>
                </a:solidFill>
                <a:latin typeface="Calibri"/>
                <a:ea typeface="Calibri"/>
              </a:rPr>
              <a:t>MODEL STRATEGY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Text 1"/>
          <p:cNvSpPr/>
          <p:nvPr/>
        </p:nvSpPr>
        <p:spPr>
          <a:xfrm>
            <a:off x="457200" y="54864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26215C"/>
                </a:solidFill>
                <a:latin typeface="Cambria"/>
                <a:ea typeface="Cambria"/>
              </a:rPr>
              <a:t>Model pairing: the right model for each step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Shape 2"/>
          <p:cNvSpPr/>
          <p:nvPr/>
        </p:nvSpPr>
        <p:spPr>
          <a:xfrm>
            <a:off x="548640" y="1508760"/>
            <a:ext cx="566640" cy="566640"/>
          </a:xfrm>
          <a:prstGeom prst="ellipse">
            <a:avLst/>
          </a:prstGeom>
          <a:solidFill>
            <a:srgbClr val="FAEED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08" name="Image 0" descr="preencoded.png"/>
          <p:cNvPicPr/>
          <p:nvPr/>
        </p:nvPicPr>
        <p:blipFill>
          <a:blip r:embed="rId3"/>
          <a:stretch/>
        </p:blipFill>
        <p:spPr>
          <a:xfrm>
            <a:off x="684720" y="1644840"/>
            <a:ext cx="294480" cy="294480"/>
          </a:xfrm>
          <a:prstGeom prst="rect">
            <a:avLst/>
          </a:prstGeom>
          <a:ln w="0">
            <a:noFill/>
          </a:ln>
        </p:spPr>
      </p:pic>
      <p:sp>
        <p:nvSpPr>
          <p:cNvPr id="509" name="Text 3"/>
          <p:cNvSpPr/>
          <p:nvPr/>
        </p:nvSpPr>
        <p:spPr>
          <a:xfrm>
            <a:off x="1371600" y="1472040"/>
            <a:ext cx="73148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strike="noStrike" spc="-1">
                <a:solidFill>
                  <a:srgbClr val="26215C"/>
                </a:solidFill>
                <a:latin typeface="Calibri"/>
                <a:ea typeface="Calibri"/>
              </a:rPr>
              <a:t>Tiered classification → escalation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Text 4"/>
          <p:cNvSpPr/>
          <p:nvPr/>
        </p:nvSpPr>
        <p:spPr>
          <a:xfrm>
            <a:off x="1371600" y="1801440"/>
            <a:ext cx="7314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433F5C"/>
                </a:solidFill>
                <a:latin typeface="Calibri"/>
                <a:ea typeface="Calibri"/>
              </a:rPr>
              <a:t>Cheap model classifies &amp; answers simple turns; complex or judgment-heavy steps escalate to a stronger model.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Shape 5"/>
          <p:cNvSpPr/>
          <p:nvPr/>
        </p:nvSpPr>
        <p:spPr>
          <a:xfrm>
            <a:off x="548640" y="2377440"/>
            <a:ext cx="566640" cy="566640"/>
          </a:xfrm>
          <a:prstGeom prst="ellipse">
            <a:avLst/>
          </a:prstGeom>
          <a:solidFill>
            <a:srgbClr val="FAEED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12" name="Image 1" descr="preencoded.png"/>
          <p:cNvPicPr/>
          <p:nvPr/>
        </p:nvPicPr>
        <p:blipFill>
          <a:blip r:embed="rId4"/>
          <a:stretch/>
        </p:blipFill>
        <p:spPr>
          <a:xfrm>
            <a:off x="684720" y="2513520"/>
            <a:ext cx="294480" cy="294480"/>
          </a:xfrm>
          <a:prstGeom prst="rect">
            <a:avLst/>
          </a:prstGeom>
          <a:ln w="0">
            <a:noFill/>
          </a:ln>
        </p:spPr>
      </p:pic>
      <p:sp>
        <p:nvSpPr>
          <p:cNvPr id="513" name="Text 6"/>
          <p:cNvSpPr/>
          <p:nvPr/>
        </p:nvSpPr>
        <p:spPr>
          <a:xfrm>
            <a:off x="1371600" y="2340720"/>
            <a:ext cx="73148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strike="noStrike" spc="-1">
                <a:solidFill>
                  <a:srgbClr val="26215C"/>
                </a:solidFill>
                <a:latin typeface="Calibri"/>
                <a:ea typeface="Calibri"/>
              </a:rPr>
              <a:t>Cascade with verification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Text 7"/>
          <p:cNvSpPr/>
          <p:nvPr/>
        </p:nvSpPr>
        <p:spPr>
          <a:xfrm>
            <a:off x="1371600" y="2670120"/>
            <a:ext cx="7314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433F5C"/>
                </a:solidFill>
                <a:latin typeface="Calibri"/>
                <a:ea typeface="Calibri"/>
              </a:rPr>
              <a:t>Small model answers first; a verifier escalates only uncertain cases to a costlier model — cuts large-model usage substantially.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Shape 8"/>
          <p:cNvSpPr/>
          <p:nvPr/>
        </p:nvSpPr>
        <p:spPr>
          <a:xfrm>
            <a:off x="548640" y="3246120"/>
            <a:ext cx="566640" cy="566640"/>
          </a:xfrm>
          <a:prstGeom prst="ellipse">
            <a:avLst/>
          </a:prstGeom>
          <a:solidFill>
            <a:srgbClr val="E1F5E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16" name="Image 2" descr="preencoded.png"/>
          <p:cNvPicPr/>
          <p:nvPr/>
        </p:nvPicPr>
        <p:blipFill>
          <a:blip r:embed="rId5"/>
          <a:stretch/>
        </p:blipFill>
        <p:spPr>
          <a:xfrm>
            <a:off x="684720" y="3382200"/>
            <a:ext cx="294480" cy="294480"/>
          </a:xfrm>
          <a:prstGeom prst="rect">
            <a:avLst/>
          </a:prstGeom>
          <a:ln w="0">
            <a:noFill/>
          </a:ln>
        </p:spPr>
      </p:pic>
      <p:sp>
        <p:nvSpPr>
          <p:cNvPr id="517" name="Text 9"/>
          <p:cNvSpPr/>
          <p:nvPr/>
        </p:nvSpPr>
        <p:spPr>
          <a:xfrm>
            <a:off x="1371600" y="3209400"/>
            <a:ext cx="73148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strike="noStrike" spc="-1">
                <a:solidFill>
                  <a:srgbClr val="26215C"/>
                </a:solidFill>
                <a:latin typeface="Calibri"/>
                <a:ea typeface="Calibri"/>
              </a:rPr>
              <a:t>Compliance-driven routing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Text 10"/>
          <p:cNvSpPr/>
          <p:nvPr/>
        </p:nvSpPr>
        <p:spPr>
          <a:xfrm>
            <a:off x="1371600" y="3538800"/>
            <a:ext cx="7314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433F5C"/>
                </a:solidFill>
                <a:latin typeface="Calibri"/>
                <a:ea typeface="Calibri"/>
              </a:rPr>
              <a:t>PII or regulated-data signals force routing to an approved private model, independent of task complexity.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9" name="Shape 11"/>
          <p:cNvSpPr/>
          <p:nvPr/>
        </p:nvSpPr>
        <p:spPr>
          <a:xfrm>
            <a:off x="457200" y="4160520"/>
            <a:ext cx="8229240" cy="594000"/>
          </a:xfrm>
          <a:prstGeom prst="roundRect">
            <a:avLst>
              <a:gd name="adj" fmla="val 12308"/>
            </a:avLst>
          </a:prstGeom>
          <a:solidFill>
            <a:srgbClr val="EEEDF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0" name="Text 12"/>
          <p:cNvSpPr/>
          <p:nvPr/>
        </p:nvSpPr>
        <p:spPr>
          <a:xfrm>
            <a:off x="640080" y="4160520"/>
            <a:ext cx="786348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strike="noStrike" spc="-1">
                <a:solidFill>
                  <a:srgbClr val="26215C"/>
                </a:solidFill>
                <a:latin typeface="Calibri"/>
                <a:ea typeface="Calibri"/>
              </a:rPr>
              <a:t>Industry data point: tiered routing has reduced LLM usage by 37–46% and improved latency by 32–38% on simpler queries in production deployments.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Text 0"/>
          <p:cNvSpPr/>
          <p:nvPr/>
        </p:nvSpPr>
        <p:spPr>
          <a:xfrm>
            <a:off x="457200" y="2926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199">
                <a:solidFill>
                  <a:srgbClr val="0F6E56"/>
                </a:solidFill>
                <a:latin typeface="Calibri"/>
                <a:ea typeface="Calibri"/>
              </a:rPr>
              <a:t>SIDECAR SERVICES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Text 1"/>
          <p:cNvSpPr/>
          <p:nvPr/>
        </p:nvSpPr>
        <p:spPr>
          <a:xfrm>
            <a:off x="457200" y="54864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26215C"/>
                </a:solidFill>
                <a:latin typeface="Cambria"/>
                <a:ea typeface="Cambria"/>
              </a:rPr>
              <a:t>Five horizontal services every sub-agent inherits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Shape 2"/>
          <p:cNvSpPr/>
          <p:nvPr/>
        </p:nvSpPr>
        <p:spPr>
          <a:xfrm>
            <a:off x="457200" y="1554480"/>
            <a:ext cx="1590840" cy="3017160"/>
          </a:xfrm>
          <a:prstGeom prst="roundRect">
            <a:avLst>
              <a:gd name="adj" fmla="val 4598"/>
            </a:avLst>
          </a:prstGeom>
          <a:solidFill>
            <a:srgbClr val="F8F7FC"/>
          </a:solidFill>
          <a:ln w="0">
            <a:noFill/>
          </a:ln>
          <a:effectLst>
            <a:outerShdw blurRad="63360" dist="255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Shape 3"/>
          <p:cNvSpPr/>
          <p:nvPr/>
        </p:nvSpPr>
        <p:spPr>
          <a:xfrm>
            <a:off x="1024200" y="1755720"/>
            <a:ext cx="456840" cy="456840"/>
          </a:xfrm>
          <a:prstGeom prst="ellipse">
            <a:avLst/>
          </a:prstGeom>
          <a:solidFill>
            <a:srgbClr val="E1F5E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25" name="Image 0" descr="preencoded.png"/>
          <p:cNvPicPr/>
          <p:nvPr/>
        </p:nvPicPr>
        <p:blipFill>
          <a:blip r:embed="rId3"/>
          <a:stretch/>
        </p:blipFill>
        <p:spPr>
          <a:xfrm>
            <a:off x="1134000" y="186552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526" name="Text 4"/>
          <p:cNvSpPr/>
          <p:nvPr/>
        </p:nvSpPr>
        <p:spPr>
          <a:xfrm>
            <a:off x="530280" y="2331720"/>
            <a:ext cx="14443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26215C"/>
                </a:solidFill>
                <a:latin typeface="Calibri"/>
                <a:ea typeface="Calibri"/>
              </a:rPr>
              <a:t>Evals + prompt eng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Text 5"/>
          <p:cNvSpPr/>
          <p:nvPr/>
        </p:nvSpPr>
        <p:spPr>
          <a:xfrm>
            <a:off x="548640" y="2880360"/>
            <a:ext cx="1407960" cy="1554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433F5C"/>
                </a:solidFill>
                <a:latin typeface="Calibri"/>
                <a:ea typeface="Calibri"/>
              </a:rPr>
              <a:t>Golden-set offline evals in CI, plus online evals against live traffic.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Shape 6"/>
          <p:cNvSpPr/>
          <p:nvPr/>
        </p:nvSpPr>
        <p:spPr>
          <a:xfrm>
            <a:off x="2167200" y="1554480"/>
            <a:ext cx="1590840" cy="3017160"/>
          </a:xfrm>
          <a:prstGeom prst="roundRect">
            <a:avLst>
              <a:gd name="adj" fmla="val 4598"/>
            </a:avLst>
          </a:prstGeom>
          <a:solidFill>
            <a:srgbClr val="F8F7FC"/>
          </a:solidFill>
          <a:ln w="0">
            <a:noFill/>
          </a:ln>
          <a:effectLst>
            <a:outerShdw blurRad="63360" dist="255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Shape 7"/>
          <p:cNvSpPr/>
          <p:nvPr/>
        </p:nvSpPr>
        <p:spPr>
          <a:xfrm>
            <a:off x="2734200" y="1755720"/>
            <a:ext cx="456840" cy="456840"/>
          </a:xfrm>
          <a:prstGeom prst="ellipse">
            <a:avLst/>
          </a:prstGeom>
          <a:solidFill>
            <a:srgbClr val="FAECE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30" name="Image 1" descr="preencoded.png"/>
          <p:cNvPicPr/>
          <p:nvPr/>
        </p:nvPicPr>
        <p:blipFill>
          <a:blip r:embed="rId4"/>
          <a:stretch/>
        </p:blipFill>
        <p:spPr>
          <a:xfrm>
            <a:off x="2843640" y="186552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531" name="Text 8"/>
          <p:cNvSpPr/>
          <p:nvPr/>
        </p:nvSpPr>
        <p:spPr>
          <a:xfrm>
            <a:off x="2240280" y="2331720"/>
            <a:ext cx="14443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26215C"/>
                </a:solidFill>
                <a:latin typeface="Calibri"/>
                <a:ea typeface="Calibri"/>
              </a:rPr>
              <a:t>Agent guardrails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Text 9"/>
          <p:cNvSpPr/>
          <p:nvPr/>
        </p:nvSpPr>
        <p:spPr>
          <a:xfrm>
            <a:off x="2258640" y="2880360"/>
            <a:ext cx="1407960" cy="1554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433F5C"/>
                </a:solidFill>
                <a:latin typeface="Calibri"/>
                <a:ea typeface="Calibri"/>
              </a:rPr>
              <a:t>Real-time input/output policy enforcement, ~200–300ms budget.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" name="Shape 10"/>
          <p:cNvSpPr/>
          <p:nvPr/>
        </p:nvSpPr>
        <p:spPr>
          <a:xfrm>
            <a:off x="3877200" y="1554480"/>
            <a:ext cx="1590840" cy="3017160"/>
          </a:xfrm>
          <a:prstGeom prst="roundRect">
            <a:avLst>
              <a:gd name="adj" fmla="val 4598"/>
            </a:avLst>
          </a:prstGeom>
          <a:solidFill>
            <a:srgbClr val="F8F7FC"/>
          </a:solidFill>
          <a:ln w="0">
            <a:noFill/>
          </a:ln>
          <a:effectLst>
            <a:outerShdw blurRad="63360" dist="255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Shape 11"/>
          <p:cNvSpPr/>
          <p:nvPr/>
        </p:nvSpPr>
        <p:spPr>
          <a:xfrm>
            <a:off x="4443840" y="1755720"/>
            <a:ext cx="456840" cy="456840"/>
          </a:xfrm>
          <a:prstGeom prst="ellipse">
            <a:avLst/>
          </a:prstGeom>
          <a:solidFill>
            <a:srgbClr val="FAEED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35" name="Image 2" descr="preencoded.png"/>
          <p:cNvPicPr/>
          <p:nvPr/>
        </p:nvPicPr>
        <p:blipFill>
          <a:blip r:embed="rId5"/>
          <a:stretch/>
        </p:blipFill>
        <p:spPr>
          <a:xfrm>
            <a:off x="4553640" y="186552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536" name="Text 12"/>
          <p:cNvSpPr/>
          <p:nvPr/>
        </p:nvSpPr>
        <p:spPr>
          <a:xfrm>
            <a:off x="3950280" y="2331720"/>
            <a:ext cx="14443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26215C"/>
                </a:solidFill>
                <a:latin typeface="Calibri"/>
                <a:ea typeface="Calibri"/>
              </a:rPr>
              <a:t>Traceability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Text 13"/>
          <p:cNvSpPr/>
          <p:nvPr/>
        </p:nvSpPr>
        <p:spPr>
          <a:xfrm>
            <a:off x="3968640" y="2880360"/>
            <a:ext cx="1407960" cy="1554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433F5C"/>
                </a:solidFill>
                <a:latin typeface="Calibri"/>
                <a:ea typeface="Calibri"/>
              </a:rPr>
              <a:t>Every event — tool call, hand-off, state change — logged as an audit record.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" name="Shape 14"/>
          <p:cNvSpPr/>
          <p:nvPr/>
        </p:nvSpPr>
        <p:spPr>
          <a:xfrm>
            <a:off x="5586840" y="1554480"/>
            <a:ext cx="1590840" cy="3017160"/>
          </a:xfrm>
          <a:prstGeom prst="roundRect">
            <a:avLst>
              <a:gd name="adj" fmla="val 4598"/>
            </a:avLst>
          </a:prstGeom>
          <a:solidFill>
            <a:srgbClr val="F8F7FC"/>
          </a:solidFill>
          <a:ln w="0">
            <a:noFill/>
          </a:ln>
          <a:effectLst>
            <a:outerShdw blurRad="63360" dist="255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9" name="Shape 15"/>
          <p:cNvSpPr/>
          <p:nvPr/>
        </p:nvSpPr>
        <p:spPr>
          <a:xfrm>
            <a:off x="6153840" y="1755720"/>
            <a:ext cx="456840" cy="456840"/>
          </a:xfrm>
          <a:prstGeom prst="ellipse">
            <a:avLst/>
          </a:prstGeom>
          <a:solidFill>
            <a:srgbClr val="EEEDF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40" name="Image 3" descr="preencoded.png"/>
          <p:cNvPicPr/>
          <p:nvPr/>
        </p:nvPicPr>
        <p:blipFill>
          <a:blip r:embed="rId6"/>
          <a:stretch/>
        </p:blipFill>
        <p:spPr>
          <a:xfrm>
            <a:off x="6263640" y="186552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541" name="Text 16"/>
          <p:cNvSpPr/>
          <p:nvPr/>
        </p:nvSpPr>
        <p:spPr>
          <a:xfrm>
            <a:off x="5660280" y="2331720"/>
            <a:ext cx="14443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26215C"/>
                </a:solidFill>
                <a:latin typeface="Calibri"/>
                <a:ea typeface="Calibri"/>
              </a:rPr>
              <a:t>Channel JSON rendering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Text 17"/>
          <p:cNvSpPr/>
          <p:nvPr/>
        </p:nvSpPr>
        <p:spPr>
          <a:xfrm>
            <a:off x="5678280" y="2880360"/>
            <a:ext cx="1407960" cy="1554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433F5C"/>
                </a:solidFill>
                <a:latin typeface="Calibri"/>
                <a:ea typeface="Calibri"/>
              </a:rPr>
              <a:t>One response schema → mobile / web / voice / messaging payloads.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Shape 18"/>
          <p:cNvSpPr/>
          <p:nvPr/>
        </p:nvSpPr>
        <p:spPr>
          <a:xfrm>
            <a:off x="7296840" y="1554480"/>
            <a:ext cx="1590840" cy="3017160"/>
          </a:xfrm>
          <a:prstGeom prst="roundRect">
            <a:avLst>
              <a:gd name="adj" fmla="val 4598"/>
            </a:avLst>
          </a:prstGeom>
          <a:solidFill>
            <a:srgbClr val="F8F7FC"/>
          </a:solidFill>
          <a:ln w="0">
            <a:noFill/>
          </a:ln>
          <a:effectLst>
            <a:outerShdw blurRad="63360" dist="255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4" name="Shape 19"/>
          <p:cNvSpPr/>
          <p:nvPr/>
        </p:nvSpPr>
        <p:spPr>
          <a:xfrm>
            <a:off x="7863840" y="1755720"/>
            <a:ext cx="456840" cy="456840"/>
          </a:xfrm>
          <a:prstGeom prst="ellipse">
            <a:avLst/>
          </a:prstGeom>
          <a:solidFill>
            <a:srgbClr val="FAECE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45" name="Image 4" descr="preencoded.png"/>
          <p:cNvPicPr/>
          <p:nvPr/>
        </p:nvPicPr>
        <p:blipFill>
          <a:blip r:embed="rId7"/>
          <a:stretch/>
        </p:blipFill>
        <p:spPr>
          <a:xfrm>
            <a:off x="7973640" y="186552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546" name="Text 20"/>
          <p:cNvSpPr/>
          <p:nvPr/>
        </p:nvSpPr>
        <p:spPr>
          <a:xfrm>
            <a:off x="7369920" y="2331720"/>
            <a:ext cx="14443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95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26215C"/>
                </a:solidFill>
                <a:latin typeface="Calibri"/>
                <a:ea typeface="Calibri"/>
              </a:rPr>
              <a:t>Analytics &amp; observability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7" name="Text 21"/>
          <p:cNvSpPr/>
          <p:nvPr/>
        </p:nvSpPr>
        <p:spPr>
          <a:xfrm>
            <a:off x="7388280" y="2880360"/>
            <a:ext cx="1407960" cy="1554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433F5C"/>
                </a:solidFill>
                <a:latin typeface="Calibri"/>
                <a:ea typeface="Calibri"/>
              </a:rPr>
              <a:t>Cross-portfolio dashboards: cost, latency, quality, by sub-agent and model.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8" name="Text 22"/>
          <p:cNvSpPr/>
          <p:nvPr/>
        </p:nvSpPr>
        <p:spPr>
          <a:xfrm>
            <a:off x="457200" y="470916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i="1" strike="noStrike" spc="-1">
                <a:solidFill>
                  <a:srgbClr val="767290"/>
                </a:solidFill>
                <a:latin typeface="Calibri"/>
                <a:ea typeface="Calibri"/>
              </a:rPr>
              <a:t>Necessity: if each domain team builds its own version of these, the enterprise ends up with as many safety bars and audit formats as it has teams — unauditable at scale.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Text 0"/>
          <p:cNvSpPr/>
          <p:nvPr/>
        </p:nvSpPr>
        <p:spPr>
          <a:xfrm>
            <a:off x="457200" y="2926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199">
                <a:solidFill>
                  <a:srgbClr val="0F6E56"/>
                </a:solidFill>
                <a:latin typeface="Calibri"/>
                <a:ea typeface="Calibri"/>
              </a:rPr>
              <a:t>SIDECAR SERVICES · DEEP DIVE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Text 1"/>
          <p:cNvSpPr/>
          <p:nvPr/>
        </p:nvSpPr>
        <p:spPr>
          <a:xfrm>
            <a:off x="457200" y="54864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26215C"/>
                </a:solidFill>
                <a:latin typeface="Cambria"/>
                <a:ea typeface="Cambria"/>
              </a:rPr>
              <a:t>Evals &amp; observability: three layers of metrics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1" name="Shape 2"/>
          <p:cNvSpPr/>
          <p:nvPr/>
        </p:nvSpPr>
        <p:spPr>
          <a:xfrm>
            <a:off x="457200" y="1371600"/>
            <a:ext cx="2697120" cy="365400"/>
          </a:xfrm>
          <a:prstGeom prst="roundRect">
            <a:avLst>
              <a:gd name="adj" fmla="val 17500"/>
            </a:avLst>
          </a:prstGeom>
          <a:solidFill>
            <a:srgbClr val="EEEDF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2" name="Text 3"/>
          <p:cNvSpPr/>
          <p:nvPr/>
        </p:nvSpPr>
        <p:spPr>
          <a:xfrm>
            <a:off x="457200" y="1371600"/>
            <a:ext cx="26971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26215C"/>
                </a:solidFill>
                <a:latin typeface="Calibri"/>
                <a:ea typeface="Calibri"/>
              </a:rPr>
              <a:t>Tool-call layer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Shape 4"/>
          <p:cNvSpPr/>
          <p:nvPr/>
        </p:nvSpPr>
        <p:spPr>
          <a:xfrm>
            <a:off x="457200" y="1828800"/>
            <a:ext cx="2697120" cy="712800"/>
          </a:xfrm>
          <a:prstGeom prst="roundRect">
            <a:avLst>
              <a:gd name="adj" fmla="val 8974"/>
            </a:avLst>
          </a:prstGeom>
          <a:solidFill>
            <a:srgbClr val="F8F7F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" name="Shape 5"/>
          <p:cNvSpPr/>
          <p:nvPr/>
        </p:nvSpPr>
        <p:spPr>
          <a:xfrm>
            <a:off x="567000" y="1947600"/>
            <a:ext cx="328680" cy="328680"/>
          </a:xfrm>
          <a:prstGeom prst="ellipse">
            <a:avLst/>
          </a:prstGeom>
          <a:solidFill>
            <a:srgbClr val="EEEDF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55" name="Image 0" descr="preencoded.png"/>
          <p:cNvPicPr/>
          <p:nvPr/>
        </p:nvPicPr>
        <p:blipFill>
          <a:blip r:embed="rId3"/>
          <a:stretch/>
        </p:blipFill>
        <p:spPr>
          <a:xfrm>
            <a:off x="645840" y="2026800"/>
            <a:ext cx="170640" cy="170640"/>
          </a:xfrm>
          <a:prstGeom prst="rect">
            <a:avLst/>
          </a:prstGeom>
          <a:ln w="0">
            <a:noFill/>
          </a:ln>
        </p:spPr>
      </p:pic>
      <p:sp>
        <p:nvSpPr>
          <p:cNvPr id="556" name="Text 6"/>
          <p:cNvSpPr/>
          <p:nvPr/>
        </p:nvSpPr>
        <p:spPr>
          <a:xfrm>
            <a:off x="969120" y="1901880"/>
            <a:ext cx="20754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26215C"/>
                </a:solidFill>
                <a:latin typeface="Calibri"/>
                <a:ea typeface="Calibri"/>
              </a:rPr>
              <a:t>Tool selection accuracy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7" name="Text 7"/>
          <p:cNvSpPr/>
          <p:nvPr/>
        </p:nvSpPr>
        <p:spPr>
          <a:xfrm>
            <a:off x="567000" y="2194560"/>
            <a:ext cx="247752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strike="noStrike" spc="-1">
                <a:solidFill>
                  <a:srgbClr val="433F5C"/>
                </a:solidFill>
                <a:latin typeface="Calibri"/>
                <a:ea typeface="Calibri"/>
              </a:rPr>
              <a:t>Did the agent call FAQAnswers, AccountHelper, or BalanceChecker correctly for the intent?</a:t>
            </a:r>
            <a:endParaRPr lang="en-US" sz="7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8" name="Shape 8"/>
          <p:cNvSpPr/>
          <p:nvPr/>
        </p:nvSpPr>
        <p:spPr>
          <a:xfrm>
            <a:off x="457200" y="2615040"/>
            <a:ext cx="2697120" cy="712800"/>
          </a:xfrm>
          <a:prstGeom prst="roundRect">
            <a:avLst>
              <a:gd name="adj" fmla="val 8974"/>
            </a:avLst>
          </a:prstGeom>
          <a:solidFill>
            <a:srgbClr val="F8F7F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9" name="Shape 9"/>
          <p:cNvSpPr/>
          <p:nvPr/>
        </p:nvSpPr>
        <p:spPr>
          <a:xfrm>
            <a:off x="567000" y="2734200"/>
            <a:ext cx="328680" cy="328680"/>
          </a:xfrm>
          <a:prstGeom prst="ellipse">
            <a:avLst/>
          </a:prstGeom>
          <a:solidFill>
            <a:srgbClr val="EEEDF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60" name="Image 1" descr="preencoded.png"/>
          <p:cNvPicPr/>
          <p:nvPr/>
        </p:nvPicPr>
        <p:blipFill>
          <a:blip r:embed="rId4"/>
          <a:stretch/>
        </p:blipFill>
        <p:spPr>
          <a:xfrm>
            <a:off x="645840" y="2813040"/>
            <a:ext cx="170640" cy="170640"/>
          </a:xfrm>
          <a:prstGeom prst="rect">
            <a:avLst/>
          </a:prstGeom>
          <a:ln w="0">
            <a:noFill/>
          </a:ln>
        </p:spPr>
      </p:pic>
      <p:sp>
        <p:nvSpPr>
          <p:cNvPr id="561" name="Text 10"/>
          <p:cNvSpPr/>
          <p:nvPr/>
        </p:nvSpPr>
        <p:spPr>
          <a:xfrm>
            <a:off x="969120" y="2688480"/>
            <a:ext cx="20754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26215C"/>
                </a:solidFill>
                <a:latin typeface="Calibri"/>
                <a:ea typeface="Calibri"/>
              </a:rPr>
              <a:t>Parameter correctness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2" name="Text 11"/>
          <p:cNvSpPr/>
          <p:nvPr/>
        </p:nvSpPr>
        <p:spPr>
          <a:xfrm>
            <a:off x="567000" y="2980800"/>
            <a:ext cx="247752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strike="noStrike" spc="-1">
                <a:solidFill>
                  <a:srgbClr val="433F5C"/>
                </a:solidFill>
                <a:latin typeface="Calibri"/>
                <a:ea typeface="Calibri"/>
              </a:rPr>
              <a:t>Were inputs (e.g. account_id) valid and complete before the call fired?</a:t>
            </a:r>
            <a:endParaRPr lang="en-US" sz="7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3" name="Shape 12"/>
          <p:cNvSpPr/>
          <p:nvPr/>
        </p:nvSpPr>
        <p:spPr>
          <a:xfrm>
            <a:off x="457200" y="3401640"/>
            <a:ext cx="2697120" cy="712800"/>
          </a:xfrm>
          <a:prstGeom prst="roundRect">
            <a:avLst>
              <a:gd name="adj" fmla="val 8974"/>
            </a:avLst>
          </a:prstGeom>
          <a:solidFill>
            <a:srgbClr val="F8F7F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4" name="Shape 13"/>
          <p:cNvSpPr/>
          <p:nvPr/>
        </p:nvSpPr>
        <p:spPr>
          <a:xfrm>
            <a:off x="567000" y="3520440"/>
            <a:ext cx="328680" cy="328680"/>
          </a:xfrm>
          <a:prstGeom prst="ellipse">
            <a:avLst/>
          </a:prstGeom>
          <a:solidFill>
            <a:srgbClr val="EEEDF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65" name="Image 2" descr="preencoded.png"/>
          <p:cNvPicPr/>
          <p:nvPr/>
        </p:nvPicPr>
        <p:blipFill>
          <a:blip r:embed="rId5"/>
          <a:stretch/>
        </p:blipFill>
        <p:spPr>
          <a:xfrm>
            <a:off x="645840" y="3599280"/>
            <a:ext cx="170640" cy="170640"/>
          </a:xfrm>
          <a:prstGeom prst="rect">
            <a:avLst/>
          </a:prstGeom>
          <a:ln w="0">
            <a:noFill/>
          </a:ln>
        </p:spPr>
      </p:pic>
      <p:sp>
        <p:nvSpPr>
          <p:cNvPr id="566" name="Text 14"/>
          <p:cNvSpPr/>
          <p:nvPr/>
        </p:nvSpPr>
        <p:spPr>
          <a:xfrm>
            <a:off x="969120" y="3474720"/>
            <a:ext cx="20754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26215C"/>
                </a:solidFill>
                <a:latin typeface="Calibri"/>
                <a:ea typeface="Calibri"/>
              </a:rPr>
              <a:t>Tool latency &amp; error rate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7" name="Text 15"/>
          <p:cNvSpPr/>
          <p:nvPr/>
        </p:nvSpPr>
        <p:spPr>
          <a:xfrm>
            <a:off x="567000" y="3767400"/>
            <a:ext cx="247752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strike="noStrike" spc="-1">
                <a:solidFill>
                  <a:srgbClr val="433F5C"/>
                </a:solidFill>
                <a:latin typeface="Calibri"/>
                <a:ea typeface="Calibri"/>
              </a:rPr>
              <a:t>Per-tool p50/p95 latency and failure rate — BalanceChecker is our highest-volume tool today.</a:t>
            </a:r>
            <a:endParaRPr lang="en-US" sz="7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8" name="Shape 16"/>
          <p:cNvSpPr/>
          <p:nvPr/>
        </p:nvSpPr>
        <p:spPr>
          <a:xfrm>
            <a:off x="3264480" y="1371600"/>
            <a:ext cx="2697120" cy="365400"/>
          </a:xfrm>
          <a:prstGeom prst="roundRect">
            <a:avLst>
              <a:gd name="adj" fmla="val 17500"/>
            </a:avLst>
          </a:prstGeom>
          <a:solidFill>
            <a:srgbClr val="E1F5E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9" name="Text 17"/>
          <p:cNvSpPr/>
          <p:nvPr/>
        </p:nvSpPr>
        <p:spPr>
          <a:xfrm>
            <a:off x="3264480" y="1371600"/>
            <a:ext cx="26971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0F6E56"/>
                </a:solidFill>
                <a:latin typeface="Calibri"/>
                <a:ea typeface="Calibri"/>
              </a:rPr>
              <a:t>Trajectory layer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0" name="Shape 18"/>
          <p:cNvSpPr/>
          <p:nvPr/>
        </p:nvSpPr>
        <p:spPr>
          <a:xfrm>
            <a:off x="3264480" y="1828800"/>
            <a:ext cx="2697120" cy="712800"/>
          </a:xfrm>
          <a:prstGeom prst="roundRect">
            <a:avLst>
              <a:gd name="adj" fmla="val 8974"/>
            </a:avLst>
          </a:prstGeom>
          <a:solidFill>
            <a:srgbClr val="F8F7F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1" name="Shape 19"/>
          <p:cNvSpPr/>
          <p:nvPr/>
        </p:nvSpPr>
        <p:spPr>
          <a:xfrm>
            <a:off x="3374280" y="1947600"/>
            <a:ext cx="328680" cy="328680"/>
          </a:xfrm>
          <a:prstGeom prst="ellipse">
            <a:avLst/>
          </a:prstGeom>
          <a:solidFill>
            <a:srgbClr val="E1F5E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72" name="Image 3" descr="preencoded.png"/>
          <p:cNvPicPr/>
          <p:nvPr/>
        </p:nvPicPr>
        <p:blipFill>
          <a:blip r:embed="rId6"/>
          <a:stretch/>
        </p:blipFill>
        <p:spPr>
          <a:xfrm>
            <a:off x="3453120" y="2026800"/>
            <a:ext cx="170640" cy="170640"/>
          </a:xfrm>
          <a:prstGeom prst="rect">
            <a:avLst/>
          </a:prstGeom>
          <a:ln w="0">
            <a:noFill/>
          </a:ln>
        </p:spPr>
      </p:pic>
      <p:sp>
        <p:nvSpPr>
          <p:cNvPr id="573" name="Text 20"/>
          <p:cNvSpPr/>
          <p:nvPr/>
        </p:nvSpPr>
        <p:spPr>
          <a:xfrm>
            <a:off x="3776400" y="1901880"/>
            <a:ext cx="20754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26215C"/>
                </a:solidFill>
                <a:latin typeface="Calibri"/>
                <a:ea typeface="Calibri"/>
              </a:rPr>
              <a:t>Plan quality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Text 21"/>
          <p:cNvSpPr/>
          <p:nvPr/>
        </p:nvSpPr>
        <p:spPr>
          <a:xfrm>
            <a:off x="3374280" y="2194560"/>
            <a:ext cx="247752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strike="noStrike" spc="-1">
                <a:solidFill>
                  <a:srgbClr val="433F5C"/>
                </a:solidFill>
                <a:latin typeface="Calibri"/>
                <a:ea typeface="Calibri"/>
              </a:rPr>
              <a:t>Was the route through orchestrator → sub-agent(s) sensible before any tool was called?</a:t>
            </a:r>
            <a:endParaRPr lang="en-US" sz="7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5" name="Shape 22"/>
          <p:cNvSpPr/>
          <p:nvPr/>
        </p:nvSpPr>
        <p:spPr>
          <a:xfrm>
            <a:off x="3264480" y="2615040"/>
            <a:ext cx="2697120" cy="712800"/>
          </a:xfrm>
          <a:prstGeom prst="roundRect">
            <a:avLst>
              <a:gd name="adj" fmla="val 8974"/>
            </a:avLst>
          </a:prstGeom>
          <a:solidFill>
            <a:srgbClr val="F8F7F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6" name="Shape 23"/>
          <p:cNvSpPr/>
          <p:nvPr/>
        </p:nvSpPr>
        <p:spPr>
          <a:xfrm>
            <a:off x="3374280" y="2734200"/>
            <a:ext cx="328680" cy="328680"/>
          </a:xfrm>
          <a:prstGeom prst="ellipse">
            <a:avLst/>
          </a:prstGeom>
          <a:solidFill>
            <a:srgbClr val="E1F5E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77" name="Image 4" descr="preencoded.png"/>
          <p:cNvPicPr/>
          <p:nvPr/>
        </p:nvPicPr>
        <p:blipFill>
          <a:blip r:embed="rId7"/>
          <a:stretch/>
        </p:blipFill>
        <p:spPr>
          <a:xfrm>
            <a:off x="3453120" y="2813040"/>
            <a:ext cx="170640" cy="170640"/>
          </a:xfrm>
          <a:prstGeom prst="rect">
            <a:avLst/>
          </a:prstGeom>
          <a:ln w="0">
            <a:noFill/>
          </a:ln>
        </p:spPr>
      </p:pic>
      <p:sp>
        <p:nvSpPr>
          <p:cNvPr id="578" name="Text 24"/>
          <p:cNvSpPr/>
          <p:nvPr/>
        </p:nvSpPr>
        <p:spPr>
          <a:xfrm>
            <a:off x="3776400" y="2688480"/>
            <a:ext cx="20754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26215C"/>
                </a:solidFill>
                <a:latin typeface="Calibri"/>
                <a:ea typeface="Calibri"/>
              </a:rPr>
              <a:t>Step efficiency / loop detection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Text 25"/>
          <p:cNvSpPr/>
          <p:nvPr/>
        </p:nvSpPr>
        <p:spPr>
          <a:xfrm>
            <a:off x="3374280" y="2980800"/>
            <a:ext cx="247752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strike="noStrike" spc="-1">
                <a:solidFill>
                  <a:srgbClr val="433F5C"/>
                </a:solidFill>
                <a:latin typeface="Calibri"/>
                <a:ea typeface="Calibri"/>
              </a:rPr>
              <a:t>Flags recursive hand-offs or redundant tool calls within one trajectory.</a:t>
            </a:r>
            <a:endParaRPr lang="en-US" sz="7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0" name="Shape 26"/>
          <p:cNvSpPr/>
          <p:nvPr/>
        </p:nvSpPr>
        <p:spPr>
          <a:xfrm>
            <a:off x="3264480" y="3401640"/>
            <a:ext cx="2697120" cy="712800"/>
          </a:xfrm>
          <a:prstGeom prst="roundRect">
            <a:avLst>
              <a:gd name="adj" fmla="val 8974"/>
            </a:avLst>
          </a:prstGeom>
          <a:solidFill>
            <a:srgbClr val="F8F7F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1" name="Shape 27"/>
          <p:cNvSpPr/>
          <p:nvPr/>
        </p:nvSpPr>
        <p:spPr>
          <a:xfrm>
            <a:off x="3374280" y="3520440"/>
            <a:ext cx="328680" cy="328680"/>
          </a:xfrm>
          <a:prstGeom prst="ellipse">
            <a:avLst/>
          </a:prstGeom>
          <a:solidFill>
            <a:srgbClr val="E1F5E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82" name="Image 5" descr="preencoded.png"/>
          <p:cNvPicPr/>
          <p:nvPr/>
        </p:nvPicPr>
        <p:blipFill>
          <a:blip r:embed="rId8"/>
          <a:stretch/>
        </p:blipFill>
        <p:spPr>
          <a:xfrm>
            <a:off x="3453120" y="3599280"/>
            <a:ext cx="170640" cy="170640"/>
          </a:xfrm>
          <a:prstGeom prst="rect">
            <a:avLst/>
          </a:prstGeom>
          <a:ln w="0">
            <a:noFill/>
          </a:ln>
        </p:spPr>
      </p:pic>
      <p:sp>
        <p:nvSpPr>
          <p:cNvPr id="583" name="Text 28"/>
          <p:cNvSpPr/>
          <p:nvPr/>
        </p:nvSpPr>
        <p:spPr>
          <a:xfrm>
            <a:off x="3776400" y="3474720"/>
            <a:ext cx="20754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26215C"/>
                </a:solidFill>
                <a:latin typeface="Calibri"/>
                <a:ea typeface="Calibri"/>
              </a:rPr>
              <a:t>Hand-off correctness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4" name="Text 29"/>
          <p:cNvSpPr/>
          <p:nvPr/>
        </p:nvSpPr>
        <p:spPr>
          <a:xfrm>
            <a:off x="3374280" y="3767400"/>
            <a:ext cx="247752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strike="noStrike" spc="-1">
                <a:solidFill>
                  <a:srgbClr val="433F5C"/>
                </a:solidFill>
                <a:latin typeface="Calibri"/>
                <a:ea typeface="Calibri"/>
              </a:rPr>
              <a:t>Did routing match the actual sub-intents (e.g. dispute → Transactions, application → Card)?</a:t>
            </a:r>
            <a:endParaRPr lang="en-US" sz="7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5" name="Shape 30"/>
          <p:cNvSpPr/>
          <p:nvPr/>
        </p:nvSpPr>
        <p:spPr>
          <a:xfrm>
            <a:off x="6071760" y="1371600"/>
            <a:ext cx="2697120" cy="365400"/>
          </a:xfrm>
          <a:prstGeom prst="roundRect">
            <a:avLst>
              <a:gd name="adj" fmla="val 17500"/>
            </a:avLst>
          </a:prstGeom>
          <a:solidFill>
            <a:srgbClr val="FAEED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6" name="Text 31"/>
          <p:cNvSpPr/>
          <p:nvPr/>
        </p:nvSpPr>
        <p:spPr>
          <a:xfrm>
            <a:off x="6071760" y="1371600"/>
            <a:ext cx="26971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854F0B"/>
                </a:solidFill>
                <a:latin typeface="Calibri"/>
                <a:ea typeface="Calibri"/>
              </a:rPr>
              <a:t>Outcome layer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7" name="Shape 32"/>
          <p:cNvSpPr/>
          <p:nvPr/>
        </p:nvSpPr>
        <p:spPr>
          <a:xfrm>
            <a:off x="6071760" y="1828800"/>
            <a:ext cx="2697120" cy="712800"/>
          </a:xfrm>
          <a:prstGeom prst="roundRect">
            <a:avLst>
              <a:gd name="adj" fmla="val 8974"/>
            </a:avLst>
          </a:prstGeom>
          <a:solidFill>
            <a:srgbClr val="F8F7F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8" name="Shape 33"/>
          <p:cNvSpPr/>
          <p:nvPr/>
        </p:nvSpPr>
        <p:spPr>
          <a:xfrm>
            <a:off x="6181200" y="1947600"/>
            <a:ext cx="328680" cy="328680"/>
          </a:xfrm>
          <a:prstGeom prst="ellipse">
            <a:avLst/>
          </a:prstGeom>
          <a:solidFill>
            <a:srgbClr val="FAEED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89" name="Image 6" descr="preencoded.png"/>
          <p:cNvPicPr/>
          <p:nvPr/>
        </p:nvPicPr>
        <p:blipFill>
          <a:blip r:embed="rId9"/>
          <a:stretch/>
        </p:blipFill>
        <p:spPr>
          <a:xfrm>
            <a:off x="6260400" y="2026800"/>
            <a:ext cx="170640" cy="170640"/>
          </a:xfrm>
          <a:prstGeom prst="rect">
            <a:avLst/>
          </a:prstGeom>
          <a:ln w="0">
            <a:noFill/>
          </a:ln>
        </p:spPr>
      </p:pic>
      <p:sp>
        <p:nvSpPr>
          <p:cNvPr id="590" name="Text 34"/>
          <p:cNvSpPr/>
          <p:nvPr/>
        </p:nvSpPr>
        <p:spPr>
          <a:xfrm>
            <a:off x="6583680" y="1901880"/>
            <a:ext cx="20754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26215C"/>
                </a:solidFill>
                <a:latin typeface="Calibri"/>
                <a:ea typeface="Calibri"/>
              </a:rPr>
              <a:t>Task completion rate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1" name="Text 35"/>
          <p:cNvSpPr/>
          <p:nvPr/>
        </p:nvSpPr>
        <p:spPr>
          <a:xfrm>
            <a:off x="6181200" y="2194560"/>
            <a:ext cx="247752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strike="noStrike" spc="-1">
                <a:solidFill>
                  <a:srgbClr val="433F5C"/>
                </a:solidFill>
                <a:latin typeface="Calibri"/>
                <a:ea typeface="Calibri"/>
              </a:rPr>
              <a:t>Did the full run actually resolve what the user asked, end to end?</a:t>
            </a:r>
            <a:endParaRPr lang="en-US" sz="7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2" name="Shape 36"/>
          <p:cNvSpPr/>
          <p:nvPr/>
        </p:nvSpPr>
        <p:spPr>
          <a:xfrm>
            <a:off x="6071760" y="2615040"/>
            <a:ext cx="2697120" cy="712800"/>
          </a:xfrm>
          <a:prstGeom prst="roundRect">
            <a:avLst>
              <a:gd name="adj" fmla="val 8974"/>
            </a:avLst>
          </a:prstGeom>
          <a:solidFill>
            <a:srgbClr val="F8F7F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3" name="Shape 37"/>
          <p:cNvSpPr/>
          <p:nvPr/>
        </p:nvSpPr>
        <p:spPr>
          <a:xfrm>
            <a:off x="6181200" y="2734200"/>
            <a:ext cx="328680" cy="328680"/>
          </a:xfrm>
          <a:prstGeom prst="ellipse">
            <a:avLst/>
          </a:prstGeom>
          <a:solidFill>
            <a:srgbClr val="FAEED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94" name="Image 7" descr="preencoded.png"/>
          <p:cNvPicPr/>
          <p:nvPr/>
        </p:nvPicPr>
        <p:blipFill>
          <a:blip r:embed="rId10"/>
          <a:stretch/>
        </p:blipFill>
        <p:spPr>
          <a:xfrm>
            <a:off x="6260400" y="2813040"/>
            <a:ext cx="170640" cy="170640"/>
          </a:xfrm>
          <a:prstGeom prst="rect">
            <a:avLst/>
          </a:prstGeom>
          <a:ln w="0">
            <a:noFill/>
          </a:ln>
        </p:spPr>
      </p:pic>
      <p:sp>
        <p:nvSpPr>
          <p:cNvPr id="595" name="Text 38"/>
          <p:cNvSpPr/>
          <p:nvPr/>
        </p:nvSpPr>
        <p:spPr>
          <a:xfrm>
            <a:off x="6583680" y="2688480"/>
            <a:ext cx="20754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26215C"/>
                </a:solidFill>
                <a:latin typeface="Calibri"/>
                <a:ea typeface="Calibri"/>
              </a:rPr>
              <a:t>Intent resolution score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6" name="Text 39"/>
          <p:cNvSpPr/>
          <p:nvPr/>
        </p:nvSpPr>
        <p:spPr>
          <a:xfrm>
            <a:off x="6181200" y="2980800"/>
            <a:ext cx="247752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strike="noStrike" spc="-1">
                <a:solidFill>
                  <a:srgbClr val="433F5C"/>
                </a:solidFill>
                <a:latin typeface="Calibri"/>
                <a:ea typeface="Calibri"/>
              </a:rPr>
              <a:t>Was the user's true intent correctly resolved, not just a plausible-sounding reply?</a:t>
            </a:r>
            <a:endParaRPr lang="en-US" sz="7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7" name="Shape 40"/>
          <p:cNvSpPr/>
          <p:nvPr/>
        </p:nvSpPr>
        <p:spPr>
          <a:xfrm>
            <a:off x="6071760" y="3401640"/>
            <a:ext cx="2697120" cy="712800"/>
          </a:xfrm>
          <a:prstGeom prst="roundRect">
            <a:avLst>
              <a:gd name="adj" fmla="val 8974"/>
            </a:avLst>
          </a:prstGeom>
          <a:solidFill>
            <a:srgbClr val="F8F7F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8" name="Shape 41"/>
          <p:cNvSpPr/>
          <p:nvPr/>
        </p:nvSpPr>
        <p:spPr>
          <a:xfrm>
            <a:off x="6181200" y="3520440"/>
            <a:ext cx="328680" cy="328680"/>
          </a:xfrm>
          <a:prstGeom prst="ellipse">
            <a:avLst/>
          </a:prstGeom>
          <a:solidFill>
            <a:srgbClr val="FAEED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99" name="Image 8" descr="preencoded.png"/>
          <p:cNvPicPr/>
          <p:nvPr/>
        </p:nvPicPr>
        <p:blipFill>
          <a:blip r:embed="rId11"/>
          <a:stretch/>
        </p:blipFill>
        <p:spPr>
          <a:xfrm>
            <a:off x="6260400" y="3599280"/>
            <a:ext cx="170640" cy="170640"/>
          </a:xfrm>
          <a:prstGeom prst="rect">
            <a:avLst/>
          </a:prstGeom>
          <a:ln w="0">
            <a:noFill/>
          </a:ln>
        </p:spPr>
      </p:pic>
      <p:sp>
        <p:nvSpPr>
          <p:cNvPr id="600" name="Text 42"/>
          <p:cNvSpPr/>
          <p:nvPr/>
        </p:nvSpPr>
        <p:spPr>
          <a:xfrm>
            <a:off x="6583680" y="3474720"/>
            <a:ext cx="20754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26215C"/>
                </a:solidFill>
                <a:latin typeface="Calibri"/>
                <a:ea typeface="Calibri"/>
              </a:rPr>
              <a:t>Hallucination / faithfulness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" name="Text 43"/>
          <p:cNvSpPr/>
          <p:nvPr/>
        </p:nvSpPr>
        <p:spPr>
          <a:xfrm>
            <a:off x="6181200" y="3767400"/>
            <a:ext cx="247752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strike="noStrike" spc="-1">
                <a:solidFill>
                  <a:srgbClr val="433F5C"/>
                </a:solidFill>
                <a:latin typeface="Calibri"/>
                <a:ea typeface="Calibri"/>
              </a:rPr>
              <a:t>Does the final answer stay grounded in tool outputs and policy, not invented facts?</a:t>
            </a:r>
            <a:endParaRPr lang="en-US" sz="7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2" name="Text 44"/>
          <p:cNvSpPr/>
          <p:nvPr/>
        </p:nvSpPr>
        <p:spPr>
          <a:xfrm>
            <a:off x="457200" y="425196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00" b="0" i="1" strike="noStrike" spc="-1">
                <a:solidFill>
                  <a:srgbClr val="767290"/>
                </a:solidFill>
                <a:latin typeface="Calibri"/>
                <a:ea typeface="Calibri"/>
              </a:rPr>
              <a:t>Tool-level metrics alone miss the point: an agent can call every tool correctly and still fail the user's actual task — trajectory and outcome metrics catch that gap.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Text 0"/>
          <p:cNvSpPr/>
          <p:nvPr/>
        </p:nvSpPr>
        <p:spPr>
          <a:xfrm>
            <a:off x="457200" y="2926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199">
                <a:solidFill>
                  <a:srgbClr val="0F6E56"/>
                </a:solidFill>
                <a:latin typeface="Calibri"/>
                <a:ea typeface="Calibri"/>
              </a:rPr>
              <a:t>INDUSTRY BEST PRACTICES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" name="Text 1"/>
          <p:cNvSpPr/>
          <p:nvPr/>
        </p:nvSpPr>
        <p:spPr>
          <a:xfrm>
            <a:off x="457200" y="54864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26215C"/>
                </a:solidFill>
                <a:latin typeface="Cambria"/>
                <a:ea typeface="Cambria"/>
              </a:rPr>
              <a:t>What the platform holds itself to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5" name="Shape 2"/>
          <p:cNvSpPr/>
          <p:nvPr/>
        </p:nvSpPr>
        <p:spPr>
          <a:xfrm>
            <a:off x="457200" y="1508760"/>
            <a:ext cx="4023000" cy="3108600"/>
          </a:xfrm>
          <a:prstGeom prst="roundRect">
            <a:avLst>
              <a:gd name="adj" fmla="val 2941"/>
            </a:avLst>
          </a:prstGeom>
          <a:solidFill>
            <a:srgbClr val="F8F7FC"/>
          </a:solidFill>
          <a:ln w="0">
            <a:noFill/>
          </a:ln>
          <a:effectLst>
            <a:outerShdw blurRad="63360" dist="255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" name="Shape 3"/>
          <p:cNvSpPr/>
          <p:nvPr/>
        </p:nvSpPr>
        <p:spPr>
          <a:xfrm>
            <a:off x="731520" y="1737360"/>
            <a:ext cx="548280" cy="548280"/>
          </a:xfrm>
          <a:prstGeom prst="ellipse">
            <a:avLst/>
          </a:prstGeom>
          <a:solidFill>
            <a:srgbClr val="EEEDF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07" name="Image 0" descr="preencoded.png"/>
          <p:cNvPicPr/>
          <p:nvPr/>
        </p:nvPicPr>
        <p:blipFill>
          <a:blip r:embed="rId3"/>
          <a:stretch/>
        </p:blipFill>
        <p:spPr>
          <a:xfrm>
            <a:off x="863280" y="1869120"/>
            <a:ext cx="284760" cy="284760"/>
          </a:xfrm>
          <a:prstGeom prst="rect">
            <a:avLst/>
          </a:prstGeom>
          <a:ln w="0">
            <a:noFill/>
          </a:ln>
        </p:spPr>
      </p:pic>
      <p:sp>
        <p:nvSpPr>
          <p:cNvPr id="608" name="Text 4"/>
          <p:cNvSpPr/>
          <p:nvPr/>
        </p:nvSpPr>
        <p:spPr>
          <a:xfrm>
            <a:off x="1417320" y="1737360"/>
            <a:ext cx="27428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26215C"/>
                </a:solidFill>
                <a:latin typeface="Cambria"/>
                <a:ea typeface="Cambria"/>
              </a:rPr>
              <a:t>Architecture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9" name="Text 5"/>
          <p:cNvSpPr/>
          <p:nvPr/>
        </p:nvSpPr>
        <p:spPr>
          <a:xfrm>
            <a:off x="731520" y="2423160"/>
            <a:ext cx="347436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10000"/>
              </a:lnSpc>
              <a:buClr>
                <a:srgbClr val="433F5C"/>
              </a:buClr>
              <a:buFont typeface="Symbol" charset="2"/>
              <a:buChar char=""/>
            </a:pPr>
            <a:r>
              <a:rPr lang="en-US" sz="1150" b="0" strike="noStrike" spc="-1">
                <a:solidFill>
                  <a:srgbClr val="433F5C"/>
                </a:solidFill>
                <a:latin typeface="Calibri"/>
                <a:ea typeface="Calibri"/>
              </a:rPr>
              <a:t>Treat agents as distributed systems, not prompts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" name="Text 6"/>
          <p:cNvSpPr/>
          <p:nvPr/>
        </p:nvSpPr>
        <p:spPr>
          <a:xfrm>
            <a:off x="731520" y="3136320"/>
            <a:ext cx="347436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10000"/>
              </a:lnSpc>
              <a:buClr>
                <a:srgbClr val="433F5C"/>
              </a:buClr>
              <a:buFont typeface="Symbol" charset="2"/>
              <a:buChar char=""/>
            </a:pPr>
            <a:r>
              <a:rPr lang="en-US" sz="1150" b="0" strike="noStrike" spc="-1">
                <a:solidFill>
                  <a:srgbClr val="433F5C"/>
                </a:solidFill>
                <a:latin typeface="Calibri"/>
                <a:ea typeface="Calibri"/>
              </a:rPr>
              <a:t>Separate orchestration, tools, memory, policy, observability layers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1" name="Text 7"/>
          <p:cNvSpPr/>
          <p:nvPr/>
        </p:nvSpPr>
        <p:spPr>
          <a:xfrm>
            <a:off x="731520" y="3849480"/>
            <a:ext cx="347436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10000"/>
              </a:lnSpc>
              <a:buClr>
                <a:srgbClr val="433F5C"/>
              </a:buClr>
              <a:buFont typeface="Symbol" charset="2"/>
              <a:buChar char=""/>
            </a:pPr>
            <a:r>
              <a:rPr lang="en-US" sz="1150" b="0" strike="noStrike" spc="-1">
                <a:solidFill>
                  <a:srgbClr val="433F5C"/>
                </a:solidFill>
                <a:latin typeface="Calibri"/>
                <a:ea typeface="Calibri"/>
              </a:rPr>
              <a:t>Default to least-privilege tool access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" name="Shape 8"/>
          <p:cNvSpPr/>
          <p:nvPr/>
        </p:nvSpPr>
        <p:spPr>
          <a:xfrm>
            <a:off x="4663440" y="1508760"/>
            <a:ext cx="4023000" cy="3108600"/>
          </a:xfrm>
          <a:prstGeom prst="roundRect">
            <a:avLst>
              <a:gd name="adj" fmla="val 2941"/>
            </a:avLst>
          </a:prstGeom>
          <a:solidFill>
            <a:srgbClr val="F8F7FC"/>
          </a:solidFill>
          <a:ln w="0">
            <a:noFill/>
          </a:ln>
          <a:effectLst>
            <a:outerShdw blurRad="63360" dist="255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3" name="Shape 9"/>
          <p:cNvSpPr/>
          <p:nvPr/>
        </p:nvSpPr>
        <p:spPr>
          <a:xfrm>
            <a:off x="4937760" y="1737360"/>
            <a:ext cx="548280" cy="548280"/>
          </a:xfrm>
          <a:prstGeom prst="ellipse">
            <a:avLst/>
          </a:prstGeom>
          <a:solidFill>
            <a:srgbClr val="E1F5E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14" name="Image 1" descr="preencoded.png"/>
          <p:cNvPicPr/>
          <p:nvPr/>
        </p:nvPicPr>
        <p:blipFill>
          <a:blip r:embed="rId4"/>
          <a:stretch/>
        </p:blipFill>
        <p:spPr>
          <a:xfrm>
            <a:off x="5069520" y="1869120"/>
            <a:ext cx="284760" cy="284760"/>
          </a:xfrm>
          <a:prstGeom prst="rect">
            <a:avLst/>
          </a:prstGeom>
          <a:ln w="0">
            <a:noFill/>
          </a:ln>
        </p:spPr>
      </p:pic>
      <p:sp>
        <p:nvSpPr>
          <p:cNvPr id="615" name="Text 10"/>
          <p:cNvSpPr/>
          <p:nvPr/>
        </p:nvSpPr>
        <p:spPr>
          <a:xfrm>
            <a:off x="5623560" y="1737360"/>
            <a:ext cx="27428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26215C"/>
                </a:solidFill>
                <a:latin typeface="Cambria"/>
                <a:ea typeface="Cambria"/>
              </a:rPr>
              <a:t>Rollout &amp; governance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6" name="Text 11"/>
          <p:cNvSpPr/>
          <p:nvPr/>
        </p:nvSpPr>
        <p:spPr>
          <a:xfrm>
            <a:off x="4937760" y="2423160"/>
            <a:ext cx="347436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10000"/>
              </a:lnSpc>
              <a:buClr>
                <a:srgbClr val="433F5C"/>
              </a:buClr>
              <a:buFont typeface="Symbol" charset="2"/>
              <a:buChar char=""/>
            </a:pPr>
            <a:r>
              <a:rPr lang="en-US" sz="1150" b="0" strike="noStrike" spc="-1">
                <a:solidFill>
                  <a:srgbClr val="433F5C"/>
                </a:solidFill>
                <a:latin typeface="Calibri"/>
                <a:ea typeface="Calibri"/>
              </a:rPr>
              <a:t>Scale incrementally; prove observability before expanding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7" name="Text 12"/>
          <p:cNvSpPr/>
          <p:nvPr/>
        </p:nvSpPr>
        <p:spPr>
          <a:xfrm>
            <a:off x="4937760" y="3136320"/>
            <a:ext cx="347436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10000"/>
              </a:lnSpc>
              <a:buClr>
                <a:srgbClr val="433F5C"/>
              </a:buClr>
              <a:buFont typeface="Symbol" charset="2"/>
              <a:buChar char=""/>
            </a:pPr>
            <a:r>
              <a:rPr lang="en-US" sz="1150" b="0" strike="noStrike" spc="-1">
                <a:solidFill>
                  <a:srgbClr val="433F5C"/>
                </a:solidFill>
                <a:latin typeface="Calibri"/>
                <a:ea typeface="Calibri"/>
              </a:rPr>
              <a:t>Formal change control for prompts, tools, model versions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8" name="Text 13"/>
          <p:cNvSpPr/>
          <p:nvPr/>
        </p:nvSpPr>
        <p:spPr>
          <a:xfrm>
            <a:off x="4937760" y="3849480"/>
            <a:ext cx="347436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10000"/>
              </a:lnSpc>
              <a:buClr>
                <a:srgbClr val="433F5C"/>
              </a:buClr>
              <a:buFont typeface="Symbol" charset="2"/>
              <a:buChar char=""/>
            </a:pPr>
            <a:r>
              <a:rPr lang="en-US" sz="1150" b="0" strike="noStrike" spc="-1">
                <a:solidFill>
                  <a:srgbClr val="433F5C"/>
                </a:solidFill>
                <a:latin typeface="Calibri"/>
                <a:ea typeface="Calibri"/>
              </a:rPr>
              <a:t>Register every agent with owner, purpose, risk classification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1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Shape 0"/>
          <p:cNvSpPr/>
          <p:nvPr/>
        </p:nvSpPr>
        <p:spPr>
          <a:xfrm>
            <a:off x="7150320" y="658080"/>
            <a:ext cx="914400" cy="548640"/>
          </a:xfrm>
          <a:prstGeom prst="line">
            <a:avLst/>
          </a:prstGeom>
          <a:ln w="9525">
            <a:solidFill>
              <a:srgbClr val="FFFFFF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0" name="Shape 1"/>
          <p:cNvSpPr/>
          <p:nvPr/>
        </p:nvSpPr>
        <p:spPr>
          <a:xfrm flipH="1">
            <a:off x="7369920" y="1206720"/>
            <a:ext cx="694800" cy="402480"/>
          </a:xfrm>
          <a:prstGeom prst="line">
            <a:avLst/>
          </a:prstGeom>
          <a:ln w="9525">
            <a:solidFill>
              <a:srgbClr val="FFFFFF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1" name="Shape 2"/>
          <p:cNvSpPr/>
          <p:nvPr/>
        </p:nvSpPr>
        <p:spPr>
          <a:xfrm flipV="1">
            <a:off x="8064720" y="676440"/>
            <a:ext cx="384120" cy="530280"/>
          </a:xfrm>
          <a:prstGeom prst="line">
            <a:avLst/>
          </a:prstGeom>
          <a:ln w="9525">
            <a:solidFill>
              <a:srgbClr val="FFFFFF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2" name="Shape 3"/>
          <p:cNvSpPr/>
          <p:nvPr/>
        </p:nvSpPr>
        <p:spPr>
          <a:xfrm>
            <a:off x="8064720" y="1206720"/>
            <a:ext cx="567000" cy="384120"/>
          </a:xfrm>
          <a:prstGeom prst="line">
            <a:avLst/>
          </a:prstGeom>
          <a:ln w="9525">
            <a:solidFill>
              <a:srgbClr val="FFFFFF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3" name="Shape 4"/>
          <p:cNvSpPr/>
          <p:nvPr/>
        </p:nvSpPr>
        <p:spPr>
          <a:xfrm>
            <a:off x="6949440" y="457200"/>
            <a:ext cx="402120" cy="402120"/>
          </a:xfrm>
          <a:prstGeom prst="ellipse">
            <a:avLst/>
          </a:prstGeom>
          <a:solidFill>
            <a:srgbClr val="F2A623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4" name="Shape 5"/>
          <p:cNvSpPr/>
          <p:nvPr/>
        </p:nvSpPr>
        <p:spPr>
          <a:xfrm>
            <a:off x="7772400" y="914400"/>
            <a:ext cx="585000" cy="585000"/>
          </a:xfrm>
          <a:prstGeom prst="ellipse">
            <a:avLst/>
          </a:prstGeom>
          <a:solidFill>
            <a:srgbClr val="7F77DD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5" name="Shape 6"/>
          <p:cNvSpPr/>
          <p:nvPr/>
        </p:nvSpPr>
        <p:spPr>
          <a:xfrm>
            <a:off x="7223760" y="1463040"/>
            <a:ext cx="292320" cy="292320"/>
          </a:xfrm>
          <a:prstGeom prst="ellipse">
            <a:avLst/>
          </a:prstGeom>
          <a:solidFill>
            <a:srgbClr val="5DCAA5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6" name="Shape 7"/>
          <p:cNvSpPr/>
          <p:nvPr/>
        </p:nvSpPr>
        <p:spPr>
          <a:xfrm>
            <a:off x="8321040" y="548640"/>
            <a:ext cx="255600" cy="255600"/>
          </a:xfrm>
          <a:prstGeom prst="ellipse">
            <a:avLst/>
          </a:prstGeom>
          <a:solidFill>
            <a:srgbClr val="5DCAA5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7" name="Shape 8"/>
          <p:cNvSpPr/>
          <p:nvPr/>
        </p:nvSpPr>
        <p:spPr>
          <a:xfrm>
            <a:off x="8412480" y="1371600"/>
            <a:ext cx="438480" cy="438480"/>
          </a:xfrm>
          <a:prstGeom prst="ellipse">
            <a:avLst/>
          </a:prstGeom>
          <a:solidFill>
            <a:srgbClr val="F2A623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8" name="Shape 9"/>
          <p:cNvSpPr/>
          <p:nvPr/>
        </p:nvSpPr>
        <p:spPr>
          <a:xfrm>
            <a:off x="640080" y="1417320"/>
            <a:ext cx="914040" cy="914040"/>
          </a:xfrm>
          <a:prstGeom prst="ellipse">
            <a:avLst/>
          </a:prstGeom>
          <a:solidFill>
            <a:srgbClr val="3C348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29" name="Image 0" descr="preencoded.png"/>
          <p:cNvPicPr/>
          <p:nvPr/>
        </p:nvPicPr>
        <p:blipFill>
          <a:blip r:embed="rId3"/>
          <a:stretch/>
        </p:blipFill>
        <p:spPr>
          <a:xfrm>
            <a:off x="859680" y="1636920"/>
            <a:ext cx="475200" cy="475200"/>
          </a:xfrm>
          <a:prstGeom prst="rect">
            <a:avLst/>
          </a:prstGeom>
          <a:ln w="0">
            <a:noFill/>
          </a:ln>
        </p:spPr>
      </p:pic>
      <p:sp>
        <p:nvSpPr>
          <p:cNvPr id="630" name="Text 10"/>
          <p:cNvSpPr/>
          <p:nvPr/>
        </p:nvSpPr>
        <p:spPr>
          <a:xfrm>
            <a:off x="1828800" y="1417320"/>
            <a:ext cx="6400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299">
                <a:solidFill>
                  <a:srgbClr val="F2A623"/>
                </a:solidFill>
                <a:latin typeface="Calibri"/>
                <a:ea typeface="Calibri"/>
              </a:rPr>
              <a:t>PART 4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1" name="Text 11"/>
          <p:cNvSpPr/>
          <p:nvPr/>
        </p:nvSpPr>
        <p:spPr>
          <a:xfrm>
            <a:off x="1828800" y="1783080"/>
            <a:ext cx="667476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strike="noStrike" spc="-1">
                <a:solidFill>
                  <a:srgbClr val="FFFFFF"/>
                </a:solidFill>
                <a:latin typeface="Cambria"/>
                <a:ea typeface="Cambria"/>
              </a:rPr>
              <a:t>See it run</a:t>
            </a:r>
            <a:endParaRPr lang="en-US" sz="3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2" name="Text 12"/>
          <p:cNvSpPr/>
          <p:nvPr/>
        </p:nvSpPr>
        <p:spPr>
          <a:xfrm>
            <a:off x="1828800" y="2788920"/>
            <a:ext cx="64004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CECBF6"/>
                </a:solidFill>
                <a:latin typeface="Calibri"/>
                <a:ea typeface="Calibri"/>
              </a:rPr>
              <a:t>A live ADK trace, end to end, on the running banking example.</a:t>
            </a:r>
            <a:endParaRPr lang="en-US" sz="15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Text 0"/>
          <p:cNvSpPr/>
          <p:nvPr/>
        </p:nvSpPr>
        <p:spPr>
          <a:xfrm>
            <a:off x="457200" y="2926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199">
                <a:solidFill>
                  <a:srgbClr val="0F6E56"/>
                </a:solidFill>
                <a:latin typeface="Calibri"/>
                <a:ea typeface="Calibri"/>
              </a:rPr>
              <a:t>LIVE SHOWCASE · PART OF SME4'S SECTION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4" name="Text 1"/>
          <p:cNvSpPr/>
          <p:nvPr/>
        </p:nvSpPr>
        <p:spPr>
          <a:xfrm>
            <a:off x="457200" y="54864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26215C"/>
                </a:solidFill>
                <a:latin typeface="Cambria"/>
                <a:ea typeface="Cambria"/>
              </a:rPr>
              <a:t>Three things to show live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5" name="Shape 2"/>
          <p:cNvSpPr/>
          <p:nvPr/>
        </p:nvSpPr>
        <p:spPr>
          <a:xfrm>
            <a:off x="457200" y="1600200"/>
            <a:ext cx="2651400" cy="2742840"/>
          </a:xfrm>
          <a:prstGeom prst="roundRect">
            <a:avLst>
              <a:gd name="adj" fmla="val 3448"/>
            </a:avLst>
          </a:prstGeom>
          <a:solidFill>
            <a:srgbClr val="F8F7FC"/>
          </a:solidFill>
          <a:ln w="0">
            <a:noFill/>
          </a:ln>
          <a:effectLst>
            <a:outerShdw blurRad="63360" dist="255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6" name="Shape 3"/>
          <p:cNvSpPr/>
          <p:nvPr/>
        </p:nvSpPr>
        <p:spPr>
          <a:xfrm>
            <a:off x="731520" y="1874520"/>
            <a:ext cx="594000" cy="594000"/>
          </a:xfrm>
          <a:prstGeom prst="ellipse">
            <a:avLst/>
          </a:prstGeom>
          <a:solidFill>
            <a:srgbClr val="EEEDF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37" name="Image 0" descr="preencoded.png"/>
          <p:cNvPicPr/>
          <p:nvPr/>
        </p:nvPicPr>
        <p:blipFill>
          <a:blip r:embed="rId3"/>
          <a:stretch/>
        </p:blipFill>
        <p:spPr>
          <a:xfrm>
            <a:off x="874080" y="2017080"/>
            <a:ext cx="308880" cy="308880"/>
          </a:xfrm>
          <a:prstGeom prst="rect">
            <a:avLst/>
          </a:prstGeom>
          <a:ln w="0">
            <a:noFill/>
          </a:ln>
        </p:spPr>
      </p:pic>
      <p:sp>
        <p:nvSpPr>
          <p:cNvPr id="638" name="Text 4"/>
          <p:cNvSpPr/>
          <p:nvPr/>
        </p:nvSpPr>
        <p:spPr>
          <a:xfrm>
            <a:off x="731520" y="2606040"/>
            <a:ext cx="21027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26215C"/>
                </a:solidFill>
                <a:latin typeface="Cambria"/>
                <a:ea typeface="Cambria"/>
              </a:rPr>
              <a:t>Routing trace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9" name="Text 5"/>
          <p:cNvSpPr/>
          <p:nvPr/>
        </p:nvSpPr>
        <p:spPr>
          <a:xfrm>
            <a:off x="731520" y="3063240"/>
            <a:ext cx="2102760" cy="114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433F5C"/>
                </a:solidFill>
                <a:latin typeface="Calibri"/>
                <a:ea typeface="Calibri"/>
              </a:rPr>
              <a:t>Send a multi-part question through adk web and open the trace view to show intent decomposition and the sub-agent transfer in real time.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0" name="Shape 6"/>
          <p:cNvSpPr/>
          <p:nvPr/>
        </p:nvSpPr>
        <p:spPr>
          <a:xfrm>
            <a:off x="3291840" y="1600200"/>
            <a:ext cx="2651400" cy="2742840"/>
          </a:xfrm>
          <a:prstGeom prst="roundRect">
            <a:avLst>
              <a:gd name="adj" fmla="val 3448"/>
            </a:avLst>
          </a:prstGeom>
          <a:solidFill>
            <a:srgbClr val="F8F7FC"/>
          </a:solidFill>
          <a:ln w="0">
            <a:noFill/>
          </a:ln>
          <a:effectLst>
            <a:outerShdw blurRad="63360" dist="255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1" name="Shape 7"/>
          <p:cNvSpPr/>
          <p:nvPr/>
        </p:nvSpPr>
        <p:spPr>
          <a:xfrm>
            <a:off x="3566160" y="1874520"/>
            <a:ext cx="594000" cy="594000"/>
          </a:xfrm>
          <a:prstGeom prst="ellipse">
            <a:avLst/>
          </a:prstGeom>
          <a:solidFill>
            <a:srgbClr val="E1F5E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42" name="Image 1" descr="preencoded.png"/>
          <p:cNvPicPr/>
          <p:nvPr/>
        </p:nvPicPr>
        <p:blipFill>
          <a:blip r:embed="rId4"/>
          <a:stretch/>
        </p:blipFill>
        <p:spPr>
          <a:xfrm>
            <a:off x="3708720" y="2017080"/>
            <a:ext cx="308880" cy="308880"/>
          </a:xfrm>
          <a:prstGeom prst="rect">
            <a:avLst/>
          </a:prstGeom>
          <a:ln w="0">
            <a:noFill/>
          </a:ln>
        </p:spPr>
      </p:pic>
      <p:sp>
        <p:nvSpPr>
          <p:cNvPr id="643" name="Text 8"/>
          <p:cNvSpPr/>
          <p:nvPr/>
        </p:nvSpPr>
        <p:spPr>
          <a:xfrm>
            <a:off x="3566160" y="2606040"/>
            <a:ext cx="21027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26215C"/>
                </a:solidFill>
                <a:latin typeface="Cambria"/>
                <a:ea typeface="Cambria"/>
              </a:rPr>
              <a:t>Session store survives a restart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4" name="Text 9"/>
          <p:cNvSpPr/>
          <p:nvPr/>
        </p:nvSpPr>
        <p:spPr>
          <a:xfrm>
            <a:off x="3566160" y="3063240"/>
            <a:ext cx="2102760" cy="114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433F5C"/>
                </a:solidFill>
                <a:latin typeface="Calibri"/>
                <a:ea typeface="Calibri"/>
              </a:rPr>
              <a:t>Same user, same session id: restart the app process and show the conversation resume from Redis — this works today.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5" name="Shape 10"/>
          <p:cNvSpPr/>
          <p:nvPr/>
        </p:nvSpPr>
        <p:spPr>
          <a:xfrm>
            <a:off x="6126480" y="1600200"/>
            <a:ext cx="2651400" cy="2742840"/>
          </a:xfrm>
          <a:prstGeom prst="roundRect">
            <a:avLst>
              <a:gd name="adj" fmla="val 3448"/>
            </a:avLst>
          </a:prstGeom>
          <a:solidFill>
            <a:srgbClr val="F8F7FC"/>
          </a:solidFill>
          <a:ln w="0">
            <a:noFill/>
          </a:ln>
          <a:effectLst>
            <a:outerShdw blurRad="63360" dist="255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6" name="Shape 11"/>
          <p:cNvSpPr/>
          <p:nvPr/>
        </p:nvSpPr>
        <p:spPr>
          <a:xfrm>
            <a:off x="6400800" y="1874520"/>
            <a:ext cx="594000" cy="594000"/>
          </a:xfrm>
          <a:prstGeom prst="ellipse">
            <a:avLst/>
          </a:prstGeom>
          <a:solidFill>
            <a:srgbClr val="FAECE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47" name="Image 2" descr="preencoded.png"/>
          <p:cNvPicPr/>
          <p:nvPr/>
        </p:nvPicPr>
        <p:blipFill>
          <a:blip r:embed="rId5"/>
          <a:stretch/>
        </p:blipFill>
        <p:spPr>
          <a:xfrm>
            <a:off x="6543360" y="2017080"/>
            <a:ext cx="308880" cy="308880"/>
          </a:xfrm>
          <a:prstGeom prst="rect">
            <a:avLst/>
          </a:prstGeom>
          <a:ln w="0">
            <a:noFill/>
          </a:ln>
        </p:spPr>
      </p:pic>
      <p:sp>
        <p:nvSpPr>
          <p:cNvPr id="648" name="Text 12"/>
          <p:cNvSpPr/>
          <p:nvPr/>
        </p:nvSpPr>
        <p:spPr>
          <a:xfrm>
            <a:off x="6400800" y="2606040"/>
            <a:ext cx="21027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26215C"/>
                </a:solidFill>
                <a:latin typeface="Cambria"/>
                <a:ea typeface="Cambria"/>
              </a:rPr>
              <a:t>Coming later: long-term memory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9" name="Text 13"/>
          <p:cNvSpPr/>
          <p:nvPr/>
        </p:nvSpPr>
        <p:spPr>
          <a:xfrm>
            <a:off x="6400800" y="3063240"/>
            <a:ext cx="2102760" cy="114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433F5C"/>
                </a:solidFill>
                <a:latin typeface="Calibri"/>
                <a:ea typeface="Calibri"/>
              </a:rPr>
              <a:t>list_sessions(user_id) across logins and cross-session recall both depend on Memory Bank, which isn't built yet — flagged here, not demoed.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0" name="Text 14"/>
          <p:cNvSpPr/>
          <p:nvPr/>
        </p:nvSpPr>
        <p:spPr>
          <a:xfrm>
            <a:off x="457200" y="452628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strike="noStrike" spc="-1">
                <a:solidFill>
                  <a:srgbClr val="767290"/>
                </a:solidFill>
                <a:latin typeface="Calibri"/>
                <a:ea typeface="Calibri"/>
              </a:rPr>
              <a:t>Fallback if live demo isn't possible: pre-recorded trace screenshots covering the same three moments.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Text 0"/>
          <p:cNvSpPr/>
          <p:nvPr/>
        </p:nvSpPr>
        <p:spPr>
          <a:xfrm>
            <a:off x="457200" y="2926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199">
                <a:solidFill>
                  <a:srgbClr val="0F6E56"/>
                </a:solidFill>
                <a:latin typeface="Calibri"/>
                <a:ea typeface="Calibri"/>
              </a:rPr>
              <a:t>WRAP-UP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2" name="Text 1"/>
          <p:cNvSpPr/>
          <p:nvPr/>
        </p:nvSpPr>
        <p:spPr>
          <a:xfrm>
            <a:off x="457200" y="54864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26215C"/>
                </a:solidFill>
                <a:latin typeface="Cambria"/>
                <a:ea typeface="Cambria"/>
              </a:rPr>
              <a:t>Key takeaways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3" name="Shape 2"/>
          <p:cNvSpPr/>
          <p:nvPr/>
        </p:nvSpPr>
        <p:spPr>
          <a:xfrm>
            <a:off x="457200" y="1371600"/>
            <a:ext cx="365400" cy="365400"/>
          </a:xfrm>
          <a:prstGeom prst="ellipse">
            <a:avLst/>
          </a:prstGeom>
          <a:solidFill>
            <a:srgbClr val="E1F5E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54" name="Image 0" descr="preencoded.png"/>
          <p:cNvPicPr/>
          <p:nvPr/>
        </p:nvPicPr>
        <p:blipFill>
          <a:blip r:embed="rId3"/>
          <a:stretch/>
        </p:blipFill>
        <p:spPr>
          <a:xfrm>
            <a:off x="545040" y="1459440"/>
            <a:ext cx="189720" cy="189720"/>
          </a:xfrm>
          <a:prstGeom prst="rect">
            <a:avLst/>
          </a:prstGeom>
          <a:ln w="0">
            <a:noFill/>
          </a:ln>
        </p:spPr>
      </p:pic>
      <p:sp>
        <p:nvSpPr>
          <p:cNvPr id="655" name="Text 3"/>
          <p:cNvSpPr/>
          <p:nvPr/>
        </p:nvSpPr>
        <p:spPr>
          <a:xfrm>
            <a:off x="1005840" y="1371600"/>
            <a:ext cx="768060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433F5C"/>
                </a:solidFill>
                <a:latin typeface="Calibri"/>
                <a:ea typeface="Calibri"/>
              </a:rPr>
              <a:t>The agent is a layered system — channel, session, orchestration, sub-agents, sidecars, models — not one giant prompt.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6" name="Shape 4"/>
          <p:cNvSpPr/>
          <p:nvPr/>
        </p:nvSpPr>
        <p:spPr>
          <a:xfrm>
            <a:off x="457200" y="1993320"/>
            <a:ext cx="365400" cy="365400"/>
          </a:xfrm>
          <a:prstGeom prst="ellipse">
            <a:avLst/>
          </a:prstGeom>
          <a:solidFill>
            <a:srgbClr val="E1F5E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57" name="Image 1" descr="preencoded.png"/>
          <p:cNvPicPr/>
          <p:nvPr/>
        </p:nvPicPr>
        <p:blipFill>
          <a:blip r:embed="rId3"/>
          <a:stretch/>
        </p:blipFill>
        <p:spPr>
          <a:xfrm>
            <a:off x="545040" y="2081160"/>
            <a:ext cx="189720" cy="189720"/>
          </a:xfrm>
          <a:prstGeom prst="rect">
            <a:avLst/>
          </a:prstGeom>
          <a:ln w="0">
            <a:noFill/>
          </a:ln>
        </p:spPr>
      </p:pic>
      <p:sp>
        <p:nvSpPr>
          <p:cNvPr id="658" name="Text 5"/>
          <p:cNvSpPr/>
          <p:nvPr/>
        </p:nvSpPr>
        <p:spPr>
          <a:xfrm>
            <a:off x="1005840" y="1993320"/>
            <a:ext cx="768060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433F5C"/>
                </a:solidFill>
                <a:latin typeface="Calibri"/>
                <a:ea typeface="Calibri"/>
              </a:rPr>
              <a:t>State ≠ memory ≠ context — each one solves a different continuity problem.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9" name="Shape 6"/>
          <p:cNvSpPr/>
          <p:nvPr/>
        </p:nvSpPr>
        <p:spPr>
          <a:xfrm>
            <a:off x="457200" y="2615040"/>
            <a:ext cx="365400" cy="365400"/>
          </a:xfrm>
          <a:prstGeom prst="ellipse">
            <a:avLst/>
          </a:prstGeom>
          <a:solidFill>
            <a:srgbClr val="E1F5E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60" name="Image 2" descr="preencoded.png"/>
          <p:cNvPicPr/>
          <p:nvPr/>
        </p:nvPicPr>
        <p:blipFill>
          <a:blip r:embed="rId3"/>
          <a:stretch/>
        </p:blipFill>
        <p:spPr>
          <a:xfrm>
            <a:off x="545040" y="2702880"/>
            <a:ext cx="189720" cy="189720"/>
          </a:xfrm>
          <a:prstGeom prst="rect">
            <a:avLst/>
          </a:prstGeom>
          <a:ln w="0">
            <a:noFill/>
          </a:ln>
        </p:spPr>
      </p:pic>
      <p:sp>
        <p:nvSpPr>
          <p:cNvPr id="661" name="Text 7"/>
          <p:cNvSpPr/>
          <p:nvPr/>
        </p:nvSpPr>
        <p:spPr>
          <a:xfrm>
            <a:off x="1005840" y="2615040"/>
            <a:ext cx="768060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433F5C"/>
                </a:solidFill>
                <a:latin typeface="Calibri"/>
                <a:ea typeface="Calibri"/>
              </a:rPr>
              <a:t>Context engineering means deciding what the model actually sees, fresh, on every turn.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2" name="Shape 8"/>
          <p:cNvSpPr/>
          <p:nvPr/>
        </p:nvSpPr>
        <p:spPr>
          <a:xfrm>
            <a:off x="457200" y="3237120"/>
            <a:ext cx="365400" cy="365400"/>
          </a:xfrm>
          <a:prstGeom prst="ellipse">
            <a:avLst/>
          </a:prstGeom>
          <a:solidFill>
            <a:srgbClr val="E1F5E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63" name="Image 3" descr="preencoded.png"/>
          <p:cNvPicPr/>
          <p:nvPr/>
        </p:nvPicPr>
        <p:blipFill>
          <a:blip r:embed="rId3"/>
          <a:stretch/>
        </p:blipFill>
        <p:spPr>
          <a:xfrm>
            <a:off x="545040" y="3324600"/>
            <a:ext cx="189720" cy="189720"/>
          </a:xfrm>
          <a:prstGeom prst="rect">
            <a:avLst/>
          </a:prstGeom>
          <a:ln w="0">
            <a:noFill/>
          </a:ln>
        </p:spPr>
      </p:pic>
      <p:sp>
        <p:nvSpPr>
          <p:cNvPr id="664" name="Text 9"/>
          <p:cNvSpPr/>
          <p:nvPr/>
        </p:nvSpPr>
        <p:spPr>
          <a:xfrm>
            <a:off x="1005840" y="3237120"/>
            <a:ext cx="768060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433F5C"/>
                </a:solidFill>
                <a:latin typeface="Calibri"/>
                <a:ea typeface="Calibri"/>
              </a:rPr>
              <a:t>Multi-agent orchestration turns one giant prompt into specialists with clear ownership.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5" name="Shape 10"/>
          <p:cNvSpPr/>
          <p:nvPr/>
        </p:nvSpPr>
        <p:spPr>
          <a:xfrm>
            <a:off x="457200" y="3858840"/>
            <a:ext cx="365400" cy="365400"/>
          </a:xfrm>
          <a:prstGeom prst="ellipse">
            <a:avLst/>
          </a:prstGeom>
          <a:solidFill>
            <a:srgbClr val="E1F5E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66" name="Image 4" descr="preencoded.png"/>
          <p:cNvPicPr/>
          <p:nvPr/>
        </p:nvPicPr>
        <p:blipFill>
          <a:blip r:embed="rId3"/>
          <a:stretch/>
        </p:blipFill>
        <p:spPr>
          <a:xfrm>
            <a:off x="545040" y="3946680"/>
            <a:ext cx="189720" cy="189720"/>
          </a:xfrm>
          <a:prstGeom prst="rect">
            <a:avLst/>
          </a:prstGeom>
          <a:ln w="0">
            <a:noFill/>
          </a:ln>
        </p:spPr>
      </p:pic>
      <p:sp>
        <p:nvSpPr>
          <p:cNvPr id="667" name="Text 11"/>
          <p:cNvSpPr/>
          <p:nvPr/>
        </p:nvSpPr>
        <p:spPr>
          <a:xfrm>
            <a:off x="1005840" y="3858840"/>
            <a:ext cx="768060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433F5C"/>
                </a:solidFill>
                <a:latin typeface="Calibri"/>
                <a:ea typeface="Calibri"/>
              </a:rPr>
              <a:t>None of this scales across an enterprise without a shared platform: one hosting model, one session system, the same guardrails and observability inherited by every team that onboards.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8" name="Shape 12"/>
          <p:cNvSpPr/>
          <p:nvPr/>
        </p:nvSpPr>
        <p:spPr>
          <a:xfrm>
            <a:off x="457200" y="4526280"/>
            <a:ext cx="8229240" cy="548280"/>
          </a:xfrm>
          <a:prstGeom prst="roundRect">
            <a:avLst>
              <a:gd name="adj" fmla="val 13333"/>
            </a:avLst>
          </a:prstGeom>
          <a:solidFill>
            <a:srgbClr val="EEEDF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9" name="Shape 13"/>
          <p:cNvSpPr/>
          <p:nvPr/>
        </p:nvSpPr>
        <p:spPr>
          <a:xfrm>
            <a:off x="576000" y="4599360"/>
            <a:ext cx="383760" cy="38376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70" name="Image 5" descr="preencoded.png"/>
          <p:cNvPicPr/>
          <p:nvPr/>
        </p:nvPicPr>
        <p:blipFill>
          <a:blip r:embed="rId4"/>
          <a:stretch/>
        </p:blipFill>
        <p:spPr>
          <a:xfrm>
            <a:off x="668160" y="4691520"/>
            <a:ext cx="199440" cy="199440"/>
          </a:xfrm>
          <a:prstGeom prst="rect">
            <a:avLst/>
          </a:prstGeom>
          <a:ln w="0">
            <a:noFill/>
          </a:ln>
        </p:spPr>
      </p:pic>
      <p:sp>
        <p:nvSpPr>
          <p:cNvPr id="671" name="Text 14"/>
          <p:cNvSpPr/>
          <p:nvPr/>
        </p:nvSpPr>
        <p:spPr>
          <a:xfrm>
            <a:off x="1097280" y="4526280"/>
            <a:ext cx="74520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-1">
                <a:solidFill>
                  <a:srgbClr val="26215C"/>
                </a:solidFill>
                <a:latin typeface="Calibri"/>
                <a:ea typeface="Calibri"/>
              </a:rPr>
              <a:t>Resources:  </a:t>
            </a:r>
            <a:r>
              <a:rPr lang="en-US" sz="1050" b="0" strike="noStrike" spc="-1">
                <a:solidFill>
                  <a:srgbClr val="433F5C"/>
                </a:solidFill>
                <a:latin typeface="Calibri"/>
                <a:ea typeface="Calibri"/>
              </a:rPr>
              <a:t>google.github.io/adk-docs (Sessions, State &amp; Memory)   ·   Google Cloud blog: “Remember this — agent state and memory with ADK”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1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Shape 0"/>
          <p:cNvSpPr/>
          <p:nvPr/>
        </p:nvSpPr>
        <p:spPr>
          <a:xfrm>
            <a:off x="7150320" y="658080"/>
            <a:ext cx="914400" cy="548640"/>
          </a:xfrm>
          <a:prstGeom prst="line">
            <a:avLst/>
          </a:prstGeom>
          <a:ln w="9525">
            <a:solidFill>
              <a:srgbClr val="FFFFFF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3" name="Shape 1"/>
          <p:cNvSpPr/>
          <p:nvPr/>
        </p:nvSpPr>
        <p:spPr>
          <a:xfrm flipH="1">
            <a:off x="7369920" y="1206720"/>
            <a:ext cx="694800" cy="402480"/>
          </a:xfrm>
          <a:prstGeom prst="line">
            <a:avLst/>
          </a:prstGeom>
          <a:ln w="9525">
            <a:solidFill>
              <a:srgbClr val="FFFFFF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4" name="Shape 2"/>
          <p:cNvSpPr/>
          <p:nvPr/>
        </p:nvSpPr>
        <p:spPr>
          <a:xfrm flipV="1">
            <a:off x="8064720" y="676440"/>
            <a:ext cx="384120" cy="530280"/>
          </a:xfrm>
          <a:prstGeom prst="line">
            <a:avLst/>
          </a:prstGeom>
          <a:ln w="9525">
            <a:solidFill>
              <a:srgbClr val="FFFFFF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5" name="Shape 3"/>
          <p:cNvSpPr/>
          <p:nvPr/>
        </p:nvSpPr>
        <p:spPr>
          <a:xfrm>
            <a:off x="8064720" y="1206720"/>
            <a:ext cx="567000" cy="384120"/>
          </a:xfrm>
          <a:prstGeom prst="line">
            <a:avLst/>
          </a:prstGeom>
          <a:ln w="9525">
            <a:solidFill>
              <a:srgbClr val="FFFFFF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6" name="Shape 4"/>
          <p:cNvSpPr/>
          <p:nvPr/>
        </p:nvSpPr>
        <p:spPr>
          <a:xfrm>
            <a:off x="6949440" y="457200"/>
            <a:ext cx="402120" cy="402120"/>
          </a:xfrm>
          <a:prstGeom prst="ellipse">
            <a:avLst/>
          </a:prstGeom>
          <a:solidFill>
            <a:srgbClr val="F2A623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7" name="Shape 5"/>
          <p:cNvSpPr/>
          <p:nvPr/>
        </p:nvSpPr>
        <p:spPr>
          <a:xfrm>
            <a:off x="7772400" y="914400"/>
            <a:ext cx="585000" cy="585000"/>
          </a:xfrm>
          <a:prstGeom prst="ellipse">
            <a:avLst/>
          </a:prstGeom>
          <a:solidFill>
            <a:srgbClr val="7F77DD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8" name="Shape 6"/>
          <p:cNvSpPr/>
          <p:nvPr/>
        </p:nvSpPr>
        <p:spPr>
          <a:xfrm>
            <a:off x="7223760" y="1463040"/>
            <a:ext cx="292320" cy="292320"/>
          </a:xfrm>
          <a:prstGeom prst="ellipse">
            <a:avLst/>
          </a:prstGeom>
          <a:solidFill>
            <a:srgbClr val="5DCAA5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9" name="Shape 7"/>
          <p:cNvSpPr/>
          <p:nvPr/>
        </p:nvSpPr>
        <p:spPr>
          <a:xfrm>
            <a:off x="8321040" y="548640"/>
            <a:ext cx="255600" cy="255600"/>
          </a:xfrm>
          <a:prstGeom prst="ellipse">
            <a:avLst/>
          </a:prstGeom>
          <a:solidFill>
            <a:srgbClr val="5DCAA5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0" name="Shape 8"/>
          <p:cNvSpPr/>
          <p:nvPr/>
        </p:nvSpPr>
        <p:spPr>
          <a:xfrm>
            <a:off x="8412480" y="1371600"/>
            <a:ext cx="438480" cy="438480"/>
          </a:xfrm>
          <a:prstGeom prst="ellipse">
            <a:avLst/>
          </a:prstGeom>
          <a:solidFill>
            <a:srgbClr val="F2A623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1" name="Shape 9"/>
          <p:cNvSpPr/>
          <p:nvPr/>
        </p:nvSpPr>
        <p:spPr>
          <a:xfrm>
            <a:off x="640080" y="1417320"/>
            <a:ext cx="914040" cy="914040"/>
          </a:xfrm>
          <a:prstGeom prst="ellipse">
            <a:avLst/>
          </a:prstGeom>
          <a:solidFill>
            <a:srgbClr val="3C348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82" name="Image 0" descr="preencoded.png"/>
          <p:cNvPicPr/>
          <p:nvPr/>
        </p:nvPicPr>
        <p:blipFill>
          <a:blip r:embed="rId3"/>
          <a:stretch/>
        </p:blipFill>
        <p:spPr>
          <a:xfrm>
            <a:off x="859680" y="1636920"/>
            <a:ext cx="475200" cy="475200"/>
          </a:xfrm>
          <a:prstGeom prst="rect">
            <a:avLst/>
          </a:prstGeom>
          <a:ln w="0">
            <a:noFill/>
          </a:ln>
        </p:spPr>
      </p:pic>
      <p:sp>
        <p:nvSpPr>
          <p:cNvPr id="683" name="Text 10"/>
          <p:cNvSpPr/>
          <p:nvPr/>
        </p:nvSpPr>
        <p:spPr>
          <a:xfrm>
            <a:off x="1828800" y="1417320"/>
            <a:ext cx="6400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299">
                <a:solidFill>
                  <a:srgbClr val="F2A623"/>
                </a:solidFill>
                <a:latin typeface="Calibri"/>
                <a:ea typeface="Calibri"/>
              </a:rPr>
              <a:t>APPENDIX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4" name="Text 11"/>
          <p:cNvSpPr/>
          <p:nvPr/>
        </p:nvSpPr>
        <p:spPr>
          <a:xfrm>
            <a:off x="1828800" y="1783080"/>
            <a:ext cx="667476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strike="noStrike" spc="-1">
                <a:solidFill>
                  <a:srgbClr val="FFFFFF"/>
                </a:solidFill>
                <a:latin typeface="Cambria"/>
                <a:ea typeface="Cambria"/>
              </a:rPr>
              <a:t>Generative AI fundamentals</a:t>
            </a:r>
            <a:endParaRPr lang="en-US" sz="3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5" name="Text 12"/>
          <p:cNvSpPr/>
          <p:nvPr/>
        </p:nvSpPr>
        <p:spPr>
          <a:xfrm>
            <a:off x="1828800" y="2788920"/>
            <a:ext cx="64004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CECBF6"/>
                </a:solidFill>
                <a:latin typeface="Calibri"/>
                <a:ea typeface="Calibri"/>
              </a:rPr>
              <a:t>Optional background material: a jargon-light primer on what an LLM does and how the agentic loop works, for reference or pre-reading.</a:t>
            </a:r>
            <a:endParaRPr lang="en-US" sz="15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Text 0"/>
          <p:cNvSpPr/>
          <p:nvPr/>
        </p:nvSpPr>
        <p:spPr>
          <a:xfrm>
            <a:off x="457200" y="2926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199">
                <a:solidFill>
                  <a:srgbClr val="0F6E56"/>
                </a:solidFill>
                <a:latin typeface="Calibri"/>
                <a:ea typeface="Calibri"/>
              </a:rPr>
              <a:t>APPENDIX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7" name="Text 1"/>
          <p:cNvSpPr/>
          <p:nvPr/>
        </p:nvSpPr>
        <p:spPr>
          <a:xfrm>
            <a:off x="457200" y="54864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26215C"/>
                </a:solidFill>
                <a:latin typeface="Cambria"/>
                <a:ea typeface="Cambria"/>
              </a:rPr>
              <a:t>What a large language model actually does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8" name="Shape 2"/>
          <p:cNvSpPr/>
          <p:nvPr/>
        </p:nvSpPr>
        <p:spPr>
          <a:xfrm>
            <a:off x="548640" y="1554480"/>
            <a:ext cx="639720" cy="639720"/>
          </a:xfrm>
          <a:prstGeom prst="ellipse">
            <a:avLst/>
          </a:prstGeom>
          <a:solidFill>
            <a:srgbClr val="EEEDF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89" name="Image 0" descr="preencoded.png"/>
          <p:cNvPicPr/>
          <p:nvPr/>
        </p:nvPicPr>
        <p:blipFill>
          <a:blip r:embed="rId3"/>
          <a:stretch/>
        </p:blipFill>
        <p:spPr>
          <a:xfrm>
            <a:off x="702360" y="1708200"/>
            <a:ext cx="332640" cy="332640"/>
          </a:xfrm>
          <a:prstGeom prst="rect">
            <a:avLst/>
          </a:prstGeom>
          <a:ln w="0">
            <a:noFill/>
          </a:ln>
        </p:spPr>
      </p:pic>
      <p:sp>
        <p:nvSpPr>
          <p:cNvPr id="690" name="Text 3"/>
          <p:cNvSpPr/>
          <p:nvPr/>
        </p:nvSpPr>
        <p:spPr>
          <a:xfrm>
            <a:off x="1463040" y="150876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26215C"/>
                </a:solidFill>
                <a:latin typeface="Calibri"/>
                <a:ea typeface="Calibri"/>
              </a:rPr>
              <a:t>Predicts the next chunk of text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1" name="Text 4"/>
          <p:cNvSpPr/>
          <p:nvPr/>
        </p:nvSpPr>
        <p:spPr>
          <a:xfrm>
            <a:off x="1463040" y="1874520"/>
            <a:ext cx="73148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433F5C"/>
                </a:solidFill>
                <a:latin typeface="Calibri"/>
                <a:ea typeface="Calibri"/>
              </a:rPr>
              <a:t>Given everything written so far, it estimates the most likely continuation. That is the entire trick — there is no understanding layer underneath.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2" name="Shape 5"/>
          <p:cNvSpPr/>
          <p:nvPr/>
        </p:nvSpPr>
        <p:spPr>
          <a:xfrm>
            <a:off x="548640" y="2633400"/>
            <a:ext cx="639720" cy="639720"/>
          </a:xfrm>
          <a:prstGeom prst="ellipse">
            <a:avLst/>
          </a:prstGeom>
          <a:solidFill>
            <a:srgbClr val="FAECE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93" name="Image 1" descr="preencoded.png"/>
          <p:cNvPicPr/>
          <p:nvPr/>
        </p:nvPicPr>
        <p:blipFill>
          <a:blip r:embed="rId4"/>
          <a:stretch/>
        </p:blipFill>
        <p:spPr>
          <a:xfrm>
            <a:off x="702360" y="2787120"/>
            <a:ext cx="332640" cy="332640"/>
          </a:xfrm>
          <a:prstGeom prst="rect">
            <a:avLst/>
          </a:prstGeom>
          <a:ln w="0">
            <a:noFill/>
          </a:ln>
        </p:spPr>
      </p:pic>
      <p:sp>
        <p:nvSpPr>
          <p:cNvPr id="694" name="Text 6"/>
          <p:cNvSpPr/>
          <p:nvPr/>
        </p:nvSpPr>
        <p:spPr>
          <a:xfrm>
            <a:off x="1463040" y="258768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26215C"/>
                </a:solidFill>
                <a:latin typeface="Calibri"/>
                <a:ea typeface="Calibri"/>
              </a:rPr>
              <a:t>No memory by default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5" name="Text 7"/>
          <p:cNvSpPr/>
          <p:nvPr/>
        </p:nvSpPr>
        <p:spPr>
          <a:xfrm>
            <a:off x="1463040" y="2953440"/>
            <a:ext cx="73148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433F5C"/>
                </a:solidFill>
                <a:latin typeface="Calibri"/>
                <a:ea typeface="Calibri"/>
              </a:rPr>
              <a:t>Each call is stateless. Nothing persists from one request to the next unless the application explicitly stores and replays it.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6" name="Shape 8"/>
          <p:cNvSpPr/>
          <p:nvPr/>
        </p:nvSpPr>
        <p:spPr>
          <a:xfrm>
            <a:off x="548640" y="3712320"/>
            <a:ext cx="639720" cy="639720"/>
          </a:xfrm>
          <a:prstGeom prst="ellipse">
            <a:avLst/>
          </a:prstGeom>
          <a:solidFill>
            <a:srgbClr val="FAEED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97" name="Image 2" descr="preencoded.png"/>
          <p:cNvPicPr/>
          <p:nvPr/>
        </p:nvPicPr>
        <p:blipFill>
          <a:blip r:embed="rId5"/>
          <a:stretch/>
        </p:blipFill>
        <p:spPr>
          <a:xfrm>
            <a:off x="702360" y="3866040"/>
            <a:ext cx="332640" cy="332640"/>
          </a:xfrm>
          <a:prstGeom prst="rect">
            <a:avLst/>
          </a:prstGeom>
          <a:ln w="0">
            <a:noFill/>
          </a:ln>
        </p:spPr>
      </p:pic>
      <p:sp>
        <p:nvSpPr>
          <p:cNvPr id="698" name="Text 9"/>
          <p:cNvSpPr/>
          <p:nvPr/>
        </p:nvSpPr>
        <p:spPr>
          <a:xfrm>
            <a:off x="1463040" y="366660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26215C"/>
                </a:solidFill>
                <a:latin typeface="Calibri"/>
                <a:ea typeface="Calibri"/>
              </a:rPr>
              <a:t>One-shot, not goal-seeking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9" name="Text 10"/>
          <p:cNvSpPr/>
          <p:nvPr/>
        </p:nvSpPr>
        <p:spPr>
          <a:xfrm>
            <a:off x="1463040" y="4032360"/>
            <a:ext cx="73148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433F5C"/>
                </a:solidFill>
                <a:latin typeface="Calibri"/>
                <a:ea typeface="Calibri"/>
              </a:rPr>
              <a:t>It answers. On its own, it doesn't plan multiple steps, check its work, or take actions in the outside world.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Text 0"/>
          <p:cNvSpPr/>
          <p:nvPr/>
        </p:nvSpPr>
        <p:spPr>
          <a:xfrm>
            <a:off x="457200" y="2926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199">
                <a:solidFill>
                  <a:srgbClr val="0F6E56"/>
                </a:solidFill>
                <a:latin typeface="Calibri"/>
                <a:ea typeface="Calibri"/>
              </a:rPr>
              <a:t>APPENDIX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1" name="Text 1"/>
          <p:cNvSpPr/>
          <p:nvPr/>
        </p:nvSpPr>
        <p:spPr>
          <a:xfrm>
            <a:off x="457200" y="54864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26215C"/>
                </a:solidFill>
                <a:latin typeface="Cambria"/>
                <a:ea typeface="Cambria"/>
              </a:rPr>
              <a:t>Agentic AI = an LLM inside a loop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2" name="Shape 2"/>
          <p:cNvSpPr/>
          <p:nvPr/>
        </p:nvSpPr>
        <p:spPr>
          <a:xfrm>
            <a:off x="640080" y="1737360"/>
            <a:ext cx="1828440" cy="1554120"/>
          </a:xfrm>
          <a:prstGeom prst="roundRect">
            <a:avLst>
              <a:gd name="adj" fmla="val 4706"/>
            </a:avLst>
          </a:prstGeom>
          <a:solidFill>
            <a:srgbClr val="26215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3" name="Shape 3"/>
          <p:cNvSpPr/>
          <p:nvPr/>
        </p:nvSpPr>
        <p:spPr>
          <a:xfrm>
            <a:off x="1280160" y="1901880"/>
            <a:ext cx="548280" cy="548280"/>
          </a:xfrm>
          <a:prstGeom prst="ellipse">
            <a:avLst/>
          </a:prstGeom>
          <a:solidFill>
            <a:srgbClr val="3C348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04" name="Image 0" descr="preencoded.png"/>
          <p:cNvPicPr/>
          <p:nvPr/>
        </p:nvPicPr>
        <p:blipFill>
          <a:blip r:embed="rId3"/>
          <a:stretch/>
        </p:blipFill>
        <p:spPr>
          <a:xfrm>
            <a:off x="1411920" y="2033640"/>
            <a:ext cx="284760" cy="284760"/>
          </a:xfrm>
          <a:prstGeom prst="rect">
            <a:avLst/>
          </a:prstGeom>
          <a:ln w="0">
            <a:noFill/>
          </a:ln>
        </p:spPr>
      </p:pic>
      <p:sp>
        <p:nvSpPr>
          <p:cNvPr id="705" name="Text 4"/>
          <p:cNvSpPr/>
          <p:nvPr/>
        </p:nvSpPr>
        <p:spPr>
          <a:xfrm>
            <a:off x="640080" y="251460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libri"/>
                <a:ea typeface="Calibri"/>
              </a:rPr>
              <a:t>Perceive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6" name="Text 5"/>
          <p:cNvSpPr/>
          <p:nvPr/>
        </p:nvSpPr>
        <p:spPr>
          <a:xfrm>
            <a:off x="640080" y="283464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CADCFC"/>
                </a:solidFill>
                <a:latin typeface="Calibri"/>
                <a:ea typeface="Calibri"/>
              </a:rPr>
              <a:t>Read the user's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CADCFC"/>
                </a:solidFill>
                <a:latin typeface="Calibri"/>
                <a:ea typeface="Calibri"/>
              </a:rPr>
              <a:t>message + context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7" name="Text 6"/>
          <p:cNvSpPr/>
          <p:nvPr/>
        </p:nvSpPr>
        <p:spPr>
          <a:xfrm>
            <a:off x="2468880" y="1737360"/>
            <a:ext cx="319680" cy="1554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F2A623"/>
                </a:solidFill>
                <a:latin typeface="Calibri"/>
                <a:ea typeface="Calibri"/>
              </a:rPr>
              <a:t>&gt;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8" name="Shape 7"/>
          <p:cNvSpPr/>
          <p:nvPr/>
        </p:nvSpPr>
        <p:spPr>
          <a:xfrm>
            <a:off x="2788920" y="1737360"/>
            <a:ext cx="1828440" cy="1554120"/>
          </a:xfrm>
          <a:prstGeom prst="roundRect">
            <a:avLst>
              <a:gd name="adj" fmla="val 4706"/>
            </a:avLst>
          </a:prstGeom>
          <a:solidFill>
            <a:srgbClr val="26215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9" name="Shape 8"/>
          <p:cNvSpPr/>
          <p:nvPr/>
        </p:nvSpPr>
        <p:spPr>
          <a:xfrm>
            <a:off x="3429000" y="1901880"/>
            <a:ext cx="548280" cy="548280"/>
          </a:xfrm>
          <a:prstGeom prst="ellipse">
            <a:avLst/>
          </a:prstGeom>
          <a:solidFill>
            <a:srgbClr val="3C348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10" name="Image 1" descr="preencoded.png"/>
          <p:cNvPicPr/>
          <p:nvPr/>
        </p:nvPicPr>
        <p:blipFill>
          <a:blip r:embed="rId4"/>
          <a:stretch/>
        </p:blipFill>
        <p:spPr>
          <a:xfrm>
            <a:off x="3560760" y="2033640"/>
            <a:ext cx="284760" cy="284760"/>
          </a:xfrm>
          <a:prstGeom prst="rect">
            <a:avLst/>
          </a:prstGeom>
          <a:ln w="0">
            <a:noFill/>
          </a:ln>
        </p:spPr>
      </p:pic>
      <p:sp>
        <p:nvSpPr>
          <p:cNvPr id="711" name="Text 9"/>
          <p:cNvSpPr/>
          <p:nvPr/>
        </p:nvSpPr>
        <p:spPr>
          <a:xfrm>
            <a:off x="2788920" y="251460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libri"/>
                <a:ea typeface="Calibri"/>
              </a:rPr>
              <a:t>Reason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2" name="Text 10"/>
          <p:cNvSpPr/>
          <p:nvPr/>
        </p:nvSpPr>
        <p:spPr>
          <a:xfrm>
            <a:off x="2788920" y="283464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CADCFC"/>
                </a:solidFill>
                <a:latin typeface="Calibri"/>
                <a:ea typeface="Calibri"/>
              </a:rPr>
              <a:t>LLM decides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CADCFC"/>
                </a:solidFill>
                <a:latin typeface="Calibri"/>
                <a:ea typeface="Calibri"/>
              </a:rPr>
              <a:t>what's needed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3" name="Text 11"/>
          <p:cNvSpPr/>
          <p:nvPr/>
        </p:nvSpPr>
        <p:spPr>
          <a:xfrm>
            <a:off x="4617720" y="1737360"/>
            <a:ext cx="319680" cy="1554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F2A623"/>
                </a:solidFill>
                <a:latin typeface="Calibri"/>
                <a:ea typeface="Calibri"/>
              </a:rPr>
              <a:t>&gt;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4" name="Shape 12"/>
          <p:cNvSpPr/>
          <p:nvPr/>
        </p:nvSpPr>
        <p:spPr>
          <a:xfrm>
            <a:off x="4937760" y="1737360"/>
            <a:ext cx="1828440" cy="1554120"/>
          </a:xfrm>
          <a:prstGeom prst="roundRect">
            <a:avLst>
              <a:gd name="adj" fmla="val 4706"/>
            </a:avLst>
          </a:prstGeom>
          <a:solidFill>
            <a:srgbClr val="26215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5" name="Shape 13"/>
          <p:cNvSpPr/>
          <p:nvPr/>
        </p:nvSpPr>
        <p:spPr>
          <a:xfrm>
            <a:off x="5577840" y="1901880"/>
            <a:ext cx="548280" cy="548280"/>
          </a:xfrm>
          <a:prstGeom prst="ellipse">
            <a:avLst/>
          </a:prstGeom>
          <a:solidFill>
            <a:srgbClr val="3C348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16" name="Image 2" descr="preencoded.png"/>
          <p:cNvPicPr/>
          <p:nvPr/>
        </p:nvPicPr>
        <p:blipFill>
          <a:blip r:embed="rId5"/>
          <a:stretch/>
        </p:blipFill>
        <p:spPr>
          <a:xfrm>
            <a:off x="5709600" y="2033640"/>
            <a:ext cx="284760" cy="284760"/>
          </a:xfrm>
          <a:prstGeom prst="rect">
            <a:avLst/>
          </a:prstGeom>
          <a:ln w="0">
            <a:noFill/>
          </a:ln>
        </p:spPr>
      </p:pic>
      <p:sp>
        <p:nvSpPr>
          <p:cNvPr id="717" name="Text 14"/>
          <p:cNvSpPr/>
          <p:nvPr/>
        </p:nvSpPr>
        <p:spPr>
          <a:xfrm>
            <a:off x="4937760" y="251460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libri"/>
                <a:ea typeface="Calibri"/>
              </a:rPr>
              <a:t>Act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8" name="Text 15"/>
          <p:cNvSpPr/>
          <p:nvPr/>
        </p:nvSpPr>
        <p:spPr>
          <a:xfrm>
            <a:off x="4937760" y="283464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CADCFC"/>
                </a:solidFill>
                <a:latin typeface="Calibri"/>
                <a:ea typeface="Calibri"/>
              </a:rPr>
              <a:t>Call a tool or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CADCFC"/>
                </a:solidFill>
                <a:latin typeface="Calibri"/>
                <a:ea typeface="Calibri"/>
              </a:rPr>
              <a:t>sub-agent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9" name="Text 16"/>
          <p:cNvSpPr/>
          <p:nvPr/>
        </p:nvSpPr>
        <p:spPr>
          <a:xfrm>
            <a:off x="6766560" y="1737360"/>
            <a:ext cx="319680" cy="1554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F2A623"/>
                </a:solidFill>
                <a:latin typeface="Calibri"/>
                <a:ea typeface="Calibri"/>
              </a:rPr>
              <a:t>&gt;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0" name="Shape 17"/>
          <p:cNvSpPr/>
          <p:nvPr/>
        </p:nvSpPr>
        <p:spPr>
          <a:xfrm>
            <a:off x="7086600" y="1737360"/>
            <a:ext cx="1828440" cy="1554120"/>
          </a:xfrm>
          <a:prstGeom prst="roundRect">
            <a:avLst>
              <a:gd name="adj" fmla="val 4706"/>
            </a:avLst>
          </a:prstGeom>
          <a:solidFill>
            <a:srgbClr val="26215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1" name="Shape 18"/>
          <p:cNvSpPr/>
          <p:nvPr/>
        </p:nvSpPr>
        <p:spPr>
          <a:xfrm>
            <a:off x="7726680" y="1901880"/>
            <a:ext cx="548280" cy="548280"/>
          </a:xfrm>
          <a:prstGeom prst="ellipse">
            <a:avLst/>
          </a:prstGeom>
          <a:solidFill>
            <a:srgbClr val="3C348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22" name="Image 3" descr="preencoded.png"/>
          <p:cNvPicPr/>
          <p:nvPr/>
        </p:nvPicPr>
        <p:blipFill>
          <a:blip r:embed="rId6"/>
          <a:stretch/>
        </p:blipFill>
        <p:spPr>
          <a:xfrm>
            <a:off x="7858440" y="2033640"/>
            <a:ext cx="284760" cy="284760"/>
          </a:xfrm>
          <a:prstGeom prst="rect">
            <a:avLst/>
          </a:prstGeom>
          <a:ln w="0">
            <a:noFill/>
          </a:ln>
        </p:spPr>
      </p:pic>
      <p:sp>
        <p:nvSpPr>
          <p:cNvPr id="723" name="Text 19"/>
          <p:cNvSpPr/>
          <p:nvPr/>
        </p:nvSpPr>
        <p:spPr>
          <a:xfrm>
            <a:off x="7086600" y="251460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libri"/>
                <a:ea typeface="Calibri"/>
              </a:rPr>
              <a:t>Observe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4" name="Text 20"/>
          <p:cNvSpPr/>
          <p:nvPr/>
        </p:nvSpPr>
        <p:spPr>
          <a:xfrm>
            <a:off x="7086600" y="283464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CADCFC"/>
                </a:solidFill>
                <a:latin typeface="Calibri"/>
                <a:ea typeface="Calibri"/>
              </a:rPr>
              <a:t>Feed the result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CADCFC"/>
                </a:solidFill>
                <a:latin typeface="Calibri"/>
                <a:ea typeface="Calibri"/>
              </a:rPr>
              <a:t>back in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5" name="Shape 21"/>
          <p:cNvSpPr/>
          <p:nvPr/>
        </p:nvSpPr>
        <p:spPr>
          <a:xfrm flipH="1">
            <a:off x="731520" y="3337560"/>
            <a:ext cx="8092440" cy="360"/>
          </a:xfrm>
          <a:prstGeom prst="line">
            <a:avLst/>
          </a:prstGeom>
          <a:ln w="15875">
            <a:solidFill>
              <a:srgbClr val="F2A623"/>
            </a:solidFill>
            <a:prstDash val="dash"/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6" name="Text 22"/>
          <p:cNvSpPr/>
          <p:nvPr/>
        </p:nvSpPr>
        <p:spPr>
          <a:xfrm>
            <a:off x="640080" y="3456360"/>
            <a:ext cx="82749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strike="noStrike" spc="-1">
                <a:solidFill>
                  <a:srgbClr val="767290"/>
                </a:solidFill>
                <a:latin typeface="Calibri"/>
                <a:ea typeface="Calibri"/>
              </a:rPr>
              <a:t>repeats until the agent has enough information to respond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7" name="Text 23"/>
          <p:cNvSpPr/>
          <p:nvPr/>
        </p:nvSpPr>
        <p:spPr>
          <a:xfrm>
            <a:off x="640080" y="397764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strike="noStrike" spc="-1">
                <a:solidFill>
                  <a:srgbClr val="26215C"/>
                </a:solidFill>
                <a:latin typeface="Calibri"/>
                <a:ea typeface="Calibri"/>
              </a:rPr>
              <a:t>Add long-term memory, a set of tools, and this loop to a model — and it becomes an agent.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Text 0"/>
          <p:cNvSpPr/>
          <p:nvPr/>
        </p:nvSpPr>
        <p:spPr>
          <a:xfrm>
            <a:off x="457200" y="2926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199">
                <a:solidFill>
                  <a:srgbClr val="0F6E56"/>
                </a:solidFill>
                <a:latin typeface="Calibri"/>
                <a:ea typeface="Calibri"/>
              </a:rPr>
              <a:t>APPENDIX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9" name="Text 1"/>
          <p:cNvSpPr/>
          <p:nvPr/>
        </p:nvSpPr>
        <p:spPr>
          <a:xfrm>
            <a:off x="457200" y="54864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26215C"/>
                </a:solidFill>
                <a:latin typeface="Cambria"/>
                <a:ea typeface="Cambria"/>
              </a:rPr>
              <a:t>What changes for the person using it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0" name="Shape 2"/>
          <p:cNvSpPr/>
          <p:nvPr/>
        </p:nvSpPr>
        <p:spPr>
          <a:xfrm>
            <a:off x="457200" y="1554480"/>
            <a:ext cx="4023000" cy="3200040"/>
          </a:xfrm>
          <a:prstGeom prst="roundRect">
            <a:avLst>
              <a:gd name="adj" fmla="val 2857"/>
            </a:avLst>
          </a:prstGeom>
          <a:solidFill>
            <a:srgbClr val="F8F7FC"/>
          </a:solidFill>
          <a:ln w="0">
            <a:noFill/>
          </a:ln>
          <a:effectLst>
            <a:outerShdw blurRad="63360" dist="255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1" name="Shape 3"/>
          <p:cNvSpPr/>
          <p:nvPr/>
        </p:nvSpPr>
        <p:spPr>
          <a:xfrm>
            <a:off x="777240" y="1828800"/>
            <a:ext cx="548280" cy="548280"/>
          </a:xfrm>
          <a:prstGeom prst="ellipse">
            <a:avLst/>
          </a:prstGeom>
          <a:solidFill>
            <a:srgbClr val="ECEBF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32" name="Image 0" descr="preencoded.png"/>
          <p:cNvPicPr/>
          <p:nvPr/>
        </p:nvPicPr>
        <p:blipFill>
          <a:blip r:embed="rId3"/>
          <a:stretch/>
        </p:blipFill>
        <p:spPr>
          <a:xfrm>
            <a:off x="909000" y="1960560"/>
            <a:ext cx="284760" cy="284760"/>
          </a:xfrm>
          <a:prstGeom prst="rect">
            <a:avLst/>
          </a:prstGeom>
          <a:ln w="0">
            <a:noFill/>
          </a:ln>
        </p:spPr>
      </p:pic>
      <p:sp>
        <p:nvSpPr>
          <p:cNvPr id="733" name="Text 4"/>
          <p:cNvSpPr/>
          <p:nvPr/>
        </p:nvSpPr>
        <p:spPr>
          <a:xfrm>
            <a:off x="1463040" y="1828800"/>
            <a:ext cx="27428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26215C"/>
                </a:solidFill>
                <a:latin typeface="Cambria"/>
                <a:ea typeface="Cambria"/>
              </a:rPr>
              <a:t>Traditional chatbot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4" name="Text 5"/>
          <p:cNvSpPr/>
          <p:nvPr/>
        </p:nvSpPr>
        <p:spPr>
          <a:xfrm>
            <a:off x="777240" y="2606040"/>
            <a:ext cx="338292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10000"/>
              </a:lnSpc>
              <a:buClr>
                <a:srgbClr val="433F5C"/>
              </a:buClr>
              <a:buFont typeface="Symbol" charset="2"/>
              <a:buChar char=""/>
            </a:pPr>
            <a:r>
              <a:rPr lang="en-US" sz="1300" b="0" strike="noStrike" spc="-1">
                <a:solidFill>
                  <a:srgbClr val="433F5C"/>
                </a:solidFill>
                <a:latin typeface="Calibri"/>
                <a:ea typeface="Calibri"/>
              </a:rPr>
              <a:t>Forgets everything between sessions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5" name="Text 6"/>
          <p:cNvSpPr/>
          <p:nvPr/>
        </p:nvSpPr>
        <p:spPr>
          <a:xfrm>
            <a:off x="777240" y="3246120"/>
            <a:ext cx="338292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10000"/>
              </a:lnSpc>
              <a:buClr>
                <a:srgbClr val="433F5C"/>
              </a:buClr>
              <a:buFont typeface="Symbol" charset="2"/>
              <a:buChar char=""/>
            </a:pPr>
            <a:r>
              <a:rPr lang="en-US" sz="1300" b="0" strike="noStrike" spc="-1">
                <a:solidFill>
                  <a:srgbClr val="433F5C"/>
                </a:solidFill>
                <a:latin typeface="Calibri"/>
                <a:ea typeface="Calibri"/>
              </a:rPr>
              <a:t>Answers one request at a time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6" name="Text 7"/>
          <p:cNvSpPr/>
          <p:nvPr/>
        </p:nvSpPr>
        <p:spPr>
          <a:xfrm>
            <a:off x="777240" y="3886200"/>
            <a:ext cx="338292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10000"/>
              </a:lnSpc>
              <a:buClr>
                <a:srgbClr val="433F5C"/>
              </a:buClr>
              <a:buFont typeface="Symbol" charset="2"/>
              <a:buChar char=""/>
            </a:pPr>
            <a:r>
              <a:rPr lang="en-US" sz="1300" b="0" strike="noStrike" spc="-1">
                <a:solidFill>
                  <a:srgbClr val="433F5C"/>
                </a:solidFill>
                <a:latin typeface="Calibri"/>
                <a:ea typeface="Calibri"/>
              </a:rPr>
              <a:t>Same response for every user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7" name="Shape 8"/>
          <p:cNvSpPr/>
          <p:nvPr/>
        </p:nvSpPr>
        <p:spPr>
          <a:xfrm>
            <a:off x="4663440" y="1554480"/>
            <a:ext cx="4023000" cy="3200040"/>
          </a:xfrm>
          <a:prstGeom prst="roundRect">
            <a:avLst>
              <a:gd name="adj" fmla="val 2857"/>
            </a:avLst>
          </a:prstGeom>
          <a:solidFill>
            <a:srgbClr val="F8F7FC"/>
          </a:solidFill>
          <a:ln w="0">
            <a:noFill/>
          </a:ln>
          <a:effectLst>
            <a:outerShdw blurRad="63360" dist="25560" dir="54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8" name="Shape 9"/>
          <p:cNvSpPr/>
          <p:nvPr/>
        </p:nvSpPr>
        <p:spPr>
          <a:xfrm>
            <a:off x="4983480" y="1828800"/>
            <a:ext cx="548280" cy="548280"/>
          </a:xfrm>
          <a:prstGeom prst="ellipse">
            <a:avLst/>
          </a:prstGeom>
          <a:solidFill>
            <a:srgbClr val="FAEED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39" name="Image 1" descr="preencoded.png"/>
          <p:cNvPicPr/>
          <p:nvPr/>
        </p:nvPicPr>
        <p:blipFill>
          <a:blip r:embed="rId4"/>
          <a:stretch/>
        </p:blipFill>
        <p:spPr>
          <a:xfrm>
            <a:off x="5115240" y="1960560"/>
            <a:ext cx="284760" cy="284760"/>
          </a:xfrm>
          <a:prstGeom prst="rect">
            <a:avLst/>
          </a:prstGeom>
          <a:ln w="0">
            <a:noFill/>
          </a:ln>
        </p:spPr>
      </p:pic>
      <p:sp>
        <p:nvSpPr>
          <p:cNvPr id="740" name="Text 10"/>
          <p:cNvSpPr/>
          <p:nvPr/>
        </p:nvSpPr>
        <p:spPr>
          <a:xfrm>
            <a:off x="5669280" y="1828800"/>
            <a:ext cx="27428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26215C"/>
                </a:solidFill>
                <a:latin typeface="Cambria"/>
                <a:ea typeface="Cambria"/>
              </a:rPr>
              <a:t>Agentic assistant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1" name="Text 11"/>
          <p:cNvSpPr/>
          <p:nvPr/>
        </p:nvSpPr>
        <p:spPr>
          <a:xfrm>
            <a:off x="4983480" y="2606040"/>
            <a:ext cx="338292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10000"/>
              </a:lnSpc>
              <a:buClr>
                <a:srgbClr val="433F5C"/>
              </a:buClr>
              <a:buFont typeface="Symbol" charset="2"/>
              <a:buChar char=""/>
            </a:pPr>
            <a:r>
              <a:rPr lang="en-US" sz="1300" b="0" strike="noStrike" spc="-1">
                <a:solidFill>
                  <a:srgbClr val="433F5C"/>
                </a:solidFill>
                <a:latin typeface="Calibri"/>
                <a:ea typeface="Calibri"/>
              </a:rPr>
              <a:t>Recognizes you and shows chat history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2" name="Text 12"/>
          <p:cNvSpPr/>
          <p:nvPr/>
        </p:nvSpPr>
        <p:spPr>
          <a:xfrm>
            <a:off x="4983480" y="3246120"/>
            <a:ext cx="338292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10000"/>
              </a:lnSpc>
              <a:buClr>
                <a:srgbClr val="433F5C"/>
              </a:buClr>
              <a:buFont typeface="Symbol" charset="2"/>
              <a:buChar char=""/>
            </a:pPr>
            <a:r>
              <a:rPr lang="en-US" sz="1300" b="0" strike="noStrike" spc="-1">
                <a:solidFill>
                  <a:srgbClr val="433F5C"/>
                </a:solidFill>
                <a:latin typeface="Calibri"/>
                <a:ea typeface="Calibri"/>
              </a:rPr>
              <a:t>Splits multi-part requests across specialist agents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3" name="Text 13"/>
          <p:cNvSpPr/>
          <p:nvPr/>
        </p:nvSpPr>
        <p:spPr>
          <a:xfrm>
            <a:off x="4983480" y="3886200"/>
            <a:ext cx="338292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10000"/>
              </a:lnSpc>
              <a:buClr>
                <a:srgbClr val="433F5C"/>
              </a:buClr>
              <a:buFont typeface="Symbol" charset="2"/>
              <a:buChar char=""/>
            </a:pPr>
            <a:r>
              <a:rPr lang="en-US" sz="1300" b="0" strike="noStrike" spc="-1">
                <a:solidFill>
                  <a:srgbClr val="433F5C"/>
                </a:solidFill>
                <a:latin typeface="Calibri"/>
                <a:ea typeface="Calibri"/>
              </a:rPr>
              <a:t>Personalizes answers using long-term memory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4" name="Shape 14"/>
          <p:cNvSpPr/>
          <p:nvPr/>
        </p:nvSpPr>
        <p:spPr>
          <a:xfrm>
            <a:off x="4297680" y="2971800"/>
            <a:ext cx="548280" cy="548280"/>
          </a:xfrm>
          <a:prstGeom prst="ellipse">
            <a:avLst/>
          </a:prstGeom>
          <a:solidFill>
            <a:srgbClr val="26215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5" name="Text 15"/>
          <p:cNvSpPr/>
          <p:nvPr/>
        </p:nvSpPr>
        <p:spPr>
          <a:xfrm>
            <a:off x="4297680" y="297180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FFFFFF"/>
                </a:solidFill>
                <a:latin typeface="Calibri"/>
                <a:ea typeface="Calibri"/>
              </a:rPr>
              <a:t>&gt;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Text 0"/>
          <p:cNvSpPr/>
          <p:nvPr/>
        </p:nvSpPr>
        <p:spPr>
          <a:xfrm>
            <a:off x="457200" y="2926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199">
                <a:solidFill>
                  <a:srgbClr val="0F6E56"/>
                </a:solidFill>
                <a:latin typeface="Calibri"/>
                <a:ea typeface="Calibri"/>
              </a:rPr>
              <a:t>APPENDIX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7" name="Text 1"/>
          <p:cNvSpPr/>
          <p:nvPr/>
        </p:nvSpPr>
        <p:spPr>
          <a:xfrm>
            <a:off x="457200" y="54864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26215C"/>
                </a:solidFill>
                <a:latin typeface="Cambria"/>
                <a:ea typeface="Cambria"/>
              </a:rPr>
              <a:t>References: banking industry statistics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8" name="Shape 2"/>
          <p:cNvSpPr/>
          <p:nvPr/>
        </p:nvSpPr>
        <p:spPr>
          <a:xfrm>
            <a:off x="457200" y="1325880"/>
            <a:ext cx="347040" cy="347040"/>
          </a:xfrm>
          <a:prstGeom prst="ellipse">
            <a:avLst/>
          </a:prstGeom>
          <a:solidFill>
            <a:srgbClr val="E1F5E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49" name="Image 0" descr="preencoded.png"/>
          <p:cNvPicPr/>
          <p:nvPr/>
        </p:nvPicPr>
        <p:blipFill>
          <a:blip r:embed="rId3"/>
          <a:stretch/>
        </p:blipFill>
        <p:spPr>
          <a:xfrm>
            <a:off x="540720" y="1409400"/>
            <a:ext cx="180360" cy="180360"/>
          </a:xfrm>
          <a:prstGeom prst="rect">
            <a:avLst/>
          </a:prstGeom>
          <a:ln w="0">
            <a:noFill/>
          </a:ln>
        </p:spPr>
      </p:pic>
      <p:sp>
        <p:nvSpPr>
          <p:cNvPr id="750" name="Text 3"/>
          <p:cNvSpPr/>
          <p:nvPr/>
        </p:nvSpPr>
        <p:spPr>
          <a:xfrm>
            <a:off x="914400" y="1280160"/>
            <a:ext cx="78634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-1">
                <a:solidFill>
                  <a:srgbClr val="26215C"/>
                </a:solidFill>
                <a:latin typeface="Calibri"/>
                <a:ea typeface="Calibri"/>
              </a:rPr>
              <a:t>[1]  99% of firms plan to deploy AI agents; only 11% have done so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1" name="Text 4"/>
          <p:cNvSpPr/>
          <p:nvPr/>
        </p:nvSpPr>
        <p:spPr>
          <a:xfrm>
            <a:off x="914400" y="1664280"/>
            <a:ext cx="786348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strike="noStrike" spc="-1">
                <a:solidFill>
                  <a:srgbClr val="433F5C"/>
                </a:solidFill>
                <a:latin typeface="Calibri"/>
                <a:ea typeface="Calibri"/>
              </a:rPr>
              <a:t>KPMG estimate, cited in “Agentic AI in Financial Services: A Research Roundup for 2026” (Neurons Lab)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2" name="Text 5"/>
          <p:cNvSpPr/>
          <p:nvPr/>
        </p:nvSpPr>
        <p:spPr>
          <a:xfrm>
            <a:off x="914400" y="1874520"/>
            <a:ext cx="78634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0F6E56"/>
                </a:solidFill>
                <a:latin typeface="Calibri"/>
                <a:ea typeface="Calibri"/>
              </a:rPr>
              <a:t>neurons-lab.com/articles/agentic-ai-in-financial-services-2026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3" name="Shape 6"/>
          <p:cNvSpPr/>
          <p:nvPr/>
        </p:nvSpPr>
        <p:spPr>
          <a:xfrm>
            <a:off x="457200" y="2130480"/>
            <a:ext cx="347040" cy="347040"/>
          </a:xfrm>
          <a:prstGeom prst="ellipse">
            <a:avLst/>
          </a:prstGeom>
          <a:solidFill>
            <a:srgbClr val="E1F5E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54" name="Image 1" descr="preencoded.png"/>
          <p:cNvPicPr/>
          <p:nvPr/>
        </p:nvPicPr>
        <p:blipFill>
          <a:blip r:embed="rId3"/>
          <a:stretch/>
        </p:blipFill>
        <p:spPr>
          <a:xfrm>
            <a:off x="540720" y="2214000"/>
            <a:ext cx="180360" cy="180360"/>
          </a:xfrm>
          <a:prstGeom prst="rect">
            <a:avLst/>
          </a:prstGeom>
          <a:ln w="0">
            <a:noFill/>
          </a:ln>
        </p:spPr>
      </p:pic>
      <p:sp>
        <p:nvSpPr>
          <p:cNvPr id="755" name="Text 7"/>
          <p:cNvSpPr/>
          <p:nvPr/>
        </p:nvSpPr>
        <p:spPr>
          <a:xfrm>
            <a:off x="914400" y="2084760"/>
            <a:ext cx="78634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-1">
                <a:solidFill>
                  <a:srgbClr val="26215C"/>
                </a:solidFill>
                <a:latin typeface="Calibri"/>
                <a:ea typeface="Calibri"/>
              </a:rPr>
              <a:t>[2]  62% of consumers most trust their primary bank for gen AI financial services, vs. 19% for a major tech company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6" name="Text 8"/>
          <p:cNvSpPr/>
          <p:nvPr/>
        </p:nvSpPr>
        <p:spPr>
          <a:xfrm>
            <a:off x="914400" y="2468880"/>
            <a:ext cx="786348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strike="noStrike" spc="-1">
                <a:solidFill>
                  <a:srgbClr val="433F5C"/>
                </a:solidFill>
                <a:latin typeface="Calibri"/>
                <a:ea typeface="Calibri"/>
              </a:rPr>
              <a:t>McKinsey Global Banking Annual Review Survey, May 2025 (n = 30,021) — “Agentic AI in retail banking: The customer effect”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7" name="Text 9"/>
          <p:cNvSpPr/>
          <p:nvPr/>
        </p:nvSpPr>
        <p:spPr>
          <a:xfrm>
            <a:off x="914400" y="2679120"/>
            <a:ext cx="78634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0F6E56"/>
                </a:solidFill>
                <a:latin typeface="Calibri"/>
                <a:ea typeface="Calibri"/>
              </a:rPr>
              <a:t>mckinsey.com/industries/financial-services/our-insights/how-gen-ai-agents-threaten-retail-banks-customer-relationships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8" name="Shape 10"/>
          <p:cNvSpPr/>
          <p:nvPr/>
        </p:nvSpPr>
        <p:spPr>
          <a:xfrm>
            <a:off x="457200" y="2935080"/>
            <a:ext cx="347040" cy="347040"/>
          </a:xfrm>
          <a:prstGeom prst="ellipse">
            <a:avLst/>
          </a:prstGeom>
          <a:solidFill>
            <a:srgbClr val="E1F5E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59" name="Image 2" descr="preencoded.png"/>
          <p:cNvPicPr/>
          <p:nvPr/>
        </p:nvPicPr>
        <p:blipFill>
          <a:blip r:embed="rId3"/>
          <a:stretch/>
        </p:blipFill>
        <p:spPr>
          <a:xfrm>
            <a:off x="540720" y="3018600"/>
            <a:ext cx="180360" cy="180360"/>
          </a:xfrm>
          <a:prstGeom prst="rect">
            <a:avLst/>
          </a:prstGeom>
          <a:ln w="0">
            <a:noFill/>
          </a:ln>
        </p:spPr>
      </p:pic>
      <p:sp>
        <p:nvSpPr>
          <p:cNvPr id="760" name="Text 11"/>
          <p:cNvSpPr/>
          <p:nvPr/>
        </p:nvSpPr>
        <p:spPr>
          <a:xfrm>
            <a:off x="914400" y="2889360"/>
            <a:ext cx="78634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-1">
                <a:solidFill>
                  <a:srgbClr val="26215C"/>
                </a:solidFill>
                <a:latin typeface="Calibri"/>
                <a:ea typeface="Calibri"/>
              </a:rPr>
              <a:t>[2b]  More than half of banking consumers now use gen AI tools; nearly all say they'd switch providers if their bank didn't keep up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1" name="Text 12"/>
          <p:cNvSpPr/>
          <p:nvPr/>
        </p:nvSpPr>
        <p:spPr>
          <a:xfrm>
            <a:off x="914400" y="3273480"/>
            <a:ext cx="786348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strike="noStrike" spc="-1">
                <a:solidFill>
                  <a:srgbClr val="433F5C"/>
                </a:solidFill>
                <a:latin typeface="Calibri"/>
                <a:ea typeface="Calibri"/>
              </a:rPr>
              <a:t>McKinsey, cited in “3 Key Shifts Will Make 2026 the Inflection Point for AI in Banking” (The Financial Brand)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2" name="Text 13"/>
          <p:cNvSpPr/>
          <p:nvPr/>
        </p:nvSpPr>
        <p:spPr>
          <a:xfrm>
            <a:off x="914400" y="3483720"/>
            <a:ext cx="78634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0F6E56"/>
                </a:solidFill>
                <a:latin typeface="Calibri"/>
                <a:ea typeface="Calibri"/>
              </a:rPr>
              <a:t>thefinancialbrand.com/news/artificial-intelligence-banking/three-key-shifts-to-make-2026-your-inflection-point-for-ai-in-banking-194723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3" name="Shape 14"/>
          <p:cNvSpPr/>
          <p:nvPr/>
        </p:nvSpPr>
        <p:spPr>
          <a:xfrm>
            <a:off x="457200" y="3740040"/>
            <a:ext cx="347040" cy="347040"/>
          </a:xfrm>
          <a:prstGeom prst="ellipse">
            <a:avLst/>
          </a:prstGeom>
          <a:solidFill>
            <a:srgbClr val="E1F5E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64" name="Image 3" descr="preencoded.png"/>
          <p:cNvPicPr/>
          <p:nvPr/>
        </p:nvPicPr>
        <p:blipFill>
          <a:blip r:embed="rId3"/>
          <a:stretch/>
        </p:blipFill>
        <p:spPr>
          <a:xfrm>
            <a:off x="540720" y="3823200"/>
            <a:ext cx="180360" cy="180360"/>
          </a:xfrm>
          <a:prstGeom prst="rect">
            <a:avLst/>
          </a:prstGeom>
          <a:ln w="0">
            <a:noFill/>
          </a:ln>
        </p:spPr>
      </p:pic>
      <p:sp>
        <p:nvSpPr>
          <p:cNvPr id="765" name="Text 15"/>
          <p:cNvSpPr/>
          <p:nvPr/>
        </p:nvSpPr>
        <p:spPr>
          <a:xfrm>
            <a:off x="914400" y="3694320"/>
            <a:ext cx="78634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-1">
                <a:solidFill>
                  <a:srgbClr val="26215C"/>
                </a:solidFill>
                <a:latin typeface="Calibri"/>
                <a:ea typeface="Calibri"/>
              </a:rPr>
              <a:t>[3]  High-risk AI in credit scoring, lending, and AML must comply with the EU AI Act by 2 Aug 2026; penalties up to 7% of global annual turnover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6" name="Text 16"/>
          <p:cNvSpPr/>
          <p:nvPr/>
        </p:nvSpPr>
        <p:spPr>
          <a:xfrm>
            <a:off x="914400" y="4078080"/>
            <a:ext cx="786348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strike="noStrike" spc="-1">
                <a:solidFill>
                  <a:srgbClr val="433F5C"/>
                </a:solidFill>
                <a:latin typeface="Calibri"/>
                <a:ea typeface="Calibri"/>
              </a:rPr>
              <a:t>EU AI Act, cited in “AI in Banking 2026: Use Cases, Trends &amp; Outlook” (Blott)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7" name="Text 17"/>
          <p:cNvSpPr/>
          <p:nvPr/>
        </p:nvSpPr>
        <p:spPr>
          <a:xfrm>
            <a:off x="914400" y="4288680"/>
            <a:ext cx="78634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0F6E56"/>
                </a:solidFill>
                <a:latin typeface="Calibri"/>
                <a:ea typeface="Calibri"/>
              </a:rPr>
              <a:t>blott.com/reports/ai-use-cases-in-banking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8" name="Text 18"/>
          <p:cNvSpPr/>
          <p:nvPr/>
        </p:nvSpPr>
        <p:spPr>
          <a:xfrm>
            <a:off x="457200" y="46360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i="1" strike="noStrike" spc="-1">
                <a:solidFill>
                  <a:srgbClr val="767290"/>
                </a:solidFill>
                <a:latin typeface="Calibri"/>
                <a:ea typeface="Calibri"/>
              </a:rPr>
              <a:t>Figures reflect publicly available industry surveys and reports current as of mid-2026; verify against the original source before reuse in external materials.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Text 0"/>
          <p:cNvSpPr/>
          <p:nvPr/>
        </p:nvSpPr>
        <p:spPr>
          <a:xfrm>
            <a:off x="457200" y="2926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199">
                <a:solidFill>
                  <a:srgbClr val="0F6E56"/>
                </a:solidFill>
                <a:latin typeface="Calibri"/>
                <a:ea typeface="Calibri"/>
              </a:rPr>
              <a:t>AUDIENCE FAQ · 1 OF 3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0" name="Text 1"/>
          <p:cNvSpPr/>
          <p:nvPr/>
        </p:nvSpPr>
        <p:spPr>
          <a:xfrm>
            <a:off x="457200" y="54864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26215C"/>
                </a:solidFill>
                <a:latin typeface="Cambria"/>
                <a:ea typeface="Cambria"/>
              </a:rPr>
              <a:t>Framework &amp; architecture choices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1" name="Shape 2"/>
          <p:cNvSpPr/>
          <p:nvPr/>
        </p:nvSpPr>
        <p:spPr>
          <a:xfrm>
            <a:off x="457200" y="1289160"/>
            <a:ext cx="219240" cy="219240"/>
          </a:xfrm>
          <a:prstGeom prst="ellipse">
            <a:avLst/>
          </a:prstGeom>
          <a:solidFill>
            <a:srgbClr val="26215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2" name="Text 3"/>
          <p:cNvSpPr/>
          <p:nvPr/>
        </p:nvSpPr>
        <p:spPr>
          <a:xfrm>
            <a:off x="457200" y="1289160"/>
            <a:ext cx="219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FFFFFF"/>
                </a:solidFill>
                <a:latin typeface="Calibri"/>
                <a:ea typeface="Calibri"/>
              </a:rPr>
              <a:t>Q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3" name="Text 4"/>
          <p:cNvSpPr/>
          <p:nvPr/>
        </p:nvSpPr>
        <p:spPr>
          <a:xfrm>
            <a:off x="749880" y="1252800"/>
            <a:ext cx="38217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26215C"/>
                </a:solidFill>
                <a:latin typeface="Calibri"/>
                <a:ea typeface="Calibri"/>
              </a:rPr>
              <a:t>Why ADK and not LangGraph?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4" name="Text 5"/>
          <p:cNvSpPr/>
          <p:nvPr/>
        </p:nvSpPr>
        <p:spPr>
          <a:xfrm>
            <a:off x="749880" y="1517760"/>
            <a:ext cx="3821760" cy="67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780" b="0" strike="noStrike" spc="-1">
                <a:solidFill>
                  <a:srgbClr val="433F5C"/>
                </a:solidFill>
                <a:latin typeface="Calibri"/>
                <a:ea typeface="Calibri"/>
              </a:rPr>
              <a:t>ADK optimizes for build-and-deploy speed on GCP: built-in evals, one-command deploy to Vertex AI, native voice/multimodal. LangGraph optimizes for precise control over branching logic. We chose ADK for shipping speed on our GCP stack — not because it's objectively better.</a:t>
            </a:r>
            <a:endParaRPr lang="en-US" sz="7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5" name="Shape 6"/>
          <p:cNvSpPr/>
          <p:nvPr/>
        </p:nvSpPr>
        <p:spPr>
          <a:xfrm>
            <a:off x="457200" y="2331720"/>
            <a:ext cx="219240" cy="219240"/>
          </a:xfrm>
          <a:prstGeom prst="ellipse">
            <a:avLst/>
          </a:prstGeom>
          <a:solidFill>
            <a:srgbClr val="26215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6" name="Text 7"/>
          <p:cNvSpPr/>
          <p:nvPr/>
        </p:nvSpPr>
        <p:spPr>
          <a:xfrm>
            <a:off x="457200" y="2331720"/>
            <a:ext cx="219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FFFFFF"/>
                </a:solidFill>
                <a:latin typeface="Calibri"/>
                <a:ea typeface="Calibri"/>
              </a:rPr>
              <a:t>Q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7" name="Text 8"/>
          <p:cNvSpPr/>
          <p:nvPr/>
        </p:nvSpPr>
        <p:spPr>
          <a:xfrm>
            <a:off x="749880" y="2295000"/>
            <a:ext cx="38217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26215C"/>
                </a:solidFill>
                <a:latin typeface="Calibri"/>
                <a:ea typeface="Calibri"/>
              </a:rPr>
              <a:t>Are we locked into Google Cloud by choosing ADK?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8" name="Text 9"/>
          <p:cNvSpPr/>
          <p:nvPr/>
        </p:nvSpPr>
        <p:spPr>
          <a:xfrm>
            <a:off x="749880" y="2560320"/>
            <a:ext cx="3821760" cy="67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780" b="0" strike="noStrike" spc="-1">
                <a:solidFill>
                  <a:srgbClr val="433F5C"/>
                </a:solidFill>
                <a:latin typeface="Calibri"/>
                <a:ea typeface="Calibri"/>
              </a:rPr>
              <a:t>Less than expected. ADK is open-source and model-agnostic via LiteLLM (Gemini, GPT, Claude, Mistral all work) and can run on Cloud Run, GKE, or self-hosted. The real lock-in is losing Vertex AI's one-command deploy convenience, not the agent code itself.</a:t>
            </a:r>
            <a:endParaRPr lang="en-US" sz="7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9" name="Shape 10"/>
          <p:cNvSpPr/>
          <p:nvPr/>
        </p:nvSpPr>
        <p:spPr>
          <a:xfrm>
            <a:off x="457200" y="3374280"/>
            <a:ext cx="219240" cy="219240"/>
          </a:xfrm>
          <a:prstGeom prst="ellipse">
            <a:avLst/>
          </a:prstGeom>
          <a:solidFill>
            <a:srgbClr val="26215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0" name="Text 11"/>
          <p:cNvSpPr/>
          <p:nvPr/>
        </p:nvSpPr>
        <p:spPr>
          <a:xfrm>
            <a:off x="457200" y="3374280"/>
            <a:ext cx="219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FFFFFF"/>
                </a:solidFill>
                <a:latin typeface="Calibri"/>
                <a:ea typeface="Calibri"/>
              </a:rPr>
              <a:t>Q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1" name="Text 12"/>
          <p:cNvSpPr/>
          <p:nvPr/>
        </p:nvSpPr>
        <p:spPr>
          <a:xfrm>
            <a:off x="749880" y="3337560"/>
            <a:ext cx="382176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26215C"/>
                </a:solidFill>
                <a:latin typeface="Calibri"/>
                <a:ea typeface="Calibri"/>
              </a:rPr>
              <a:t>Can ADK work alongside LangGraph or other frameworks?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2" name="Text 13"/>
          <p:cNvSpPr/>
          <p:nvPr/>
        </p:nvSpPr>
        <p:spPr>
          <a:xfrm>
            <a:off x="749880" y="3785760"/>
            <a:ext cx="3821760" cy="52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780" b="0" strike="noStrike" spc="-1">
                <a:solidFill>
                  <a:srgbClr val="433F5C"/>
                </a:solidFill>
                <a:latin typeface="Calibri"/>
                <a:ea typeface="Calibri"/>
              </a:rPr>
              <a:t>Yes — ADK can call a LangGraph agent as a tool, and ADK agents are reachable from other frameworks via the A2A protocol, now a Linux Foundation standard with 150+ adopting organizations.</a:t>
            </a:r>
            <a:endParaRPr lang="en-US" sz="7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3" name="Shape 14"/>
          <p:cNvSpPr/>
          <p:nvPr/>
        </p:nvSpPr>
        <p:spPr>
          <a:xfrm>
            <a:off x="4846320" y="1289160"/>
            <a:ext cx="219240" cy="219240"/>
          </a:xfrm>
          <a:prstGeom prst="ellipse">
            <a:avLst/>
          </a:prstGeom>
          <a:solidFill>
            <a:srgbClr val="26215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4" name="Text 15"/>
          <p:cNvSpPr/>
          <p:nvPr/>
        </p:nvSpPr>
        <p:spPr>
          <a:xfrm>
            <a:off x="4846320" y="1289160"/>
            <a:ext cx="219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FFFFFF"/>
                </a:solidFill>
                <a:latin typeface="Calibri"/>
                <a:ea typeface="Calibri"/>
              </a:rPr>
              <a:t>Q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5" name="Text 16"/>
          <p:cNvSpPr/>
          <p:nvPr/>
        </p:nvSpPr>
        <p:spPr>
          <a:xfrm>
            <a:off x="5139000" y="1252800"/>
            <a:ext cx="38217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26215C"/>
                </a:solidFill>
                <a:latin typeface="Calibri"/>
                <a:ea typeface="Calibri"/>
              </a:rPr>
              <a:t>Why not OpenAI Assistants or AWS Bedrock Agents?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6" name="Text 17"/>
          <p:cNvSpPr/>
          <p:nvPr/>
        </p:nvSpPr>
        <p:spPr>
          <a:xfrm>
            <a:off x="5139000" y="1517760"/>
            <a:ext cx="3821760" cy="67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780" b="0" strike="noStrike" spc="-1">
                <a:solidFill>
                  <a:srgbClr val="433F5C"/>
                </a:solidFill>
                <a:latin typeface="Calibri"/>
                <a:ea typeface="Calibri"/>
              </a:rPr>
              <a:t>Bedrock Agents is configuration-driven (console fields, not code) — faster to start, less flexible for custom orchestration. We chose ADK for hierarchical multi-agent delegation as a first-class concept and multi-provider model support.</a:t>
            </a:r>
            <a:endParaRPr lang="en-US" sz="7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7" name="Shape 18"/>
          <p:cNvSpPr/>
          <p:nvPr/>
        </p:nvSpPr>
        <p:spPr>
          <a:xfrm>
            <a:off x="4846320" y="2331720"/>
            <a:ext cx="219240" cy="219240"/>
          </a:xfrm>
          <a:prstGeom prst="ellipse">
            <a:avLst/>
          </a:prstGeom>
          <a:solidFill>
            <a:srgbClr val="26215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8" name="Text 19"/>
          <p:cNvSpPr/>
          <p:nvPr/>
        </p:nvSpPr>
        <p:spPr>
          <a:xfrm>
            <a:off x="4846320" y="2331720"/>
            <a:ext cx="219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FFFFFF"/>
                </a:solidFill>
                <a:latin typeface="Calibri"/>
                <a:ea typeface="Calibri"/>
              </a:rPr>
              <a:t>Q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9" name="Text 20"/>
          <p:cNvSpPr/>
          <p:nvPr/>
        </p:nvSpPr>
        <p:spPr>
          <a:xfrm>
            <a:off x="5139000" y="2295000"/>
            <a:ext cx="38217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26215C"/>
                </a:solidFill>
                <a:latin typeface="Calibri"/>
                <a:ea typeface="Calibri"/>
              </a:rPr>
              <a:t>Is this architecture proven at production scale?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0" name="Text 21"/>
          <p:cNvSpPr/>
          <p:nvPr/>
        </p:nvSpPr>
        <p:spPr>
          <a:xfrm>
            <a:off x="5139000" y="2560320"/>
            <a:ext cx="3821760" cy="67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780" b="0" strike="noStrike" spc="-1">
                <a:solidFill>
                  <a:srgbClr val="433F5C"/>
                </a:solidFill>
                <a:latin typeface="Calibri"/>
                <a:ea typeface="Calibri"/>
              </a:rPr>
              <a:t>The layered pattern (channel/session/orchestration/sub-agents/sidecars/model) is proven industry-wide. Our own implementation is still early — the Redis session store and Memory Bank are named gaps covered earlier in this deck.</a:t>
            </a:r>
            <a:endParaRPr lang="en-US" sz="78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Text 0"/>
          <p:cNvSpPr/>
          <p:nvPr/>
        </p:nvSpPr>
        <p:spPr>
          <a:xfrm>
            <a:off x="457200" y="2926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199">
                <a:solidFill>
                  <a:srgbClr val="0F6E56"/>
                </a:solidFill>
                <a:latin typeface="Calibri"/>
                <a:ea typeface="Calibri"/>
              </a:rPr>
              <a:t>AUDIENCE FAQ · 2 OF 3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2" name="Text 1"/>
          <p:cNvSpPr/>
          <p:nvPr/>
        </p:nvSpPr>
        <p:spPr>
          <a:xfrm>
            <a:off x="457200" y="54864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26215C"/>
                </a:solidFill>
                <a:latin typeface="Cambria"/>
                <a:ea typeface="Cambria"/>
              </a:rPr>
              <a:t>Reliability, scale &amp; failure handling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3" name="Shape 2"/>
          <p:cNvSpPr/>
          <p:nvPr/>
        </p:nvSpPr>
        <p:spPr>
          <a:xfrm>
            <a:off x="457200" y="1289160"/>
            <a:ext cx="219240" cy="219240"/>
          </a:xfrm>
          <a:prstGeom prst="ellipse">
            <a:avLst/>
          </a:prstGeom>
          <a:solidFill>
            <a:srgbClr val="26215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4" name="Text 3"/>
          <p:cNvSpPr/>
          <p:nvPr/>
        </p:nvSpPr>
        <p:spPr>
          <a:xfrm>
            <a:off x="457200" y="1289160"/>
            <a:ext cx="219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FFFFFF"/>
                </a:solidFill>
                <a:latin typeface="Calibri"/>
                <a:ea typeface="Calibri"/>
              </a:rPr>
              <a:t>Q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5" name="Text 4"/>
          <p:cNvSpPr/>
          <p:nvPr/>
        </p:nvSpPr>
        <p:spPr>
          <a:xfrm>
            <a:off x="749880" y="1252800"/>
            <a:ext cx="382176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26215C"/>
                </a:solidFill>
                <a:latin typeface="Calibri"/>
                <a:ea typeface="Calibri"/>
              </a:rPr>
              <a:t>What happens if a sub-agent or tool call fails mid-conversation?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6" name="Text 5"/>
          <p:cNvSpPr/>
          <p:nvPr/>
        </p:nvSpPr>
        <p:spPr>
          <a:xfrm>
            <a:off x="749880" y="1700640"/>
            <a:ext cx="3821760" cy="52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780" b="0" strike="noStrike" spc="-1">
                <a:solidFill>
                  <a:srgbClr val="433F5C"/>
                </a:solidFill>
                <a:latin typeface="Calibri"/>
                <a:ea typeface="Calibri"/>
              </a:rPr>
              <a:t>The failure is logged as a typed event, not silently dropped. The orchestrator can retry, fall back to another sub-agent, or tell the user clearly — it never pretends the action succeeded.</a:t>
            </a:r>
            <a:endParaRPr lang="en-US" sz="7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7" name="Shape 6"/>
          <p:cNvSpPr/>
          <p:nvPr/>
        </p:nvSpPr>
        <p:spPr>
          <a:xfrm>
            <a:off x="457200" y="2363760"/>
            <a:ext cx="219240" cy="219240"/>
          </a:xfrm>
          <a:prstGeom prst="ellipse">
            <a:avLst/>
          </a:prstGeom>
          <a:solidFill>
            <a:srgbClr val="26215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8" name="Text 7"/>
          <p:cNvSpPr/>
          <p:nvPr/>
        </p:nvSpPr>
        <p:spPr>
          <a:xfrm>
            <a:off x="457200" y="2363760"/>
            <a:ext cx="219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FFFFFF"/>
                </a:solidFill>
                <a:latin typeface="Calibri"/>
                <a:ea typeface="Calibri"/>
              </a:rPr>
              <a:t>Q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9" name="Text 8"/>
          <p:cNvSpPr/>
          <p:nvPr/>
        </p:nvSpPr>
        <p:spPr>
          <a:xfrm>
            <a:off x="749880" y="2327040"/>
            <a:ext cx="38217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26215C"/>
                </a:solidFill>
                <a:latin typeface="Calibri"/>
                <a:ea typeface="Calibri"/>
              </a:rPr>
              <a:t>Does this scale to many concurrent users?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0" name="Text 9"/>
          <p:cNvSpPr/>
          <p:nvPr/>
        </p:nvSpPr>
        <p:spPr>
          <a:xfrm>
            <a:off x="749880" y="2592360"/>
            <a:ext cx="3821760" cy="67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780" b="0" strike="noStrike" spc="-1">
                <a:solidFill>
                  <a:srgbClr val="433F5C"/>
                </a:solidFill>
                <a:latin typeface="Calibri"/>
                <a:ea typeface="Calibri"/>
              </a:rPr>
              <a:t>Per-user isolation via user_id works today even on in-memory storage; it scales horizontally once we move to the Redis-backed session store. Model layer scales via tiered pairing — cheap/fast model for routing, escalate only when needed.</a:t>
            </a:r>
            <a:endParaRPr lang="en-US" sz="7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1" name="Shape 10"/>
          <p:cNvSpPr/>
          <p:nvPr/>
        </p:nvSpPr>
        <p:spPr>
          <a:xfrm>
            <a:off x="457200" y="3406320"/>
            <a:ext cx="219240" cy="219240"/>
          </a:xfrm>
          <a:prstGeom prst="ellipse">
            <a:avLst/>
          </a:prstGeom>
          <a:solidFill>
            <a:srgbClr val="26215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2" name="Text 11"/>
          <p:cNvSpPr/>
          <p:nvPr/>
        </p:nvSpPr>
        <p:spPr>
          <a:xfrm>
            <a:off x="457200" y="3406320"/>
            <a:ext cx="219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FFFFFF"/>
                </a:solidFill>
                <a:latin typeface="Calibri"/>
                <a:ea typeface="Calibri"/>
              </a:rPr>
              <a:t>Q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3" name="Text 12"/>
          <p:cNvSpPr/>
          <p:nvPr/>
        </p:nvSpPr>
        <p:spPr>
          <a:xfrm>
            <a:off x="749880" y="3369600"/>
            <a:ext cx="382176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26215C"/>
                </a:solidFill>
                <a:latin typeface="Calibri"/>
                <a:ea typeface="Calibri"/>
              </a:rPr>
              <a:t>What's the latency cost of guardrails, evals, and routing?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4" name="Text 13"/>
          <p:cNvSpPr/>
          <p:nvPr/>
        </p:nvSpPr>
        <p:spPr>
          <a:xfrm>
            <a:off x="749880" y="3817800"/>
            <a:ext cx="3821760" cy="67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780" b="0" strike="noStrike" spc="-1">
                <a:solidFill>
                  <a:srgbClr val="433F5C"/>
                </a:solidFill>
                <a:latin typeface="Calibri"/>
                <a:ea typeface="Calibri"/>
              </a:rPr>
              <a:t>Guardrails run in a 200–300ms budget as a separate sidecar, not embedded in every prompt. Tiered model-pairing usually reduces latency, since most turns route to a fast classifier and only escalate when complexity requires it.</a:t>
            </a:r>
            <a:endParaRPr lang="en-US" sz="7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5" name="Shape 14"/>
          <p:cNvSpPr/>
          <p:nvPr/>
        </p:nvSpPr>
        <p:spPr>
          <a:xfrm>
            <a:off x="4846320" y="1289160"/>
            <a:ext cx="219240" cy="219240"/>
          </a:xfrm>
          <a:prstGeom prst="ellipse">
            <a:avLst/>
          </a:prstGeom>
          <a:solidFill>
            <a:srgbClr val="26215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6" name="Text 15"/>
          <p:cNvSpPr/>
          <p:nvPr/>
        </p:nvSpPr>
        <p:spPr>
          <a:xfrm>
            <a:off x="4846320" y="1289160"/>
            <a:ext cx="219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FFFFFF"/>
                </a:solidFill>
                <a:latin typeface="Calibri"/>
                <a:ea typeface="Calibri"/>
              </a:rPr>
              <a:t>Q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7" name="Text 16"/>
          <p:cNvSpPr/>
          <p:nvPr/>
        </p:nvSpPr>
        <p:spPr>
          <a:xfrm>
            <a:off x="5139000" y="1252800"/>
            <a:ext cx="382176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26215C"/>
                </a:solidFill>
                <a:latin typeface="Calibri"/>
                <a:ea typeface="Calibri"/>
              </a:rPr>
              <a:t>How do you prevent infinite loops between sub-agents?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8" name="Text 17"/>
          <p:cNvSpPr/>
          <p:nvPr/>
        </p:nvSpPr>
        <p:spPr>
          <a:xfrm>
            <a:off x="5139000" y="1700640"/>
            <a:ext cx="3821760" cy="52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780" b="0" strike="noStrike" spc="-1">
                <a:solidFill>
                  <a:srgbClr val="433F5C"/>
                </a:solidFill>
                <a:latin typeface="Calibri"/>
                <a:ea typeface="Calibri"/>
              </a:rPr>
              <a:t>Step efficiency / loop detection is one of our trajectory-layer eval metrics, built specifically to flag recursive hand-offs. ADK's Loop primitive also enforces a hard max_iterations ceiling.</a:t>
            </a:r>
            <a:endParaRPr lang="en-US" sz="7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9" name="Shape 18"/>
          <p:cNvSpPr/>
          <p:nvPr/>
        </p:nvSpPr>
        <p:spPr>
          <a:xfrm>
            <a:off x="4846320" y="2363760"/>
            <a:ext cx="219240" cy="219240"/>
          </a:xfrm>
          <a:prstGeom prst="ellipse">
            <a:avLst/>
          </a:prstGeom>
          <a:solidFill>
            <a:srgbClr val="26215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0" name="Text 19"/>
          <p:cNvSpPr/>
          <p:nvPr/>
        </p:nvSpPr>
        <p:spPr>
          <a:xfrm>
            <a:off x="4846320" y="2363760"/>
            <a:ext cx="219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FFFFFF"/>
                </a:solidFill>
                <a:latin typeface="Calibri"/>
                <a:ea typeface="Calibri"/>
              </a:rPr>
              <a:t>Q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1" name="Text 20"/>
          <p:cNvSpPr/>
          <p:nvPr/>
        </p:nvSpPr>
        <p:spPr>
          <a:xfrm>
            <a:off x="5139000" y="2327040"/>
            <a:ext cx="382176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26215C"/>
                </a:solidFill>
                <a:latin typeface="Calibri"/>
                <a:ea typeface="Calibri"/>
              </a:rPr>
              <a:t>What happens during a partial outage — e.g. the MCP server is down?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2" name="Text 21"/>
          <p:cNvSpPr/>
          <p:nvPr/>
        </p:nvSpPr>
        <p:spPr>
          <a:xfrm>
            <a:off x="5139000" y="2775240"/>
            <a:ext cx="3821760" cy="52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780" b="0" strike="noStrike" spc="-1">
                <a:solidFill>
                  <a:srgbClr val="433F5C"/>
                </a:solidFill>
                <a:latin typeface="Calibri"/>
                <a:ea typeface="Calibri"/>
              </a:rPr>
              <a:t>Today: the failure surfaces as an error event and the sub-agent degrades gracefully. A dedicated MCP Gateway (not yet built) would add centralized retry and circuit-breaking across all sub-agents at once.</a:t>
            </a:r>
            <a:endParaRPr lang="en-US" sz="78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Text 0"/>
          <p:cNvSpPr/>
          <p:nvPr/>
        </p:nvSpPr>
        <p:spPr>
          <a:xfrm>
            <a:off x="457200" y="2926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199">
                <a:solidFill>
                  <a:srgbClr val="0F6E56"/>
                </a:solidFill>
                <a:latin typeface="Calibri"/>
                <a:ea typeface="Calibri"/>
              </a:rPr>
              <a:t>AUDIENCE FAQ · 3 OF 3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4" name="Text 1"/>
          <p:cNvSpPr/>
          <p:nvPr/>
        </p:nvSpPr>
        <p:spPr>
          <a:xfrm>
            <a:off x="457200" y="54864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26215C"/>
                </a:solidFill>
                <a:latin typeface="Cambria"/>
                <a:ea typeface="Cambria"/>
              </a:rPr>
              <a:t>Data, privacy &amp; governance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5" name="Shape 2"/>
          <p:cNvSpPr/>
          <p:nvPr/>
        </p:nvSpPr>
        <p:spPr>
          <a:xfrm>
            <a:off x="457200" y="1289160"/>
            <a:ext cx="219240" cy="219240"/>
          </a:xfrm>
          <a:prstGeom prst="ellipse">
            <a:avLst/>
          </a:prstGeom>
          <a:solidFill>
            <a:srgbClr val="26215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6" name="Text 3"/>
          <p:cNvSpPr/>
          <p:nvPr/>
        </p:nvSpPr>
        <p:spPr>
          <a:xfrm>
            <a:off x="457200" y="1289160"/>
            <a:ext cx="219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FFFFFF"/>
                </a:solidFill>
                <a:latin typeface="Calibri"/>
                <a:ea typeface="Calibri"/>
              </a:rPr>
              <a:t>Q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7" name="Text 4"/>
          <p:cNvSpPr/>
          <p:nvPr/>
        </p:nvSpPr>
        <p:spPr>
          <a:xfrm>
            <a:off x="749880" y="1252800"/>
            <a:ext cx="382176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26215C"/>
                </a:solidFill>
                <a:latin typeface="Calibri"/>
                <a:ea typeface="Calibri"/>
              </a:rPr>
              <a:t>How do evals protect sensitive data, like account numbers or balances?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8" name="Text 5"/>
          <p:cNvSpPr/>
          <p:nvPr/>
        </p:nvSpPr>
        <p:spPr>
          <a:xfrm>
            <a:off x="749880" y="1700640"/>
            <a:ext cx="3821760" cy="67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780" b="0" strike="noStrike" spc="-1">
                <a:solidFill>
                  <a:srgbClr val="433F5C"/>
                </a:solidFill>
                <a:latin typeface="Calibri"/>
                <a:ea typeface="Calibri"/>
              </a:rPr>
              <a:t>Guardrails apply real-time PII masking on inputs/outputs before they reach the model or user. Evals separately score whether that masking worked — precision/recall on a labeled redaction set — so it's a tracked, regression-tested metric, not a one-time filter.</a:t>
            </a:r>
            <a:endParaRPr lang="en-US" sz="7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9" name="Shape 6"/>
          <p:cNvSpPr/>
          <p:nvPr/>
        </p:nvSpPr>
        <p:spPr>
          <a:xfrm>
            <a:off x="457200" y="2514600"/>
            <a:ext cx="219240" cy="219240"/>
          </a:xfrm>
          <a:prstGeom prst="ellipse">
            <a:avLst/>
          </a:prstGeom>
          <a:solidFill>
            <a:srgbClr val="26215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0" name="Text 7"/>
          <p:cNvSpPr/>
          <p:nvPr/>
        </p:nvSpPr>
        <p:spPr>
          <a:xfrm>
            <a:off x="457200" y="2514600"/>
            <a:ext cx="219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FFFFFF"/>
                </a:solidFill>
                <a:latin typeface="Calibri"/>
                <a:ea typeface="Calibri"/>
              </a:rPr>
              <a:t>Q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1" name="Text 8"/>
          <p:cNvSpPr/>
          <p:nvPr/>
        </p:nvSpPr>
        <p:spPr>
          <a:xfrm>
            <a:off x="749880" y="2477880"/>
            <a:ext cx="38217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26215C"/>
                </a:solidFill>
                <a:latin typeface="Calibri"/>
                <a:ea typeface="Calibri"/>
              </a:rPr>
              <a:t>Is sensitive data ever sent to the LLM itself?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2" name="Text 9"/>
          <p:cNvSpPr/>
          <p:nvPr/>
        </p:nvSpPr>
        <p:spPr>
          <a:xfrm>
            <a:off x="749880" y="2743200"/>
            <a:ext cx="3821760" cy="67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780" b="0" strike="noStrike" spc="-1">
                <a:solidFill>
                  <a:srgbClr val="433F5C"/>
                </a:solidFill>
                <a:latin typeface="Calibri"/>
                <a:ea typeface="Calibri"/>
              </a:rPr>
              <a:t>It can be, which is why masking happens before the prompt is assembled, not after. High-consequence data (account numbers, SSNs) gets strict redaction. This is a design principle for our build, not yet a fully audited implementation.</a:t>
            </a:r>
            <a:endParaRPr lang="en-US" sz="7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3" name="Shape 10"/>
          <p:cNvSpPr/>
          <p:nvPr/>
        </p:nvSpPr>
        <p:spPr>
          <a:xfrm>
            <a:off x="457200" y="3557160"/>
            <a:ext cx="219240" cy="219240"/>
          </a:xfrm>
          <a:prstGeom prst="ellipse">
            <a:avLst/>
          </a:prstGeom>
          <a:solidFill>
            <a:srgbClr val="26215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4" name="Text 11"/>
          <p:cNvSpPr/>
          <p:nvPr/>
        </p:nvSpPr>
        <p:spPr>
          <a:xfrm>
            <a:off x="457200" y="3557160"/>
            <a:ext cx="219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FFFFFF"/>
                </a:solidFill>
                <a:latin typeface="Calibri"/>
                <a:ea typeface="Calibri"/>
              </a:rPr>
              <a:t>Q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5" name="Text 12"/>
          <p:cNvSpPr/>
          <p:nvPr/>
        </p:nvSpPr>
        <p:spPr>
          <a:xfrm>
            <a:off x="749880" y="3520440"/>
            <a:ext cx="382176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26215C"/>
                </a:solidFill>
                <a:latin typeface="Calibri"/>
                <a:ea typeface="Calibri"/>
              </a:rPr>
              <a:t>Where does the audit trail live, and who can see it?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6" name="Text 13"/>
          <p:cNvSpPr/>
          <p:nvPr/>
        </p:nvSpPr>
        <p:spPr>
          <a:xfrm>
            <a:off x="749880" y="3968640"/>
            <a:ext cx="3821760" cy="67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780" b="0" strike="noStrike" spc="-1">
                <a:solidFill>
                  <a:srgbClr val="433F5C"/>
                </a:solidFill>
                <a:latin typeface="Calibri"/>
                <a:ea typeface="Calibri"/>
              </a:rPr>
              <a:t>Every tool call and hand-off is logged as an immutable, context-enriched event. Today that trail lives wherever InMemorySessionService keeps it — in-process, not centrally queryable yet. Centralizing it is part of the same persistence work as the session store.</a:t>
            </a:r>
            <a:endParaRPr lang="en-US" sz="7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7" name="Shape 14"/>
          <p:cNvSpPr/>
          <p:nvPr/>
        </p:nvSpPr>
        <p:spPr>
          <a:xfrm>
            <a:off x="4846320" y="1289160"/>
            <a:ext cx="219240" cy="219240"/>
          </a:xfrm>
          <a:prstGeom prst="ellipse">
            <a:avLst/>
          </a:prstGeom>
          <a:solidFill>
            <a:srgbClr val="26215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8" name="Text 15"/>
          <p:cNvSpPr/>
          <p:nvPr/>
        </p:nvSpPr>
        <p:spPr>
          <a:xfrm>
            <a:off x="4846320" y="1289160"/>
            <a:ext cx="219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FFFFFF"/>
                </a:solidFill>
                <a:latin typeface="Calibri"/>
                <a:ea typeface="Calibri"/>
              </a:rPr>
              <a:t>Q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9" name="Text 16"/>
          <p:cNvSpPr/>
          <p:nvPr/>
        </p:nvSpPr>
        <p:spPr>
          <a:xfrm>
            <a:off x="5139000" y="1252800"/>
            <a:ext cx="382176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26215C"/>
                </a:solidFill>
                <a:latin typeface="Calibri"/>
                <a:ea typeface="Calibri"/>
              </a:rPr>
              <a:t>How does this map to regulations like the EU AI Act?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0" name="Text 17"/>
          <p:cNvSpPr/>
          <p:nvPr/>
        </p:nvSpPr>
        <p:spPr>
          <a:xfrm>
            <a:off x="5139000" y="1700640"/>
            <a:ext cx="3821760" cy="67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780" b="0" strike="noStrike" spc="-1">
                <a:solidFill>
                  <a:srgbClr val="433F5C"/>
                </a:solidFill>
                <a:latin typeface="Calibri"/>
                <a:ea typeface="Calibri"/>
              </a:rPr>
              <a:t>High-risk AI in credit, lending, and AML must comply with the EU AI Act by August 2026, penalties up to 7% of global turnover. Our traceability and evals sidecars are the mechanisms a compliance review would need — a formal audit hasn't been done yet.</a:t>
            </a:r>
            <a:endParaRPr lang="en-US" sz="7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1" name="Shape 18"/>
          <p:cNvSpPr/>
          <p:nvPr/>
        </p:nvSpPr>
        <p:spPr>
          <a:xfrm>
            <a:off x="4846320" y="2514600"/>
            <a:ext cx="219240" cy="219240"/>
          </a:xfrm>
          <a:prstGeom prst="ellipse">
            <a:avLst/>
          </a:prstGeom>
          <a:solidFill>
            <a:srgbClr val="26215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2" name="Text 19"/>
          <p:cNvSpPr/>
          <p:nvPr/>
        </p:nvSpPr>
        <p:spPr>
          <a:xfrm>
            <a:off x="4846320" y="2514600"/>
            <a:ext cx="219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FFFFFF"/>
                </a:solidFill>
                <a:latin typeface="Calibri"/>
                <a:ea typeface="Calibri"/>
              </a:rPr>
              <a:t>Q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3" name="Text 20"/>
          <p:cNvSpPr/>
          <p:nvPr/>
        </p:nvSpPr>
        <p:spPr>
          <a:xfrm>
            <a:off x="5139000" y="2477880"/>
            <a:ext cx="382176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26215C"/>
                </a:solidFill>
                <a:latin typeface="Calibri"/>
                <a:ea typeface="Calibri"/>
              </a:rPr>
              <a:t>Who decides what counts as a hallucination vs. an acceptable answer?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4" name="Text 21"/>
          <p:cNvSpPr/>
          <p:nvPr/>
        </p:nvSpPr>
        <p:spPr>
          <a:xfrm>
            <a:off x="5139000" y="2926080"/>
            <a:ext cx="3821760" cy="67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780" b="0" strike="noStrike" spc="-1">
                <a:solidFill>
                  <a:srgbClr val="433F5C"/>
                </a:solidFill>
                <a:latin typeface="Calibri"/>
                <a:ea typeface="Calibri"/>
              </a:rPr>
              <a:t>The faithfulness metric checks whether the answer stays grounded in actual tool outputs and policy docs, not invented facts. Edge cases still need a human-defined threshold — a policy decision for the owning team, not the framework.</a:t>
            </a:r>
            <a:endParaRPr lang="en-US" sz="78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1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Shape 0"/>
          <p:cNvSpPr/>
          <p:nvPr/>
        </p:nvSpPr>
        <p:spPr>
          <a:xfrm>
            <a:off x="658080" y="658080"/>
            <a:ext cx="914400" cy="548640"/>
          </a:xfrm>
          <a:prstGeom prst="line">
            <a:avLst/>
          </a:prstGeom>
          <a:ln w="9525">
            <a:solidFill>
              <a:srgbClr val="FFFFFF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6" name="Shape 1"/>
          <p:cNvSpPr/>
          <p:nvPr/>
        </p:nvSpPr>
        <p:spPr>
          <a:xfrm flipH="1">
            <a:off x="877680" y="1206720"/>
            <a:ext cx="694800" cy="402480"/>
          </a:xfrm>
          <a:prstGeom prst="line">
            <a:avLst/>
          </a:prstGeom>
          <a:ln w="9525">
            <a:solidFill>
              <a:srgbClr val="FFFFFF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7" name="Shape 2"/>
          <p:cNvSpPr/>
          <p:nvPr/>
        </p:nvSpPr>
        <p:spPr>
          <a:xfrm flipV="1">
            <a:off x="1572480" y="676440"/>
            <a:ext cx="384120" cy="530280"/>
          </a:xfrm>
          <a:prstGeom prst="line">
            <a:avLst/>
          </a:prstGeom>
          <a:ln w="9525">
            <a:solidFill>
              <a:srgbClr val="FFFFFF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8" name="Shape 3"/>
          <p:cNvSpPr/>
          <p:nvPr/>
        </p:nvSpPr>
        <p:spPr>
          <a:xfrm>
            <a:off x="1572480" y="1206720"/>
            <a:ext cx="567000" cy="384120"/>
          </a:xfrm>
          <a:prstGeom prst="line">
            <a:avLst/>
          </a:prstGeom>
          <a:ln w="9525">
            <a:solidFill>
              <a:srgbClr val="FFFFFF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9" name="Shape 4"/>
          <p:cNvSpPr/>
          <p:nvPr/>
        </p:nvSpPr>
        <p:spPr>
          <a:xfrm>
            <a:off x="457200" y="457200"/>
            <a:ext cx="402120" cy="402120"/>
          </a:xfrm>
          <a:prstGeom prst="ellipse">
            <a:avLst/>
          </a:prstGeom>
          <a:solidFill>
            <a:srgbClr val="F2A623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0" name="Shape 5"/>
          <p:cNvSpPr/>
          <p:nvPr/>
        </p:nvSpPr>
        <p:spPr>
          <a:xfrm>
            <a:off x="1280160" y="914400"/>
            <a:ext cx="585000" cy="585000"/>
          </a:xfrm>
          <a:prstGeom prst="ellipse">
            <a:avLst/>
          </a:prstGeom>
          <a:solidFill>
            <a:srgbClr val="7F77DD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1" name="Shape 6"/>
          <p:cNvSpPr/>
          <p:nvPr/>
        </p:nvSpPr>
        <p:spPr>
          <a:xfrm>
            <a:off x="731520" y="1463040"/>
            <a:ext cx="292320" cy="292320"/>
          </a:xfrm>
          <a:prstGeom prst="ellipse">
            <a:avLst/>
          </a:prstGeom>
          <a:solidFill>
            <a:srgbClr val="5DCAA5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2" name="Shape 7"/>
          <p:cNvSpPr/>
          <p:nvPr/>
        </p:nvSpPr>
        <p:spPr>
          <a:xfrm>
            <a:off x="1828800" y="548640"/>
            <a:ext cx="255600" cy="255600"/>
          </a:xfrm>
          <a:prstGeom prst="ellipse">
            <a:avLst/>
          </a:prstGeom>
          <a:solidFill>
            <a:srgbClr val="5DCAA5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3" name="Shape 8"/>
          <p:cNvSpPr/>
          <p:nvPr/>
        </p:nvSpPr>
        <p:spPr>
          <a:xfrm>
            <a:off x="1920240" y="1371600"/>
            <a:ext cx="438480" cy="438480"/>
          </a:xfrm>
          <a:prstGeom prst="ellipse">
            <a:avLst/>
          </a:prstGeom>
          <a:solidFill>
            <a:srgbClr val="F2A623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4" name="Shape 9"/>
          <p:cNvSpPr/>
          <p:nvPr/>
        </p:nvSpPr>
        <p:spPr>
          <a:xfrm>
            <a:off x="7150320" y="3218400"/>
            <a:ext cx="914400" cy="548640"/>
          </a:xfrm>
          <a:prstGeom prst="line">
            <a:avLst/>
          </a:prstGeom>
          <a:ln w="9525">
            <a:solidFill>
              <a:srgbClr val="FFFFFF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5" name="Shape 10"/>
          <p:cNvSpPr/>
          <p:nvPr/>
        </p:nvSpPr>
        <p:spPr>
          <a:xfrm flipH="1">
            <a:off x="7369920" y="3767040"/>
            <a:ext cx="694800" cy="402480"/>
          </a:xfrm>
          <a:prstGeom prst="line">
            <a:avLst/>
          </a:prstGeom>
          <a:ln w="9525">
            <a:solidFill>
              <a:srgbClr val="FFFFFF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6" name="Shape 11"/>
          <p:cNvSpPr/>
          <p:nvPr/>
        </p:nvSpPr>
        <p:spPr>
          <a:xfrm flipV="1">
            <a:off x="8064720" y="3236760"/>
            <a:ext cx="384120" cy="530280"/>
          </a:xfrm>
          <a:prstGeom prst="line">
            <a:avLst/>
          </a:prstGeom>
          <a:ln w="9525">
            <a:solidFill>
              <a:srgbClr val="FFFFFF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7" name="Shape 12"/>
          <p:cNvSpPr/>
          <p:nvPr/>
        </p:nvSpPr>
        <p:spPr>
          <a:xfrm>
            <a:off x="8064720" y="3767040"/>
            <a:ext cx="567000" cy="384120"/>
          </a:xfrm>
          <a:prstGeom prst="line">
            <a:avLst/>
          </a:prstGeom>
          <a:ln w="9525">
            <a:solidFill>
              <a:srgbClr val="FFFFFF">
                <a:alpha val="3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8" name="Shape 13"/>
          <p:cNvSpPr/>
          <p:nvPr/>
        </p:nvSpPr>
        <p:spPr>
          <a:xfrm>
            <a:off x="6949440" y="3017520"/>
            <a:ext cx="402120" cy="402120"/>
          </a:xfrm>
          <a:prstGeom prst="ellipse">
            <a:avLst/>
          </a:prstGeom>
          <a:solidFill>
            <a:srgbClr val="F2A623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9" name="Shape 14"/>
          <p:cNvSpPr/>
          <p:nvPr/>
        </p:nvSpPr>
        <p:spPr>
          <a:xfrm>
            <a:off x="7772400" y="3474720"/>
            <a:ext cx="585000" cy="585000"/>
          </a:xfrm>
          <a:prstGeom prst="ellipse">
            <a:avLst/>
          </a:prstGeom>
          <a:solidFill>
            <a:srgbClr val="7F77DD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0" name="Shape 15"/>
          <p:cNvSpPr/>
          <p:nvPr/>
        </p:nvSpPr>
        <p:spPr>
          <a:xfrm>
            <a:off x="7223760" y="4023360"/>
            <a:ext cx="292320" cy="292320"/>
          </a:xfrm>
          <a:prstGeom prst="ellipse">
            <a:avLst/>
          </a:prstGeom>
          <a:solidFill>
            <a:srgbClr val="5DCAA5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1" name="Shape 16"/>
          <p:cNvSpPr/>
          <p:nvPr/>
        </p:nvSpPr>
        <p:spPr>
          <a:xfrm>
            <a:off x="8321040" y="3108960"/>
            <a:ext cx="255600" cy="255600"/>
          </a:xfrm>
          <a:prstGeom prst="ellipse">
            <a:avLst/>
          </a:prstGeom>
          <a:solidFill>
            <a:srgbClr val="5DCAA5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2" name="Shape 17"/>
          <p:cNvSpPr/>
          <p:nvPr/>
        </p:nvSpPr>
        <p:spPr>
          <a:xfrm>
            <a:off x="8412480" y="3931920"/>
            <a:ext cx="438480" cy="438480"/>
          </a:xfrm>
          <a:prstGeom prst="ellipse">
            <a:avLst/>
          </a:prstGeom>
          <a:solidFill>
            <a:srgbClr val="F2A623">
              <a:alpha val="7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3" name="Shape 18"/>
          <p:cNvSpPr/>
          <p:nvPr/>
        </p:nvSpPr>
        <p:spPr>
          <a:xfrm>
            <a:off x="4023360" y="1188720"/>
            <a:ext cx="1096920" cy="1096920"/>
          </a:xfrm>
          <a:prstGeom prst="ellipse">
            <a:avLst/>
          </a:prstGeom>
          <a:solidFill>
            <a:srgbClr val="3C348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54" name="Image 0" descr="preencoded.png"/>
          <p:cNvPicPr/>
          <p:nvPr/>
        </p:nvPicPr>
        <p:blipFill>
          <a:blip r:embed="rId3"/>
          <a:stretch/>
        </p:blipFill>
        <p:spPr>
          <a:xfrm>
            <a:off x="4286880" y="1452240"/>
            <a:ext cx="570240" cy="570240"/>
          </a:xfrm>
          <a:prstGeom prst="rect">
            <a:avLst/>
          </a:prstGeom>
          <a:ln w="0">
            <a:noFill/>
          </a:ln>
        </p:spPr>
      </p:pic>
      <p:sp>
        <p:nvSpPr>
          <p:cNvPr id="855" name="Text 19"/>
          <p:cNvSpPr/>
          <p:nvPr/>
        </p:nvSpPr>
        <p:spPr>
          <a:xfrm>
            <a:off x="0" y="2468880"/>
            <a:ext cx="91436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strike="noStrike" spc="-1">
                <a:solidFill>
                  <a:srgbClr val="FFFFFF"/>
                </a:solidFill>
                <a:latin typeface="Cambria"/>
                <a:ea typeface="Cambria"/>
              </a:rPr>
              <a:t>Thank you</a:t>
            </a:r>
            <a:endParaRPr lang="en-US" sz="3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6" name="Text 20"/>
          <p:cNvSpPr/>
          <p:nvPr/>
        </p:nvSpPr>
        <p:spPr>
          <a:xfrm>
            <a:off x="0" y="32461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strike="noStrike" spc="-1">
                <a:solidFill>
                  <a:srgbClr val="CADCFC"/>
                </a:solidFill>
                <a:latin typeface="Calibri"/>
                <a:ea typeface="Calibri"/>
              </a:rPr>
              <a:t>Questions &amp; discussion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7" name="Text 21"/>
          <p:cNvSpPr/>
          <p:nvPr/>
        </p:nvSpPr>
        <p:spPr>
          <a:xfrm>
            <a:off x="0" y="420624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97">
                <a:solidFill>
                  <a:srgbClr val="7F77DD"/>
                </a:solidFill>
                <a:latin typeface="Calibri"/>
                <a:ea typeface="Calibri"/>
              </a:rPr>
              <a:t>State · Memory · Context engineering · Multi-agent orchestration · Tools · Events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5591</Words>
  <Application>Microsoft Office PowerPoint</Application>
  <PresentationFormat>On-screen Show (16:9)</PresentationFormat>
  <Paragraphs>507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3" baseType="lpstr">
      <vt:lpstr>Arial</vt:lpstr>
      <vt:lpstr>Calibri</vt:lpstr>
      <vt:lpstr>Cambria</vt:lpstr>
      <vt:lpstr>Consolas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for Conversational Apps</dc:title>
  <dc:subject>PptxGenJS Presentation</dc:subject>
  <dc:creator>Seminar Plan</dc:creator>
  <dc:description/>
  <cp:lastModifiedBy>Sunil Kumar</cp:lastModifiedBy>
  <cp:revision>1</cp:revision>
  <dcterms:created xsi:type="dcterms:W3CDTF">2026-06-18T14:37:01Z</dcterms:created>
  <dcterms:modified xsi:type="dcterms:W3CDTF">2026-06-18T14:39:34Z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35</vt:r8>
  </property>
  <property fmtid="{D5CDD505-2E9C-101B-9397-08002B2CF9AE}" pid="3" name="PresentationFormat">
    <vt:lpwstr>On-screen Show (16:9)</vt:lpwstr>
  </property>
  <property fmtid="{D5CDD505-2E9C-101B-9397-08002B2CF9AE}" pid="4" name="Slides">
    <vt:r8>35</vt:r8>
  </property>
</Properties>
</file>